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45"/>
  </p:notesMasterIdLst>
  <p:sldIdLst>
    <p:sldId id="746" r:id="rId2"/>
    <p:sldId id="813" r:id="rId3"/>
    <p:sldId id="788" r:id="rId4"/>
    <p:sldId id="829" r:id="rId5"/>
    <p:sldId id="820" r:id="rId6"/>
    <p:sldId id="821" r:id="rId7"/>
    <p:sldId id="822" r:id="rId8"/>
    <p:sldId id="823" r:id="rId9"/>
    <p:sldId id="773" r:id="rId10"/>
    <p:sldId id="778" r:id="rId11"/>
    <p:sldId id="796" r:id="rId12"/>
    <p:sldId id="833" r:id="rId13"/>
    <p:sldId id="804" r:id="rId14"/>
    <p:sldId id="831" r:id="rId15"/>
    <p:sldId id="832" r:id="rId16"/>
    <p:sldId id="807" r:id="rId17"/>
    <p:sldId id="842" r:id="rId18"/>
    <p:sldId id="790" r:id="rId19"/>
    <p:sldId id="791" r:id="rId20"/>
    <p:sldId id="770" r:id="rId21"/>
    <p:sldId id="775" r:id="rId22"/>
    <p:sldId id="824" r:id="rId23"/>
    <p:sldId id="789" r:id="rId24"/>
    <p:sldId id="809" r:id="rId25"/>
    <p:sldId id="825" r:id="rId26"/>
    <p:sldId id="759" r:id="rId27"/>
    <p:sldId id="794" r:id="rId28"/>
    <p:sldId id="835" r:id="rId29"/>
    <p:sldId id="837" r:id="rId30"/>
    <p:sldId id="819" r:id="rId31"/>
    <p:sldId id="840" r:id="rId32"/>
    <p:sldId id="798" r:id="rId33"/>
    <p:sldId id="797" r:id="rId34"/>
    <p:sldId id="799" r:id="rId35"/>
    <p:sldId id="810" r:id="rId36"/>
    <p:sldId id="818" r:id="rId37"/>
    <p:sldId id="836" r:id="rId38"/>
    <p:sldId id="841" r:id="rId39"/>
    <p:sldId id="826" r:id="rId40"/>
    <p:sldId id="827" r:id="rId41"/>
    <p:sldId id="828" r:id="rId42"/>
    <p:sldId id="834" r:id="rId43"/>
    <p:sldId id="816" r:id="rId4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D042E71-DAB7-4DFD-BE31-9959EA6E9233}">
          <p14:sldIdLst>
            <p14:sldId id="746"/>
            <p14:sldId id="813"/>
          </p14:sldIdLst>
        </p14:section>
        <p14:section name="What is AI?" id="{02EAD91C-E369-437D-8842-25D8F40E750D}">
          <p14:sldIdLst>
            <p14:sldId id="788"/>
            <p14:sldId id="829"/>
            <p14:sldId id="820"/>
            <p14:sldId id="821"/>
            <p14:sldId id="822"/>
            <p14:sldId id="823"/>
            <p14:sldId id="773"/>
            <p14:sldId id="778"/>
            <p14:sldId id="796"/>
          </p14:sldIdLst>
        </p14:section>
        <p14:section name="Intelligent Agents" id="{C9D5CDD1-008D-47FC-87B3-D908C9EF2F72}">
          <p14:sldIdLst>
            <p14:sldId id="833"/>
            <p14:sldId id="804"/>
            <p14:sldId id="831"/>
            <p14:sldId id="832"/>
            <p14:sldId id="807"/>
            <p14:sldId id="842"/>
          </p14:sldIdLst>
        </p14:section>
        <p14:section name="AI History" id="{E9809096-7E11-4E3F-8C6F-E4F689D0C476}">
          <p14:sldIdLst>
            <p14:sldId id="790"/>
            <p14:sldId id="791"/>
            <p14:sldId id="770"/>
            <p14:sldId id="775"/>
            <p14:sldId id="824"/>
          </p14:sldIdLst>
        </p14:section>
        <p14:section name="AI Today" id="{AA2E3ED1-3345-4658-9E22-C0FE6B7E6978}">
          <p14:sldIdLst>
            <p14:sldId id="789"/>
            <p14:sldId id="809"/>
            <p14:sldId id="825"/>
            <p14:sldId id="759"/>
          </p14:sldIdLst>
        </p14:section>
        <p14:section name="AI Ethics and Safety" id="{A052C2FD-53E4-4335-BCF5-C7366E9213A6}">
          <p14:sldIdLst>
            <p14:sldId id="794"/>
            <p14:sldId id="835"/>
            <p14:sldId id="837"/>
            <p14:sldId id="819"/>
            <p14:sldId id="840"/>
            <p14:sldId id="798"/>
            <p14:sldId id="797"/>
            <p14:sldId id="799"/>
            <p14:sldId id="810"/>
            <p14:sldId id="818"/>
            <p14:sldId id="836"/>
            <p14:sldId id="841"/>
            <p14:sldId id="826"/>
            <p14:sldId id="827"/>
            <p14:sldId id="828"/>
            <p14:sldId id="834"/>
          </p14:sldIdLst>
        </p14:section>
        <p14:section name="Wrapup" id="{5810AD38-D9A5-4EC5-A422-35859DA20A2A}">
          <p14:sldIdLst>
            <p14:sldId id="816"/>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C0D4"/>
    <a:srgbClr val="5B9BD5"/>
    <a:srgbClr val="0000FF"/>
    <a:srgbClr val="9900CC"/>
    <a:srgbClr val="009900"/>
    <a:srgbClr val="FF00FF"/>
    <a:srgbClr val="00FFFF"/>
    <a:srgbClr val="FFFF00"/>
    <a:srgbClr val="FF0000"/>
    <a:srgbClr val="11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6" autoAdjust="0"/>
    <p:restoredTop sz="86439" autoAdjust="0"/>
  </p:normalViewPr>
  <p:slideViewPr>
    <p:cSldViewPr>
      <p:cViewPr varScale="1">
        <p:scale>
          <a:sx n="139" d="100"/>
          <a:sy n="139" d="100"/>
        </p:scale>
        <p:origin x="2316" y="80"/>
      </p:cViewPr>
      <p:guideLst>
        <p:guide orient="horz" pos="2160"/>
        <p:guide pos="2880"/>
      </p:guideLst>
    </p:cSldViewPr>
  </p:slideViewPr>
  <p:outlineViewPr>
    <p:cViewPr>
      <p:scale>
        <a:sx n="25" d="100"/>
        <a:sy n="25" d="100"/>
      </p:scale>
      <p:origin x="0" y="-15132"/>
    </p:cViewPr>
  </p:outlineViewPr>
  <p:notesTextViewPr>
    <p:cViewPr>
      <p:scale>
        <a:sx n="100" d="100"/>
        <a:sy n="100" d="100"/>
      </p:scale>
      <p:origin x="0" y="0"/>
    </p:cViewPr>
  </p:notesTextViewPr>
  <p:sorterViewPr>
    <p:cViewPr varScale="1">
      <p:scale>
        <a:sx n="1" d="1"/>
        <a:sy n="1" d="1"/>
      </p:scale>
      <p:origin x="0" y="-2796"/>
    </p:cViewPr>
  </p:sorterViewPr>
  <p:notesViewPr>
    <p:cSldViewPr>
      <p:cViewPr varScale="1">
        <p:scale>
          <a:sx n="88" d="100"/>
          <a:sy n="88" d="100"/>
        </p:scale>
        <p:origin x="297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E4F427-7F24-468D-A0AA-84AFAFE170E5}" type="doc">
      <dgm:prSet loTypeId="urn:microsoft.com/office/officeart/2005/8/layout/hProcess9" loCatId="process" qsTypeId="urn:microsoft.com/office/officeart/2005/8/quickstyle/simple1#1" qsCatId="simple" csTypeId="urn:microsoft.com/office/officeart/2005/8/colors/colorful1#1" csCatId="colorful" phldr="1"/>
      <dgm:spPr/>
      <dgm:t>
        <a:bodyPr/>
        <a:lstStyle/>
        <a:p>
          <a:endParaRPr lang="en-US"/>
        </a:p>
      </dgm:t>
    </dgm:pt>
    <dgm:pt modelId="{C57B367D-75A9-4307-BDC4-EC6662ADEDC7}">
      <dgm:prSet/>
      <dgm:spPr/>
      <dgm:t>
        <a:bodyPr/>
        <a:lstStyle/>
        <a:p>
          <a:r>
            <a:rPr lang="en-US" dirty="0"/>
            <a:t>What is AI?</a:t>
          </a:r>
        </a:p>
      </dgm:t>
    </dgm:pt>
    <dgm:pt modelId="{32D01245-7B71-4FAB-BDDD-87CECB13EAD7}" type="parTrans" cxnId="{2BB90B5F-057E-4DE5-B6BB-06E6636B8ADC}">
      <dgm:prSet/>
      <dgm:spPr/>
      <dgm:t>
        <a:bodyPr/>
        <a:lstStyle/>
        <a:p>
          <a:endParaRPr lang="en-US"/>
        </a:p>
      </dgm:t>
    </dgm:pt>
    <dgm:pt modelId="{B22D4BDF-4327-4B39-91C2-021872DFEB1A}" type="sibTrans" cxnId="{2BB90B5F-057E-4DE5-B6BB-06E6636B8ADC}">
      <dgm:prSet/>
      <dgm:spPr/>
      <dgm:t>
        <a:bodyPr/>
        <a:lstStyle/>
        <a:p>
          <a:endParaRPr lang="en-US"/>
        </a:p>
      </dgm:t>
    </dgm:pt>
    <dgm:pt modelId="{771BAAD6-E2FC-4891-B816-2473445D8536}">
      <dgm:prSet/>
      <dgm:spPr/>
      <dgm:t>
        <a:bodyPr/>
        <a:lstStyle/>
        <a:p>
          <a:r>
            <a:rPr lang="en-US" dirty="0"/>
            <a:t>AI Today</a:t>
          </a:r>
        </a:p>
      </dgm:t>
    </dgm:pt>
    <dgm:pt modelId="{BBF3AA43-7194-46C1-9FCD-3851DA4257ED}" type="parTrans" cxnId="{0708A08D-5E6E-46CD-9C39-B949E8C0A128}">
      <dgm:prSet/>
      <dgm:spPr/>
      <dgm:t>
        <a:bodyPr/>
        <a:lstStyle/>
        <a:p>
          <a:endParaRPr lang="en-US"/>
        </a:p>
      </dgm:t>
    </dgm:pt>
    <dgm:pt modelId="{B103F5ED-BC79-45CE-AC88-045D3B69910D}" type="sibTrans" cxnId="{0708A08D-5E6E-46CD-9C39-B949E8C0A128}">
      <dgm:prSet/>
      <dgm:spPr/>
      <dgm:t>
        <a:bodyPr/>
        <a:lstStyle/>
        <a:p>
          <a:endParaRPr lang="en-US"/>
        </a:p>
      </dgm:t>
    </dgm:pt>
    <dgm:pt modelId="{BC7876E0-1339-4E8D-8D1A-0B7DF40F79F4}">
      <dgm:prSet/>
      <dgm:spPr/>
      <dgm:t>
        <a:bodyPr/>
        <a:lstStyle/>
        <a:p>
          <a:r>
            <a:rPr lang="en-US" dirty="0"/>
            <a:t>History of AI</a:t>
          </a:r>
        </a:p>
      </dgm:t>
    </dgm:pt>
    <dgm:pt modelId="{52EB788F-0317-4CF1-9AE3-F93D41E354C7}" type="parTrans" cxnId="{43F512B1-EC24-4195-862D-8F454499B872}">
      <dgm:prSet/>
      <dgm:spPr/>
      <dgm:t>
        <a:bodyPr/>
        <a:lstStyle/>
        <a:p>
          <a:endParaRPr lang="en-US"/>
        </a:p>
      </dgm:t>
    </dgm:pt>
    <dgm:pt modelId="{2304988C-619C-43C1-9C13-6570B1F9505B}" type="sibTrans" cxnId="{43F512B1-EC24-4195-862D-8F454499B872}">
      <dgm:prSet/>
      <dgm:spPr/>
      <dgm:t>
        <a:bodyPr/>
        <a:lstStyle/>
        <a:p>
          <a:endParaRPr lang="en-US"/>
        </a:p>
      </dgm:t>
    </dgm:pt>
    <dgm:pt modelId="{484C2E5F-357C-45EC-A610-C7715E706187}">
      <dgm:prSet/>
      <dgm:spPr/>
      <dgm:t>
        <a:bodyPr/>
        <a:lstStyle/>
        <a:p>
          <a:r>
            <a:rPr lang="en-US" dirty="0"/>
            <a:t>?</a:t>
          </a:r>
        </a:p>
      </dgm:t>
    </dgm:pt>
    <dgm:pt modelId="{92D2E41C-90C5-4B71-952E-A9873D55902A}" type="parTrans" cxnId="{FDF7F5EB-9483-4CC8-8B01-B99D1E218392}">
      <dgm:prSet/>
      <dgm:spPr/>
      <dgm:t>
        <a:bodyPr/>
        <a:lstStyle/>
        <a:p>
          <a:endParaRPr lang="en-US"/>
        </a:p>
      </dgm:t>
    </dgm:pt>
    <dgm:pt modelId="{430C3D35-EAA5-4E2A-8980-545E11F06A6D}" type="sibTrans" cxnId="{FDF7F5EB-9483-4CC8-8B01-B99D1E218392}">
      <dgm:prSet/>
      <dgm:spPr/>
      <dgm:t>
        <a:bodyPr/>
        <a:lstStyle/>
        <a:p>
          <a:endParaRPr lang="en-US"/>
        </a:p>
      </dgm:t>
    </dgm:pt>
    <dgm:pt modelId="{456894FD-DE19-40E7-920B-2E84BD52A86E}" type="pres">
      <dgm:prSet presAssocID="{2BE4F427-7F24-468D-A0AA-84AFAFE170E5}" presName="CompostProcess" presStyleCnt="0">
        <dgm:presLayoutVars>
          <dgm:dir/>
          <dgm:resizeHandles val="exact"/>
        </dgm:presLayoutVars>
      </dgm:prSet>
      <dgm:spPr/>
    </dgm:pt>
    <dgm:pt modelId="{9A0F9045-7893-4556-B3F3-5720C8ACC43F}" type="pres">
      <dgm:prSet presAssocID="{2BE4F427-7F24-468D-A0AA-84AFAFE170E5}" presName="arrow" presStyleLbl="bgShp" presStyleIdx="0" presStyleCnt="1"/>
      <dgm:spPr/>
    </dgm:pt>
    <dgm:pt modelId="{85852747-A014-41F5-A751-337B7574361E}" type="pres">
      <dgm:prSet presAssocID="{2BE4F427-7F24-468D-A0AA-84AFAFE170E5}" presName="linearProcess" presStyleCnt="0"/>
      <dgm:spPr/>
    </dgm:pt>
    <dgm:pt modelId="{EFC9B01B-7FB7-4350-A4D4-CCF5734A58FA}" type="pres">
      <dgm:prSet presAssocID="{C57B367D-75A9-4307-BDC4-EC6662ADEDC7}" presName="textNode" presStyleLbl="node1" presStyleIdx="0" presStyleCnt="4">
        <dgm:presLayoutVars>
          <dgm:bulletEnabled val="1"/>
        </dgm:presLayoutVars>
      </dgm:prSet>
      <dgm:spPr/>
    </dgm:pt>
    <dgm:pt modelId="{059C7F5C-2929-41AA-B321-421EAA87493E}" type="pres">
      <dgm:prSet presAssocID="{B22D4BDF-4327-4B39-91C2-021872DFEB1A}" presName="sibTrans" presStyleCnt="0"/>
      <dgm:spPr/>
    </dgm:pt>
    <dgm:pt modelId="{C53E8AC9-B3C2-4F22-A024-8206618BE8E9}" type="pres">
      <dgm:prSet presAssocID="{BC7876E0-1339-4E8D-8D1A-0B7DF40F79F4}" presName="textNode" presStyleLbl="node1" presStyleIdx="1" presStyleCnt="4">
        <dgm:presLayoutVars>
          <dgm:bulletEnabled val="1"/>
        </dgm:presLayoutVars>
      </dgm:prSet>
      <dgm:spPr/>
    </dgm:pt>
    <dgm:pt modelId="{8FE660C0-5113-487C-9112-86BBF4FB8EC6}" type="pres">
      <dgm:prSet presAssocID="{2304988C-619C-43C1-9C13-6570B1F9505B}" presName="sibTrans" presStyleCnt="0"/>
      <dgm:spPr/>
    </dgm:pt>
    <dgm:pt modelId="{2BC15CC0-AAFC-4719-8E3B-40296FCEF49B}" type="pres">
      <dgm:prSet presAssocID="{771BAAD6-E2FC-4891-B816-2473445D8536}" presName="textNode" presStyleLbl="node1" presStyleIdx="2" presStyleCnt="4">
        <dgm:presLayoutVars>
          <dgm:bulletEnabled val="1"/>
        </dgm:presLayoutVars>
      </dgm:prSet>
      <dgm:spPr/>
    </dgm:pt>
    <dgm:pt modelId="{CAC39E0B-490D-47C9-AE99-E89CE1B70BBC}" type="pres">
      <dgm:prSet presAssocID="{B103F5ED-BC79-45CE-AC88-045D3B69910D}" presName="sibTrans" presStyleCnt="0"/>
      <dgm:spPr/>
    </dgm:pt>
    <dgm:pt modelId="{5481297F-4CD0-49FE-9D47-1673202E0414}" type="pres">
      <dgm:prSet presAssocID="{484C2E5F-357C-45EC-A610-C7715E706187}" presName="textNode" presStyleLbl="node1" presStyleIdx="3" presStyleCnt="4">
        <dgm:presLayoutVars>
          <dgm:bulletEnabled val="1"/>
        </dgm:presLayoutVars>
      </dgm:prSet>
      <dgm:spPr/>
    </dgm:pt>
  </dgm:ptLst>
  <dgm:cxnLst>
    <dgm:cxn modelId="{2BB90B5F-057E-4DE5-B6BB-06E6636B8ADC}" srcId="{2BE4F427-7F24-468D-A0AA-84AFAFE170E5}" destId="{C57B367D-75A9-4307-BDC4-EC6662ADEDC7}" srcOrd="0" destOrd="0" parTransId="{32D01245-7B71-4FAB-BDDD-87CECB13EAD7}" sibTransId="{B22D4BDF-4327-4B39-91C2-021872DFEB1A}"/>
    <dgm:cxn modelId="{E90C7B49-E4BC-42FF-96CC-3143CF8FA5E7}" type="presOf" srcId="{BC7876E0-1339-4E8D-8D1A-0B7DF40F79F4}" destId="{C53E8AC9-B3C2-4F22-A024-8206618BE8E9}" srcOrd="0" destOrd="0" presId="urn:microsoft.com/office/officeart/2005/8/layout/hProcess9"/>
    <dgm:cxn modelId="{710A0E56-BE87-465B-896B-C80A39B1A297}" type="presOf" srcId="{C57B367D-75A9-4307-BDC4-EC6662ADEDC7}" destId="{EFC9B01B-7FB7-4350-A4D4-CCF5734A58FA}" srcOrd="0" destOrd="0" presId="urn:microsoft.com/office/officeart/2005/8/layout/hProcess9"/>
    <dgm:cxn modelId="{9FEB0057-F3AA-41E1-AF01-B0050ED0AC19}" type="presOf" srcId="{484C2E5F-357C-45EC-A610-C7715E706187}" destId="{5481297F-4CD0-49FE-9D47-1673202E0414}" srcOrd="0" destOrd="0" presId="urn:microsoft.com/office/officeart/2005/8/layout/hProcess9"/>
    <dgm:cxn modelId="{0708A08D-5E6E-46CD-9C39-B949E8C0A128}" srcId="{2BE4F427-7F24-468D-A0AA-84AFAFE170E5}" destId="{771BAAD6-E2FC-4891-B816-2473445D8536}" srcOrd="2" destOrd="0" parTransId="{BBF3AA43-7194-46C1-9FCD-3851DA4257ED}" sibTransId="{B103F5ED-BC79-45CE-AC88-045D3B69910D}"/>
    <dgm:cxn modelId="{7647D196-6149-4BB3-B07D-45A92A516A89}" type="presOf" srcId="{771BAAD6-E2FC-4891-B816-2473445D8536}" destId="{2BC15CC0-AAFC-4719-8E3B-40296FCEF49B}" srcOrd="0" destOrd="0" presId="urn:microsoft.com/office/officeart/2005/8/layout/hProcess9"/>
    <dgm:cxn modelId="{43F512B1-EC24-4195-862D-8F454499B872}" srcId="{2BE4F427-7F24-468D-A0AA-84AFAFE170E5}" destId="{BC7876E0-1339-4E8D-8D1A-0B7DF40F79F4}" srcOrd="1" destOrd="0" parTransId="{52EB788F-0317-4CF1-9AE3-F93D41E354C7}" sibTransId="{2304988C-619C-43C1-9C13-6570B1F9505B}"/>
    <dgm:cxn modelId="{441B0AC7-3369-4D3E-9641-A90C6C479B31}" type="presOf" srcId="{2BE4F427-7F24-468D-A0AA-84AFAFE170E5}" destId="{456894FD-DE19-40E7-920B-2E84BD52A86E}" srcOrd="0" destOrd="0" presId="urn:microsoft.com/office/officeart/2005/8/layout/hProcess9"/>
    <dgm:cxn modelId="{FDF7F5EB-9483-4CC8-8B01-B99D1E218392}" srcId="{2BE4F427-7F24-468D-A0AA-84AFAFE170E5}" destId="{484C2E5F-357C-45EC-A610-C7715E706187}" srcOrd="3" destOrd="0" parTransId="{92D2E41C-90C5-4B71-952E-A9873D55902A}" sibTransId="{430C3D35-EAA5-4E2A-8980-545E11F06A6D}"/>
    <dgm:cxn modelId="{FE2B6926-CA32-43F7-B980-B03707F2B1A5}" type="presParOf" srcId="{456894FD-DE19-40E7-920B-2E84BD52A86E}" destId="{9A0F9045-7893-4556-B3F3-5720C8ACC43F}" srcOrd="0" destOrd="0" presId="urn:microsoft.com/office/officeart/2005/8/layout/hProcess9"/>
    <dgm:cxn modelId="{20B18DA4-9495-4039-9B7B-E0FA9AC0940B}" type="presParOf" srcId="{456894FD-DE19-40E7-920B-2E84BD52A86E}" destId="{85852747-A014-41F5-A751-337B7574361E}" srcOrd="1" destOrd="0" presId="urn:microsoft.com/office/officeart/2005/8/layout/hProcess9"/>
    <dgm:cxn modelId="{FA7E017D-096E-4D25-B965-666949D94ECB}" type="presParOf" srcId="{85852747-A014-41F5-A751-337B7574361E}" destId="{EFC9B01B-7FB7-4350-A4D4-CCF5734A58FA}" srcOrd="0" destOrd="0" presId="urn:microsoft.com/office/officeart/2005/8/layout/hProcess9"/>
    <dgm:cxn modelId="{DB92AEBA-DCA6-47EA-A5A6-D48314D26FEF}" type="presParOf" srcId="{85852747-A014-41F5-A751-337B7574361E}" destId="{059C7F5C-2929-41AA-B321-421EAA87493E}" srcOrd="1" destOrd="0" presId="urn:microsoft.com/office/officeart/2005/8/layout/hProcess9"/>
    <dgm:cxn modelId="{4B6BA721-0E23-442D-AF6C-3FB4D1C926EF}" type="presParOf" srcId="{85852747-A014-41F5-A751-337B7574361E}" destId="{C53E8AC9-B3C2-4F22-A024-8206618BE8E9}" srcOrd="2" destOrd="0" presId="urn:microsoft.com/office/officeart/2005/8/layout/hProcess9"/>
    <dgm:cxn modelId="{EA6309E4-30DC-49C2-924C-1B8AD3BDFF30}" type="presParOf" srcId="{85852747-A014-41F5-A751-337B7574361E}" destId="{8FE660C0-5113-487C-9112-86BBF4FB8EC6}" srcOrd="3" destOrd="0" presId="urn:microsoft.com/office/officeart/2005/8/layout/hProcess9"/>
    <dgm:cxn modelId="{92095589-F9EE-4F0F-8C11-7BB308422210}" type="presParOf" srcId="{85852747-A014-41F5-A751-337B7574361E}" destId="{2BC15CC0-AAFC-4719-8E3B-40296FCEF49B}" srcOrd="4" destOrd="0" presId="urn:microsoft.com/office/officeart/2005/8/layout/hProcess9"/>
    <dgm:cxn modelId="{7574A896-755C-453A-821F-C19B09D260A8}" type="presParOf" srcId="{85852747-A014-41F5-A751-337B7574361E}" destId="{CAC39E0B-490D-47C9-AE99-E89CE1B70BBC}" srcOrd="5" destOrd="0" presId="urn:microsoft.com/office/officeart/2005/8/layout/hProcess9"/>
    <dgm:cxn modelId="{EDBE3374-D438-4A17-B0B8-2A2DDDC998D5}" type="presParOf" srcId="{85852747-A014-41F5-A751-337B7574361E}" destId="{5481297F-4CD0-49FE-9D47-1673202E0414}"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2" qsCatId="simple" csTypeId="urn:microsoft.com/office/officeart/2005/8/colors/colorful1#2"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3">
            <a:schemeClr val="lt1"/>
          </a:lnRef>
          <a:fillRef idx="1">
            <a:schemeClr val="accent6"/>
          </a:fillRef>
          <a:effectRef idx="1">
            <a:schemeClr val="accent6"/>
          </a:effectRef>
          <a:fontRef idx="minor">
            <a:schemeClr val="lt1"/>
          </a:fontRef>
        </dgm:style>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91D540-6235-4E81-9CA6-586E2139AD89}" type="doc">
      <dgm:prSet loTypeId="urn:microsoft.com/office/officeart/2005/8/layout/hList1" loCatId="list" qsTypeId="urn:microsoft.com/office/officeart/2005/8/quickstyle/simple1#3" qsCatId="simple" csTypeId="urn:microsoft.com/office/officeart/2005/8/colors/colorful5#1" csCatId="colorful" phldr="1"/>
      <dgm:spPr/>
      <dgm:t>
        <a:bodyPr/>
        <a:lstStyle/>
        <a:p>
          <a:endParaRPr lang="en-US"/>
        </a:p>
      </dgm:t>
    </dgm:pt>
    <dgm:pt modelId="{47B16F09-85B7-4241-A0D7-03C106C26470}">
      <dgm:prSet/>
      <dgm:spPr/>
      <dgm:t>
        <a:bodyPr/>
        <a:lstStyle/>
        <a:p>
          <a:r>
            <a:rPr lang="en-US" dirty="0"/>
            <a:t>The brain as an information processing machine.</a:t>
          </a:r>
        </a:p>
      </dgm:t>
    </dgm:pt>
    <dgm:pt modelId="{3BC1B446-3977-4835-AFA9-E92E64979657}" type="parTrans" cxnId="{FD8A18B0-BCE6-4FC6-91A4-3434E683EFBE}">
      <dgm:prSet/>
      <dgm:spPr/>
      <dgm:t>
        <a:bodyPr/>
        <a:lstStyle/>
        <a:p>
          <a:endParaRPr lang="en-US"/>
        </a:p>
      </dgm:t>
    </dgm:pt>
    <dgm:pt modelId="{9A8CB736-1E2E-4DE4-A8F8-88CB50D0B9DD}" type="sibTrans" cxnId="{FD8A18B0-BCE6-4FC6-91A4-3434E683EFBE}">
      <dgm:prSet/>
      <dgm:spPr/>
      <dgm:t>
        <a:bodyPr/>
        <a:lstStyle/>
        <a:p>
          <a:endParaRPr lang="en-US"/>
        </a:p>
      </dgm:t>
    </dgm:pt>
    <dgm:pt modelId="{4176686A-0A77-4AD4-BC32-27435AC37BAA}">
      <dgm:prSet/>
      <dgm:spPr/>
      <dgm:t>
        <a:bodyPr/>
        <a:lstStyle/>
        <a:p>
          <a:r>
            <a:rPr lang="en-US" dirty="0"/>
            <a:t>How to understand cognition as a computational process? </a:t>
          </a:r>
        </a:p>
      </dgm:t>
    </dgm:pt>
    <dgm:pt modelId="{7E1501A9-09CE-4CC6-B7EE-5B9B170DDCA2}" type="parTrans" cxnId="{9B25E7C0-EF84-4767-895A-812FD7B6A4A3}">
      <dgm:prSet/>
      <dgm:spPr/>
      <dgm:t>
        <a:bodyPr/>
        <a:lstStyle/>
        <a:p>
          <a:endParaRPr lang="en-US"/>
        </a:p>
      </dgm:t>
    </dgm:pt>
    <dgm:pt modelId="{6B3EAF73-0F72-4123-A6EE-8BEA752508BA}" type="sibTrans" cxnId="{9B25E7C0-EF84-4767-895A-812FD7B6A4A3}">
      <dgm:prSet/>
      <dgm:spPr/>
      <dgm:t>
        <a:bodyPr/>
        <a:lstStyle/>
        <a:p>
          <a:endParaRPr lang="en-US"/>
        </a:p>
      </dgm:t>
    </dgm:pt>
    <dgm:pt modelId="{9F573DBB-B06F-47B4-845A-DA3A6AC01866}">
      <dgm:prSet/>
      <dgm:spPr/>
      <dgm:t>
        <a:bodyPr/>
        <a:lstStyle/>
        <a:p>
          <a:r>
            <a:rPr lang="en-US" dirty="0"/>
            <a:t>Introspection: try to think about how we think.</a:t>
          </a:r>
        </a:p>
      </dgm:t>
    </dgm:pt>
    <dgm:pt modelId="{03CB14EE-8448-4AA2-B572-4C7D7AB63A92}" type="parTrans" cxnId="{4BF86441-F20B-49C0-BFA7-40D77F60441C}">
      <dgm:prSet/>
      <dgm:spPr/>
      <dgm:t>
        <a:bodyPr/>
        <a:lstStyle/>
        <a:p>
          <a:endParaRPr lang="en-US"/>
        </a:p>
      </dgm:t>
    </dgm:pt>
    <dgm:pt modelId="{B535AAFE-5536-41C9-917D-B3734792BCB0}" type="sibTrans" cxnId="{4BF86441-F20B-49C0-BFA7-40D77F60441C}">
      <dgm:prSet/>
      <dgm:spPr/>
      <dgm:t>
        <a:bodyPr/>
        <a:lstStyle/>
        <a:p>
          <a:endParaRPr lang="en-US"/>
        </a:p>
      </dgm:t>
    </dgm:pt>
    <dgm:pt modelId="{D9B12A12-0793-4D2A-AA4A-439DD7CD4BE2}">
      <dgm:prSet/>
      <dgm:spPr/>
      <dgm:t>
        <a:bodyPr/>
        <a:lstStyle/>
        <a:p>
          <a:r>
            <a:rPr lang="en-US" b="1" dirty="0"/>
            <a:t>Predict the behavior of human</a:t>
          </a:r>
          <a:r>
            <a:rPr lang="en-US" dirty="0"/>
            <a:t> subjects.</a:t>
          </a:r>
        </a:p>
      </dgm:t>
    </dgm:pt>
    <dgm:pt modelId="{389A5292-1AF9-4BD8-8CDF-1DEC47AD692D}" type="parTrans" cxnId="{611735C9-FF1D-4C98-BB83-E8ACCC61720E}">
      <dgm:prSet/>
      <dgm:spPr/>
      <dgm:t>
        <a:bodyPr/>
        <a:lstStyle/>
        <a:p>
          <a:endParaRPr lang="en-US"/>
        </a:p>
      </dgm:t>
    </dgm:pt>
    <dgm:pt modelId="{4B5C9C2E-9877-4DA3-A4AB-6C14F972EB25}" type="sibTrans" cxnId="{611735C9-FF1D-4C98-BB83-E8ACCC61720E}">
      <dgm:prSet/>
      <dgm:spPr/>
      <dgm:t>
        <a:bodyPr/>
        <a:lstStyle/>
        <a:p>
          <a:endParaRPr lang="en-US"/>
        </a:p>
      </dgm:t>
    </dgm:pt>
    <dgm:pt modelId="{71B30901-C32D-4877-AE34-A452B78B1192}">
      <dgm:prSet/>
      <dgm:spPr/>
      <dgm:t>
        <a:bodyPr/>
        <a:lstStyle/>
        <a:p>
          <a:r>
            <a:rPr lang="en-US" dirty="0"/>
            <a:t>Image the brain, examine neurological data</a:t>
          </a:r>
        </a:p>
      </dgm:t>
    </dgm:pt>
    <dgm:pt modelId="{0649210F-85D3-4AB6-ACD3-A30ED6379DF2}" type="parTrans" cxnId="{1F243229-EF46-4976-A82B-20BF7EF05D58}">
      <dgm:prSet/>
      <dgm:spPr/>
      <dgm:t>
        <a:bodyPr/>
        <a:lstStyle/>
        <a:p>
          <a:endParaRPr lang="en-US"/>
        </a:p>
      </dgm:t>
    </dgm:pt>
    <dgm:pt modelId="{DBCE388C-64A7-4741-99A9-CA41C0091746}" type="sibTrans" cxnId="{1F243229-EF46-4976-A82B-20BF7EF05D58}">
      <dgm:prSet/>
      <dgm:spPr/>
      <dgm:t>
        <a:bodyPr/>
        <a:lstStyle/>
        <a:p>
          <a:endParaRPr lang="en-US"/>
        </a:p>
      </dgm:t>
    </dgm:pt>
    <dgm:pt modelId="{54D207B6-6EAA-4DAC-A64A-CC95C19AF78C}">
      <dgm:prSet/>
      <dgm:spPr/>
      <dgm:t>
        <a:bodyPr/>
        <a:lstStyle/>
        <a:p>
          <a:r>
            <a:rPr lang="en-US" dirty="0"/>
            <a:t>Requires scientific theories of </a:t>
          </a:r>
          <a:r>
            <a:rPr lang="en-US" b="1" dirty="0"/>
            <a:t>how the brain works</a:t>
          </a:r>
          <a:r>
            <a:rPr lang="en-US" dirty="0"/>
            <a:t>.</a:t>
          </a:r>
          <a:br>
            <a:rPr lang="en-US" dirty="0"/>
          </a:br>
          <a:br>
            <a:rPr lang="en-US" dirty="0"/>
          </a:br>
          <a:br>
            <a:rPr lang="en-US" dirty="0"/>
          </a:br>
          <a:r>
            <a:rPr lang="en-US" b="1" dirty="0"/>
            <a:t>Note</a:t>
          </a:r>
          <a:r>
            <a:rPr lang="en-US" dirty="0"/>
            <a:t>: The brain does not work like artificial neural networks from machine learning!</a:t>
          </a:r>
        </a:p>
      </dgm:t>
    </dgm:pt>
    <dgm:pt modelId="{D5E46255-BAD8-4598-958E-04C62512C8CF}" type="parTrans" cxnId="{0CB1E9B2-EBC7-4388-AB12-9A1E3C24E69D}">
      <dgm:prSet/>
      <dgm:spPr/>
      <dgm:t>
        <a:bodyPr/>
        <a:lstStyle/>
        <a:p>
          <a:endParaRPr lang="en-US"/>
        </a:p>
      </dgm:t>
    </dgm:pt>
    <dgm:pt modelId="{88BAFD53-9D2F-4E81-9532-279C6A73F419}" type="sibTrans" cxnId="{0CB1E9B2-EBC7-4388-AB12-9A1E3C24E69D}">
      <dgm:prSet/>
      <dgm:spPr/>
      <dgm:t>
        <a:bodyPr/>
        <a:lstStyle/>
        <a:p>
          <a:endParaRPr lang="en-US"/>
        </a:p>
      </dgm:t>
    </dgm:pt>
    <dgm:pt modelId="{CE88C111-DA73-4870-B41D-63ADAED290A2}" type="pres">
      <dgm:prSet presAssocID="{FB91D540-6235-4E81-9CA6-586E2139AD89}" presName="Name0" presStyleCnt="0">
        <dgm:presLayoutVars>
          <dgm:dir/>
          <dgm:animLvl val="lvl"/>
          <dgm:resizeHandles val="exact"/>
        </dgm:presLayoutVars>
      </dgm:prSet>
      <dgm:spPr/>
    </dgm:pt>
    <dgm:pt modelId="{62E46302-58C2-4215-AAF9-3CBB71B72509}" type="pres">
      <dgm:prSet presAssocID="{47B16F09-85B7-4241-A0D7-03C106C26470}" presName="composite" presStyleCnt="0"/>
      <dgm:spPr/>
    </dgm:pt>
    <dgm:pt modelId="{1171FF4F-B934-4BF3-88D9-4C67E3E8E620}" type="pres">
      <dgm:prSet presAssocID="{47B16F09-85B7-4241-A0D7-03C106C26470}" presName="parTx" presStyleLbl="alignNode1" presStyleIdx="0" presStyleCnt="2">
        <dgm:presLayoutVars>
          <dgm:chMax val="0"/>
          <dgm:chPref val="0"/>
          <dgm:bulletEnabled val="1"/>
        </dgm:presLayoutVars>
      </dgm:prSet>
      <dgm:spPr/>
    </dgm:pt>
    <dgm:pt modelId="{057C3BCC-3CA5-4CC4-B7F5-24388E3176BF}" type="pres">
      <dgm:prSet presAssocID="{47B16F09-85B7-4241-A0D7-03C106C26470}" presName="desTx" presStyleLbl="alignAccFollowNode1" presStyleIdx="0" presStyleCnt="2">
        <dgm:presLayoutVars>
          <dgm:bulletEnabled val="1"/>
        </dgm:presLayoutVars>
      </dgm:prSet>
      <dgm:spPr/>
    </dgm:pt>
    <dgm:pt modelId="{D47BE8EF-9534-4532-A078-77F96A7259D3}" type="pres">
      <dgm:prSet presAssocID="{9A8CB736-1E2E-4DE4-A8F8-88CB50D0B9DD}" presName="space" presStyleCnt="0"/>
      <dgm:spPr/>
    </dgm:pt>
    <dgm:pt modelId="{AD4C5177-23FD-4061-B97F-B4D0EFBCC1FE}" type="pres">
      <dgm:prSet presAssocID="{4176686A-0A77-4AD4-BC32-27435AC37BAA}" presName="composite" presStyleCnt="0"/>
      <dgm:spPr/>
    </dgm:pt>
    <dgm:pt modelId="{35853A24-3A1A-4732-AB27-64EAA882E8E5}" type="pres">
      <dgm:prSet presAssocID="{4176686A-0A77-4AD4-BC32-27435AC37BAA}" presName="parTx" presStyleLbl="alignNode1" presStyleIdx="1" presStyleCnt="2">
        <dgm:presLayoutVars>
          <dgm:chMax val="0"/>
          <dgm:chPref val="0"/>
          <dgm:bulletEnabled val="1"/>
        </dgm:presLayoutVars>
      </dgm:prSet>
      <dgm:spPr/>
    </dgm:pt>
    <dgm:pt modelId="{39A921E0-BCBA-470A-9186-791A7E8DF1C7}" type="pres">
      <dgm:prSet presAssocID="{4176686A-0A77-4AD4-BC32-27435AC37BAA}" presName="desTx" presStyleLbl="alignAccFollowNode1" presStyleIdx="1" presStyleCnt="2">
        <dgm:presLayoutVars>
          <dgm:bulletEnabled val="1"/>
        </dgm:presLayoutVars>
      </dgm:prSet>
      <dgm:spPr/>
    </dgm:pt>
  </dgm:ptLst>
  <dgm:cxnLst>
    <dgm:cxn modelId="{6AC09205-E7AF-4175-8A65-C17C67DDCD76}" type="presOf" srcId="{D9B12A12-0793-4D2A-AA4A-439DD7CD4BE2}" destId="{39A921E0-BCBA-470A-9186-791A7E8DF1C7}" srcOrd="0" destOrd="1" presId="urn:microsoft.com/office/officeart/2005/8/layout/hList1"/>
    <dgm:cxn modelId="{1F243229-EF46-4976-A82B-20BF7EF05D58}" srcId="{4176686A-0A77-4AD4-BC32-27435AC37BAA}" destId="{71B30901-C32D-4877-AE34-A452B78B1192}" srcOrd="2" destOrd="0" parTransId="{0649210F-85D3-4AB6-ACD3-A30ED6379DF2}" sibTransId="{DBCE388C-64A7-4741-99A9-CA41C0091746}"/>
    <dgm:cxn modelId="{4BF86441-F20B-49C0-BFA7-40D77F60441C}" srcId="{4176686A-0A77-4AD4-BC32-27435AC37BAA}" destId="{9F573DBB-B06F-47B4-845A-DA3A6AC01866}" srcOrd="0" destOrd="0" parTransId="{03CB14EE-8448-4AA2-B572-4C7D7AB63A92}" sibTransId="{B535AAFE-5536-41C9-917D-B3734792BCB0}"/>
    <dgm:cxn modelId="{C5FCE947-2202-4F18-9E06-CA9629E5530F}" type="presOf" srcId="{FB91D540-6235-4E81-9CA6-586E2139AD89}" destId="{CE88C111-DA73-4870-B41D-63ADAED290A2}" srcOrd="0" destOrd="0" presId="urn:microsoft.com/office/officeart/2005/8/layout/hList1"/>
    <dgm:cxn modelId="{F40DF748-129A-4CD6-9604-6C863B455CDE}" type="presOf" srcId="{9F573DBB-B06F-47B4-845A-DA3A6AC01866}" destId="{39A921E0-BCBA-470A-9186-791A7E8DF1C7}" srcOrd="0" destOrd="0" presId="urn:microsoft.com/office/officeart/2005/8/layout/hList1"/>
    <dgm:cxn modelId="{A7754A94-412A-4030-A900-977D14188EEA}" type="presOf" srcId="{71B30901-C32D-4877-AE34-A452B78B1192}" destId="{39A921E0-BCBA-470A-9186-791A7E8DF1C7}" srcOrd="0" destOrd="2" presId="urn:microsoft.com/office/officeart/2005/8/layout/hList1"/>
    <dgm:cxn modelId="{7831089A-207D-4E87-BFE9-E5650A84AA93}" type="presOf" srcId="{54D207B6-6EAA-4DAC-A64A-CC95C19AF78C}" destId="{057C3BCC-3CA5-4CC4-B7F5-24388E3176BF}" srcOrd="0" destOrd="0" presId="urn:microsoft.com/office/officeart/2005/8/layout/hList1"/>
    <dgm:cxn modelId="{7483699D-0889-4045-AEB4-C98581805735}" type="presOf" srcId="{47B16F09-85B7-4241-A0D7-03C106C26470}" destId="{1171FF4F-B934-4BF3-88D9-4C67E3E8E620}" srcOrd="0" destOrd="0" presId="urn:microsoft.com/office/officeart/2005/8/layout/hList1"/>
    <dgm:cxn modelId="{FD8A18B0-BCE6-4FC6-91A4-3434E683EFBE}" srcId="{FB91D540-6235-4E81-9CA6-586E2139AD89}" destId="{47B16F09-85B7-4241-A0D7-03C106C26470}" srcOrd="0" destOrd="0" parTransId="{3BC1B446-3977-4835-AFA9-E92E64979657}" sibTransId="{9A8CB736-1E2E-4DE4-A8F8-88CB50D0B9DD}"/>
    <dgm:cxn modelId="{0CB1E9B2-EBC7-4388-AB12-9A1E3C24E69D}" srcId="{47B16F09-85B7-4241-A0D7-03C106C26470}" destId="{54D207B6-6EAA-4DAC-A64A-CC95C19AF78C}" srcOrd="0" destOrd="0" parTransId="{D5E46255-BAD8-4598-958E-04C62512C8CF}" sibTransId="{88BAFD53-9D2F-4E81-9532-279C6A73F419}"/>
    <dgm:cxn modelId="{9B25E7C0-EF84-4767-895A-812FD7B6A4A3}" srcId="{FB91D540-6235-4E81-9CA6-586E2139AD89}" destId="{4176686A-0A77-4AD4-BC32-27435AC37BAA}" srcOrd="1" destOrd="0" parTransId="{7E1501A9-09CE-4CC6-B7EE-5B9B170DDCA2}" sibTransId="{6B3EAF73-0F72-4123-A6EE-8BEA752508BA}"/>
    <dgm:cxn modelId="{611735C9-FF1D-4C98-BB83-E8ACCC61720E}" srcId="{4176686A-0A77-4AD4-BC32-27435AC37BAA}" destId="{D9B12A12-0793-4D2A-AA4A-439DD7CD4BE2}" srcOrd="1" destOrd="0" parTransId="{389A5292-1AF9-4BD8-8CDF-1DEC47AD692D}" sibTransId="{4B5C9C2E-9877-4DA3-A4AB-6C14F972EB25}"/>
    <dgm:cxn modelId="{B149E2E0-3172-4DFA-90EB-5B2F16672EFC}" type="presOf" srcId="{4176686A-0A77-4AD4-BC32-27435AC37BAA}" destId="{35853A24-3A1A-4732-AB27-64EAA882E8E5}" srcOrd="0" destOrd="0" presId="urn:microsoft.com/office/officeart/2005/8/layout/hList1"/>
    <dgm:cxn modelId="{0FC90147-F882-47F9-8683-D8639905486F}" type="presParOf" srcId="{CE88C111-DA73-4870-B41D-63ADAED290A2}" destId="{62E46302-58C2-4215-AAF9-3CBB71B72509}" srcOrd="0" destOrd="0" presId="urn:microsoft.com/office/officeart/2005/8/layout/hList1"/>
    <dgm:cxn modelId="{F1851906-18A2-4061-B96D-543D11E9D7D7}" type="presParOf" srcId="{62E46302-58C2-4215-AAF9-3CBB71B72509}" destId="{1171FF4F-B934-4BF3-88D9-4C67E3E8E620}" srcOrd="0" destOrd="0" presId="urn:microsoft.com/office/officeart/2005/8/layout/hList1"/>
    <dgm:cxn modelId="{F3455870-7202-47D7-BF3A-9906EB6785A8}" type="presParOf" srcId="{62E46302-58C2-4215-AAF9-3CBB71B72509}" destId="{057C3BCC-3CA5-4CC4-B7F5-24388E3176BF}" srcOrd="1" destOrd="0" presId="urn:microsoft.com/office/officeart/2005/8/layout/hList1"/>
    <dgm:cxn modelId="{1AC77607-853E-453F-9004-8D5B1092835D}" type="presParOf" srcId="{CE88C111-DA73-4870-B41D-63ADAED290A2}" destId="{D47BE8EF-9534-4532-A078-77F96A7259D3}" srcOrd="1" destOrd="0" presId="urn:microsoft.com/office/officeart/2005/8/layout/hList1"/>
    <dgm:cxn modelId="{415F15E5-EE68-4C3A-B322-1EA654194881}" type="presParOf" srcId="{CE88C111-DA73-4870-B41D-63ADAED290A2}" destId="{AD4C5177-23FD-4061-B97F-B4D0EFBCC1FE}" srcOrd="2" destOrd="0" presId="urn:microsoft.com/office/officeart/2005/8/layout/hList1"/>
    <dgm:cxn modelId="{4FA70D73-02F7-416C-8FCA-30A2464F7404}" type="presParOf" srcId="{AD4C5177-23FD-4061-B97F-B4D0EFBCC1FE}" destId="{35853A24-3A1A-4732-AB27-64EAA882E8E5}" srcOrd="0" destOrd="0" presId="urn:microsoft.com/office/officeart/2005/8/layout/hList1"/>
    <dgm:cxn modelId="{5699DB66-8A4A-4CCD-B9FC-C0849E0B839E}" type="presParOf" srcId="{AD4C5177-23FD-4061-B97F-B4D0EFBCC1FE}" destId="{39A921E0-BCBA-470A-9186-791A7E8DF1C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4" qsCatId="simple" csTypeId="urn:microsoft.com/office/officeart/2005/8/colors/colorful1#3"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5" qsCatId="simple" csTypeId="urn:microsoft.com/office/officeart/2005/8/colors/colorful1#4"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3">
            <a:schemeClr val="lt1"/>
          </a:lnRef>
          <a:fillRef idx="1">
            <a:schemeClr val="accent6"/>
          </a:fillRef>
          <a:effectRef idx="1">
            <a:schemeClr val="accent6"/>
          </a:effectRef>
          <a:fontRef idx="minor">
            <a:schemeClr val="lt1"/>
          </a:fontRef>
        </dgm:style>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6" qsCatId="simple" csTypeId="urn:microsoft.com/office/officeart/2005/8/colors/colorful1#5"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3">
            <a:schemeClr val="lt1"/>
          </a:lnRef>
          <a:fillRef idx="1">
            <a:schemeClr val="accent4"/>
          </a:fillRef>
          <a:effectRef idx="1">
            <a:schemeClr val="accent4"/>
          </a:effectRef>
          <a:fontRef idx="minor">
            <a:schemeClr val="lt1"/>
          </a:fontRef>
        </dgm:style>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7" qsCatId="simple" csTypeId="urn:microsoft.com/office/officeart/2005/8/colors/colorful1#6" csCatId="colorful" phldr="1"/>
      <dgm:spPr/>
      <dgm:t>
        <a:bodyPr/>
        <a:lstStyle/>
        <a:p>
          <a:endParaRPr lang="en-US"/>
        </a:p>
      </dgm:t>
    </dgm:pt>
    <dgm:pt modelId="{6A3A96B7-CBB0-421E-8348-37E89F9DCC08}">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tyle>
          <a:lnRef idx="0">
            <a:scrgbClr r="0" g="0" b="0"/>
          </a:lnRef>
          <a:fillRef idx="0">
            <a:scrgbClr r="0" g="0" b="0"/>
          </a:fillRef>
          <a:effectRef idx="0">
            <a:scrgbClr r="0" g="0" b="0"/>
          </a:effectRef>
          <a:fontRef idx="minor">
            <a:schemeClr val="lt1"/>
          </a:fontRef>
        </dgm:style>
      </dgm:prSet>
      <dgm:spPr>
        <a:solidFill>
          <a:schemeClr val="dk1">
            <a:alpha val="50000"/>
          </a:schemeClr>
        </a:solidFill>
        <a:ln>
          <a:noFill/>
        </a:ln>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tyle>
          <a:lnRef idx="3">
            <a:schemeClr val="lt1"/>
          </a:lnRef>
          <a:fillRef idx="1">
            <a:schemeClr val="accent5"/>
          </a:fillRef>
          <a:effectRef idx="1">
            <a:schemeClr val="accent5"/>
          </a:effectRef>
          <a:fontRef idx="minor">
            <a:schemeClr val="lt1"/>
          </a:fontRef>
        </dgm:style>
      </dgm:prSet>
      <dgm:spPr/>
      <dgm:t>
        <a:bodyPr/>
        <a:lstStyle/>
        <a:p>
          <a:r>
            <a:rPr lang="en-US"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832AB2-8936-4470-B909-BE7402322893}" type="doc">
      <dgm:prSet loTypeId="urn:microsoft.com/office/officeart/2005/8/layout/hierarchy3" loCatId="hierarchy" qsTypeId="urn:microsoft.com/office/officeart/2005/8/quickstyle/simple1#8" qsCatId="simple" csTypeId="urn:microsoft.com/office/officeart/2005/8/colors/colorful1#7" csCatId="colorful" phldr="1"/>
      <dgm:spPr/>
      <dgm:t>
        <a:bodyPr/>
        <a:lstStyle/>
        <a:p>
          <a:endParaRPr lang="en-US"/>
        </a:p>
      </dgm:t>
    </dgm:pt>
    <dgm:pt modelId="{6A3A96B7-CBB0-421E-8348-37E89F9DCC08}">
      <dgm:prSet/>
      <dgm:spPr/>
      <dgm:t>
        <a:bodyPr/>
        <a:lstStyle/>
        <a:p>
          <a:r>
            <a:rPr lang="en-US" dirty="0"/>
            <a:t>think like a human?</a:t>
          </a:r>
        </a:p>
      </dgm:t>
    </dgm:pt>
    <dgm:pt modelId="{04AE0A4E-B07C-4F7C-9018-F5F08434BBB8}" type="parTrans" cxnId="{79293258-1F1D-481C-BEF0-DEB360FD8894}">
      <dgm:prSet/>
      <dgm:spPr/>
      <dgm:t>
        <a:bodyPr/>
        <a:lstStyle/>
        <a:p>
          <a:endParaRPr lang="en-US"/>
        </a:p>
      </dgm:t>
    </dgm:pt>
    <dgm:pt modelId="{7E53CCB1-1282-4A85-8552-9211D16E0FF6}" type="sibTrans" cxnId="{79293258-1F1D-481C-BEF0-DEB360FD8894}">
      <dgm:prSet/>
      <dgm:spPr/>
      <dgm:t>
        <a:bodyPr/>
        <a:lstStyle/>
        <a:p>
          <a:endParaRPr lang="en-US"/>
        </a:p>
      </dgm:t>
    </dgm:pt>
    <dgm:pt modelId="{CE78E4BB-83F8-47E6-A961-7AC133F50D50}">
      <dgm:prSet/>
      <dgm:spPr/>
      <dgm:t>
        <a:bodyPr/>
        <a:lstStyle/>
        <a:p>
          <a:r>
            <a:rPr lang="en-US" dirty="0"/>
            <a:t>act like a human?</a:t>
          </a:r>
        </a:p>
      </dgm:t>
    </dgm:pt>
    <dgm:pt modelId="{9954E93C-DB74-4489-A2EB-C3560DD8465B}" type="parTrans" cxnId="{AE580DDA-90E7-4734-AB7C-C1348C4BD1E7}">
      <dgm:prSet/>
      <dgm:spPr/>
      <dgm:t>
        <a:bodyPr/>
        <a:lstStyle/>
        <a:p>
          <a:endParaRPr lang="en-US"/>
        </a:p>
      </dgm:t>
    </dgm:pt>
    <dgm:pt modelId="{26DCD576-8567-48DF-8A0D-00AF7A1DFC6D}" type="sibTrans" cxnId="{AE580DDA-90E7-4734-AB7C-C1348C4BD1E7}">
      <dgm:prSet/>
      <dgm:spPr/>
      <dgm:t>
        <a:bodyPr/>
        <a:lstStyle/>
        <a:p>
          <a:endParaRPr lang="en-US"/>
        </a:p>
      </dgm:t>
    </dgm:pt>
    <dgm:pt modelId="{699E814A-C7BB-45C9-8528-BC8893110D3A}">
      <dgm:prSet/>
      <dgm:spPr/>
      <dgm:t>
        <a:bodyPr/>
        <a:lstStyle/>
        <a:p>
          <a:r>
            <a:rPr lang="en-US" dirty="0"/>
            <a:t>think rationally?</a:t>
          </a:r>
        </a:p>
      </dgm:t>
    </dgm:pt>
    <dgm:pt modelId="{315CA7EE-92C9-4D75-994E-DB8B3B65E079}" type="parTrans" cxnId="{B3EB14C0-37D9-4E1E-B1F1-D77AF15ADB17}">
      <dgm:prSet/>
      <dgm:spPr/>
      <dgm:t>
        <a:bodyPr/>
        <a:lstStyle/>
        <a:p>
          <a:endParaRPr lang="en-US"/>
        </a:p>
      </dgm:t>
    </dgm:pt>
    <dgm:pt modelId="{5E170A91-AAF4-41A0-98AF-36E7EF8A8185}" type="sibTrans" cxnId="{B3EB14C0-37D9-4E1E-B1F1-D77AF15ADB17}">
      <dgm:prSet/>
      <dgm:spPr/>
      <dgm:t>
        <a:bodyPr/>
        <a:lstStyle/>
        <a:p>
          <a:endParaRPr lang="en-US"/>
        </a:p>
      </dgm:t>
    </dgm:pt>
    <dgm:pt modelId="{BB38D456-89FF-45BB-9803-6B30B36AACB9}">
      <dgm:prSet/>
      <dgm:spPr/>
      <dgm:t>
        <a:bodyPr/>
        <a:lstStyle/>
        <a:p>
          <a:r>
            <a:rPr lang="en-US" b="1" dirty="0"/>
            <a:t>act rationally.</a:t>
          </a:r>
        </a:p>
      </dgm:t>
    </dgm:pt>
    <dgm:pt modelId="{1AD6F811-8452-48AE-A0E3-1CAC1CBEC7F8}" type="parTrans" cxnId="{5C8C1C89-64B1-4A8F-84FD-D3CEC8F0FBFB}">
      <dgm:prSet/>
      <dgm:spPr/>
      <dgm:t>
        <a:bodyPr/>
        <a:lstStyle/>
        <a:p>
          <a:endParaRPr lang="en-US"/>
        </a:p>
      </dgm:t>
    </dgm:pt>
    <dgm:pt modelId="{C82D3F18-CB81-49C6-A3EA-F19001DD8F8A}" type="sibTrans" cxnId="{5C8C1C89-64B1-4A8F-84FD-D3CEC8F0FBFB}">
      <dgm:prSet/>
      <dgm:spPr/>
      <dgm:t>
        <a:bodyPr/>
        <a:lstStyle/>
        <a:p>
          <a:endParaRPr lang="en-US"/>
        </a:p>
      </dgm:t>
    </dgm:pt>
    <dgm:pt modelId="{8A865662-0E1F-48A4-A993-51A2BB9B2E4F}" type="pres">
      <dgm:prSet presAssocID="{E0832AB2-8936-4470-B909-BE7402322893}" presName="diagram" presStyleCnt="0">
        <dgm:presLayoutVars>
          <dgm:chPref val="1"/>
          <dgm:dir/>
          <dgm:animOne val="branch"/>
          <dgm:animLvl val="lvl"/>
          <dgm:resizeHandles/>
        </dgm:presLayoutVars>
      </dgm:prSet>
      <dgm:spPr/>
    </dgm:pt>
    <dgm:pt modelId="{EAC5ADFE-339A-4113-97C8-2B160FB55301}" type="pres">
      <dgm:prSet presAssocID="{6A3A96B7-CBB0-421E-8348-37E89F9DCC08}" presName="root" presStyleCnt="0"/>
      <dgm:spPr/>
    </dgm:pt>
    <dgm:pt modelId="{F7FD8F5A-9E67-42AB-81D8-27CA125220BB}" type="pres">
      <dgm:prSet presAssocID="{6A3A96B7-CBB0-421E-8348-37E89F9DCC08}" presName="rootComposite" presStyleCnt="0"/>
      <dgm:spPr/>
    </dgm:pt>
    <dgm:pt modelId="{3028E8D7-EA6F-4EA7-978A-43633D6AEAF6}" type="pres">
      <dgm:prSet presAssocID="{6A3A96B7-CBB0-421E-8348-37E89F9DCC08}" presName="rootText" presStyleLbl="node1" presStyleIdx="0" presStyleCnt="4"/>
      <dgm:spPr/>
    </dgm:pt>
    <dgm:pt modelId="{7E96EBE4-03A1-4197-A609-8D826601ABC1}" type="pres">
      <dgm:prSet presAssocID="{6A3A96B7-CBB0-421E-8348-37E89F9DCC08}" presName="rootConnector" presStyleLbl="node1" presStyleIdx="0" presStyleCnt="4"/>
      <dgm:spPr/>
    </dgm:pt>
    <dgm:pt modelId="{FD32282A-0269-4D8F-A4C8-0AC524E4BE98}" type="pres">
      <dgm:prSet presAssocID="{6A3A96B7-CBB0-421E-8348-37E89F9DCC08}" presName="childShape" presStyleCnt="0"/>
      <dgm:spPr/>
    </dgm:pt>
    <dgm:pt modelId="{4A7754E5-4AF7-4EF3-80D7-CE8DA9A463B0}" type="pres">
      <dgm:prSet presAssocID="{CE78E4BB-83F8-47E6-A961-7AC133F50D50}" presName="root" presStyleCnt="0"/>
      <dgm:spPr/>
    </dgm:pt>
    <dgm:pt modelId="{9FB9EDC3-647D-443D-8F9A-912D7651812C}" type="pres">
      <dgm:prSet presAssocID="{CE78E4BB-83F8-47E6-A961-7AC133F50D50}" presName="rootComposite" presStyleCnt="0"/>
      <dgm:spPr/>
    </dgm:pt>
    <dgm:pt modelId="{0BCE1037-9706-410D-834A-ECEC4388E735}" type="pres">
      <dgm:prSet presAssocID="{CE78E4BB-83F8-47E6-A961-7AC133F50D50}" presName="rootText" presStyleLbl="node1" presStyleIdx="1" presStyleCnt="4"/>
      <dgm:spPr/>
    </dgm:pt>
    <dgm:pt modelId="{26658136-CA3D-42D7-A36B-88198D905A09}" type="pres">
      <dgm:prSet presAssocID="{CE78E4BB-83F8-47E6-A961-7AC133F50D50}" presName="rootConnector" presStyleLbl="node1" presStyleIdx="1" presStyleCnt="4"/>
      <dgm:spPr/>
    </dgm:pt>
    <dgm:pt modelId="{F820BF47-1A0C-43F5-AAAD-6ACB2E9AD490}" type="pres">
      <dgm:prSet presAssocID="{CE78E4BB-83F8-47E6-A961-7AC133F50D50}" presName="childShape" presStyleCnt="0"/>
      <dgm:spPr/>
    </dgm:pt>
    <dgm:pt modelId="{5194E25F-D379-447F-929A-993DB7FDEBB6}" type="pres">
      <dgm:prSet presAssocID="{699E814A-C7BB-45C9-8528-BC8893110D3A}" presName="root" presStyleCnt="0"/>
      <dgm:spPr/>
    </dgm:pt>
    <dgm:pt modelId="{340FD182-E020-4339-8DC5-CEFA222C64AC}" type="pres">
      <dgm:prSet presAssocID="{699E814A-C7BB-45C9-8528-BC8893110D3A}" presName="rootComposite" presStyleCnt="0"/>
      <dgm:spPr/>
    </dgm:pt>
    <dgm:pt modelId="{405FCD6E-D4E8-41FA-B6A2-E4BB402E06BE}" type="pres">
      <dgm:prSet presAssocID="{699E814A-C7BB-45C9-8528-BC8893110D3A}" presName="rootText" presStyleLbl="node1" presStyleIdx="2" presStyleCnt="4"/>
      <dgm:spPr/>
    </dgm:pt>
    <dgm:pt modelId="{145781A5-5489-4E99-8DDD-A5C31F300089}" type="pres">
      <dgm:prSet presAssocID="{699E814A-C7BB-45C9-8528-BC8893110D3A}" presName="rootConnector" presStyleLbl="node1" presStyleIdx="2" presStyleCnt="4"/>
      <dgm:spPr/>
    </dgm:pt>
    <dgm:pt modelId="{4DD10E36-D14C-490A-BF06-A6B3FAFA273E}" type="pres">
      <dgm:prSet presAssocID="{699E814A-C7BB-45C9-8528-BC8893110D3A}" presName="childShape" presStyleCnt="0"/>
      <dgm:spPr/>
    </dgm:pt>
    <dgm:pt modelId="{C9B5881D-401D-4DFF-ADCD-A76BC6719BD1}" type="pres">
      <dgm:prSet presAssocID="{BB38D456-89FF-45BB-9803-6B30B36AACB9}" presName="root" presStyleCnt="0"/>
      <dgm:spPr/>
    </dgm:pt>
    <dgm:pt modelId="{3A20517E-5B01-4A3D-B6A4-42B27CCE0F77}" type="pres">
      <dgm:prSet presAssocID="{BB38D456-89FF-45BB-9803-6B30B36AACB9}" presName="rootComposite" presStyleCnt="0"/>
      <dgm:spPr/>
    </dgm:pt>
    <dgm:pt modelId="{8C5134CD-97C1-4A5D-8A99-397EA240E35C}" type="pres">
      <dgm:prSet presAssocID="{BB38D456-89FF-45BB-9803-6B30B36AACB9}" presName="rootText" presStyleLbl="node1" presStyleIdx="3" presStyleCnt="4"/>
      <dgm:spPr/>
    </dgm:pt>
    <dgm:pt modelId="{E785B7E3-F502-42E2-BE10-1B2C6EE54F76}" type="pres">
      <dgm:prSet presAssocID="{BB38D456-89FF-45BB-9803-6B30B36AACB9}" presName="rootConnector" presStyleLbl="node1" presStyleIdx="3" presStyleCnt="4"/>
      <dgm:spPr/>
    </dgm:pt>
    <dgm:pt modelId="{FECB1FBB-D3A5-464E-A91C-971D9A42C899}" type="pres">
      <dgm:prSet presAssocID="{BB38D456-89FF-45BB-9803-6B30B36AACB9}" presName="childShape" presStyleCnt="0"/>
      <dgm:spPr/>
    </dgm:pt>
  </dgm:ptLst>
  <dgm:cxnLst>
    <dgm:cxn modelId="{1A1E0818-8BC6-4A02-9D1E-E295C53E254E}" type="presOf" srcId="{699E814A-C7BB-45C9-8528-BC8893110D3A}" destId="{405FCD6E-D4E8-41FA-B6A2-E4BB402E06BE}" srcOrd="0" destOrd="0" presId="urn:microsoft.com/office/officeart/2005/8/layout/hierarchy3"/>
    <dgm:cxn modelId="{B1BB7568-5333-44BF-B6BD-938932D55139}" type="presOf" srcId="{6A3A96B7-CBB0-421E-8348-37E89F9DCC08}" destId="{3028E8D7-EA6F-4EA7-978A-43633D6AEAF6}" srcOrd="0" destOrd="0" presId="urn:microsoft.com/office/officeart/2005/8/layout/hierarchy3"/>
    <dgm:cxn modelId="{79293258-1F1D-481C-BEF0-DEB360FD8894}" srcId="{E0832AB2-8936-4470-B909-BE7402322893}" destId="{6A3A96B7-CBB0-421E-8348-37E89F9DCC08}" srcOrd="0" destOrd="0" parTransId="{04AE0A4E-B07C-4F7C-9018-F5F08434BBB8}" sibTransId="{7E53CCB1-1282-4A85-8552-9211D16E0FF6}"/>
    <dgm:cxn modelId="{9431497A-9835-404F-8A09-7068AAA8F50A}" type="presOf" srcId="{E0832AB2-8936-4470-B909-BE7402322893}" destId="{8A865662-0E1F-48A4-A993-51A2BB9B2E4F}" srcOrd="0" destOrd="0" presId="urn:microsoft.com/office/officeart/2005/8/layout/hierarchy3"/>
    <dgm:cxn modelId="{5C8C1C89-64B1-4A8F-84FD-D3CEC8F0FBFB}" srcId="{E0832AB2-8936-4470-B909-BE7402322893}" destId="{BB38D456-89FF-45BB-9803-6B30B36AACB9}" srcOrd="3" destOrd="0" parTransId="{1AD6F811-8452-48AE-A0E3-1CAC1CBEC7F8}" sibTransId="{C82D3F18-CB81-49C6-A3EA-F19001DD8F8A}"/>
    <dgm:cxn modelId="{CC528B8E-AA26-4738-8842-B207932A21D5}" type="presOf" srcId="{BB38D456-89FF-45BB-9803-6B30B36AACB9}" destId="{8C5134CD-97C1-4A5D-8A99-397EA240E35C}" srcOrd="0" destOrd="0" presId="urn:microsoft.com/office/officeart/2005/8/layout/hierarchy3"/>
    <dgm:cxn modelId="{8E448EA0-A335-4286-98A7-8350A9806306}" type="presOf" srcId="{CE78E4BB-83F8-47E6-A961-7AC133F50D50}" destId="{0BCE1037-9706-410D-834A-ECEC4388E735}" srcOrd="0" destOrd="0" presId="urn:microsoft.com/office/officeart/2005/8/layout/hierarchy3"/>
    <dgm:cxn modelId="{B3EB14C0-37D9-4E1E-B1F1-D77AF15ADB17}" srcId="{E0832AB2-8936-4470-B909-BE7402322893}" destId="{699E814A-C7BB-45C9-8528-BC8893110D3A}" srcOrd="2" destOrd="0" parTransId="{315CA7EE-92C9-4D75-994E-DB8B3B65E079}" sibTransId="{5E170A91-AAF4-41A0-98AF-36E7EF8A8185}"/>
    <dgm:cxn modelId="{AE580DDA-90E7-4734-AB7C-C1348C4BD1E7}" srcId="{E0832AB2-8936-4470-B909-BE7402322893}" destId="{CE78E4BB-83F8-47E6-A961-7AC133F50D50}" srcOrd="1" destOrd="0" parTransId="{9954E93C-DB74-4489-A2EB-C3560DD8465B}" sibTransId="{26DCD576-8567-48DF-8A0D-00AF7A1DFC6D}"/>
    <dgm:cxn modelId="{B735ECDB-F431-41D7-B5EB-7C8389FBDFD6}" type="presOf" srcId="{699E814A-C7BB-45C9-8528-BC8893110D3A}" destId="{145781A5-5489-4E99-8DDD-A5C31F300089}" srcOrd="1" destOrd="0" presId="urn:microsoft.com/office/officeart/2005/8/layout/hierarchy3"/>
    <dgm:cxn modelId="{384373DD-C986-4CA9-A0DB-89E762222F0D}" type="presOf" srcId="{6A3A96B7-CBB0-421E-8348-37E89F9DCC08}" destId="{7E96EBE4-03A1-4197-A609-8D826601ABC1}" srcOrd="1" destOrd="0" presId="urn:microsoft.com/office/officeart/2005/8/layout/hierarchy3"/>
    <dgm:cxn modelId="{5495CCE2-1673-4E88-9A5E-57DDFB70BC3C}" type="presOf" srcId="{BB38D456-89FF-45BB-9803-6B30B36AACB9}" destId="{E785B7E3-F502-42E2-BE10-1B2C6EE54F76}" srcOrd="1" destOrd="0" presId="urn:microsoft.com/office/officeart/2005/8/layout/hierarchy3"/>
    <dgm:cxn modelId="{E284C6F6-1A3F-499B-8EAB-E8CE265967BA}" type="presOf" srcId="{CE78E4BB-83F8-47E6-A961-7AC133F50D50}" destId="{26658136-CA3D-42D7-A36B-88198D905A09}" srcOrd="1" destOrd="0" presId="urn:microsoft.com/office/officeart/2005/8/layout/hierarchy3"/>
    <dgm:cxn modelId="{61A8217F-96E9-4BAA-A1E0-D8AA7A509C9C}" type="presParOf" srcId="{8A865662-0E1F-48A4-A993-51A2BB9B2E4F}" destId="{EAC5ADFE-339A-4113-97C8-2B160FB55301}" srcOrd="0" destOrd="0" presId="urn:microsoft.com/office/officeart/2005/8/layout/hierarchy3"/>
    <dgm:cxn modelId="{7613275C-A0D6-4EF6-B31A-B65540E57CFB}" type="presParOf" srcId="{EAC5ADFE-339A-4113-97C8-2B160FB55301}" destId="{F7FD8F5A-9E67-42AB-81D8-27CA125220BB}" srcOrd="0" destOrd="0" presId="urn:microsoft.com/office/officeart/2005/8/layout/hierarchy3"/>
    <dgm:cxn modelId="{585E41AC-2740-4B8E-87F9-86B474095BBD}" type="presParOf" srcId="{F7FD8F5A-9E67-42AB-81D8-27CA125220BB}" destId="{3028E8D7-EA6F-4EA7-978A-43633D6AEAF6}" srcOrd="0" destOrd="0" presId="urn:microsoft.com/office/officeart/2005/8/layout/hierarchy3"/>
    <dgm:cxn modelId="{FC964F3F-3CD1-4826-B7CD-BDE6731DA5AF}" type="presParOf" srcId="{F7FD8F5A-9E67-42AB-81D8-27CA125220BB}" destId="{7E96EBE4-03A1-4197-A609-8D826601ABC1}" srcOrd="1" destOrd="0" presId="urn:microsoft.com/office/officeart/2005/8/layout/hierarchy3"/>
    <dgm:cxn modelId="{C3B81C11-C670-484E-A374-0401397E49E6}" type="presParOf" srcId="{EAC5ADFE-339A-4113-97C8-2B160FB55301}" destId="{FD32282A-0269-4D8F-A4C8-0AC524E4BE98}" srcOrd="1" destOrd="0" presId="urn:microsoft.com/office/officeart/2005/8/layout/hierarchy3"/>
    <dgm:cxn modelId="{E341820C-E79E-431E-8B54-90529DAC17CF}" type="presParOf" srcId="{8A865662-0E1F-48A4-A993-51A2BB9B2E4F}" destId="{4A7754E5-4AF7-4EF3-80D7-CE8DA9A463B0}" srcOrd="1" destOrd="0" presId="urn:microsoft.com/office/officeart/2005/8/layout/hierarchy3"/>
    <dgm:cxn modelId="{8FDC9BB2-9B10-4D96-86A1-F2CEDA771BEC}" type="presParOf" srcId="{4A7754E5-4AF7-4EF3-80D7-CE8DA9A463B0}" destId="{9FB9EDC3-647D-443D-8F9A-912D7651812C}" srcOrd="0" destOrd="0" presId="urn:microsoft.com/office/officeart/2005/8/layout/hierarchy3"/>
    <dgm:cxn modelId="{D3AFDFCB-4C6E-4611-BC4A-12EDAF1079EE}" type="presParOf" srcId="{9FB9EDC3-647D-443D-8F9A-912D7651812C}" destId="{0BCE1037-9706-410D-834A-ECEC4388E735}" srcOrd="0" destOrd="0" presId="urn:microsoft.com/office/officeart/2005/8/layout/hierarchy3"/>
    <dgm:cxn modelId="{EAF80534-F4C5-43E7-AAC8-CFDCF1BF4496}" type="presParOf" srcId="{9FB9EDC3-647D-443D-8F9A-912D7651812C}" destId="{26658136-CA3D-42D7-A36B-88198D905A09}" srcOrd="1" destOrd="0" presId="urn:microsoft.com/office/officeart/2005/8/layout/hierarchy3"/>
    <dgm:cxn modelId="{CDF54187-655A-4EF6-B3B1-CE81B0392EC2}" type="presParOf" srcId="{4A7754E5-4AF7-4EF3-80D7-CE8DA9A463B0}" destId="{F820BF47-1A0C-43F5-AAAD-6ACB2E9AD490}" srcOrd="1" destOrd="0" presId="urn:microsoft.com/office/officeart/2005/8/layout/hierarchy3"/>
    <dgm:cxn modelId="{9AECAAFC-9667-4D11-9A0C-883A96F4955B}" type="presParOf" srcId="{8A865662-0E1F-48A4-A993-51A2BB9B2E4F}" destId="{5194E25F-D379-447F-929A-993DB7FDEBB6}" srcOrd="2" destOrd="0" presId="urn:microsoft.com/office/officeart/2005/8/layout/hierarchy3"/>
    <dgm:cxn modelId="{CDB3A7B7-D579-4F0A-B250-CF11F10931A1}" type="presParOf" srcId="{5194E25F-D379-447F-929A-993DB7FDEBB6}" destId="{340FD182-E020-4339-8DC5-CEFA222C64AC}" srcOrd="0" destOrd="0" presId="urn:microsoft.com/office/officeart/2005/8/layout/hierarchy3"/>
    <dgm:cxn modelId="{A18CDA89-75E1-4009-8662-12823BE0C735}" type="presParOf" srcId="{340FD182-E020-4339-8DC5-CEFA222C64AC}" destId="{405FCD6E-D4E8-41FA-B6A2-E4BB402E06BE}" srcOrd="0" destOrd="0" presId="urn:microsoft.com/office/officeart/2005/8/layout/hierarchy3"/>
    <dgm:cxn modelId="{39F44687-47CC-4847-B5FA-9171626C02EE}" type="presParOf" srcId="{340FD182-E020-4339-8DC5-CEFA222C64AC}" destId="{145781A5-5489-4E99-8DDD-A5C31F300089}" srcOrd="1" destOrd="0" presId="urn:microsoft.com/office/officeart/2005/8/layout/hierarchy3"/>
    <dgm:cxn modelId="{1739F4D7-7A71-46AD-AF18-AE4507282747}" type="presParOf" srcId="{5194E25F-D379-447F-929A-993DB7FDEBB6}" destId="{4DD10E36-D14C-490A-BF06-A6B3FAFA273E}" srcOrd="1" destOrd="0" presId="urn:microsoft.com/office/officeart/2005/8/layout/hierarchy3"/>
    <dgm:cxn modelId="{068BC3C5-4BFA-4DCA-883A-52FFA4FC7135}" type="presParOf" srcId="{8A865662-0E1F-48A4-A993-51A2BB9B2E4F}" destId="{C9B5881D-401D-4DFF-ADCD-A76BC6719BD1}" srcOrd="3" destOrd="0" presId="urn:microsoft.com/office/officeart/2005/8/layout/hierarchy3"/>
    <dgm:cxn modelId="{C65A04CF-331A-4999-B842-9651C3153CDB}" type="presParOf" srcId="{C9B5881D-401D-4DFF-ADCD-A76BC6719BD1}" destId="{3A20517E-5B01-4A3D-B6A4-42B27CCE0F77}" srcOrd="0" destOrd="0" presId="urn:microsoft.com/office/officeart/2005/8/layout/hierarchy3"/>
    <dgm:cxn modelId="{D3B3F63B-8FA7-4795-B320-E50599E40129}" type="presParOf" srcId="{3A20517E-5B01-4A3D-B6A4-42B27CCE0F77}" destId="{8C5134CD-97C1-4A5D-8A99-397EA240E35C}" srcOrd="0" destOrd="0" presId="urn:microsoft.com/office/officeart/2005/8/layout/hierarchy3"/>
    <dgm:cxn modelId="{46962050-7F6F-48CC-9B66-DDECEE9590AA}" type="presParOf" srcId="{3A20517E-5B01-4A3D-B6A4-42B27CCE0F77}" destId="{E785B7E3-F502-42E2-BE10-1B2C6EE54F76}" srcOrd="1" destOrd="0" presId="urn:microsoft.com/office/officeart/2005/8/layout/hierarchy3"/>
    <dgm:cxn modelId="{2AA459FA-75DB-4EFA-B026-73AF51A19058}" type="presParOf" srcId="{C9B5881D-401D-4DFF-ADCD-A76BC6719BD1}" destId="{FECB1FBB-D3A5-464E-A91C-971D9A42C899}"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0B44E48-4A75-4CE2-8C3D-364C322A58FD}" type="doc">
      <dgm:prSet loTypeId="urn:microsoft.com/office/officeart/2018/2/layout/IconVerticalSolidList" loCatId="icon" qsTypeId="urn:microsoft.com/office/officeart/2005/8/quickstyle/simple1#9" qsCatId="simple" csTypeId="urn:microsoft.com/office/officeart/2018/5/colors/Iconchunking_neutralicontext_colorful1" csCatId="colorful" phldr="1"/>
      <dgm:spPr/>
      <dgm:t>
        <a:bodyPr/>
        <a:lstStyle/>
        <a:p>
          <a:endParaRPr lang="en-US"/>
        </a:p>
      </dgm:t>
    </dgm:pt>
    <dgm:pt modelId="{386CC6A2-EE6B-4F49-A2A0-8F96476225CE}">
      <dgm:prSet custT="1"/>
      <dgm:spPr/>
      <dgm:t>
        <a:bodyPr/>
        <a:lstStyle/>
        <a:p>
          <a:r>
            <a:rPr lang="en-US" sz="2000" b="1" dirty="0"/>
            <a:t>Symbolic AI (classical AI)</a:t>
          </a:r>
          <a:br>
            <a:rPr lang="en-US" sz="1700" b="1" dirty="0"/>
          </a:br>
          <a:r>
            <a:rPr lang="en-US" sz="1700" b="0" dirty="0"/>
            <a:t>St</a:t>
          </a:r>
          <a:r>
            <a:rPr lang="en-US" sz="1700" dirty="0"/>
            <a:t>ore information as explicit facts, objects, and rules. </a:t>
          </a:r>
          <a:br>
            <a:rPr lang="en-US" sz="1700" dirty="0"/>
          </a:br>
          <a:r>
            <a:rPr lang="en-US" sz="1700" dirty="0"/>
            <a:t>Often engineered by humans.</a:t>
          </a:r>
        </a:p>
      </dgm:t>
    </dgm:pt>
    <dgm:pt modelId="{C0CD7DC1-DBF8-4D0B-84F7-806BFC881AFA}" type="parTrans" cxnId="{22C9471D-6031-4D77-8F61-2386A80CA90E}">
      <dgm:prSet/>
      <dgm:spPr/>
      <dgm:t>
        <a:bodyPr/>
        <a:lstStyle/>
        <a:p>
          <a:endParaRPr lang="en-US"/>
        </a:p>
      </dgm:t>
    </dgm:pt>
    <dgm:pt modelId="{C3C9A87F-1C9C-4934-BC92-57C1F8B559BB}" type="sibTrans" cxnId="{22C9471D-6031-4D77-8F61-2386A80CA90E}">
      <dgm:prSet/>
      <dgm:spPr/>
      <dgm:t>
        <a:bodyPr/>
        <a:lstStyle/>
        <a:p>
          <a:endParaRPr lang="en-US"/>
        </a:p>
      </dgm:t>
    </dgm:pt>
    <dgm:pt modelId="{E881BABE-76C3-4813-B897-FF2046FE9040}">
      <dgm:prSet custT="1"/>
      <dgm:spPr/>
      <dgm:t>
        <a:bodyPr/>
        <a:lstStyle/>
        <a:p>
          <a:pPr>
            <a:buNone/>
          </a:pPr>
          <a:r>
            <a:rPr lang="en-US" sz="1400" b="1" dirty="0"/>
            <a:t>Reasoning</a:t>
          </a:r>
        </a:p>
        <a:p>
          <a:pPr>
            <a:buNone/>
          </a:pPr>
          <a:r>
            <a:rPr lang="en-US" sz="1400" dirty="0"/>
            <a:t>- Search, planning</a:t>
          </a:r>
        </a:p>
      </dgm:t>
    </dgm:pt>
    <dgm:pt modelId="{0490A47A-BDCD-40A4-90F4-1421A5633E65}" type="parTrans" cxnId="{4833B7C4-9D25-4DB2-97FA-77964ECDA948}">
      <dgm:prSet/>
      <dgm:spPr/>
      <dgm:t>
        <a:bodyPr/>
        <a:lstStyle/>
        <a:p>
          <a:endParaRPr lang="en-US"/>
        </a:p>
      </dgm:t>
    </dgm:pt>
    <dgm:pt modelId="{CA1FE9B4-87F3-437E-9E4D-EA969E3C5DC0}" type="sibTrans" cxnId="{4833B7C4-9D25-4DB2-97FA-77964ECDA948}">
      <dgm:prSet/>
      <dgm:spPr/>
      <dgm:t>
        <a:bodyPr/>
        <a:lstStyle/>
        <a:p>
          <a:endParaRPr lang="en-US"/>
        </a:p>
      </dgm:t>
    </dgm:pt>
    <dgm:pt modelId="{B4A60B1B-D186-4654-8438-16316A0B3E8A}">
      <dgm:prSet custT="1"/>
      <dgm:spPr/>
      <dgm:t>
        <a:bodyPr/>
        <a:lstStyle/>
        <a:p>
          <a:pPr>
            <a:buFont typeface="Arial" panose="020B0604020202020204" pitchFamily="34" charset="0"/>
            <a:buNone/>
          </a:pPr>
          <a:r>
            <a:rPr lang="en-US" sz="1400" dirty="0"/>
            <a:t>- Bayesian reasoning</a:t>
          </a:r>
        </a:p>
      </dgm:t>
    </dgm:pt>
    <dgm:pt modelId="{03A53472-4812-4DA2-B698-3CDB3D3F08D6}" type="parTrans" cxnId="{E060E19B-558F-4B00-AD02-582A9E06517F}">
      <dgm:prSet/>
      <dgm:spPr/>
      <dgm:t>
        <a:bodyPr/>
        <a:lstStyle/>
        <a:p>
          <a:endParaRPr lang="en-US"/>
        </a:p>
      </dgm:t>
    </dgm:pt>
    <dgm:pt modelId="{5B030015-AFEB-4174-9673-8DC2B61A21F4}" type="sibTrans" cxnId="{E060E19B-558F-4B00-AD02-582A9E06517F}">
      <dgm:prSet/>
      <dgm:spPr/>
      <dgm:t>
        <a:bodyPr/>
        <a:lstStyle/>
        <a:p>
          <a:endParaRPr lang="en-US"/>
        </a:p>
      </dgm:t>
    </dgm:pt>
    <dgm:pt modelId="{5BCFA193-46AC-410F-AAF9-6577586446F7}">
      <dgm:prSet custT="1"/>
      <dgm:spPr/>
      <dgm:t>
        <a:bodyPr/>
        <a:lstStyle/>
        <a:p>
          <a:pPr>
            <a:buFont typeface="Arial" panose="020B0604020202020204" pitchFamily="34" charset="0"/>
            <a:buNone/>
          </a:pPr>
          <a:r>
            <a:rPr lang="en-US" sz="1400" dirty="0"/>
            <a:t>- Classical machine learning (e.g., - decision trees)</a:t>
          </a:r>
        </a:p>
      </dgm:t>
    </dgm:pt>
    <dgm:pt modelId="{CE467FFD-4746-4FDB-B31B-651337FB3B1F}" type="parTrans" cxnId="{81C3306B-3B0A-4404-978D-0867B4313607}">
      <dgm:prSet/>
      <dgm:spPr/>
      <dgm:t>
        <a:bodyPr/>
        <a:lstStyle/>
        <a:p>
          <a:endParaRPr lang="en-US"/>
        </a:p>
      </dgm:t>
    </dgm:pt>
    <dgm:pt modelId="{0AAFF905-982C-41EB-B204-60187EA07419}" type="sibTrans" cxnId="{81C3306B-3B0A-4404-978D-0867B4313607}">
      <dgm:prSet/>
      <dgm:spPr/>
      <dgm:t>
        <a:bodyPr/>
        <a:lstStyle/>
        <a:p>
          <a:endParaRPr lang="en-US"/>
        </a:p>
      </dgm:t>
    </dgm:pt>
    <dgm:pt modelId="{7366351A-E061-43C7-83C7-8814D97F41E8}">
      <dgm:prSet custT="1"/>
      <dgm:spPr/>
      <dgm:t>
        <a:bodyPr/>
        <a:lstStyle/>
        <a:p>
          <a:r>
            <a:rPr lang="en-US" sz="2000" b="1" dirty="0" err="1"/>
            <a:t>Subsymbolic</a:t>
          </a:r>
          <a:r>
            <a:rPr lang="en-US" sz="2000" b="1" dirty="0"/>
            <a:t> AI</a:t>
          </a:r>
          <a:br>
            <a:rPr lang="en-US" sz="2000" b="1" dirty="0"/>
          </a:br>
          <a:r>
            <a:rPr lang="en-US" sz="1600" dirty="0"/>
            <a:t>Operate below the level of individual symbols. Store information as small mathematical equations (weights). Train on massive data sets.</a:t>
          </a:r>
        </a:p>
      </dgm:t>
    </dgm:pt>
    <dgm:pt modelId="{06ACE3AD-A888-409F-B8E7-BFBA893DE5EA}" type="parTrans" cxnId="{444D25C0-CB71-4AD6-9E0B-A0A13052E3BB}">
      <dgm:prSet/>
      <dgm:spPr/>
      <dgm:t>
        <a:bodyPr/>
        <a:lstStyle/>
        <a:p>
          <a:endParaRPr lang="en-US"/>
        </a:p>
      </dgm:t>
    </dgm:pt>
    <dgm:pt modelId="{11A30953-4BFB-4A5E-9EB3-A26AA2487F5E}" type="sibTrans" cxnId="{444D25C0-CB71-4AD6-9E0B-A0A13052E3BB}">
      <dgm:prSet/>
      <dgm:spPr/>
      <dgm:t>
        <a:bodyPr/>
        <a:lstStyle/>
        <a:p>
          <a:endParaRPr lang="en-US"/>
        </a:p>
      </dgm:t>
    </dgm:pt>
    <dgm:pt modelId="{EDC790E2-C5C0-4164-A336-E62C7B2ED487}">
      <dgm:prSet/>
      <dgm:spPr/>
      <dgm:t>
        <a:bodyPr/>
        <a:lstStyle/>
        <a:p>
          <a:r>
            <a:rPr lang="en-US" b="1" dirty="0"/>
            <a:t>Perception</a:t>
          </a:r>
        </a:p>
        <a:p>
          <a:r>
            <a:rPr lang="en-US" dirty="0"/>
            <a:t>- Artificial neural nets</a:t>
          </a:r>
        </a:p>
        <a:p>
          <a:r>
            <a:rPr lang="en-US" dirty="0"/>
            <a:t>- Deep learning</a:t>
          </a:r>
        </a:p>
      </dgm:t>
    </dgm:pt>
    <dgm:pt modelId="{2E8E7F64-0B0F-4668-9F91-DAA6E4336D69}" type="parTrans" cxnId="{6D03CC00-6310-419C-8F12-2E3F4D3E0E81}">
      <dgm:prSet/>
      <dgm:spPr/>
      <dgm:t>
        <a:bodyPr/>
        <a:lstStyle/>
        <a:p>
          <a:endParaRPr lang="en-US"/>
        </a:p>
      </dgm:t>
    </dgm:pt>
    <dgm:pt modelId="{C11D66AB-C0C5-4074-B562-79A61E2503EA}" type="sibTrans" cxnId="{6D03CC00-6310-419C-8F12-2E3F4D3E0E81}">
      <dgm:prSet/>
      <dgm:spPr/>
      <dgm:t>
        <a:bodyPr/>
        <a:lstStyle/>
        <a:p>
          <a:endParaRPr lang="en-US"/>
        </a:p>
      </dgm:t>
    </dgm:pt>
    <dgm:pt modelId="{AC4748A4-3864-485E-B5B7-45E2F267A20D}">
      <dgm:prSet custT="1"/>
      <dgm:spPr/>
      <dgm:t>
        <a:bodyPr/>
        <a:lstStyle/>
        <a:p>
          <a:r>
            <a:rPr lang="en-US" sz="2300" b="1" dirty="0" err="1"/>
            <a:t>Neurosymbolic</a:t>
          </a:r>
          <a:r>
            <a:rPr lang="en-US" sz="2300" b="1" dirty="0"/>
            <a:t> (modern) AI</a:t>
          </a:r>
          <a:br>
            <a:rPr lang="en-US" sz="2300" b="1" dirty="0"/>
          </a:br>
          <a:r>
            <a:rPr lang="en-US" sz="1800" dirty="0"/>
            <a:t>combines learning artificial neural networks with planning and search.</a:t>
          </a:r>
          <a:endParaRPr lang="en-US" sz="2300" dirty="0"/>
        </a:p>
      </dgm:t>
    </dgm:pt>
    <dgm:pt modelId="{78ED7157-1454-4D38-8E55-99413D0C023A}" type="parTrans" cxnId="{0445B90C-23C3-4B42-ACE5-8674618D889D}">
      <dgm:prSet/>
      <dgm:spPr/>
      <dgm:t>
        <a:bodyPr/>
        <a:lstStyle/>
        <a:p>
          <a:endParaRPr lang="en-US"/>
        </a:p>
      </dgm:t>
    </dgm:pt>
    <dgm:pt modelId="{1EF8A93F-A5D6-45D6-87E9-2FE5221CA57C}" type="sibTrans" cxnId="{0445B90C-23C3-4B42-ACE5-8674618D889D}">
      <dgm:prSet/>
      <dgm:spPr/>
      <dgm:t>
        <a:bodyPr/>
        <a:lstStyle/>
        <a:p>
          <a:endParaRPr lang="en-US"/>
        </a:p>
      </dgm:t>
    </dgm:pt>
    <dgm:pt modelId="{A365FD4C-D997-47DD-B76D-7C002D38DB05}" type="pres">
      <dgm:prSet presAssocID="{E0B44E48-4A75-4CE2-8C3D-364C322A58FD}" presName="root" presStyleCnt="0">
        <dgm:presLayoutVars>
          <dgm:dir/>
          <dgm:resizeHandles val="exact"/>
        </dgm:presLayoutVars>
      </dgm:prSet>
      <dgm:spPr/>
    </dgm:pt>
    <dgm:pt modelId="{681FD39D-E5E5-4B15-B9E5-FD44384E27B9}" type="pres">
      <dgm:prSet presAssocID="{386CC6A2-EE6B-4F49-A2A0-8F96476225CE}" presName="compNode" presStyleCnt="0"/>
      <dgm:spPr/>
    </dgm:pt>
    <dgm:pt modelId="{7C226BB9-CDAD-4EE8-A26D-FB33BB156E66}" type="pres">
      <dgm:prSet presAssocID="{386CC6A2-EE6B-4F49-A2A0-8F96476225CE}" presName="bgRect" presStyleLbl="bgShp" presStyleIdx="0" presStyleCnt="3" custLinFactNeighborX="-32155" custLinFactNeighborY="-936"/>
      <dgm:spPr/>
    </dgm:pt>
    <dgm:pt modelId="{4F4B6071-2E29-45D8-9CBA-FB50358262F1}" type="pres">
      <dgm:prSet presAssocID="{386CC6A2-EE6B-4F49-A2A0-8F96476225C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grammer"/>
        </a:ext>
      </dgm:extLst>
    </dgm:pt>
    <dgm:pt modelId="{00A8E26A-1F1C-45B8-9D2E-E78ADB8FC922}" type="pres">
      <dgm:prSet presAssocID="{386CC6A2-EE6B-4F49-A2A0-8F96476225CE}" presName="spaceRect" presStyleCnt="0"/>
      <dgm:spPr/>
    </dgm:pt>
    <dgm:pt modelId="{11B7E679-A899-4BE4-9143-994A39BCF967}" type="pres">
      <dgm:prSet presAssocID="{386CC6A2-EE6B-4F49-A2A0-8F96476225CE}" presName="parTx" presStyleLbl="revTx" presStyleIdx="0" presStyleCnt="5">
        <dgm:presLayoutVars>
          <dgm:chMax val="0"/>
          <dgm:chPref val="0"/>
        </dgm:presLayoutVars>
      </dgm:prSet>
      <dgm:spPr/>
    </dgm:pt>
    <dgm:pt modelId="{FE76BB01-C6C5-4EA3-8463-563F4BF12B7F}" type="pres">
      <dgm:prSet presAssocID="{386CC6A2-EE6B-4F49-A2A0-8F96476225CE}" presName="desTx" presStyleLbl="revTx" presStyleIdx="1" presStyleCnt="5">
        <dgm:presLayoutVars/>
      </dgm:prSet>
      <dgm:spPr/>
    </dgm:pt>
    <dgm:pt modelId="{99BBE82E-F471-47D0-962E-A7AC4875ECF2}" type="pres">
      <dgm:prSet presAssocID="{C3C9A87F-1C9C-4934-BC92-57C1F8B559BB}" presName="sibTrans" presStyleCnt="0"/>
      <dgm:spPr/>
    </dgm:pt>
    <dgm:pt modelId="{01DA5ADF-CD39-40D7-8533-4720DA8C154F}" type="pres">
      <dgm:prSet presAssocID="{7366351A-E061-43C7-83C7-8814D97F41E8}" presName="compNode" presStyleCnt="0"/>
      <dgm:spPr/>
    </dgm:pt>
    <dgm:pt modelId="{6B5A0394-11B7-460A-B4FD-D7A080440BD8}" type="pres">
      <dgm:prSet presAssocID="{7366351A-E061-43C7-83C7-8814D97F41E8}" presName="bgRect" presStyleLbl="bgShp" presStyleIdx="1" presStyleCnt="3"/>
      <dgm:spPr/>
    </dgm:pt>
    <dgm:pt modelId="{1B019230-D9C2-45C4-9195-DBEB44D77775}" type="pres">
      <dgm:prSet presAssocID="{7366351A-E061-43C7-83C7-8814D97F41E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twork diagram with solid fill"/>
        </a:ext>
      </dgm:extLst>
    </dgm:pt>
    <dgm:pt modelId="{E4180C3B-9616-44C0-B615-79E396E181ED}" type="pres">
      <dgm:prSet presAssocID="{7366351A-E061-43C7-83C7-8814D97F41E8}" presName="spaceRect" presStyleCnt="0"/>
      <dgm:spPr/>
    </dgm:pt>
    <dgm:pt modelId="{6FA81C2E-3D00-41EC-8131-19FC6D1A6E27}" type="pres">
      <dgm:prSet presAssocID="{7366351A-E061-43C7-83C7-8814D97F41E8}" presName="parTx" presStyleLbl="revTx" presStyleIdx="2" presStyleCnt="5">
        <dgm:presLayoutVars>
          <dgm:chMax val="0"/>
          <dgm:chPref val="0"/>
        </dgm:presLayoutVars>
      </dgm:prSet>
      <dgm:spPr/>
    </dgm:pt>
    <dgm:pt modelId="{2B219972-CD5D-4206-A377-9B509C923936}" type="pres">
      <dgm:prSet presAssocID="{7366351A-E061-43C7-83C7-8814D97F41E8}" presName="desTx" presStyleLbl="revTx" presStyleIdx="3" presStyleCnt="5">
        <dgm:presLayoutVars/>
      </dgm:prSet>
      <dgm:spPr/>
    </dgm:pt>
    <dgm:pt modelId="{EA25CA88-7987-44D5-AE50-565D672E8F9E}" type="pres">
      <dgm:prSet presAssocID="{11A30953-4BFB-4A5E-9EB3-A26AA2487F5E}" presName="sibTrans" presStyleCnt="0"/>
      <dgm:spPr/>
    </dgm:pt>
    <dgm:pt modelId="{3E7502F0-D65D-46E4-98BB-39A8B6369D14}" type="pres">
      <dgm:prSet presAssocID="{AC4748A4-3864-485E-B5B7-45E2F267A20D}" presName="compNode" presStyleCnt="0"/>
      <dgm:spPr/>
    </dgm:pt>
    <dgm:pt modelId="{530BB4A2-B0E4-4B86-8525-887F97420646}" type="pres">
      <dgm:prSet presAssocID="{AC4748A4-3864-485E-B5B7-45E2F267A20D}" presName="bgRect" presStyleLbl="bgShp" presStyleIdx="2" presStyleCnt="3" custLinFactNeighborX="-345" custLinFactNeighborY="-752"/>
      <dgm:spPr/>
    </dgm:pt>
    <dgm:pt modelId="{48DBB835-9005-4E49-9303-295B8153D6E5}" type="pres">
      <dgm:prSet presAssocID="{AC4748A4-3864-485E-B5B7-45E2F267A20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56C38CCD-40F9-41C5-841C-ADA68498398B}" type="pres">
      <dgm:prSet presAssocID="{AC4748A4-3864-485E-B5B7-45E2F267A20D}" presName="spaceRect" presStyleCnt="0"/>
      <dgm:spPr/>
    </dgm:pt>
    <dgm:pt modelId="{AB21EC53-F58E-452A-9058-C1278C38378F}" type="pres">
      <dgm:prSet presAssocID="{AC4748A4-3864-485E-B5B7-45E2F267A20D}" presName="parTx" presStyleLbl="revTx" presStyleIdx="4" presStyleCnt="5">
        <dgm:presLayoutVars>
          <dgm:chMax val="0"/>
          <dgm:chPref val="0"/>
        </dgm:presLayoutVars>
      </dgm:prSet>
      <dgm:spPr/>
    </dgm:pt>
  </dgm:ptLst>
  <dgm:cxnLst>
    <dgm:cxn modelId="{6D03CC00-6310-419C-8F12-2E3F4D3E0E81}" srcId="{7366351A-E061-43C7-83C7-8814D97F41E8}" destId="{EDC790E2-C5C0-4164-A336-E62C7B2ED487}" srcOrd="0" destOrd="0" parTransId="{2E8E7F64-0B0F-4668-9F91-DAA6E4336D69}" sibTransId="{C11D66AB-C0C5-4074-B562-79A61E2503EA}"/>
    <dgm:cxn modelId="{C003D70B-DA28-46B8-B775-4CB7C90350F1}" type="presOf" srcId="{B4A60B1B-D186-4654-8438-16316A0B3E8A}" destId="{FE76BB01-C6C5-4EA3-8463-563F4BF12B7F}" srcOrd="0" destOrd="1" presId="urn:microsoft.com/office/officeart/2018/2/layout/IconVerticalSolidList"/>
    <dgm:cxn modelId="{0445B90C-23C3-4B42-ACE5-8674618D889D}" srcId="{E0B44E48-4A75-4CE2-8C3D-364C322A58FD}" destId="{AC4748A4-3864-485E-B5B7-45E2F267A20D}" srcOrd="2" destOrd="0" parTransId="{78ED7157-1454-4D38-8E55-99413D0C023A}" sibTransId="{1EF8A93F-A5D6-45D6-87E9-2FE5221CA57C}"/>
    <dgm:cxn modelId="{22C9471D-6031-4D77-8F61-2386A80CA90E}" srcId="{E0B44E48-4A75-4CE2-8C3D-364C322A58FD}" destId="{386CC6A2-EE6B-4F49-A2A0-8F96476225CE}" srcOrd="0" destOrd="0" parTransId="{C0CD7DC1-DBF8-4D0B-84F7-806BFC881AFA}" sibTransId="{C3C9A87F-1C9C-4934-BC92-57C1F8B559BB}"/>
    <dgm:cxn modelId="{48E0F42E-8F31-42CF-A13A-DA47E842212F}" type="presOf" srcId="{AC4748A4-3864-485E-B5B7-45E2F267A20D}" destId="{AB21EC53-F58E-452A-9058-C1278C38378F}" srcOrd="0" destOrd="0" presId="urn:microsoft.com/office/officeart/2018/2/layout/IconVerticalSolidList"/>
    <dgm:cxn modelId="{81C3306B-3B0A-4404-978D-0867B4313607}" srcId="{386CC6A2-EE6B-4F49-A2A0-8F96476225CE}" destId="{5BCFA193-46AC-410F-AAF9-6577586446F7}" srcOrd="2" destOrd="0" parTransId="{CE467FFD-4746-4FDB-B31B-651337FB3B1F}" sibTransId="{0AAFF905-982C-41EB-B204-60187EA07419}"/>
    <dgm:cxn modelId="{D25ED152-FEF6-4A12-A41F-E3F0E47ADC15}" type="presOf" srcId="{E881BABE-76C3-4813-B897-FF2046FE9040}" destId="{FE76BB01-C6C5-4EA3-8463-563F4BF12B7F}" srcOrd="0" destOrd="0" presId="urn:microsoft.com/office/officeart/2018/2/layout/IconVerticalSolidList"/>
    <dgm:cxn modelId="{BAA02A74-F4A0-490E-A8F1-FADFEE353D38}" type="presOf" srcId="{7366351A-E061-43C7-83C7-8814D97F41E8}" destId="{6FA81C2E-3D00-41EC-8131-19FC6D1A6E27}" srcOrd="0" destOrd="0" presId="urn:microsoft.com/office/officeart/2018/2/layout/IconVerticalSolidList"/>
    <dgm:cxn modelId="{27011690-03FF-4838-BB44-FF74430DE91F}" type="presOf" srcId="{EDC790E2-C5C0-4164-A336-E62C7B2ED487}" destId="{2B219972-CD5D-4206-A377-9B509C923936}" srcOrd="0" destOrd="0" presId="urn:microsoft.com/office/officeart/2018/2/layout/IconVerticalSolidList"/>
    <dgm:cxn modelId="{E060E19B-558F-4B00-AD02-582A9E06517F}" srcId="{386CC6A2-EE6B-4F49-A2A0-8F96476225CE}" destId="{B4A60B1B-D186-4654-8438-16316A0B3E8A}" srcOrd="1" destOrd="0" parTransId="{03A53472-4812-4DA2-B698-3CDB3D3F08D6}" sibTransId="{5B030015-AFEB-4174-9673-8DC2B61A21F4}"/>
    <dgm:cxn modelId="{DE696FBF-8EF7-4FA5-ACC1-0F2D64BC09DD}" type="presOf" srcId="{386CC6A2-EE6B-4F49-A2A0-8F96476225CE}" destId="{11B7E679-A899-4BE4-9143-994A39BCF967}" srcOrd="0" destOrd="0" presId="urn:microsoft.com/office/officeart/2018/2/layout/IconVerticalSolidList"/>
    <dgm:cxn modelId="{444D25C0-CB71-4AD6-9E0B-A0A13052E3BB}" srcId="{E0B44E48-4A75-4CE2-8C3D-364C322A58FD}" destId="{7366351A-E061-43C7-83C7-8814D97F41E8}" srcOrd="1" destOrd="0" parTransId="{06ACE3AD-A888-409F-B8E7-BFBA893DE5EA}" sibTransId="{11A30953-4BFB-4A5E-9EB3-A26AA2487F5E}"/>
    <dgm:cxn modelId="{4833B7C4-9D25-4DB2-97FA-77964ECDA948}" srcId="{386CC6A2-EE6B-4F49-A2A0-8F96476225CE}" destId="{E881BABE-76C3-4813-B897-FF2046FE9040}" srcOrd="0" destOrd="0" parTransId="{0490A47A-BDCD-40A4-90F4-1421A5633E65}" sibTransId="{CA1FE9B4-87F3-437E-9E4D-EA969E3C5DC0}"/>
    <dgm:cxn modelId="{9F33EBDA-648C-43D2-A1CE-A582D17D5F56}" type="presOf" srcId="{E0B44E48-4A75-4CE2-8C3D-364C322A58FD}" destId="{A365FD4C-D997-47DD-B76D-7C002D38DB05}" srcOrd="0" destOrd="0" presId="urn:microsoft.com/office/officeart/2018/2/layout/IconVerticalSolidList"/>
    <dgm:cxn modelId="{B0A6D5E3-4F2D-4F42-A7EF-17764FBB14D5}" type="presOf" srcId="{5BCFA193-46AC-410F-AAF9-6577586446F7}" destId="{FE76BB01-C6C5-4EA3-8463-563F4BF12B7F}" srcOrd="0" destOrd="2" presId="urn:microsoft.com/office/officeart/2018/2/layout/IconVerticalSolidList"/>
    <dgm:cxn modelId="{62D8EFE3-4934-49C0-9790-DABFD78565FA}" type="presParOf" srcId="{A365FD4C-D997-47DD-B76D-7C002D38DB05}" destId="{681FD39D-E5E5-4B15-B9E5-FD44384E27B9}" srcOrd="0" destOrd="0" presId="urn:microsoft.com/office/officeart/2018/2/layout/IconVerticalSolidList"/>
    <dgm:cxn modelId="{502CE939-6D82-42D7-9561-BA4F09027F1C}" type="presParOf" srcId="{681FD39D-E5E5-4B15-B9E5-FD44384E27B9}" destId="{7C226BB9-CDAD-4EE8-A26D-FB33BB156E66}" srcOrd="0" destOrd="0" presId="urn:microsoft.com/office/officeart/2018/2/layout/IconVerticalSolidList"/>
    <dgm:cxn modelId="{145A1D66-A966-4729-90A8-6F47F25F8C66}" type="presParOf" srcId="{681FD39D-E5E5-4B15-B9E5-FD44384E27B9}" destId="{4F4B6071-2E29-45D8-9CBA-FB50358262F1}" srcOrd="1" destOrd="0" presId="urn:microsoft.com/office/officeart/2018/2/layout/IconVerticalSolidList"/>
    <dgm:cxn modelId="{AB709C43-CD09-43A3-A02C-EFFDC956F3A0}" type="presParOf" srcId="{681FD39D-E5E5-4B15-B9E5-FD44384E27B9}" destId="{00A8E26A-1F1C-45B8-9D2E-E78ADB8FC922}" srcOrd="2" destOrd="0" presId="urn:microsoft.com/office/officeart/2018/2/layout/IconVerticalSolidList"/>
    <dgm:cxn modelId="{81E41F3C-B90B-49BF-9389-A74CEE9ABD33}" type="presParOf" srcId="{681FD39D-E5E5-4B15-B9E5-FD44384E27B9}" destId="{11B7E679-A899-4BE4-9143-994A39BCF967}" srcOrd="3" destOrd="0" presId="urn:microsoft.com/office/officeart/2018/2/layout/IconVerticalSolidList"/>
    <dgm:cxn modelId="{632BCE37-E24A-4A08-9654-AF6CB077134F}" type="presParOf" srcId="{681FD39D-E5E5-4B15-B9E5-FD44384E27B9}" destId="{FE76BB01-C6C5-4EA3-8463-563F4BF12B7F}" srcOrd="4" destOrd="0" presId="urn:microsoft.com/office/officeart/2018/2/layout/IconVerticalSolidList"/>
    <dgm:cxn modelId="{048E6857-837F-4208-849D-9256AEDB1284}" type="presParOf" srcId="{A365FD4C-D997-47DD-B76D-7C002D38DB05}" destId="{99BBE82E-F471-47D0-962E-A7AC4875ECF2}" srcOrd="1" destOrd="0" presId="urn:microsoft.com/office/officeart/2018/2/layout/IconVerticalSolidList"/>
    <dgm:cxn modelId="{3CE7E3C4-11C1-4633-B804-A087388F9285}" type="presParOf" srcId="{A365FD4C-D997-47DD-B76D-7C002D38DB05}" destId="{01DA5ADF-CD39-40D7-8533-4720DA8C154F}" srcOrd="2" destOrd="0" presId="urn:microsoft.com/office/officeart/2018/2/layout/IconVerticalSolidList"/>
    <dgm:cxn modelId="{4FFE725A-369F-4AA2-A091-3CDDC3FDC609}" type="presParOf" srcId="{01DA5ADF-CD39-40D7-8533-4720DA8C154F}" destId="{6B5A0394-11B7-460A-B4FD-D7A080440BD8}" srcOrd="0" destOrd="0" presId="urn:microsoft.com/office/officeart/2018/2/layout/IconVerticalSolidList"/>
    <dgm:cxn modelId="{65B41E2F-7263-4B5C-9F1F-F4DFADB7FCE4}" type="presParOf" srcId="{01DA5ADF-CD39-40D7-8533-4720DA8C154F}" destId="{1B019230-D9C2-45C4-9195-DBEB44D77775}" srcOrd="1" destOrd="0" presId="urn:microsoft.com/office/officeart/2018/2/layout/IconVerticalSolidList"/>
    <dgm:cxn modelId="{4C8C49F1-64B5-47B4-854E-8581287A552B}" type="presParOf" srcId="{01DA5ADF-CD39-40D7-8533-4720DA8C154F}" destId="{E4180C3B-9616-44C0-B615-79E396E181ED}" srcOrd="2" destOrd="0" presId="urn:microsoft.com/office/officeart/2018/2/layout/IconVerticalSolidList"/>
    <dgm:cxn modelId="{7B3AE707-0490-4409-A362-09623ABDDD71}" type="presParOf" srcId="{01DA5ADF-CD39-40D7-8533-4720DA8C154F}" destId="{6FA81C2E-3D00-41EC-8131-19FC6D1A6E27}" srcOrd="3" destOrd="0" presId="urn:microsoft.com/office/officeart/2018/2/layout/IconVerticalSolidList"/>
    <dgm:cxn modelId="{C76B77FD-73B4-4B07-9343-9C2ECB7BC784}" type="presParOf" srcId="{01DA5ADF-CD39-40D7-8533-4720DA8C154F}" destId="{2B219972-CD5D-4206-A377-9B509C923936}" srcOrd="4" destOrd="0" presId="urn:microsoft.com/office/officeart/2018/2/layout/IconVerticalSolidList"/>
    <dgm:cxn modelId="{4A1AB8B4-8072-4DC7-B3FE-1E786163AEC4}" type="presParOf" srcId="{A365FD4C-D997-47DD-B76D-7C002D38DB05}" destId="{EA25CA88-7987-44D5-AE50-565D672E8F9E}" srcOrd="3" destOrd="0" presId="urn:microsoft.com/office/officeart/2018/2/layout/IconVerticalSolidList"/>
    <dgm:cxn modelId="{E326FD95-E88A-4808-AB4A-9CFF10A900BE}" type="presParOf" srcId="{A365FD4C-D997-47DD-B76D-7C002D38DB05}" destId="{3E7502F0-D65D-46E4-98BB-39A8B6369D14}" srcOrd="4" destOrd="0" presId="urn:microsoft.com/office/officeart/2018/2/layout/IconVerticalSolidList"/>
    <dgm:cxn modelId="{2B9A7B48-3779-4293-BC8F-A79A46F936FC}" type="presParOf" srcId="{3E7502F0-D65D-46E4-98BB-39A8B6369D14}" destId="{530BB4A2-B0E4-4B86-8525-887F97420646}" srcOrd="0" destOrd="0" presId="urn:microsoft.com/office/officeart/2018/2/layout/IconVerticalSolidList"/>
    <dgm:cxn modelId="{642840DE-4179-4668-BFDB-0037DA7AD0AA}" type="presParOf" srcId="{3E7502F0-D65D-46E4-98BB-39A8B6369D14}" destId="{48DBB835-9005-4E49-9303-295B8153D6E5}" srcOrd="1" destOrd="0" presId="urn:microsoft.com/office/officeart/2018/2/layout/IconVerticalSolidList"/>
    <dgm:cxn modelId="{7E7D58DC-3A5C-4C2B-8390-01410CB881F8}" type="presParOf" srcId="{3E7502F0-D65D-46E4-98BB-39A8B6369D14}" destId="{56C38CCD-40F9-41C5-841C-ADA68498398B}" srcOrd="2" destOrd="0" presId="urn:microsoft.com/office/officeart/2018/2/layout/IconVerticalSolidList"/>
    <dgm:cxn modelId="{233CEF2E-88E3-4899-9D73-DF014FAC94B6}" type="presParOf" srcId="{3E7502F0-D65D-46E4-98BB-39A8B6369D14}" destId="{AB21EC53-F58E-452A-9058-C1278C3837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0A37249-AE7D-4776-ACFE-8B32B4BB5260}" type="doc">
      <dgm:prSet loTypeId="urn:microsoft.com/office/officeart/2024/layout/HorizontalActionList" loCatId="list" qsTypeId="urn:microsoft.com/office/officeart/2005/8/quickstyle/simple1#10" qsCatId="simple" csTypeId="urn:microsoft.com/office/officeart/2005/8/colors/colorful1#8" csCatId="colorful" phldr="1"/>
      <dgm:spPr/>
      <dgm:t>
        <a:bodyPr/>
        <a:lstStyle/>
        <a:p>
          <a:endParaRPr lang="en-US"/>
        </a:p>
      </dgm:t>
    </dgm:pt>
    <dgm:pt modelId="{846F24C0-B2A9-4595-A374-F7B0853F87A2}">
      <dgm:prSet phldrT="[Text]" phldr="0" custT="1"/>
      <dgm:spPr/>
      <dgm:t>
        <a:bodyPr/>
        <a:lstStyle/>
        <a:p>
          <a:pPr algn="ctr"/>
          <a:r>
            <a:rPr lang="en-US" sz="1600" b="1" dirty="0"/>
            <a:t>Accountability</a:t>
          </a:r>
          <a:endParaRPr lang="en-US" sz="1400" b="1" dirty="0"/>
        </a:p>
      </dgm:t>
    </dgm:pt>
    <dgm:pt modelId="{3BAA968B-F4CB-44DC-80E1-5120294361E4}" type="parTrans" cxnId="{4E6314A2-6835-4655-9B6F-785DA13862A6}">
      <dgm:prSet/>
      <dgm:spPr/>
      <dgm:t>
        <a:bodyPr/>
        <a:lstStyle/>
        <a:p>
          <a:endParaRPr lang="en-US"/>
        </a:p>
      </dgm:t>
    </dgm:pt>
    <dgm:pt modelId="{08BC8E5B-BD93-48DE-9E9A-6AECC0498AC6}" type="sibTrans" cxnId="{4E6314A2-6835-4655-9B6F-785DA13862A6}">
      <dgm:prSet/>
      <dgm:spPr/>
      <dgm:t>
        <a:bodyPr/>
        <a:lstStyle/>
        <a:p>
          <a:endParaRPr lang="en-US"/>
        </a:p>
      </dgm:t>
    </dgm:pt>
    <dgm:pt modelId="{01586B1F-7FD7-42EE-9892-483B3596CA22}">
      <dgm:prSet phldrT="[Text]" custT="1"/>
      <dgm:spPr/>
      <dgm:t>
        <a:bodyPr/>
        <a:lstStyle/>
        <a:p>
          <a:r>
            <a:rPr lang="en-US" sz="1600" dirty="0"/>
            <a:t>Clearly defined roles assigning responsibility for AI-driven decisions, system failures, and human oversight checkpoints.</a:t>
          </a:r>
        </a:p>
      </dgm:t>
    </dgm:pt>
    <dgm:pt modelId="{EBF2F932-D1CC-4E9A-8728-8A08BC610C47}" type="parTrans" cxnId="{D57766BD-8701-426C-A89C-1F8CFA2A0471}">
      <dgm:prSet/>
      <dgm:spPr/>
      <dgm:t>
        <a:bodyPr/>
        <a:lstStyle/>
        <a:p>
          <a:endParaRPr lang="en-US"/>
        </a:p>
      </dgm:t>
    </dgm:pt>
    <dgm:pt modelId="{03F00998-EAA7-4C00-9457-EFD9F5C62D27}" type="sibTrans" cxnId="{D57766BD-8701-426C-A89C-1F8CFA2A0471}">
      <dgm:prSet/>
      <dgm:spPr/>
      <dgm:t>
        <a:bodyPr/>
        <a:lstStyle/>
        <a:p>
          <a:endParaRPr lang="en-US"/>
        </a:p>
      </dgm:t>
    </dgm:pt>
    <dgm:pt modelId="{5BD292A9-77A4-4135-9352-DC7BB6D7263A}">
      <dgm:prSet phldrT="[Text]" phldr="0" custT="1"/>
      <dgm:spPr/>
      <dgm:t>
        <a:bodyPr/>
        <a:lstStyle/>
        <a:p>
          <a:pPr algn="ctr"/>
          <a:r>
            <a:rPr lang="en-US" sz="1600" b="1" dirty="0"/>
            <a:t>Transparency</a:t>
          </a:r>
        </a:p>
      </dgm:t>
    </dgm:pt>
    <dgm:pt modelId="{87FA043C-896A-4115-8ACD-6CD3CD939349}" type="parTrans" cxnId="{2F05C097-B062-447A-A736-F7BB08C4BFCC}">
      <dgm:prSet/>
      <dgm:spPr/>
      <dgm:t>
        <a:bodyPr/>
        <a:lstStyle/>
        <a:p>
          <a:endParaRPr lang="en-US"/>
        </a:p>
      </dgm:t>
    </dgm:pt>
    <dgm:pt modelId="{A5EEDB89-5B93-498C-A20E-8091D555CEA6}" type="sibTrans" cxnId="{2F05C097-B062-447A-A736-F7BB08C4BFCC}">
      <dgm:prSet/>
      <dgm:spPr/>
      <dgm:t>
        <a:bodyPr/>
        <a:lstStyle/>
        <a:p>
          <a:endParaRPr lang="en-US"/>
        </a:p>
      </dgm:t>
    </dgm:pt>
    <dgm:pt modelId="{CA81A21E-4945-4441-B747-6FB32899279E}">
      <dgm:prSet phldrT="[Text]" custT="1"/>
      <dgm:spPr/>
      <dgm:t>
        <a:bodyPr/>
        <a:lstStyle/>
        <a:p>
          <a:r>
            <a:rPr lang="en-US" sz="1600" dirty="0"/>
            <a:t>The ability to understand how an AI model makes decisions, fostering trust among end-users and regulators.</a:t>
          </a:r>
        </a:p>
      </dgm:t>
    </dgm:pt>
    <dgm:pt modelId="{0FC3F213-5B0B-408D-8A2B-0D0B587FA08C}" type="parTrans" cxnId="{E167CD09-F617-4071-9701-37497C84FB9D}">
      <dgm:prSet/>
      <dgm:spPr/>
      <dgm:t>
        <a:bodyPr/>
        <a:lstStyle/>
        <a:p>
          <a:endParaRPr lang="en-US"/>
        </a:p>
      </dgm:t>
    </dgm:pt>
    <dgm:pt modelId="{65116843-BD38-48CE-89BD-8DEC1D8C1BFE}" type="sibTrans" cxnId="{E167CD09-F617-4071-9701-37497C84FB9D}">
      <dgm:prSet/>
      <dgm:spPr/>
      <dgm:t>
        <a:bodyPr/>
        <a:lstStyle/>
        <a:p>
          <a:endParaRPr lang="en-US"/>
        </a:p>
      </dgm:t>
    </dgm:pt>
    <dgm:pt modelId="{83521545-A959-4E49-AB2E-B52DE3DCD119}">
      <dgm:prSet phldrT="[Text]" phldr="0" custT="1"/>
      <dgm:spPr/>
      <dgm:t>
        <a:bodyPr/>
        <a:lstStyle/>
        <a:p>
          <a:pPr algn="ctr"/>
          <a:r>
            <a:rPr lang="en-US" sz="1600" b="1" dirty="0"/>
            <a:t>Fairness</a:t>
          </a:r>
          <a:endParaRPr lang="en-US" sz="1400" b="1" dirty="0"/>
        </a:p>
      </dgm:t>
    </dgm:pt>
    <dgm:pt modelId="{D60F1CFF-9D7E-46F8-B301-9064D9A2632F}" type="parTrans" cxnId="{F5A9400E-56DA-43C7-8BB8-A868816473D3}">
      <dgm:prSet/>
      <dgm:spPr/>
      <dgm:t>
        <a:bodyPr/>
        <a:lstStyle/>
        <a:p>
          <a:endParaRPr lang="en-US"/>
        </a:p>
      </dgm:t>
    </dgm:pt>
    <dgm:pt modelId="{120C893F-B05E-4726-BCF8-64EBDA157CD3}" type="sibTrans" cxnId="{F5A9400E-56DA-43C7-8BB8-A868816473D3}">
      <dgm:prSet/>
      <dgm:spPr/>
      <dgm:t>
        <a:bodyPr/>
        <a:lstStyle/>
        <a:p>
          <a:endParaRPr lang="en-US"/>
        </a:p>
      </dgm:t>
    </dgm:pt>
    <dgm:pt modelId="{4CBF1A56-B824-4FF1-8973-BC85698D9C15}">
      <dgm:prSet phldrT="[Text]" custT="1"/>
      <dgm:spPr/>
      <dgm:t>
        <a:bodyPr/>
        <a:lstStyle/>
        <a:p>
          <a:r>
            <a:rPr lang="en-US" sz="1600" dirty="0"/>
            <a:t>Protocols designed to ensure AI systems do not discriminate against protected groups or yield inequitable outcomes.</a:t>
          </a:r>
        </a:p>
      </dgm:t>
    </dgm:pt>
    <dgm:pt modelId="{02CAAB4E-5B2B-4472-83A5-8957E06AB3A6}" type="parTrans" cxnId="{9C190AA6-70E4-4515-9890-791870686E46}">
      <dgm:prSet/>
      <dgm:spPr/>
      <dgm:t>
        <a:bodyPr/>
        <a:lstStyle/>
        <a:p>
          <a:endParaRPr lang="en-US"/>
        </a:p>
      </dgm:t>
    </dgm:pt>
    <dgm:pt modelId="{7265111D-3B88-4D0C-B4DC-84360827DCBD}" type="sibTrans" cxnId="{9C190AA6-70E4-4515-9890-791870686E46}">
      <dgm:prSet/>
      <dgm:spPr/>
      <dgm:t>
        <a:bodyPr/>
        <a:lstStyle/>
        <a:p>
          <a:endParaRPr lang="en-US"/>
        </a:p>
      </dgm:t>
    </dgm:pt>
    <dgm:pt modelId="{86D1DFBC-2034-4399-81D8-AC861B01291E}">
      <dgm:prSet phldrT="[Text]" phldr="0" custT="1"/>
      <dgm:spPr/>
      <dgm:t>
        <a:bodyPr/>
        <a:lstStyle/>
        <a:p>
          <a:pPr algn="ctr"/>
          <a:r>
            <a:rPr lang="en-US" sz="1600" b="1" dirty="0"/>
            <a:t>Data Privacy &amp; Security</a:t>
          </a:r>
        </a:p>
      </dgm:t>
    </dgm:pt>
    <dgm:pt modelId="{DEA3E281-8B83-40F6-9CC5-4B31D41CB03C}" type="parTrans" cxnId="{0A70E5EF-034B-4A9B-9B94-EDA321C4DE8A}">
      <dgm:prSet/>
      <dgm:spPr/>
      <dgm:t>
        <a:bodyPr/>
        <a:lstStyle/>
        <a:p>
          <a:endParaRPr lang="en-US"/>
        </a:p>
      </dgm:t>
    </dgm:pt>
    <dgm:pt modelId="{3CEF36F8-BEAC-44E7-8C49-C5D26EE00047}" type="sibTrans" cxnId="{0A70E5EF-034B-4A9B-9B94-EDA321C4DE8A}">
      <dgm:prSet/>
      <dgm:spPr/>
      <dgm:t>
        <a:bodyPr/>
        <a:lstStyle/>
        <a:p>
          <a:endParaRPr lang="en-US"/>
        </a:p>
      </dgm:t>
    </dgm:pt>
    <dgm:pt modelId="{9A93ECF2-2E8C-4CD8-B1B7-3E79192A8EC9}">
      <dgm:prSet custT="1"/>
      <dgm:spPr/>
      <dgm:t>
        <a:bodyPr/>
        <a:lstStyle/>
        <a:p>
          <a:r>
            <a:rPr lang="en-US" sz="1600" dirty="0"/>
            <a:t>Strict safeguards dictating how personal and proprietary data is collected, anonymized, stored, and utilized during model training.</a:t>
          </a:r>
        </a:p>
      </dgm:t>
    </dgm:pt>
    <dgm:pt modelId="{C8713980-40F8-4955-8CD8-D27D6EE16F00}" type="parTrans" cxnId="{876B68D5-4D2A-482A-A571-AF03ED1ADE49}">
      <dgm:prSet/>
      <dgm:spPr/>
      <dgm:t>
        <a:bodyPr/>
        <a:lstStyle/>
        <a:p>
          <a:endParaRPr lang="en-US"/>
        </a:p>
      </dgm:t>
    </dgm:pt>
    <dgm:pt modelId="{B1E4AAEA-620E-486B-A252-672A0B34AD8A}" type="sibTrans" cxnId="{876B68D5-4D2A-482A-A571-AF03ED1ADE49}">
      <dgm:prSet/>
      <dgm:spPr/>
      <dgm:t>
        <a:bodyPr/>
        <a:lstStyle/>
        <a:p>
          <a:endParaRPr lang="en-US"/>
        </a:p>
      </dgm:t>
    </dgm:pt>
    <dgm:pt modelId="{D27EA82C-C5CE-4062-9EB2-CB63866D8C16}" type="pres">
      <dgm:prSet presAssocID="{D0A37249-AE7D-4776-ACFE-8B32B4BB5260}" presName="Name0" presStyleCnt="0">
        <dgm:presLayoutVars>
          <dgm:dir/>
          <dgm:animLvl val="lvl"/>
          <dgm:resizeHandles val="exact"/>
        </dgm:presLayoutVars>
      </dgm:prSet>
      <dgm:spPr/>
    </dgm:pt>
    <dgm:pt modelId="{CB050FB5-67FE-4A62-9C75-F350731C2CE7}" type="pres">
      <dgm:prSet presAssocID="{846F24C0-B2A9-4595-A374-F7B0853F87A2}" presName="composite" presStyleCnt="0"/>
      <dgm:spPr/>
    </dgm:pt>
    <dgm:pt modelId="{240D52EC-85C8-40DA-8588-A068C20A3678}" type="pres">
      <dgm:prSet presAssocID="{846F24C0-B2A9-4595-A374-F7B0853F87A2}" presName="parTx" presStyleLbl="alignNode1" presStyleIdx="0" presStyleCnt="4">
        <dgm:presLayoutVars>
          <dgm:chMax val="0"/>
          <dgm:chPref val="0"/>
        </dgm:presLayoutVars>
      </dgm:prSet>
      <dgm:spPr/>
    </dgm:pt>
    <dgm:pt modelId="{74A73B27-D4F4-4730-89C6-C8B26EEB89F9}" type="pres">
      <dgm:prSet presAssocID="{846F24C0-B2A9-4595-A374-F7B0853F87A2}" presName="bgOutline" presStyleLbl="fgAcc1" presStyleIdx="0" presStyleCnt="4">
        <dgm:presLayoutVars>
          <dgm:bulletEnabled/>
        </dgm:presLayoutVars>
      </dgm:prSet>
      <dgm:spPr/>
    </dgm:pt>
    <dgm:pt modelId="{C6FC685C-3A77-41B6-9BD9-D98E1501B1C9}" type="pres">
      <dgm:prSet presAssocID="{08BC8E5B-BD93-48DE-9E9A-6AECC0498AC6}" presName="space" presStyleCnt="0"/>
      <dgm:spPr/>
    </dgm:pt>
    <dgm:pt modelId="{E12FE2A3-E9FB-4765-8254-9E2B44DFB3A4}" type="pres">
      <dgm:prSet presAssocID="{5BD292A9-77A4-4135-9352-DC7BB6D7263A}" presName="composite" presStyleCnt="0"/>
      <dgm:spPr/>
    </dgm:pt>
    <dgm:pt modelId="{FCCEDACC-BE81-4C04-AFB4-8FE3CF3D6FDC}" type="pres">
      <dgm:prSet presAssocID="{5BD292A9-77A4-4135-9352-DC7BB6D7263A}" presName="parTx" presStyleLbl="alignNode1" presStyleIdx="1" presStyleCnt="4">
        <dgm:presLayoutVars>
          <dgm:chMax val="0"/>
          <dgm:chPref val="0"/>
        </dgm:presLayoutVars>
      </dgm:prSet>
      <dgm:spPr/>
    </dgm:pt>
    <dgm:pt modelId="{9EE4DBCC-8748-4884-899F-5468846D2D87}" type="pres">
      <dgm:prSet presAssocID="{5BD292A9-77A4-4135-9352-DC7BB6D7263A}" presName="bgOutline" presStyleLbl="fgAcc1" presStyleIdx="1" presStyleCnt="4">
        <dgm:presLayoutVars>
          <dgm:bulletEnabled/>
        </dgm:presLayoutVars>
      </dgm:prSet>
      <dgm:spPr/>
    </dgm:pt>
    <dgm:pt modelId="{CA5701CD-A5E3-4ACF-830D-0D4D87CC8A2B}" type="pres">
      <dgm:prSet presAssocID="{A5EEDB89-5B93-498C-A20E-8091D555CEA6}" presName="space" presStyleCnt="0"/>
      <dgm:spPr/>
    </dgm:pt>
    <dgm:pt modelId="{1EE0F854-2C53-4009-9E19-67BA09B29D26}" type="pres">
      <dgm:prSet presAssocID="{83521545-A959-4E49-AB2E-B52DE3DCD119}" presName="composite" presStyleCnt="0"/>
      <dgm:spPr/>
    </dgm:pt>
    <dgm:pt modelId="{03628250-9CE0-42FC-A0AC-7FAF813ED583}" type="pres">
      <dgm:prSet presAssocID="{83521545-A959-4E49-AB2E-B52DE3DCD119}" presName="parTx" presStyleLbl="alignNode1" presStyleIdx="2" presStyleCnt="4">
        <dgm:presLayoutVars>
          <dgm:chMax val="0"/>
          <dgm:chPref val="0"/>
        </dgm:presLayoutVars>
      </dgm:prSet>
      <dgm:spPr/>
    </dgm:pt>
    <dgm:pt modelId="{F93AB8E6-2001-4D4B-A522-ECAA7128E64A}" type="pres">
      <dgm:prSet presAssocID="{83521545-A959-4E49-AB2E-B52DE3DCD119}" presName="bgOutline" presStyleLbl="fgAcc1" presStyleIdx="2" presStyleCnt="4">
        <dgm:presLayoutVars>
          <dgm:bulletEnabled/>
        </dgm:presLayoutVars>
      </dgm:prSet>
      <dgm:spPr/>
    </dgm:pt>
    <dgm:pt modelId="{B114F527-6DB5-4E8C-A51B-B0D34C11D90D}" type="pres">
      <dgm:prSet presAssocID="{120C893F-B05E-4726-BCF8-64EBDA157CD3}" presName="space" presStyleCnt="0"/>
      <dgm:spPr/>
    </dgm:pt>
    <dgm:pt modelId="{C3095474-8182-434B-B6F6-3C24AEB7FE04}" type="pres">
      <dgm:prSet presAssocID="{86D1DFBC-2034-4399-81D8-AC861B01291E}" presName="composite" presStyleCnt="0"/>
      <dgm:spPr/>
    </dgm:pt>
    <dgm:pt modelId="{43C63CB3-2B03-476A-8DF4-0A28A13819F9}" type="pres">
      <dgm:prSet presAssocID="{86D1DFBC-2034-4399-81D8-AC861B01291E}" presName="parTx" presStyleLbl="alignNode1" presStyleIdx="3" presStyleCnt="4">
        <dgm:presLayoutVars>
          <dgm:chMax val="0"/>
          <dgm:chPref val="0"/>
        </dgm:presLayoutVars>
      </dgm:prSet>
      <dgm:spPr/>
    </dgm:pt>
    <dgm:pt modelId="{B9E9453C-D67E-4B70-9D0C-134D61C247B4}" type="pres">
      <dgm:prSet presAssocID="{86D1DFBC-2034-4399-81D8-AC861B01291E}" presName="bgOutline" presStyleLbl="fgAcc1" presStyleIdx="3" presStyleCnt="4">
        <dgm:presLayoutVars>
          <dgm:bulletEnabled/>
        </dgm:presLayoutVars>
      </dgm:prSet>
      <dgm:spPr/>
    </dgm:pt>
  </dgm:ptLst>
  <dgm:cxnLst>
    <dgm:cxn modelId="{E167CD09-F617-4071-9701-37497C84FB9D}" srcId="{5BD292A9-77A4-4135-9352-DC7BB6D7263A}" destId="{CA81A21E-4945-4441-B747-6FB32899279E}" srcOrd="0" destOrd="0" parTransId="{0FC3F213-5B0B-408D-8A2B-0D0B587FA08C}" sibTransId="{65116843-BD38-48CE-89BD-8DEC1D8C1BFE}"/>
    <dgm:cxn modelId="{2A0D9D0B-97FB-4BED-AA31-EEEEE9AB39A1}" type="presOf" srcId="{846F24C0-B2A9-4595-A374-F7B0853F87A2}" destId="{240D52EC-85C8-40DA-8588-A068C20A3678}" srcOrd="0" destOrd="0" presId="urn:microsoft.com/office/officeart/2024/layout/HorizontalActionList"/>
    <dgm:cxn modelId="{F5A9400E-56DA-43C7-8BB8-A868816473D3}" srcId="{D0A37249-AE7D-4776-ACFE-8B32B4BB5260}" destId="{83521545-A959-4E49-AB2E-B52DE3DCD119}" srcOrd="2" destOrd="0" parTransId="{D60F1CFF-9D7E-46F8-B301-9064D9A2632F}" sibTransId="{120C893F-B05E-4726-BCF8-64EBDA157CD3}"/>
    <dgm:cxn modelId="{F4BF2049-B51A-4A60-BD0C-680713ADB238}" type="presOf" srcId="{5BD292A9-77A4-4135-9352-DC7BB6D7263A}" destId="{FCCEDACC-BE81-4C04-AFB4-8FE3CF3D6FDC}" srcOrd="0" destOrd="0" presId="urn:microsoft.com/office/officeart/2024/layout/HorizontalActionList"/>
    <dgm:cxn modelId="{A0F4AD4D-D9C6-4356-8B9D-C9103391C0B2}" type="presOf" srcId="{CA81A21E-4945-4441-B747-6FB32899279E}" destId="{9EE4DBCC-8748-4884-899F-5468846D2D87}" srcOrd="0" destOrd="0" presId="urn:microsoft.com/office/officeart/2024/layout/HorizontalActionList"/>
    <dgm:cxn modelId="{15C7725A-8011-489B-8365-50EF91BDB343}" type="presOf" srcId="{4CBF1A56-B824-4FF1-8973-BC85698D9C15}" destId="{F93AB8E6-2001-4D4B-A522-ECAA7128E64A}" srcOrd="0" destOrd="0" presId="urn:microsoft.com/office/officeart/2024/layout/HorizontalActionList"/>
    <dgm:cxn modelId="{2F05C097-B062-447A-A736-F7BB08C4BFCC}" srcId="{D0A37249-AE7D-4776-ACFE-8B32B4BB5260}" destId="{5BD292A9-77A4-4135-9352-DC7BB6D7263A}" srcOrd="1" destOrd="0" parTransId="{87FA043C-896A-4115-8ACD-6CD3CD939349}" sibTransId="{A5EEDB89-5B93-498C-A20E-8091D555CEA6}"/>
    <dgm:cxn modelId="{723E0CA2-ACBB-4C34-9A79-776929326798}" type="presOf" srcId="{9A93ECF2-2E8C-4CD8-B1B7-3E79192A8EC9}" destId="{B9E9453C-D67E-4B70-9D0C-134D61C247B4}" srcOrd="0" destOrd="0" presId="urn:microsoft.com/office/officeart/2024/layout/HorizontalActionList"/>
    <dgm:cxn modelId="{4E6314A2-6835-4655-9B6F-785DA13862A6}" srcId="{D0A37249-AE7D-4776-ACFE-8B32B4BB5260}" destId="{846F24C0-B2A9-4595-A374-F7B0853F87A2}" srcOrd="0" destOrd="0" parTransId="{3BAA968B-F4CB-44DC-80E1-5120294361E4}" sibTransId="{08BC8E5B-BD93-48DE-9E9A-6AECC0498AC6}"/>
    <dgm:cxn modelId="{9C190AA6-70E4-4515-9890-791870686E46}" srcId="{83521545-A959-4E49-AB2E-B52DE3DCD119}" destId="{4CBF1A56-B824-4FF1-8973-BC85698D9C15}" srcOrd="0" destOrd="0" parTransId="{02CAAB4E-5B2B-4472-83A5-8957E06AB3A6}" sibTransId="{7265111D-3B88-4D0C-B4DC-84360827DCBD}"/>
    <dgm:cxn modelId="{3A73B9AD-FA2B-4989-B4A6-F795E9D13DB3}" type="presOf" srcId="{01586B1F-7FD7-42EE-9892-483B3596CA22}" destId="{74A73B27-D4F4-4730-89C6-C8B26EEB89F9}" srcOrd="0" destOrd="0" presId="urn:microsoft.com/office/officeart/2024/layout/HorizontalActionList"/>
    <dgm:cxn modelId="{865CD4B7-EC3D-4E70-BF49-7B5737C7B6D6}" type="presOf" srcId="{86D1DFBC-2034-4399-81D8-AC861B01291E}" destId="{43C63CB3-2B03-476A-8DF4-0A28A13819F9}" srcOrd="0" destOrd="0" presId="urn:microsoft.com/office/officeart/2024/layout/HorizontalActionList"/>
    <dgm:cxn modelId="{D57766BD-8701-426C-A89C-1F8CFA2A0471}" srcId="{846F24C0-B2A9-4595-A374-F7B0853F87A2}" destId="{01586B1F-7FD7-42EE-9892-483B3596CA22}" srcOrd="0" destOrd="0" parTransId="{EBF2F932-D1CC-4E9A-8728-8A08BC610C47}" sibTransId="{03F00998-EAA7-4C00-9457-EFD9F5C62D27}"/>
    <dgm:cxn modelId="{876B68D5-4D2A-482A-A571-AF03ED1ADE49}" srcId="{86D1DFBC-2034-4399-81D8-AC861B01291E}" destId="{9A93ECF2-2E8C-4CD8-B1B7-3E79192A8EC9}" srcOrd="0" destOrd="0" parTransId="{C8713980-40F8-4955-8CD8-D27D6EE16F00}" sibTransId="{B1E4AAEA-620E-486B-A252-672A0B34AD8A}"/>
    <dgm:cxn modelId="{0A70E5EF-034B-4A9B-9B94-EDA321C4DE8A}" srcId="{D0A37249-AE7D-4776-ACFE-8B32B4BB5260}" destId="{86D1DFBC-2034-4399-81D8-AC861B01291E}" srcOrd="3" destOrd="0" parTransId="{DEA3E281-8B83-40F6-9CC5-4B31D41CB03C}" sibTransId="{3CEF36F8-BEAC-44E7-8C49-C5D26EE00047}"/>
    <dgm:cxn modelId="{DFB6FEF9-B706-4405-AED7-46E1B0FAE630}" type="presOf" srcId="{D0A37249-AE7D-4776-ACFE-8B32B4BB5260}" destId="{D27EA82C-C5CE-4062-9EB2-CB63866D8C16}" srcOrd="0" destOrd="0" presId="urn:microsoft.com/office/officeart/2024/layout/HorizontalActionList"/>
    <dgm:cxn modelId="{154D75FF-7FAE-45A7-9BB0-BE1F5C8AE931}" type="presOf" srcId="{83521545-A959-4E49-AB2E-B52DE3DCD119}" destId="{03628250-9CE0-42FC-A0AC-7FAF813ED583}" srcOrd="0" destOrd="0" presId="urn:microsoft.com/office/officeart/2024/layout/HorizontalActionList"/>
    <dgm:cxn modelId="{6ADA09C7-3B11-4E7E-90D5-CF31B46D3963}" type="presParOf" srcId="{D27EA82C-C5CE-4062-9EB2-CB63866D8C16}" destId="{CB050FB5-67FE-4A62-9C75-F350731C2CE7}" srcOrd="0" destOrd="0" presId="urn:microsoft.com/office/officeart/2024/layout/HorizontalActionList"/>
    <dgm:cxn modelId="{3510C076-0F59-4731-A228-A6485A035CC9}" type="presParOf" srcId="{CB050FB5-67FE-4A62-9C75-F350731C2CE7}" destId="{240D52EC-85C8-40DA-8588-A068C20A3678}" srcOrd="0" destOrd="0" presId="urn:microsoft.com/office/officeart/2024/layout/HorizontalActionList"/>
    <dgm:cxn modelId="{A5EB2293-51D0-44C3-A5A2-68B75544FDA1}" type="presParOf" srcId="{CB050FB5-67FE-4A62-9C75-F350731C2CE7}" destId="{74A73B27-D4F4-4730-89C6-C8B26EEB89F9}" srcOrd="1" destOrd="0" presId="urn:microsoft.com/office/officeart/2024/layout/HorizontalActionList"/>
    <dgm:cxn modelId="{AAEEB63D-04ED-4F86-B309-CD695ABAF41E}" type="presParOf" srcId="{D27EA82C-C5CE-4062-9EB2-CB63866D8C16}" destId="{C6FC685C-3A77-41B6-9BD9-D98E1501B1C9}" srcOrd="1" destOrd="0" presId="urn:microsoft.com/office/officeart/2024/layout/HorizontalActionList"/>
    <dgm:cxn modelId="{39444405-A029-407F-8A7C-2FCAB4B9A1B2}" type="presParOf" srcId="{D27EA82C-C5CE-4062-9EB2-CB63866D8C16}" destId="{E12FE2A3-E9FB-4765-8254-9E2B44DFB3A4}" srcOrd="2" destOrd="0" presId="urn:microsoft.com/office/officeart/2024/layout/HorizontalActionList"/>
    <dgm:cxn modelId="{70E0EF71-D0DA-4E62-A0FB-4A420570E7D1}" type="presParOf" srcId="{E12FE2A3-E9FB-4765-8254-9E2B44DFB3A4}" destId="{FCCEDACC-BE81-4C04-AFB4-8FE3CF3D6FDC}" srcOrd="0" destOrd="0" presId="urn:microsoft.com/office/officeart/2024/layout/HorizontalActionList"/>
    <dgm:cxn modelId="{87B79DE8-DE71-4314-8157-F705698579DE}" type="presParOf" srcId="{E12FE2A3-E9FB-4765-8254-9E2B44DFB3A4}" destId="{9EE4DBCC-8748-4884-899F-5468846D2D87}" srcOrd="1" destOrd="0" presId="urn:microsoft.com/office/officeart/2024/layout/HorizontalActionList"/>
    <dgm:cxn modelId="{666AEFAC-6CD0-435C-85AA-7DA3EB183A64}" type="presParOf" srcId="{D27EA82C-C5CE-4062-9EB2-CB63866D8C16}" destId="{CA5701CD-A5E3-4ACF-830D-0D4D87CC8A2B}" srcOrd="3" destOrd="0" presId="urn:microsoft.com/office/officeart/2024/layout/HorizontalActionList"/>
    <dgm:cxn modelId="{233DBFA0-A53E-40CB-BB19-D88BE54553C9}" type="presParOf" srcId="{D27EA82C-C5CE-4062-9EB2-CB63866D8C16}" destId="{1EE0F854-2C53-4009-9E19-67BA09B29D26}" srcOrd="4" destOrd="0" presId="urn:microsoft.com/office/officeart/2024/layout/HorizontalActionList"/>
    <dgm:cxn modelId="{4F33FD06-59C2-4E46-AAA1-E74ECE132D82}" type="presParOf" srcId="{1EE0F854-2C53-4009-9E19-67BA09B29D26}" destId="{03628250-9CE0-42FC-A0AC-7FAF813ED583}" srcOrd="0" destOrd="0" presId="urn:microsoft.com/office/officeart/2024/layout/HorizontalActionList"/>
    <dgm:cxn modelId="{536BB041-3274-464B-8247-15C1A1234BE9}" type="presParOf" srcId="{1EE0F854-2C53-4009-9E19-67BA09B29D26}" destId="{F93AB8E6-2001-4D4B-A522-ECAA7128E64A}" srcOrd="1" destOrd="0" presId="urn:microsoft.com/office/officeart/2024/layout/HorizontalActionList"/>
    <dgm:cxn modelId="{A8D7440A-A2D4-4303-839F-A51188AD75E4}" type="presParOf" srcId="{D27EA82C-C5CE-4062-9EB2-CB63866D8C16}" destId="{B114F527-6DB5-4E8C-A51B-B0D34C11D90D}" srcOrd="5" destOrd="0" presId="urn:microsoft.com/office/officeart/2024/layout/HorizontalActionList"/>
    <dgm:cxn modelId="{AF1DA837-A4B9-4271-A358-659B6959AF56}" type="presParOf" srcId="{D27EA82C-C5CE-4062-9EB2-CB63866D8C16}" destId="{C3095474-8182-434B-B6F6-3C24AEB7FE04}" srcOrd="6" destOrd="0" presId="urn:microsoft.com/office/officeart/2024/layout/HorizontalActionList"/>
    <dgm:cxn modelId="{1DE70265-BB74-4710-AA7D-7C971F8AD2FC}" type="presParOf" srcId="{C3095474-8182-434B-B6F6-3C24AEB7FE04}" destId="{43C63CB3-2B03-476A-8DF4-0A28A13819F9}" srcOrd="0" destOrd="0" presId="urn:microsoft.com/office/officeart/2024/layout/HorizontalActionList"/>
    <dgm:cxn modelId="{2E9E5F4F-3471-4399-BA24-EACB9CDBF727}" type="presParOf" srcId="{C3095474-8182-434B-B6F6-3C24AEB7FE04}" destId="{B9E9453C-D67E-4B70-9D0C-134D61C247B4}" srcOrd="1" destOrd="0" presId="urn:microsoft.com/office/officeart/2024/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216E63D-CBE1-47D1-971D-D19E0E8A8FC3}" type="doc">
      <dgm:prSet loTypeId="urn:diagrams.loki3.com/BracketList" loCatId="list" qsTypeId="urn:microsoft.com/office/officeart/2005/8/quickstyle/simple1#11" qsCatId="simple" csTypeId="urn:microsoft.com/office/officeart/2005/8/colors/colorful1#9" csCatId="colorful" phldr="1"/>
      <dgm:spPr/>
      <dgm:t>
        <a:bodyPr/>
        <a:lstStyle/>
        <a:p>
          <a:endParaRPr lang="en-US"/>
        </a:p>
      </dgm:t>
    </dgm:pt>
    <dgm:pt modelId="{A134D086-EB35-479B-BCB2-A4FC4CA30380}">
      <dgm:prSet phldrT="[Text]"/>
      <dgm:spPr/>
      <dgm:t>
        <a:bodyPr/>
        <a:lstStyle/>
        <a:p>
          <a:pPr algn="ctr"/>
          <a:r>
            <a:rPr lang="en-US" b="1" dirty="0">
              <a:solidFill>
                <a:schemeClr val="accent2"/>
              </a:solidFill>
            </a:rPr>
            <a:t>Use of AI by companies and organizations</a:t>
          </a:r>
        </a:p>
      </dgm:t>
    </dgm:pt>
    <dgm:pt modelId="{6A8DC8BF-72FC-408B-9777-5DEC76AF5B6B}" type="parTrans" cxnId="{7CEC442A-C2AF-454D-87FF-C23BAF698F33}">
      <dgm:prSet/>
      <dgm:spPr/>
      <dgm:t>
        <a:bodyPr/>
        <a:lstStyle/>
        <a:p>
          <a:endParaRPr lang="en-US"/>
        </a:p>
      </dgm:t>
    </dgm:pt>
    <dgm:pt modelId="{6AFF4D62-BF0A-4087-88EC-F409FDBD1BE2}" type="sibTrans" cxnId="{7CEC442A-C2AF-454D-87FF-C23BAF698F33}">
      <dgm:prSet/>
      <dgm:spPr/>
      <dgm:t>
        <a:bodyPr/>
        <a:lstStyle/>
        <a:p>
          <a:endParaRPr lang="en-US"/>
        </a:p>
      </dgm:t>
    </dgm:pt>
    <dgm:pt modelId="{50A2CA05-A47E-40F3-8C4C-B78F6A4D8A93}">
      <dgm:prSet phldrT="[Text]"/>
      <dgm:spPr/>
      <dgm:t>
        <a:bodyPr/>
        <a:lstStyle/>
        <a:p>
          <a:r>
            <a:rPr lang="en-US" dirty="0"/>
            <a:t>Ensure safety</a:t>
          </a:r>
        </a:p>
      </dgm:t>
      <dgm:extLst>
        <a:ext uri="{E40237B7-FDA0-4F09-8148-C483321AD2D9}">
          <dgm14:cNvPr xmlns:dgm14="http://schemas.microsoft.com/office/drawing/2010/diagram" id="0" name="" descr="Ensure safety&#10;Limit harmful uses of AI&#10;Establish accountability: Liability?&#10;Avoid concentration of power: Winner-takes-All&#10;"/>
        </a:ext>
      </dgm:extLst>
    </dgm:pt>
    <dgm:pt modelId="{972F3A07-87E8-4DF5-B140-25220A30A866}" type="parTrans" cxnId="{C897491D-D49B-42ED-B73D-65D229C9A4E3}">
      <dgm:prSet/>
      <dgm:spPr/>
      <dgm:t>
        <a:bodyPr/>
        <a:lstStyle/>
        <a:p>
          <a:endParaRPr lang="en-US"/>
        </a:p>
      </dgm:t>
    </dgm:pt>
    <dgm:pt modelId="{BA81BC62-DCBA-40DB-875F-1F73DB782AC3}" type="sibTrans" cxnId="{C897491D-D49B-42ED-B73D-65D229C9A4E3}">
      <dgm:prSet/>
      <dgm:spPr/>
      <dgm:t>
        <a:bodyPr/>
        <a:lstStyle/>
        <a:p>
          <a:endParaRPr lang="en-US"/>
        </a:p>
      </dgm:t>
    </dgm:pt>
    <dgm:pt modelId="{51939334-B253-4E2C-A961-454675F260AC}">
      <dgm:prSet phldrT="[Text]"/>
      <dgm:spPr/>
      <dgm:t>
        <a:bodyPr/>
        <a:lstStyle/>
        <a:p>
          <a:pPr algn="ctr"/>
          <a:r>
            <a:rPr lang="en-US" b="1" dirty="0"/>
            <a:t>Protect individuals</a:t>
          </a:r>
        </a:p>
      </dgm:t>
    </dgm:pt>
    <dgm:pt modelId="{4AFA6AEB-BCD9-4F5F-9068-42B083C22026}" type="parTrans" cxnId="{6D4ADBD1-3B85-484C-BC10-C606F9CA9CD4}">
      <dgm:prSet/>
      <dgm:spPr/>
      <dgm:t>
        <a:bodyPr/>
        <a:lstStyle/>
        <a:p>
          <a:endParaRPr lang="en-US"/>
        </a:p>
      </dgm:t>
    </dgm:pt>
    <dgm:pt modelId="{4CBC84A2-4E3F-4055-8A4C-FF0DE0CC39D6}" type="sibTrans" cxnId="{6D4ADBD1-3B85-484C-BC10-C606F9CA9CD4}">
      <dgm:prSet/>
      <dgm:spPr/>
      <dgm:t>
        <a:bodyPr/>
        <a:lstStyle/>
        <a:p>
          <a:endParaRPr lang="en-US"/>
        </a:p>
      </dgm:t>
    </dgm:pt>
    <dgm:pt modelId="{BCFEFF8C-3EC3-4EF4-9708-A267F78227B6}">
      <dgm:prSet phldrT="[Text]"/>
      <dgm:spPr/>
      <dgm:t>
        <a:bodyPr/>
        <a:lstStyle/>
        <a:p>
          <a:r>
            <a:rPr lang="en-US" dirty="0"/>
            <a:t>Uphold human rights and values.</a:t>
          </a:r>
        </a:p>
      </dgm:t>
    </dgm:pt>
    <dgm:pt modelId="{8EA3966C-3C08-43B2-B785-21F4C2296D52}" type="parTrans" cxnId="{4A80B58A-034F-41E4-A660-1AB32370363A}">
      <dgm:prSet/>
      <dgm:spPr/>
      <dgm:t>
        <a:bodyPr/>
        <a:lstStyle/>
        <a:p>
          <a:endParaRPr lang="en-US"/>
        </a:p>
      </dgm:t>
    </dgm:pt>
    <dgm:pt modelId="{3EE3E378-4E2A-4458-813D-AD3CC9A87D62}" type="sibTrans" cxnId="{4A80B58A-034F-41E4-A660-1AB32370363A}">
      <dgm:prSet/>
      <dgm:spPr/>
      <dgm:t>
        <a:bodyPr/>
        <a:lstStyle/>
        <a:p>
          <a:endParaRPr lang="en-US"/>
        </a:p>
      </dgm:t>
    </dgm:pt>
    <dgm:pt modelId="{FA18C506-4982-4A60-B328-FFB50BBB8D9A}">
      <dgm:prSet/>
      <dgm:spPr/>
      <dgm:t>
        <a:bodyPr/>
        <a:lstStyle/>
        <a:p>
          <a:r>
            <a:rPr lang="en-US" dirty="0"/>
            <a:t>Limit harmful uses of AI</a:t>
          </a:r>
        </a:p>
      </dgm:t>
    </dgm:pt>
    <dgm:pt modelId="{1BBEEB0C-E1FC-4957-B570-1B8386860D04}" type="parTrans" cxnId="{A45E9513-6311-4604-94BB-9498BF16A7AB}">
      <dgm:prSet/>
      <dgm:spPr/>
      <dgm:t>
        <a:bodyPr/>
        <a:lstStyle/>
        <a:p>
          <a:endParaRPr lang="en-US"/>
        </a:p>
      </dgm:t>
    </dgm:pt>
    <dgm:pt modelId="{CCEB5C56-45B1-4819-8FE7-B7F6DE13403D}" type="sibTrans" cxnId="{A45E9513-6311-4604-94BB-9498BF16A7AB}">
      <dgm:prSet/>
      <dgm:spPr/>
      <dgm:t>
        <a:bodyPr/>
        <a:lstStyle/>
        <a:p>
          <a:endParaRPr lang="en-US"/>
        </a:p>
      </dgm:t>
    </dgm:pt>
    <dgm:pt modelId="{F13E7D06-81FA-4558-88D5-47C5103BB0AA}">
      <dgm:prSet/>
      <dgm:spPr/>
      <dgm:t>
        <a:bodyPr/>
        <a:lstStyle/>
        <a:p>
          <a:r>
            <a:rPr lang="en-US" dirty="0"/>
            <a:t>Establish accountability: Liability?</a:t>
          </a:r>
        </a:p>
      </dgm:t>
    </dgm:pt>
    <dgm:pt modelId="{A59AFFB2-36B6-4D90-A849-EF5335EFBCA7}" type="parTrans" cxnId="{F2974331-80EC-4E40-A076-200B0ADFBCFD}">
      <dgm:prSet/>
      <dgm:spPr/>
      <dgm:t>
        <a:bodyPr/>
        <a:lstStyle/>
        <a:p>
          <a:endParaRPr lang="en-US"/>
        </a:p>
      </dgm:t>
    </dgm:pt>
    <dgm:pt modelId="{B719DB70-2EEE-4BA0-B9BA-9ADF0EE7D77B}" type="sibTrans" cxnId="{F2974331-80EC-4E40-A076-200B0ADFBCFD}">
      <dgm:prSet/>
      <dgm:spPr/>
      <dgm:t>
        <a:bodyPr/>
        <a:lstStyle/>
        <a:p>
          <a:endParaRPr lang="en-US"/>
        </a:p>
      </dgm:t>
    </dgm:pt>
    <dgm:pt modelId="{C4F5E714-86FD-419E-9548-51B334F01070}">
      <dgm:prSet/>
      <dgm:spPr/>
      <dgm:t>
        <a:bodyPr/>
        <a:lstStyle/>
        <a:p>
          <a:r>
            <a:rPr lang="en-US" dirty="0"/>
            <a:t>Avoid concentration of power: Winner-takes-All</a:t>
          </a:r>
        </a:p>
      </dgm:t>
    </dgm:pt>
    <dgm:pt modelId="{E9B8F1A1-CD9B-4EE7-9B6B-9069A697F4D8}" type="parTrans" cxnId="{56EA39BF-610F-4F68-8AB9-471F2510DDD9}">
      <dgm:prSet/>
      <dgm:spPr/>
      <dgm:t>
        <a:bodyPr/>
        <a:lstStyle/>
        <a:p>
          <a:endParaRPr lang="en-US"/>
        </a:p>
      </dgm:t>
    </dgm:pt>
    <dgm:pt modelId="{696E55F1-619B-4E5E-A5D5-D7CBA8BA1847}" type="sibTrans" cxnId="{56EA39BF-610F-4F68-8AB9-471F2510DDD9}">
      <dgm:prSet/>
      <dgm:spPr/>
      <dgm:t>
        <a:bodyPr/>
        <a:lstStyle/>
        <a:p>
          <a:endParaRPr lang="en-US"/>
        </a:p>
      </dgm:t>
    </dgm:pt>
    <dgm:pt modelId="{766CA1A5-C5E8-4632-9D55-A9D543E3C578}">
      <dgm:prSet/>
      <dgm:spPr/>
      <dgm:t>
        <a:bodyPr/>
        <a:lstStyle/>
        <a:p>
          <a:r>
            <a:rPr lang="en-US" dirty="0"/>
            <a:t>Ensure fairness: Equal opportunity/equal impact. Reflect diversity/inclusion</a:t>
          </a:r>
        </a:p>
      </dgm:t>
    </dgm:pt>
    <dgm:pt modelId="{99350BE8-9FFE-425C-9582-6C7A6ECEB773}" type="parTrans" cxnId="{262C51A0-8D81-47B9-A772-5D662C14F2F0}">
      <dgm:prSet/>
      <dgm:spPr/>
      <dgm:t>
        <a:bodyPr/>
        <a:lstStyle/>
        <a:p>
          <a:endParaRPr lang="en-US"/>
        </a:p>
      </dgm:t>
    </dgm:pt>
    <dgm:pt modelId="{CC291EB2-27C2-4888-92BE-C4C82066D92B}" type="sibTrans" cxnId="{262C51A0-8D81-47B9-A772-5D662C14F2F0}">
      <dgm:prSet/>
      <dgm:spPr/>
      <dgm:t>
        <a:bodyPr/>
        <a:lstStyle/>
        <a:p>
          <a:endParaRPr lang="en-US"/>
        </a:p>
      </dgm:t>
    </dgm:pt>
    <dgm:pt modelId="{CB652788-EA98-417F-A48C-01DB7C795291}">
      <dgm:prSet/>
      <dgm:spPr/>
      <dgm:t>
        <a:bodyPr/>
        <a:lstStyle/>
        <a:p>
          <a:r>
            <a:rPr lang="en-US" dirty="0"/>
            <a:t>Provide transparency: Explanations to build trust</a:t>
          </a:r>
        </a:p>
      </dgm:t>
    </dgm:pt>
    <dgm:pt modelId="{C61DF9FB-C5FA-45A1-AB3B-3EAB1101DDC0}" type="parTrans" cxnId="{59AB4109-481B-4565-8B02-CFE2F974F769}">
      <dgm:prSet/>
      <dgm:spPr/>
      <dgm:t>
        <a:bodyPr/>
        <a:lstStyle/>
        <a:p>
          <a:endParaRPr lang="en-US"/>
        </a:p>
      </dgm:t>
    </dgm:pt>
    <dgm:pt modelId="{A6116C51-6B3A-4C7A-BC7F-9C032F57DDAE}" type="sibTrans" cxnId="{59AB4109-481B-4565-8B02-CFE2F974F769}">
      <dgm:prSet/>
      <dgm:spPr/>
      <dgm:t>
        <a:bodyPr/>
        <a:lstStyle/>
        <a:p>
          <a:endParaRPr lang="en-US"/>
        </a:p>
      </dgm:t>
    </dgm:pt>
    <dgm:pt modelId="{C05AB942-1D66-4B04-AECC-C06D4FE21A77}">
      <dgm:prSet/>
      <dgm:spPr/>
      <dgm:t>
        <a:bodyPr/>
        <a:lstStyle/>
        <a:p>
          <a:r>
            <a:rPr lang="en-US" dirty="0"/>
            <a:t>Respect privacy: Surveillance?</a:t>
          </a:r>
        </a:p>
      </dgm:t>
    </dgm:pt>
    <dgm:pt modelId="{9C086E27-EF2A-4457-A530-2C152AD03484}" type="parTrans" cxnId="{5C0B11CA-CFCA-4F8E-982C-65CFAF6F8B95}">
      <dgm:prSet/>
      <dgm:spPr/>
      <dgm:t>
        <a:bodyPr/>
        <a:lstStyle/>
        <a:p>
          <a:endParaRPr lang="en-US"/>
        </a:p>
      </dgm:t>
    </dgm:pt>
    <dgm:pt modelId="{74133B84-C025-4469-A00E-8B97E217C0D3}" type="sibTrans" cxnId="{5C0B11CA-CFCA-4F8E-982C-65CFAF6F8B95}">
      <dgm:prSet/>
      <dgm:spPr/>
      <dgm:t>
        <a:bodyPr/>
        <a:lstStyle/>
        <a:p>
          <a:endParaRPr lang="en-US"/>
        </a:p>
      </dgm:t>
    </dgm:pt>
    <dgm:pt modelId="{F8B930A5-66C0-4899-8B65-AA6F5AE8BAD9}">
      <dgm:prSet/>
      <dgm:spPr/>
      <dgm:t>
        <a:bodyPr/>
        <a:lstStyle/>
        <a:p>
          <a:r>
            <a:rPr lang="en-US" dirty="0"/>
            <a:t>Contemplate implications for employment: Income and purpose.</a:t>
          </a:r>
        </a:p>
      </dgm:t>
    </dgm:pt>
    <dgm:pt modelId="{2C898B08-D713-4D2D-B7C5-B63CEC0F5A23}" type="parTrans" cxnId="{57955240-D45B-4B2F-84EF-8CD7E15D0E0E}">
      <dgm:prSet/>
      <dgm:spPr/>
      <dgm:t>
        <a:bodyPr/>
        <a:lstStyle/>
        <a:p>
          <a:endParaRPr lang="en-US"/>
        </a:p>
      </dgm:t>
    </dgm:pt>
    <dgm:pt modelId="{D4C9A265-8854-47D3-B5D8-0B77CCF2919C}" type="sibTrans" cxnId="{57955240-D45B-4B2F-84EF-8CD7E15D0E0E}">
      <dgm:prSet/>
      <dgm:spPr/>
      <dgm:t>
        <a:bodyPr/>
        <a:lstStyle/>
        <a:p>
          <a:endParaRPr lang="en-US"/>
        </a:p>
      </dgm:t>
    </dgm:pt>
    <dgm:pt modelId="{20CA0817-04D9-4922-976A-7F4BF95F116A}">
      <dgm:prSet/>
      <dgm:spPr/>
      <dgm:t>
        <a:bodyPr/>
        <a:lstStyle/>
        <a:p>
          <a:pPr algn="ctr"/>
          <a:r>
            <a:rPr lang="en-US" b="1" dirty="0">
              <a:solidFill>
                <a:schemeClr val="accent4"/>
              </a:solidFill>
            </a:rPr>
            <a:t>Governance</a:t>
          </a:r>
        </a:p>
      </dgm:t>
    </dgm:pt>
    <dgm:pt modelId="{5C5B9A49-A25E-4746-96A9-A01FB1D43459}" type="parTrans" cxnId="{700CFC25-3097-4A7E-B2F8-A2F53A32A82D}">
      <dgm:prSet/>
      <dgm:spPr/>
      <dgm:t>
        <a:bodyPr/>
        <a:lstStyle/>
        <a:p>
          <a:endParaRPr lang="en-US"/>
        </a:p>
      </dgm:t>
    </dgm:pt>
    <dgm:pt modelId="{745CFCCB-A04A-4037-86FE-61ACC4E6378F}" type="sibTrans" cxnId="{700CFC25-3097-4A7E-B2F8-A2F53A32A82D}">
      <dgm:prSet/>
      <dgm:spPr/>
      <dgm:t>
        <a:bodyPr/>
        <a:lstStyle/>
        <a:p>
          <a:endParaRPr lang="en-US"/>
        </a:p>
      </dgm:t>
    </dgm:pt>
    <dgm:pt modelId="{185AD122-68BD-4092-B526-95751C57D114}">
      <dgm:prSet/>
      <dgm:spPr/>
      <dgm:t>
        <a:bodyPr/>
        <a:lstStyle/>
        <a:p>
          <a:r>
            <a:rPr lang="en-US" dirty="0"/>
            <a:t>Acknowledge legal/policy implications</a:t>
          </a:r>
        </a:p>
      </dgm:t>
      <dgm:extLst>
        <a:ext uri="{E40237B7-FDA0-4F09-8148-C483321AD2D9}">
          <dgm14:cNvPr xmlns:dgm14="http://schemas.microsoft.com/office/drawing/2010/diagram" id="0" name="" descr="Ensure safety&#10;Limit harmful uses of AI&#10;Establish accountability: Liability?&#10;Avoid concentration of power: Winner-takes-All&#10;&#10;Uphold human rights and values&#10;Ensure fairness: Equal opportunity/equal impact. Reflect diversity/inclusion&#10;Provide transparency: Explanations to build trust&#10;Respect privacy: Surveillance?&#10;Contemplate implications for employment: Income and purpose.&#10;&#10;Acknowledge legal/policy implications&#10;&#10;"/>
        </a:ext>
      </dgm:extLst>
    </dgm:pt>
    <dgm:pt modelId="{8102FC34-D562-4ED1-93B5-B572FBCEC6CB}" type="parTrans" cxnId="{6B49B411-AC0C-410B-8CF7-B253C5C31BA0}">
      <dgm:prSet/>
      <dgm:spPr/>
      <dgm:t>
        <a:bodyPr/>
        <a:lstStyle/>
        <a:p>
          <a:endParaRPr lang="en-US"/>
        </a:p>
      </dgm:t>
    </dgm:pt>
    <dgm:pt modelId="{EDE61E35-3A9D-4D35-B3FD-88B7808009ED}" type="sibTrans" cxnId="{6B49B411-AC0C-410B-8CF7-B253C5C31BA0}">
      <dgm:prSet/>
      <dgm:spPr/>
      <dgm:t>
        <a:bodyPr/>
        <a:lstStyle/>
        <a:p>
          <a:endParaRPr lang="en-US"/>
        </a:p>
      </dgm:t>
    </dgm:pt>
    <dgm:pt modelId="{865E1FF0-AB9F-4282-9EEF-3427E8120E51}" type="pres">
      <dgm:prSet presAssocID="{7216E63D-CBE1-47D1-971D-D19E0E8A8FC3}" presName="Name0" presStyleCnt="0">
        <dgm:presLayoutVars>
          <dgm:dir/>
          <dgm:animLvl val="lvl"/>
          <dgm:resizeHandles val="exact"/>
        </dgm:presLayoutVars>
      </dgm:prSet>
      <dgm:spPr/>
    </dgm:pt>
    <dgm:pt modelId="{631EC3F7-637A-4515-A793-BD92AD7FA0B0}" type="pres">
      <dgm:prSet presAssocID="{A134D086-EB35-479B-BCB2-A4FC4CA30380}" presName="linNode" presStyleCnt="0"/>
      <dgm:spPr/>
    </dgm:pt>
    <dgm:pt modelId="{BDF37F87-D89B-4265-9CCA-767E09BB27BA}" type="pres">
      <dgm:prSet presAssocID="{A134D086-EB35-479B-BCB2-A4FC4CA30380}" presName="parTx" presStyleLbl="revTx" presStyleIdx="0" presStyleCnt="3">
        <dgm:presLayoutVars>
          <dgm:chMax val="1"/>
          <dgm:bulletEnabled val="1"/>
        </dgm:presLayoutVars>
      </dgm:prSet>
      <dgm:spPr/>
    </dgm:pt>
    <dgm:pt modelId="{18817703-F11E-41DC-8E9C-0E557B75EE9A}" type="pres">
      <dgm:prSet presAssocID="{A134D086-EB35-479B-BCB2-A4FC4CA30380}" presName="bracket" presStyleLbl="parChTrans1D1" presStyleIdx="0" presStyleCnt="3">
        <dgm:style>
          <a:lnRef idx="2">
            <a:schemeClr val="accent2"/>
          </a:lnRef>
          <a:fillRef idx="1">
            <a:schemeClr val="lt1"/>
          </a:fillRef>
          <a:effectRef idx="0">
            <a:schemeClr val="accent2"/>
          </a:effectRef>
          <a:fontRef idx="minor">
            <a:schemeClr val="dk1"/>
          </a:fontRef>
        </dgm:style>
      </dgm:prSet>
      <dgm:spPr/>
    </dgm:pt>
    <dgm:pt modelId="{E0B23359-5982-4DE9-A500-CEE49DE7CBB5}" type="pres">
      <dgm:prSet presAssocID="{A134D086-EB35-479B-BCB2-A4FC4CA30380}" presName="spH" presStyleCnt="0"/>
      <dgm:spPr/>
    </dgm:pt>
    <dgm:pt modelId="{9E74F86F-4160-4D59-AE65-BF20920FD515}" type="pres">
      <dgm:prSet presAssocID="{A134D086-EB35-479B-BCB2-A4FC4CA30380}" presName="desTx" presStyleLbl="node1" presStyleIdx="0" presStyleCnt="3">
        <dgm:presLayoutVars>
          <dgm:bulletEnabled val="1"/>
        </dgm:presLayoutVars>
      </dgm:prSet>
      <dgm:spPr/>
    </dgm:pt>
    <dgm:pt modelId="{116D749A-7E22-49CA-B1BD-CD3422D85B9C}" type="pres">
      <dgm:prSet presAssocID="{6AFF4D62-BF0A-4087-88EC-F409FDBD1BE2}" presName="spV" presStyleCnt="0"/>
      <dgm:spPr/>
    </dgm:pt>
    <dgm:pt modelId="{3933C0B9-677C-4B46-96AB-52DED77BE203}" type="pres">
      <dgm:prSet presAssocID="{51939334-B253-4E2C-A961-454675F260AC}" presName="linNode" presStyleCnt="0"/>
      <dgm:spPr/>
    </dgm:pt>
    <dgm:pt modelId="{8551A47B-1180-4CEB-95F0-15010AF97308}" type="pres">
      <dgm:prSet presAssocID="{51939334-B253-4E2C-A961-454675F260AC}" presName="parTx" presStyleLbl="revTx" presStyleIdx="1" presStyleCnt="3">
        <dgm:presLayoutVars>
          <dgm:chMax val="1"/>
          <dgm:bulletEnabled val="1"/>
        </dgm:presLayoutVars>
      </dgm:prSet>
      <dgm:spPr/>
    </dgm:pt>
    <dgm:pt modelId="{33078966-B16B-4AC2-8803-8A1030501DAA}" type="pres">
      <dgm:prSet presAssocID="{51939334-B253-4E2C-A961-454675F260AC}" presName="bracket" presStyleLbl="parChTrans1D1" presStyleIdx="1" presStyleCnt="3">
        <dgm:style>
          <a:lnRef idx="2">
            <a:schemeClr val="dk1"/>
          </a:lnRef>
          <a:fillRef idx="1">
            <a:schemeClr val="lt1"/>
          </a:fillRef>
          <a:effectRef idx="0">
            <a:schemeClr val="dk1"/>
          </a:effectRef>
          <a:fontRef idx="minor">
            <a:schemeClr val="dk1"/>
          </a:fontRef>
        </dgm:style>
      </dgm:prSet>
      <dgm:spPr/>
    </dgm:pt>
    <dgm:pt modelId="{A98E9E88-B94E-4B7E-9CC5-262AE72C4ED2}" type="pres">
      <dgm:prSet presAssocID="{51939334-B253-4E2C-A961-454675F260AC}" presName="spH" presStyleCnt="0"/>
      <dgm:spPr/>
    </dgm:pt>
    <dgm:pt modelId="{8B5DC7CC-6301-4814-93A2-3DB6A0512DB4}" type="pres">
      <dgm:prSet presAssocID="{51939334-B253-4E2C-A961-454675F260AC}" presName="desTx" presStyleLbl="node1" presStyleIdx="1" presStyleCnt="3">
        <dgm:presLayoutVars>
          <dgm:bulletEnabled val="1"/>
        </dgm:presLayoutVars>
      </dgm:prSet>
      <dgm:spPr/>
    </dgm:pt>
    <dgm:pt modelId="{E43CF2B8-CCF1-4204-9BFA-736C7FDC72A1}" type="pres">
      <dgm:prSet presAssocID="{4CBC84A2-4E3F-4055-8A4C-FF0DE0CC39D6}" presName="spV" presStyleCnt="0"/>
      <dgm:spPr/>
    </dgm:pt>
    <dgm:pt modelId="{EA84A35A-DAB9-4E3F-901D-AEC318211556}" type="pres">
      <dgm:prSet presAssocID="{20CA0817-04D9-4922-976A-7F4BF95F116A}" presName="linNode" presStyleCnt="0"/>
      <dgm:spPr/>
    </dgm:pt>
    <dgm:pt modelId="{81A863B9-2C90-43D8-B529-1F605AC44A8F}" type="pres">
      <dgm:prSet presAssocID="{20CA0817-04D9-4922-976A-7F4BF95F116A}" presName="parTx" presStyleLbl="revTx" presStyleIdx="2" presStyleCnt="3">
        <dgm:presLayoutVars>
          <dgm:chMax val="1"/>
          <dgm:bulletEnabled val="1"/>
        </dgm:presLayoutVars>
      </dgm:prSet>
      <dgm:spPr/>
    </dgm:pt>
    <dgm:pt modelId="{D8E4AC64-8AD0-4103-9AC8-A55D40C4C783}" type="pres">
      <dgm:prSet presAssocID="{20CA0817-04D9-4922-976A-7F4BF95F116A}" presName="bracket" presStyleLbl="parChTrans1D1" presStyleIdx="2" presStyleCnt="3">
        <dgm:style>
          <a:lnRef idx="2">
            <a:schemeClr val="accent4"/>
          </a:lnRef>
          <a:fillRef idx="1">
            <a:schemeClr val="lt1"/>
          </a:fillRef>
          <a:effectRef idx="0">
            <a:schemeClr val="accent4"/>
          </a:effectRef>
          <a:fontRef idx="minor">
            <a:schemeClr val="dk1"/>
          </a:fontRef>
        </dgm:style>
      </dgm:prSet>
      <dgm:spPr/>
    </dgm:pt>
    <dgm:pt modelId="{6EF4622D-1C26-40BC-A289-9AB8211A457D}" type="pres">
      <dgm:prSet presAssocID="{20CA0817-04D9-4922-976A-7F4BF95F116A}" presName="spH" presStyleCnt="0"/>
      <dgm:spPr/>
    </dgm:pt>
    <dgm:pt modelId="{6EFC526C-5B53-453B-9481-B9BD9F7CDE94}" type="pres">
      <dgm:prSet presAssocID="{20CA0817-04D9-4922-976A-7F4BF95F116A}" presName="desTx" presStyleLbl="node1" presStyleIdx="2" presStyleCnt="3">
        <dgm:presLayoutVars>
          <dgm:bulletEnabled val="1"/>
        </dgm:presLayoutVars>
      </dgm:prSet>
      <dgm:spPr/>
    </dgm:pt>
  </dgm:ptLst>
  <dgm:cxnLst>
    <dgm:cxn modelId="{9A6AE004-EADE-4C28-AE7C-1D7C16714266}" type="presOf" srcId="{FA18C506-4982-4A60-B328-FFB50BBB8D9A}" destId="{9E74F86F-4160-4D59-AE65-BF20920FD515}" srcOrd="0" destOrd="1" presId="urn:diagrams.loki3.com/BracketList"/>
    <dgm:cxn modelId="{59AB4109-481B-4565-8B02-CFE2F974F769}" srcId="{51939334-B253-4E2C-A961-454675F260AC}" destId="{CB652788-EA98-417F-A48C-01DB7C795291}" srcOrd="2" destOrd="0" parTransId="{C61DF9FB-C5FA-45A1-AB3B-3EAB1101DDC0}" sibTransId="{A6116C51-6B3A-4C7A-BC7F-9C032F57DDAE}"/>
    <dgm:cxn modelId="{6B49B411-AC0C-410B-8CF7-B253C5C31BA0}" srcId="{20CA0817-04D9-4922-976A-7F4BF95F116A}" destId="{185AD122-68BD-4092-B526-95751C57D114}" srcOrd="0" destOrd="0" parTransId="{8102FC34-D562-4ED1-93B5-B572FBCEC6CB}" sibTransId="{EDE61E35-3A9D-4D35-B3FD-88B7808009ED}"/>
    <dgm:cxn modelId="{A45E9513-6311-4604-94BB-9498BF16A7AB}" srcId="{A134D086-EB35-479B-BCB2-A4FC4CA30380}" destId="{FA18C506-4982-4A60-B328-FFB50BBB8D9A}" srcOrd="1" destOrd="0" parTransId="{1BBEEB0C-E1FC-4957-B570-1B8386860D04}" sibTransId="{CCEB5C56-45B1-4819-8FE7-B7F6DE13403D}"/>
    <dgm:cxn modelId="{C897491D-D49B-42ED-B73D-65D229C9A4E3}" srcId="{A134D086-EB35-479B-BCB2-A4FC4CA30380}" destId="{50A2CA05-A47E-40F3-8C4C-B78F6A4D8A93}" srcOrd="0" destOrd="0" parTransId="{972F3A07-87E8-4DF5-B140-25220A30A866}" sibTransId="{BA81BC62-DCBA-40DB-875F-1F73DB782AC3}"/>
    <dgm:cxn modelId="{6CBFF623-6DEF-444B-8ADA-80AA5523CE37}" type="presOf" srcId="{CB652788-EA98-417F-A48C-01DB7C795291}" destId="{8B5DC7CC-6301-4814-93A2-3DB6A0512DB4}" srcOrd="0" destOrd="2" presId="urn:diagrams.loki3.com/BracketList"/>
    <dgm:cxn modelId="{700CFC25-3097-4A7E-B2F8-A2F53A32A82D}" srcId="{7216E63D-CBE1-47D1-971D-D19E0E8A8FC3}" destId="{20CA0817-04D9-4922-976A-7F4BF95F116A}" srcOrd="2" destOrd="0" parTransId="{5C5B9A49-A25E-4746-96A9-A01FB1D43459}" sibTransId="{745CFCCB-A04A-4037-86FE-61ACC4E6378F}"/>
    <dgm:cxn modelId="{7CEC442A-C2AF-454D-87FF-C23BAF698F33}" srcId="{7216E63D-CBE1-47D1-971D-D19E0E8A8FC3}" destId="{A134D086-EB35-479B-BCB2-A4FC4CA30380}" srcOrd="0" destOrd="0" parTransId="{6A8DC8BF-72FC-408B-9777-5DEC76AF5B6B}" sibTransId="{6AFF4D62-BF0A-4087-88EC-F409FDBD1BE2}"/>
    <dgm:cxn modelId="{F2974331-80EC-4E40-A076-200B0ADFBCFD}" srcId="{A134D086-EB35-479B-BCB2-A4FC4CA30380}" destId="{F13E7D06-81FA-4558-88D5-47C5103BB0AA}" srcOrd="2" destOrd="0" parTransId="{A59AFFB2-36B6-4D90-A849-EF5335EFBCA7}" sibTransId="{B719DB70-2EEE-4BA0-B9BA-9ADF0EE7D77B}"/>
    <dgm:cxn modelId="{22FC4E32-27E1-4F35-A1DF-7ED2B4BED384}" type="presOf" srcId="{F13E7D06-81FA-4558-88D5-47C5103BB0AA}" destId="{9E74F86F-4160-4D59-AE65-BF20920FD515}" srcOrd="0" destOrd="2" presId="urn:diagrams.loki3.com/BracketList"/>
    <dgm:cxn modelId="{7BAAE63E-DF25-4135-89BF-237011E3ED3A}" type="presOf" srcId="{20CA0817-04D9-4922-976A-7F4BF95F116A}" destId="{81A863B9-2C90-43D8-B529-1F605AC44A8F}" srcOrd="0" destOrd="0" presId="urn:diagrams.loki3.com/BracketList"/>
    <dgm:cxn modelId="{57955240-D45B-4B2F-84EF-8CD7E15D0E0E}" srcId="{51939334-B253-4E2C-A961-454675F260AC}" destId="{F8B930A5-66C0-4899-8B65-AA6F5AE8BAD9}" srcOrd="4" destOrd="0" parTransId="{2C898B08-D713-4D2D-B7C5-B63CEC0F5A23}" sibTransId="{D4C9A265-8854-47D3-B5D8-0B77CCF2919C}"/>
    <dgm:cxn modelId="{9769E946-2B80-4B79-9DE6-1AC4D9F65340}" type="presOf" srcId="{185AD122-68BD-4092-B526-95751C57D114}" destId="{6EFC526C-5B53-453B-9481-B9BD9F7CDE94}" srcOrd="0" destOrd="0" presId="urn:diagrams.loki3.com/BracketList"/>
    <dgm:cxn modelId="{43793953-3881-4B43-962D-8244250FC552}" type="presOf" srcId="{50A2CA05-A47E-40F3-8C4C-B78F6A4D8A93}" destId="{9E74F86F-4160-4D59-AE65-BF20920FD515}" srcOrd="0" destOrd="0" presId="urn:diagrams.loki3.com/BracketList"/>
    <dgm:cxn modelId="{07925356-BE76-40E4-B750-2E85590640DD}" type="presOf" srcId="{51939334-B253-4E2C-A961-454675F260AC}" destId="{8551A47B-1180-4CEB-95F0-15010AF97308}" srcOrd="0" destOrd="0" presId="urn:diagrams.loki3.com/BracketList"/>
    <dgm:cxn modelId="{933A2384-FC7D-4715-8C87-B4F4FCAD4591}" type="presOf" srcId="{C05AB942-1D66-4B04-AECC-C06D4FE21A77}" destId="{8B5DC7CC-6301-4814-93A2-3DB6A0512DB4}" srcOrd="0" destOrd="3" presId="urn:diagrams.loki3.com/BracketList"/>
    <dgm:cxn modelId="{4A80B58A-034F-41E4-A660-1AB32370363A}" srcId="{51939334-B253-4E2C-A961-454675F260AC}" destId="{BCFEFF8C-3EC3-4EF4-9708-A267F78227B6}" srcOrd="0" destOrd="0" parTransId="{8EA3966C-3C08-43B2-B785-21F4C2296D52}" sibTransId="{3EE3E378-4E2A-4458-813D-AD3CC9A87D62}"/>
    <dgm:cxn modelId="{FE06D89F-5246-4C07-87C2-FDB39095688B}" type="presOf" srcId="{7216E63D-CBE1-47D1-971D-D19E0E8A8FC3}" destId="{865E1FF0-AB9F-4282-9EEF-3427E8120E51}" srcOrd="0" destOrd="0" presId="urn:diagrams.loki3.com/BracketList"/>
    <dgm:cxn modelId="{262C51A0-8D81-47B9-A772-5D662C14F2F0}" srcId="{51939334-B253-4E2C-A961-454675F260AC}" destId="{766CA1A5-C5E8-4632-9D55-A9D543E3C578}" srcOrd="1" destOrd="0" parTransId="{99350BE8-9FFE-425C-9582-6C7A6ECEB773}" sibTransId="{CC291EB2-27C2-4888-92BE-C4C82066D92B}"/>
    <dgm:cxn modelId="{48974FA1-CB14-4C76-A1B3-9BD8CB623FCD}" type="presOf" srcId="{BCFEFF8C-3EC3-4EF4-9708-A267F78227B6}" destId="{8B5DC7CC-6301-4814-93A2-3DB6A0512DB4}" srcOrd="0" destOrd="0" presId="urn:diagrams.loki3.com/BracketList"/>
    <dgm:cxn modelId="{56EA39BF-610F-4F68-8AB9-471F2510DDD9}" srcId="{A134D086-EB35-479B-BCB2-A4FC4CA30380}" destId="{C4F5E714-86FD-419E-9548-51B334F01070}" srcOrd="3" destOrd="0" parTransId="{E9B8F1A1-CD9B-4EE7-9B6B-9069A697F4D8}" sibTransId="{696E55F1-619B-4E5E-A5D5-D7CBA8BA1847}"/>
    <dgm:cxn modelId="{5C0B11CA-CFCA-4F8E-982C-65CFAF6F8B95}" srcId="{51939334-B253-4E2C-A961-454675F260AC}" destId="{C05AB942-1D66-4B04-AECC-C06D4FE21A77}" srcOrd="3" destOrd="0" parTransId="{9C086E27-EF2A-4457-A530-2C152AD03484}" sibTransId="{74133B84-C025-4469-A00E-8B97E217C0D3}"/>
    <dgm:cxn modelId="{D0FB0FCE-D4BF-4377-8891-D335329B4904}" type="presOf" srcId="{A134D086-EB35-479B-BCB2-A4FC4CA30380}" destId="{BDF37F87-D89B-4265-9CCA-767E09BB27BA}" srcOrd="0" destOrd="0" presId="urn:diagrams.loki3.com/BracketList"/>
    <dgm:cxn modelId="{59E094D0-D173-4926-A062-B0DFC43ED64F}" type="presOf" srcId="{F8B930A5-66C0-4899-8B65-AA6F5AE8BAD9}" destId="{8B5DC7CC-6301-4814-93A2-3DB6A0512DB4}" srcOrd="0" destOrd="4" presId="urn:diagrams.loki3.com/BracketList"/>
    <dgm:cxn modelId="{6D4ADBD1-3B85-484C-BC10-C606F9CA9CD4}" srcId="{7216E63D-CBE1-47D1-971D-D19E0E8A8FC3}" destId="{51939334-B253-4E2C-A961-454675F260AC}" srcOrd="1" destOrd="0" parTransId="{4AFA6AEB-BCD9-4F5F-9068-42B083C22026}" sibTransId="{4CBC84A2-4E3F-4055-8A4C-FF0DE0CC39D6}"/>
    <dgm:cxn modelId="{1E403DE2-CDFE-4A89-AA3F-CF30E0F951B5}" type="presOf" srcId="{C4F5E714-86FD-419E-9548-51B334F01070}" destId="{9E74F86F-4160-4D59-AE65-BF20920FD515}" srcOrd="0" destOrd="3" presId="urn:diagrams.loki3.com/BracketList"/>
    <dgm:cxn modelId="{940517EB-4813-41A7-88DB-A645022677A1}" type="presOf" srcId="{766CA1A5-C5E8-4632-9D55-A9D543E3C578}" destId="{8B5DC7CC-6301-4814-93A2-3DB6A0512DB4}" srcOrd="0" destOrd="1" presId="urn:diagrams.loki3.com/BracketList"/>
    <dgm:cxn modelId="{0C9E0C8F-DC15-4B31-A0B7-E1DB46C5448C}" type="presParOf" srcId="{865E1FF0-AB9F-4282-9EEF-3427E8120E51}" destId="{631EC3F7-637A-4515-A793-BD92AD7FA0B0}" srcOrd="0" destOrd="0" presId="urn:diagrams.loki3.com/BracketList"/>
    <dgm:cxn modelId="{AC04CB65-3559-4FD2-95A4-67E2562E4E5A}" type="presParOf" srcId="{631EC3F7-637A-4515-A793-BD92AD7FA0B0}" destId="{BDF37F87-D89B-4265-9CCA-767E09BB27BA}" srcOrd="0" destOrd="0" presId="urn:diagrams.loki3.com/BracketList"/>
    <dgm:cxn modelId="{777C79F3-C62C-4F10-9CFB-EE8B0ACFB6BE}" type="presParOf" srcId="{631EC3F7-637A-4515-A793-BD92AD7FA0B0}" destId="{18817703-F11E-41DC-8E9C-0E557B75EE9A}" srcOrd="1" destOrd="0" presId="urn:diagrams.loki3.com/BracketList"/>
    <dgm:cxn modelId="{96642699-D21E-4CB8-B0F3-131F6593621C}" type="presParOf" srcId="{631EC3F7-637A-4515-A793-BD92AD7FA0B0}" destId="{E0B23359-5982-4DE9-A500-CEE49DE7CBB5}" srcOrd="2" destOrd="0" presId="urn:diagrams.loki3.com/BracketList"/>
    <dgm:cxn modelId="{484DB3C4-E7DD-479F-B42A-0813545CA90E}" type="presParOf" srcId="{631EC3F7-637A-4515-A793-BD92AD7FA0B0}" destId="{9E74F86F-4160-4D59-AE65-BF20920FD515}" srcOrd="3" destOrd="0" presId="urn:diagrams.loki3.com/BracketList"/>
    <dgm:cxn modelId="{56D8C72C-94E5-4392-9CA6-088986212996}" type="presParOf" srcId="{865E1FF0-AB9F-4282-9EEF-3427E8120E51}" destId="{116D749A-7E22-49CA-B1BD-CD3422D85B9C}" srcOrd="1" destOrd="0" presId="urn:diagrams.loki3.com/BracketList"/>
    <dgm:cxn modelId="{AA926C12-1520-44FA-8192-D5874D87E4BE}" type="presParOf" srcId="{865E1FF0-AB9F-4282-9EEF-3427E8120E51}" destId="{3933C0B9-677C-4B46-96AB-52DED77BE203}" srcOrd="2" destOrd="0" presId="urn:diagrams.loki3.com/BracketList"/>
    <dgm:cxn modelId="{0D7E7ADD-3692-4121-AEFA-7BF29C73CF75}" type="presParOf" srcId="{3933C0B9-677C-4B46-96AB-52DED77BE203}" destId="{8551A47B-1180-4CEB-95F0-15010AF97308}" srcOrd="0" destOrd="0" presId="urn:diagrams.loki3.com/BracketList"/>
    <dgm:cxn modelId="{68421E71-4E28-4958-BF28-873907AA70C3}" type="presParOf" srcId="{3933C0B9-677C-4B46-96AB-52DED77BE203}" destId="{33078966-B16B-4AC2-8803-8A1030501DAA}" srcOrd="1" destOrd="0" presId="urn:diagrams.loki3.com/BracketList"/>
    <dgm:cxn modelId="{9587E80C-EDEC-4FC6-BBC6-723DAAB44B84}" type="presParOf" srcId="{3933C0B9-677C-4B46-96AB-52DED77BE203}" destId="{A98E9E88-B94E-4B7E-9CC5-262AE72C4ED2}" srcOrd="2" destOrd="0" presId="urn:diagrams.loki3.com/BracketList"/>
    <dgm:cxn modelId="{0C7C0E83-66BC-4180-84D0-F3F9B36522CF}" type="presParOf" srcId="{3933C0B9-677C-4B46-96AB-52DED77BE203}" destId="{8B5DC7CC-6301-4814-93A2-3DB6A0512DB4}" srcOrd="3" destOrd="0" presId="urn:diagrams.loki3.com/BracketList"/>
    <dgm:cxn modelId="{3BA53D13-833A-4C22-8B4B-1B394E2FD6BF}" type="presParOf" srcId="{865E1FF0-AB9F-4282-9EEF-3427E8120E51}" destId="{E43CF2B8-CCF1-4204-9BFA-736C7FDC72A1}" srcOrd="3" destOrd="0" presId="urn:diagrams.loki3.com/BracketList"/>
    <dgm:cxn modelId="{A8518448-1A66-482C-BFF1-C942774AE4F9}" type="presParOf" srcId="{865E1FF0-AB9F-4282-9EEF-3427E8120E51}" destId="{EA84A35A-DAB9-4E3F-901D-AEC318211556}" srcOrd="4" destOrd="0" presId="urn:diagrams.loki3.com/BracketList"/>
    <dgm:cxn modelId="{FFED1829-BA2A-4BA1-B628-68780AB71BA1}" type="presParOf" srcId="{EA84A35A-DAB9-4E3F-901D-AEC318211556}" destId="{81A863B9-2C90-43D8-B529-1F605AC44A8F}" srcOrd="0" destOrd="0" presId="urn:diagrams.loki3.com/BracketList"/>
    <dgm:cxn modelId="{6908520D-4A6A-4393-8EA3-26CBC0F5DE0E}" type="presParOf" srcId="{EA84A35A-DAB9-4E3F-901D-AEC318211556}" destId="{D8E4AC64-8AD0-4103-9AC8-A55D40C4C783}" srcOrd="1" destOrd="0" presId="urn:diagrams.loki3.com/BracketList"/>
    <dgm:cxn modelId="{573B7640-0068-4F5C-8620-7D344691F30A}" type="presParOf" srcId="{EA84A35A-DAB9-4E3F-901D-AEC318211556}" destId="{6EF4622D-1C26-40BC-A289-9AB8211A457D}" srcOrd="2" destOrd="0" presId="urn:diagrams.loki3.com/BracketList"/>
    <dgm:cxn modelId="{0E146279-C556-417C-9F83-7CF1AB0DB9F7}" type="presParOf" srcId="{EA84A35A-DAB9-4E3F-901D-AEC318211556}" destId="{6EFC526C-5B53-453B-9481-B9BD9F7CDE94}"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042CF82-B074-4A28-A129-883482E28363}" type="doc">
      <dgm:prSet loTypeId="urn:microsoft.com/office/officeart/2005/8/layout/pyramid1" loCatId="pyramid" qsTypeId="urn:microsoft.com/office/officeart/2005/8/quickstyle/simple1#12" qsCatId="simple" csTypeId="urn:microsoft.com/office/officeart/2005/8/colors/colorful2#1" csCatId="colorful" phldr="1"/>
      <dgm:spPr/>
      <dgm:t>
        <a:bodyPr/>
        <a:lstStyle/>
        <a:p>
          <a:endParaRPr lang="en-US"/>
        </a:p>
      </dgm:t>
    </dgm:pt>
    <dgm:pt modelId="{9460E59C-F583-4C4A-BA19-191DE8B26C85}">
      <dgm:prSet phldrT="[Text]"/>
      <dgm:spPr/>
      <dgm:t>
        <a:bodyPr/>
        <a:lstStyle/>
        <a:p>
          <a:r>
            <a:rPr lang="en-US" dirty="0"/>
            <a:t>Unacceptable Risk: Banned</a:t>
          </a:r>
        </a:p>
      </dgm:t>
    </dgm:pt>
    <dgm:pt modelId="{65BB0C32-CCE9-42CC-A23F-A01AF78B4021}" type="parTrans" cxnId="{3590BA0F-E4DF-474F-A054-3096FDE5BF32}">
      <dgm:prSet/>
      <dgm:spPr/>
      <dgm:t>
        <a:bodyPr/>
        <a:lstStyle/>
        <a:p>
          <a:endParaRPr lang="en-US"/>
        </a:p>
      </dgm:t>
    </dgm:pt>
    <dgm:pt modelId="{B2CAFDC5-BD28-4735-9595-C0AB5937FE77}" type="sibTrans" cxnId="{3590BA0F-E4DF-474F-A054-3096FDE5BF32}">
      <dgm:prSet/>
      <dgm:spPr/>
      <dgm:t>
        <a:bodyPr/>
        <a:lstStyle/>
        <a:p>
          <a:endParaRPr lang="en-US"/>
        </a:p>
      </dgm:t>
    </dgm:pt>
    <dgm:pt modelId="{700F97BD-7E72-428B-B85D-39949618BAF9}">
      <dgm:prSet phldrT="[Text]"/>
      <dgm:spPr/>
      <dgm:t>
        <a:bodyPr/>
        <a:lstStyle/>
        <a:p>
          <a:r>
            <a:rPr lang="en-US" dirty="0"/>
            <a:t>High Risk: </a:t>
          </a:r>
          <a:br>
            <a:rPr lang="en-US" dirty="0"/>
          </a:br>
          <a:r>
            <a:rPr lang="en-US" dirty="0"/>
            <a:t>Strictly Regulated</a:t>
          </a:r>
        </a:p>
      </dgm:t>
    </dgm:pt>
    <dgm:pt modelId="{3CA383E9-A643-45F3-BFF6-1BDE4D86508C}" type="parTrans" cxnId="{00AFAF6B-6CB1-4014-A32D-9D1752D6F950}">
      <dgm:prSet/>
      <dgm:spPr/>
      <dgm:t>
        <a:bodyPr/>
        <a:lstStyle/>
        <a:p>
          <a:endParaRPr lang="en-US"/>
        </a:p>
      </dgm:t>
    </dgm:pt>
    <dgm:pt modelId="{A3DAF84D-7190-418F-B4C4-0D3F8673206D}" type="sibTrans" cxnId="{00AFAF6B-6CB1-4014-A32D-9D1752D6F950}">
      <dgm:prSet/>
      <dgm:spPr/>
      <dgm:t>
        <a:bodyPr/>
        <a:lstStyle/>
        <a:p>
          <a:endParaRPr lang="en-US"/>
        </a:p>
      </dgm:t>
    </dgm:pt>
    <dgm:pt modelId="{709FE696-135C-4492-927C-61401AB74F32}">
      <dgm:prSet phldrT="[Text]"/>
      <dgm:spPr/>
      <dgm:t>
        <a:bodyPr/>
        <a:lstStyle/>
        <a:p>
          <a:r>
            <a:rPr lang="en-US" dirty="0"/>
            <a:t>Specific Transparency Risk: Disclosure &amp; watermarking </a:t>
          </a:r>
        </a:p>
      </dgm:t>
    </dgm:pt>
    <dgm:pt modelId="{42DEE849-BD36-474E-91C9-E540E4D5D187}" type="parTrans" cxnId="{366C1979-4723-4452-AC13-E0F25FC3A26A}">
      <dgm:prSet/>
      <dgm:spPr/>
      <dgm:t>
        <a:bodyPr/>
        <a:lstStyle/>
        <a:p>
          <a:endParaRPr lang="en-US"/>
        </a:p>
      </dgm:t>
    </dgm:pt>
    <dgm:pt modelId="{E5A34224-1C37-4DEE-8375-8841FD36F63A}" type="sibTrans" cxnId="{366C1979-4723-4452-AC13-E0F25FC3A26A}">
      <dgm:prSet/>
      <dgm:spPr/>
      <dgm:t>
        <a:bodyPr/>
        <a:lstStyle/>
        <a:p>
          <a:endParaRPr lang="en-US"/>
        </a:p>
      </dgm:t>
    </dgm:pt>
    <dgm:pt modelId="{56477D67-769F-4265-915C-459476FA3A1B}">
      <dgm:prSet/>
      <dgm:spPr/>
      <dgm:t>
        <a:bodyPr/>
        <a:lstStyle/>
        <a:p>
          <a:r>
            <a:rPr lang="en-US" dirty="0"/>
            <a:t>Minimal or No Risk</a:t>
          </a:r>
        </a:p>
      </dgm:t>
    </dgm:pt>
    <dgm:pt modelId="{64B4882C-F383-4DAD-84A3-C1DCFAFC738C}" type="parTrans" cxnId="{6CD5FAFC-06FE-4A81-A311-D99DC9B243AF}">
      <dgm:prSet/>
      <dgm:spPr/>
      <dgm:t>
        <a:bodyPr/>
        <a:lstStyle/>
        <a:p>
          <a:endParaRPr lang="en-US"/>
        </a:p>
      </dgm:t>
    </dgm:pt>
    <dgm:pt modelId="{4D567049-5414-4FCF-830D-3A221443EB79}" type="sibTrans" cxnId="{6CD5FAFC-06FE-4A81-A311-D99DC9B243AF}">
      <dgm:prSet/>
      <dgm:spPr/>
      <dgm:t>
        <a:bodyPr/>
        <a:lstStyle/>
        <a:p>
          <a:endParaRPr lang="en-US"/>
        </a:p>
      </dgm:t>
    </dgm:pt>
    <dgm:pt modelId="{F3D566C5-4747-459B-A27F-09D75D5823CE}" type="pres">
      <dgm:prSet presAssocID="{0042CF82-B074-4A28-A129-883482E28363}" presName="Name0" presStyleCnt="0">
        <dgm:presLayoutVars>
          <dgm:dir/>
          <dgm:animLvl val="lvl"/>
          <dgm:resizeHandles val="exact"/>
        </dgm:presLayoutVars>
      </dgm:prSet>
      <dgm:spPr/>
    </dgm:pt>
    <dgm:pt modelId="{FCE31223-843C-42A4-AF76-F0C7DB7B9ABF}" type="pres">
      <dgm:prSet presAssocID="{9460E59C-F583-4C4A-BA19-191DE8B26C85}" presName="Name8" presStyleCnt="0"/>
      <dgm:spPr/>
    </dgm:pt>
    <dgm:pt modelId="{4F26EC90-DE5C-4DF9-89E4-A0945B60FCFA}" type="pres">
      <dgm:prSet presAssocID="{9460E59C-F583-4C4A-BA19-191DE8B26C85}" presName="level" presStyleLbl="node1" presStyleIdx="0" presStyleCnt="4">
        <dgm:presLayoutVars>
          <dgm:chMax val="1"/>
          <dgm:bulletEnabled val="1"/>
        </dgm:presLayoutVars>
      </dgm:prSet>
      <dgm:spPr/>
    </dgm:pt>
    <dgm:pt modelId="{34CBDEF4-BFE2-41D2-8AB9-FD184D0D3968}" type="pres">
      <dgm:prSet presAssocID="{9460E59C-F583-4C4A-BA19-191DE8B26C85}" presName="levelTx" presStyleLbl="revTx" presStyleIdx="0" presStyleCnt="0">
        <dgm:presLayoutVars>
          <dgm:chMax val="1"/>
          <dgm:bulletEnabled val="1"/>
        </dgm:presLayoutVars>
      </dgm:prSet>
      <dgm:spPr/>
    </dgm:pt>
    <dgm:pt modelId="{753DD2E4-86DF-4DDC-8449-1FB81F7B0AFD}" type="pres">
      <dgm:prSet presAssocID="{700F97BD-7E72-428B-B85D-39949618BAF9}" presName="Name8" presStyleCnt="0"/>
      <dgm:spPr/>
    </dgm:pt>
    <dgm:pt modelId="{147C15EC-EDDB-43DB-B67A-025148B7F5BE}" type="pres">
      <dgm:prSet presAssocID="{700F97BD-7E72-428B-B85D-39949618BAF9}" presName="level" presStyleLbl="node1" presStyleIdx="1" presStyleCnt="4">
        <dgm:presLayoutVars>
          <dgm:chMax val="1"/>
          <dgm:bulletEnabled val="1"/>
        </dgm:presLayoutVars>
      </dgm:prSet>
      <dgm:spPr/>
    </dgm:pt>
    <dgm:pt modelId="{AFFE28C9-8BA5-43F6-92EB-A484C63028BF}" type="pres">
      <dgm:prSet presAssocID="{700F97BD-7E72-428B-B85D-39949618BAF9}" presName="levelTx" presStyleLbl="revTx" presStyleIdx="0" presStyleCnt="0">
        <dgm:presLayoutVars>
          <dgm:chMax val="1"/>
          <dgm:bulletEnabled val="1"/>
        </dgm:presLayoutVars>
      </dgm:prSet>
      <dgm:spPr/>
    </dgm:pt>
    <dgm:pt modelId="{D22D7513-7200-4BC1-8FB0-D7E4A28881CF}" type="pres">
      <dgm:prSet presAssocID="{709FE696-135C-4492-927C-61401AB74F32}" presName="Name8" presStyleCnt="0"/>
      <dgm:spPr/>
    </dgm:pt>
    <dgm:pt modelId="{D696FDA0-1C3A-4AC4-8DB3-D25FF3824A7B}" type="pres">
      <dgm:prSet presAssocID="{709FE696-135C-4492-927C-61401AB74F32}" presName="level" presStyleLbl="node1" presStyleIdx="2" presStyleCnt="4">
        <dgm:presLayoutVars>
          <dgm:chMax val="1"/>
          <dgm:bulletEnabled val="1"/>
        </dgm:presLayoutVars>
      </dgm:prSet>
      <dgm:spPr/>
    </dgm:pt>
    <dgm:pt modelId="{6547298B-C551-44F2-A15F-8B2BBAE1C6F6}" type="pres">
      <dgm:prSet presAssocID="{709FE696-135C-4492-927C-61401AB74F32}" presName="levelTx" presStyleLbl="revTx" presStyleIdx="0" presStyleCnt="0">
        <dgm:presLayoutVars>
          <dgm:chMax val="1"/>
          <dgm:bulletEnabled val="1"/>
        </dgm:presLayoutVars>
      </dgm:prSet>
      <dgm:spPr/>
    </dgm:pt>
    <dgm:pt modelId="{57F3A5CC-E65E-4574-8187-A6851C98FD52}" type="pres">
      <dgm:prSet presAssocID="{56477D67-769F-4265-915C-459476FA3A1B}" presName="Name8" presStyleCnt="0"/>
      <dgm:spPr/>
    </dgm:pt>
    <dgm:pt modelId="{63B5AA04-31F1-4559-8493-21534E9B0CBE}" type="pres">
      <dgm:prSet presAssocID="{56477D67-769F-4265-915C-459476FA3A1B}" presName="level" presStyleLbl="node1" presStyleIdx="3" presStyleCnt="4">
        <dgm:presLayoutVars>
          <dgm:chMax val="1"/>
          <dgm:bulletEnabled val="1"/>
        </dgm:presLayoutVars>
      </dgm:prSet>
      <dgm:spPr/>
    </dgm:pt>
    <dgm:pt modelId="{B7F38CC8-8333-43E8-8656-8DB7FC34D302}" type="pres">
      <dgm:prSet presAssocID="{56477D67-769F-4265-915C-459476FA3A1B}" presName="levelTx" presStyleLbl="revTx" presStyleIdx="0" presStyleCnt="0">
        <dgm:presLayoutVars>
          <dgm:chMax val="1"/>
          <dgm:bulletEnabled val="1"/>
        </dgm:presLayoutVars>
      </dgm:prSet>
      <dgm:spPr/>
    </dgm:pt>
  </dgm:ptLst>
  <dgm:cxnLst>
    <dgm:cxn modelId="{3590BA0F-E4DF-474F-A054-3096FDE5BF32}" srcId="{0042CF82-B074-4A28-A129-883482E28363}" destId="{9460E59C-F583-4C4A-BA19-191DE8B26C85}" srcOrd="0" destOrd="0" parTransId="{65BB0C32-CCE9-42CC-A23F-A01AF78B4021}" sibTransId="{B2CAFDC5-BD28-4735-9595-C0AB5937FE77}"/>
    <dgm:cxn modelId="{E80D083F-6428-4527-AE28-A14037A3558A}" type="presOf" srcId="{0042CF82-B074-4A28-A129-883482E28363}" destId="{F3D566C5-4747-459B-A27F-09D75D5823CE}" srcOrd="0" destOrd="0" presId="urn:microsoft.com/office/officeart/2005/8/layout/pyramid1"/>
    <dgm:cxn modelId="{00AFAF6B-6CB1-4014-A32D-9D1752D6F950}" srcId="{0042CF82-B074-4A28-A129-883482E28363}" destId="{700F97BD-7E72-428B-B85D-39949618BAF9}" srcOrd="1" destOrd="0" parTransId="{3CA383E9-A643-45F3-BFF6-1BDE4D86508C}" sibTransId="{A3DAF84D-7190-418F-B4C4-0D3F8673206D}"/>
    <dgm:cxn modelId="{96571C58-F057-4075-B3F0-641112DDAA15}" type="presOf" srcId="{56477D67-769F-4265-915C-459476FA3A1B}" destId="{63B5AA04-31F1-4559-8493-21534E9B0CBE}" srcOrd="0" destOrd="0" presId="urn:microsoft.com/office/officeart/2005/8/layout/pyramid1"/>
    <dgm:cxn modelId="{366C1979-4723-4452-AC13-E0F25FC3A26A}" srcId="{0042CF82-B074-4A28-A129-883482E28363}" destId="{709FE696-135C-4492-927C-61401AB74F32}" srcOrd="2" destOrd="0" parTransId="{42DEE849-BD36-474E-91C9-E540E4D5D187}" sibTransId="{E5A34224-1C37-4DEE-8375-8841FD36F63A}"/>
    <dgm:cxn modelId="{BB0C9A82-7E78-45F7-8DA0-AFF0F37B319C}" type="presOf" srcId="{709FE696-135C-4492-927C-61401AB74F32}" destId="{D696FDA0-1C3A-4AC4-8DB3-D25FF3824A7B}" srcOrd="0" destOrd="0" presId="urn:microsoft.com/office/officeart/2005/8/layout/pyramid1"/>
    <dgm:cxn modelId="{1241CE92-23BD-4347-AED9-003C29676C0D}" type="presOf" srcId="{9460E59C-F583-4C4A-BA19-191DE8B26C85}" destId="{4F26EC90-DE5C-4DF9-89E4-A0945B60FCFA}" srcOrd="0" destOrd="0" presId="urn:microsoft.com/office/officeart/2005/8/layout/pyramid1"/>
    <dgm:cxn modelId="{7469529F-30C6-415F-B049-1BCA80A70241}" type="presOf" srcId="{9460E59C-F583-4C4A-BA19-191DE8B26C85}" destId="{34CBDEF4-BFE2-41D2-8AB9-FD184D0D3968}" srcOrd="1" destOrd="0" presId="urn:microsoft.com/office/officeart/2005/8/layout/pyramid1"/>
    <dgm:cxn modelId="{17BB00BC-518B-4677-B7B9-52C1A542E949}" type="presOf" srcId="{56477D67-769F-4265-915C-459476FA3A1B}" destId="{B7F38CC8-8333-43E8-8656-8DB7FC34D302}" srcOrd="1" destOrd="0" presId="urn:microsoft.com/office/officeart/2005/8/layout/pyramid1"/>
    <dgm:cxn modelId="{632CDFCE-8E71-4DC1-91F7-09326681EBA2}" type="presOf" srcId="{709FE696-135C-4492-927C-61401AB74F32}" destId="{6547298B-C551-44F2-A15F-8B2BBAE1C6F6}" srcOrd="1" destOrd="0" presId="urn:microsoft.com/office/officeart/2005/8/layout/pyramid1"/>
    <dgm:cxn modelId="{854B53E0-3214-4116-8BAD-E78C2EA43B56}" type="presOf" srcId="{700F97BD-7E72-428B-B85D-39949618BAF9}" destId="{AFFE28C9-8BA5-43F6-92EB-A484C63028BF}" srcOrd="1" destOrd="0" presId="urn:microsoft.com/office/officeart/2005/8/layout/pyramid1"/>
    <dgm:cxn modelId="{5DEE86F6-3062-43EE-A6E2-AFCA6E1DD7D4}" type="presOf" srcId="{700F97BD-7E72-428B-B85D-39949618BAF9}" destId="{147C15EC-EDDB-43DB-B67A-025148B7F5BE}" srcOrd="0" destOrd="0" presId="urn:microsoft.com/office/officeart/2005/8/layout/pyramid1"/>
    <dgm:cxn modelId="{6CD5FAFC-06FE-4A81-A311-D99DC9B243AF}" srcId="{0042CF82-B074-4A28-A129-883482E28363}" destId="{56477D67-769F-4265-915C-459476FA3A1B}" srcOrd="3" destOrd="0" parTransId="{64B4882C-F383-4DAD-84A3-C1DCFAFC738C}" sibTransId="{4D567049-5414-4FCF-830D-3A221443EB79}"/>
    <dgm:cxn modelId="{E8BECD8F-4073-410D-87D1-00A9B2758ECE}" type="presParOf" srcId="{F3D566C5-4747-459B-A27F-09D75D5823CE}" destId="{FCE31223-843C-42A4-AF76-F0C7DB7B9ABF}" srcOrd="0" destOrd="0" presId="urn:microsoft.com/office/officeart/2005/8/layout/pyramid1"/>
    <dgm:cxn modelId="{2962ABA3-7729-4C9E-82A9-341885F6C6CE}" type="presParOf" srcId="{FCE31223-843C-42A4-AF76-F0C7DB7B9ABF}" destId="{4F26EC90-DE5C-4DF9-89E4-A0945B60FCFA}" srcOrd="0" destOrd="0" presId="urn:microsoft.com/office/officeart/2005/8/layout/pyramid1"/>
    <dgm:cxn modelId="{8350538D-2087-43C7-99BD-E80AE22C1865}" type="presParOf" srcId="{FCE31223-843C-42A4-AF76-F0C7DB7B9ABF}" destId="{34CBDEF4-BFE2-41D2-8AB9-FD184D0D3968}" srcOrd="1" destOrd="0" presId="urn:microsoft.com/office/officeart/2005/8/layout/pyramid1"/>
    <dgm:cxn modelId="{3C0BA529-4787-4F6C-80B2-4C6943CC7B93}" type="presParOf" srcId="{F3D566C5-4747-459B-A27F-09D75D5823CE}" destId="{753DD2E4-86DF-4DDC-8449-1FB81F7B0AFD}" srcOrd="1" destOrd="0" presId="urn:microsoft.com/office/officeart/2005/8/layout/pyramid1"/>
    <dgm:cxn modelId="{81E50190-3CFA-49D0-87F7-B683C07DE801}" type="presParOf" srcId="{753DD2E4-86DF-4DDC-8449-1FB81F7B0AFD}" destId="{147C15EC-EDDB-43DB-B67A-025148B7F5BE}" srcOrd="0" destOrd="0" presId="urn:microsoft.com/office/officeart/2005/8/layout/pyramid1"/>
    <dgm:cxn modelId="{E09B53A2-68DF-4BFC-85E7-04D3B2E65052}" type="presParOf" srcId="{753DD2E4-86DF-4DDC-8449-1FB81F7B0AFD}" destId="{AFFE28C9-8BA5-43F6-92EB-A484C63028BF}" srcOrd="1" destOrd="0" presId="urn:microsoft.com/office/officeart/2005/8/layout/pyramid1"/>
    <dgm:cxn modelId="{77525919-8BC8-4965-BD92-10D8921D59C8}" type="presParOf" srcId="{F3D566C5-4747-459B-A27F-09D75D5823CE}" destId="{D22D7513-7200-4BC1-8FB0-D7E4A28881CF}" srcOrd="2" destOrd="0" presId="urn:microsoft.com/office/officeart/2005/8/layout/pyramid1"/>
    <dgm:cxn modelId="{CED946F8-BAE9-45A5-87CF-A26BF4E39DAB}" type="presParOf" srcId="{D22D7513-7200-4BC1-8FB0-D7E4A28881CF}" destId="{D696FDA0-1C3A-4AC4-8DB3-D25FF3824A7B}" srcOrd="0" destOrd="0" presId="urn:microsoft.com/office/officeart/2005/8/layout/pyramid1"/>
    <dgm:cxn modelId="{94AEAF8E-65A8-4CEC-B2CC-F8FC32906207}" type="presParOf" srcId="{D22D7513-7200-4BC1-8FB0-D7E4A28881CF}" destId="{6547298B-C551-44F2-A15F-8B2BBAE1C6F6}" srcOrd="1" destOrd="0" presId="urn:microsoft.com/office/officeart/2005/8/layout/pyramid1"/>
    <dgm:cxn modelId="{4FD53F90-B139-494F-A24F-680E28DACA18}" type="presParOf" srcId="{F3D566C5-4747-459B-A27F-09D75D5823CE}" destId="{57F3A5CC-E65E-4574-8187-A6851C98FD52}" srcOrd="3" destOrd="0" presId="urn:microsoft.com/office/officeart/2005/8/layout/pyramid1"/>
    <dgm:cxn modelId="{0B90D08E-B312-4A81-9F2B-09DD1EF9628B}" type="presParOf" srcId="{57F3A5CC-E65E-4574-8187-A6851C98FD52}" destId="{63B5AA04-31F1-4559-8493-21534E9B0CBE}" srcOrd="0" destOrd="0" presId="urn:microsoft.com/office/officeart/2005/8/layout/pyramid1"/>
    <dgm:cxn modelId="{8E25A51A-52E8-48CA-83C0-C823B9E831FC}" type="presParOf" srcId="{57F3A5CC-E65E-4574-8187-A6851C98FD52}" destId="{B7F38CC8-8333-43E8-8656-8DB7FC34D302}"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F9045-7893-4556-B3F3-5720C8ACC43F}">
      <dsp:nvSpPr>
        <dsp:cNvPr id="0" name=""/>
        <dsp:cNvSpPr/>
      </dsp:nvSpPr>
      <dsp:spPr>
        <a:xfrm>
          <a:off x="591502" y="0"/>
          <a:ext cx="6703695" cy="3813175"/>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C9B01B-7FB7-4350-A4D4-CCF5734A58FA}">
      <dsp:nvSpPr>
        <dsp:cNvPr id="0" name=""/>
        <dsp:cNvSpPr/>
      </dsp:nvSpPr>
      <dsp:spPr>
        <a:xfrm>
          <a:off x="673" y="1143952"/>
          <a:ext cx="1853499" cy="15252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What is AI?</a:t>
          </a:r>
        </a:p>
      </dsp:txBody>
      <dsp:txXfrm>
        <a:off x="75131" y="1218410"/>
        <a:ext cx="1704583" cy="1376354"/>
      </dsp:txXfrm>
    </dsp:sp>
    <dsp:sp modelId="{C53E8AC9-B3C2-4F22-A024-8206618BE8E9}">
      <dsp:nvSpPr>
        <dsp:cNvPr id="0" name=""/>
        <dsp:cNvSpPr/>
      </dsp:nvSpPr>
      <dsp:spPr>
        <a:xfrm>
          <a:off x="2011291" y="1143952"/>
          <a:ext cx="1853499" cy="15252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History of AI</a:t>
          </a:r>
        </a:p>
      </dsp:txBody>
      <dsp:txXfrm>
        <a:off x="2085749" y="1218410"/>
        <a:ext cx="1704583" cy="1376354"/>
      </dsp:txXfrm>
    </dsp:sp>
    <dsp:sp modelId="{2BC15CC0-AAFC-4719-8E3B-40296FCEF49B}">
      <dsp:nvSpPr>
        <dsp:cNvPr id="0" name=""/>
        <dsp:cNvSpPr/>
      </dsp:nvSpPr>
      <dsp:spPr>
        <a:xfrm>
          <a:off x="4021908" y="1143952"/>
          <a:ext cx="1853499" cy="152527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AI Today</a:t>
          </a:r>
        </a:p>
      </dsp:txBody>
      <dsp:txXfrm>
        <a:off x="4096366" y="1218410"/>
        <a:ext cx="1704583" cy="1376354"/>
      </dsp:txXfrm>
    </dsp:sp>
    <dsp:sp modelId="{5481297F-4CD0-49FE-9D47-1673202E0414}">
      <dsp:nvSpPr>
        <dsp:cNvPr id="0" name=""/>
        <dsp:cNvSpPr/>
      </dsp:nvSpPr>
      <dsp:spPr>
        <a:xfrm>
          <a:off x="6032526" y="1143952"/>
          <a:ext cx="1853499" cy="15252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a:t>
          </a:r>
        </a:p>
      </dsp:txBody>
      <dsp:txXfrm>
        <a:off x="6106984" y="1218410"/>
        <a:ext cx="1704583" cy="1376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1FF4F-B934-4BF3-88D9-4C67E3E8E620}">
      <dsp:nvSpPr>
        <dsp:cNvPr id="0" name=""/>
        <dsp:cNvSpPr/>
      </dsp:nvSpPr>
      <dsp:spPr>
        <a:xfrm>
          <a:off x="26" y="5806"/>
          <a:ext cx="2519204" cy="90065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The brain as an information processing machine.</a:t>
          </a:r>
        </a:p>
      </dsp:txBody>
      <dsp:txXfrm>
        <a:off x="26" y="5806"/>
        <a:ext cx="2519204" cy="900651"/>
      </dsp:txXfrm>
    </dsp:sp>
    <dsp:sp modelId="{057C3BCC-3CA5-4CC4-B7F5-24388E3176BF}">
      <dsp:nvSpPr>
        <dsp:cNvPr id="0" name=""/>
        <dsp:cNvSpPr/>
      </dsp:nvSpPr>
      <dsp:spPr>
        <a:xfrm>
          <a:off x="26" y="906458"/>
          <a:ext cx="2519204" cy="251991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Requires scientific theories of </a:t>
          </a:r>
          <a:r>
            <a:rPr lang="en-US" sz="1800" b="1" kern="1200" dirty="0"/>
            <a:t>how the brain works</a:t>
          </a:r>
          <a:r>
            <a:rPr lang="en-US" sz="1800" kern="1200" dirty="0"/>
            <a:t>.</a:t>
          </a:r>
          <a:br>
            <a:rPr lang="en-US" sz="1800" kern="1200" dirty="0"/>
          </a:br>
          <a:br>
            <a:rPr lang="en-US" sz="1800" kern="1200" dirty="0"/>
          </a:br>
          <a:br>
            <a:rPr lang="en-US" sz="1800" kern="1200" dirty="0"/>
          </a:br>
          <a:r>
            <a:rPr lang="en-US" sz="1800" b="1" kern="1200" dirty="0"/>
            <a:t>Note</a:t>
          </a:r>
          <a:r>
            <a:rPr lang="en-US" sz="1800" kern="1200" dirty="0"/>
            <a:t>: The brain does not work like artificial neural networks from machine learning!</a:t>
          </a:r>
        </a:p>
      </dsp:txBody>
      <dsp:txXfrm>
        <a:off x="26" y="906458"/>
        <a:ext cx="2519204" cy="2519910"/>
      </dsp:txXfrm>
    </dsp:sp>
    <dsp:sp modelId="{35853A24-3A1A-4732-AB27-64EAA882E8E5}">
      <dsp:nvSpPr>
        <dsp:cNvPr id="0" name=""/>
        <dsp:cNvSpPr/>
      </dsp:nvSpPr>
      <dsp:spPr>
        <a:xfrm>
          <a:off x="2871919" y="5806"/>
          <a:ext cx="2519204" cy="900651"/>
        </a:xfrm>
        <a:prstGeom prst="rect">
          <a:avLst/>
        </a:prstGeom>
        <a:solidFill>
          <a:schemeClr val="accent5">
            <a:hueOff val="-12162821"/>
            <a:satOff val="-296"/>
            <a:lumOff val="-10393"/>
            <a:alphaOff val="0"/>
          </a:schemeClr>
        </a:solidFill>
        <a:ln w="12700" cap="flat" cmpd="sng" algn="ctr">
          <a:solidFill>
            <a:schemeClr val="accent5">
              <a:hueOff val="-12162821"/>
              <a:satOff val="-296"/>
              <a:lumOff val="-103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How to understand cognition as a computational process? </a:t>
          </a:r>
        </a:p>
      </dsp:txBody>
      <dsp:txXfrm>
        <a:off x="2871919" y="5806"/>
        <a:ext cx="2519204" cy="900651"/>
      </dsp:txXfrm>
    </dsp:sp>
    <dsp:sp modelId="{39A921E0-BCBA-470A-9186-791A7E8DF1C7}">
      <dsp:nvSpPr>
        <dsp:cNvPr id="0" name=""/>
        <dsp:cNvSpPr/>
      </dsp:nvSpPr>
      <dsp:spPr>
        <a:xfrm>
          <a:off x="2871919" y="906458"/>
          <a:ext cx="2519204" cy="2519910"/>
        </a:xfrm>
        <a:prstGeom prst="rect">
          <a:avLst/>
        </a:prstGeom>
        <a:solidFill>
          <a:schemeClr val="accent5">
            <a:tint val="40000"/>
            <a:alpha val="90000"/>
            <a:hueOff val="-11954114"/>
            <a:satOff val="-12022"/>
            <a:lumOff val="-1949"/>
            <a:alphaOff val="0"/>
          </a:schemeClr>
        </a:solidFill>
        <a:ln w="12700" cap="flat" cmpd="sng" algn="ctr">
          <a:solidFill>
            <a:schemeClr val="accent5">
              <a:tint val="40000"/>
              <a:alpha val="90000"/>
              <a:hueOff val="-11954114"/>
              <a:satOff val="-12022"/>
              <a:lumOff val="-194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Introspection: try to think about how we think.</a:t>
          </a:r>
        </a:p>
        <a:p>
          <a:pPr marL="171450" lvl="1" indent="-171450" algn="l" defTabSz="800100">
            <a:lnSpc>
              <a:spcPct val="90000"/>
            </a:lnSpc>
            <a:spcBef>
              <a:spcPct val="0"/>
            </a:spcBef>
            <a:spcAft>
              <a:spcPct val="15000"/>
            </a:spcAft>
            <a:buChar char="•"/>
          </a:pPr>
          <a:r>
            <a:rPr lang="en-US" sz="1800" b="1" kern="1200" dirty="0"/>
            <a:t>Predict the behavior of human</a:t>
          </a:r>
          <a:r>
            <a:rPr lang="en-US" sz="1800" kern="1200" dirty="0"/>
            <a:t> subjects.</a:t>
          </a:r>
        </a:p>
        <a:p>
          <a:pPr marL="171450" lvl="1" indent="-171450" algn="l" defTabSz="800100">
            <a:lnSpc>
              <a:spcPct val="90000"/>
            </a:lnSpc>
            <a:spcBef>
              <a:spcPct val="0"/>
            </a:spcBef>
            <a:spcAft>
              <a:spcPct val="15000"/>
            </a:spcAft>
            <a:buChar char="•"/>
          </a:pPr>
          <a:r>
            <a:rPr lang="en-US" sz="1800" kern="1200" dirty="0"/>
            <a:t>Image the brain, examine neurological data</a:t>
          </a:r>
        </a:p>
      </dsp:txBody>
      <dsp:txXfrm>
        <a:off x="2871919" y="906458"/>
        <a:ext cx="2519204" cy="25199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494776"/>
        <a:ext cx="1381531" cy="669923"/>
      </dsp:txXfrm>
    </dsp:sp>
    <dsp:sp modelId="{0BCE1037-9706-410D-834A-ECEC4388E735}">
      <dsp:nvSpPr>
        <dsp:cNvPr id="0" name=""/>
        <dsp:cNvSpPr/>
      </dsp:nvSpPr>
      <dsp:spPr>
        <a:xfrm>
          <a:off x="1780257"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494776"/>
        <a:ext cx="1381531" cy="669923"/>
      </dsp:txXfrm>
    </dsp:sp>
    <dsp:sp modelId="{405FCD6E-D4E8-41FA-B6A2-E4BB402E06BE}">
      <dsp:nvSpPr>
        <dsp:cNvPr id="0" name=""/>
        <dsp:cNvSpPr/>
      </dsp:nvSpPr>
      <dsp:spPr>
        <a:xfrm>
          <a:off x="3559276" y="473934"/>
          <a:ext cx="1423215" cy="711607"/>
        </a:xfrm>
        <a:prstGeom prst="roundRect">
          <a:avLst>
            <a:gd name="adj" fmla="val 10000"/>
          </a:avLst>
        </a:prstGeom>
        <a:solidFill>
          <a:schemeClr val="dk1">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494776"/>
        <a:ext cx="1381531" cy="669923"/>
      </dsp:txXfrm>
    </dsp:sp>
    <dsp:sp modelId="{8C5134CD-97C1-4A5D-8A99-397EA240E35C}">
      <dsp:nvSpPr>
        <dsp:cNvPr id="0" name=""/>
        <dsp:cNvSpPr/>
      </dsp:nvSpPr>
      <dsp:spPr>
        <a:xfrm>
          <a:off x="5338296" y="473934"/>
          <a:ext cx="1423215" cy="711607"/>
        </a:xfrm>
        <a:prstGeom prst="roundRect">
          <a:avLst>
            <a:gd name="adj" fmla="val 1000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rationally?</a:t>
          </a:r>
        </a:p>
      </dsp:txBody>
      <dsp:txXfrm>
        <a:off x="5359138" y="494776"/>
        <a:ext cx="1381531" cy="6699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8E8D7-EA6F-4EA7-978A-43633D6AEAF6}">
      <dsp:nvSpPr>
        <dsp:cNvPr id="0" name=""/>
        <dsp:cNvSpPr/>
      </dsp:nvSpPr>
      <dsp:spPr>
        <a:xfrm>
          <a:off x="1238" y="1819865"/>
          <a:ext cx="1423215" cy="71160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like a human?</a:t>
          </a:r>
        </a:p>
      </dsp:txBody>
      <dsp:txXfrm>
        <a:off x="22080" y="1840707"/>
        <a:ext cx="1381531" cy="669923"/>
      </dsp:txXfrm>
    </dsp:sp>
    <dsp:sp modelId="{0BCE1037-9706-410D-834A-ECEC4388E735}">
      <dsp:nvSpPr>
        <dsp:cNvPr id="0" name=""/>
        <dsp:cNvSpPr/>
      </dsp:nvSpPr>
      <dsp:spPr>
        <a:xfrm>
          <a:off x="1780257" y="1819865"/>
          <a:ext cx="1423215" cy="71160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act like a human?</a:t>
          </a:r>
        </a:p>
      </dsp:txBody>
      <dsp:txXfrm>
        <a:off x="1801099" y="1840707"/>
        <a:ext cx="1381531" cy="669923"/>
      </dsp:txXfrm>
    </dsp:sp>
    <dsp:sp modelId="{405FCD6E-D4E8-41FA-B6A2-E4BB402E06BE}">
      <dsp:nvSpPr>
        <dsp:cNvPr id="0" name=""/>
        <dsp:cNvSpPr/>
      </dsp:nvSpPr>
      <dsp:spPr>
        <a:xfrm>
          <a:off x="3559276" y="1819865"/>
          <a:ext cx="1423215" cy="71160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think rationally?</a:t>
          </a:r>
        </a:p>
      </dsp:txBody>
      <dsp:txXfrm>
        <a:off x="3580118" y="1840707"/>
        <a:ext cx="1381531" cy="669923"/>
      </dsp:txXfrm>
    </dsp:sp>
    <dsp:sp modelId="{8C5134CD-97C1-4A5D-8A99-397EA240E35C}">
      <dsp:nvSpPr>
        <dsp:cNvPr id="0" name=""/>
        <dsp:cNvSpPr/>
      </dsp:nvSpPr>
      <dsp:spPr>
        <a:xfrm>
          <a:off x="5338296" y="1819865"/>
          <a:ext cx="1423215" cy="71160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act rationally.</a:t>
          </a:r>
        </a:p>
      </dsp:txBody>
      <dsp:txXfrm>
        <a:off x="5359138" y="1840707"/>
        <a:ext cx="1381531" cy="6699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26BB9-CDAD-4EE8-A26D-FB33BB156E66}">
      <dsp:nvSpPr>
        <dsp:cNvPr id="0" name=""/>
        <dsp:cNvSpPr/>
      </dsp:nvSpPr>
      <dsp:spPr>
        <a:xfrm>
          <a:off x="0" y="0"/>
          <a:ext cx="7859028" cy="130876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B6071-2E29-45D8-9CBA-FB50358262F1}">
      <dsp:nvSpPr>
        <dsp:cNvPr id="0" name=""/>
        <dsp:cNvSpPr/>
      </dsp:nvSpPr>
      <dsp:spPr>
        <a:xfrm>
          <a:off x="395900" y="298884"/>
          <a:ext cx="720521" cy="7198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B7E679-A899-4BE4-9143-994A39BCF967}">
      <dsp:nvSpPr>
        <dsp:cNvPr id="0" name=""/>
        <dsp:cNvSpPr/>
      </dsp:nvSpPr>
      <dsp:spPr>
        <a:xfrm>
          <a:off x="1512322" y="4413"/>
          <a:ext cx="3536562" cy="1310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46" tIns="138646" rIns="138646" bIns="138646" numCol="1" spcCol="1270" anchor="ctr" anchorCtr="0">
          <a:noAutofit/>
        </a:bodyPr>
        <a:lstStyle/>
        <a:p>
          <a:pPr marL="0" lvl="0" indent="0" algn="l" defTabSz="889000">
            <a:lnSpc>
              <a:spcPct val="90000"/>
            </a:lnSpc>
            <a:spcBef>
              <a:spcPct val="0"/>
            </a:spcBef>
            <a:spcAft>
              <a:spcPct val="35000"/>
            </a:spcAft>
            <a:buNone/>
          </a:pPr>
          <a:r>
            <a:rPr lang="en-US" sz="2000" b="1" kern="1200" dirty="0"/>
            <a:t>Symbolic AI (classical AI)</a:t>
          </a:r>
          <a:br>
            <a:rPr lang="en-US" sz="1700" b="1" kern="1200" dirty="0"/>
          </a:br>
          <a:r>
            <a:rPr lang="en-US" sz="1700" b="0" kern="1200" dirty="0"/>
            <a:t>St</a:t>
          </a:r>
          <a:r>
            <a:rPr lang="en-US" sz="1700" kern="1200" dirty="0"/>
            <a:t>ore information as explicit facts, objects, and rules. </a:t>
          </a:r>
          <a:br>
            <a:rPr lang="en-US" sz="1700" kern="1200" dirty="0"/>
          </a:br>
          <a:r>
            <a:rPr lang="en-US" sz="1700" kern="1200" dirty="0"/>
            <a:t>Often engineered by humans.</a:t>
          </a:r>
        </a:p>
      </dsp:txBody>
      <dsp:txXfrm>
        <a:off x="1512322" y="4413"/>
        <a:ext cx="3536562" cy="1310039"/>
      </dsp:txXfrm>
    </dsp:sp>
    <dsp:sp modelId="{FE76BB01-C6C5-4EA3-8463-563F4BF12B7F}">
      <dsp:nvSpPr>
        <dsp:cNvPr id="0" name=""/>
        <dsp:cNvSpPr/>
      </dsp:nvSpPr>
      <dsp:spPr>
        <a:xfrm>
          <a:off x="5048884" y="4413"/>
          <a:ext cx="2689871" cy="130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510" tIns="138510" rIns="138510" bIns="138510" numCol="1" spcCol="1270" anchor="ctr" anchorCtr="0">
          <a:noAutofit/>
        </a:bodyPr>
        <a:lstStyle/>
        <a:p>
          <a:pPr marL="0" lvl="0" indent="0" algn="l" defTabSz="622300">
            <a:lnSpc>
              <a:spcPct val="90000"/>
            </a:lnSpc>
            <a:spcBef>
              <a:spcPct val="0"/>
            </a:spcBef>
            <a:spcAft>
              <a:spcPct val="35000"/>
            </a:spcAft>
            <a:buNone/>
          </a:pPr>
          <a:r>
            <a:rPr lang="en-US" sz="1400" b="1" kern="1200" dirty="0"/>
            <a:t>Reasoning</a:t>
          </a:r>
        </a:p>
        <a:p>
          <a:pPr marL="0" lvl="0" indent="0" algn="l" defTabSz="622300">
            <a:lnSpc>
              <a:spcPct val="90000"/>
            </a:lnSpc>
            <a:spcBef>
              <a:spcPct val="0"/>
            </a:spcBef>
            <a:spcAft>
              <a:spcPct val="35000"/>
            </a:spcAft>
            <a:buNone/>
          </a:pPr>
          <a:r>
            <a:rPr lang="en-US" sz="1400" kern="1200" dirty="0"/>
            <a:t>- Search, planning</a:t>
          </a:r>
        </a:p>
        <a:p>
          <a:pPr marL="0" lvl="0" indent="0" algn="l" defTabSz="622300">
            <a:lnSpc>
              <a:spcPct val="90000"/>
            </a:lnSpc>
            <a:spcBef>
              <a:spcPct val="0"/>
            </a:spcBef>
            <a:spcAft>
              <a:spcPct val="35000"/>
            </a:spcAft>
            <a:buFont typeface="Arial" panose="020B0604020202020204" pitchFamily="34" charset="0"/>
            <a:buNone/>
          </a:pPr>
          <a:r>
            <a:rPr lang="en-US" sz="1400" kern="1200" dirty="0"/>
            <a:t>- Bayesian reasoning</a:t>
          </a:r>
        </a:p>
        <a:p>
          <a:pPr marL="0" lvl="0" indent="0" algn="l" defTabSz="622300">
            <a:lnSpc>
              <a:spcPct val="90000"/>
            </a:lnSpc>
            <a:spcBef>
              <a:spcPct val="0"/>
            </a:spcBef>
            <a:spcAft>
              <a:spcPct val="35000"/>
            </a:spcAft>
            <a:buFont typeface="Arial" panose="020B0604020202020204" pitchFamily="34" charset="0"/>
            <a:buNone/>
          </a:pPr>
          <a:r>
            <a:rPr lang="en-US" sz="1400" kern="1200" dirty="0"/>
            <a:t>- Classical machine learning (e.g., - decision trees)</a:t>
          </a:r>
        </a:p>
      </dsp:txBody>
      <dsp:txXfrm>
        <a:off x="5048884" y="4413"/>
        <a:ext cx="2689871" cy="1308760"/>
      </dsp:txXfrm>
    </dsp:sp>
    <dsp:sp modelId="{6B5A0394-11B7-460A-B4FD-D7A080440BD8}">
      <dsp:nvSpPr>
        <dsp:cNvPr id="0" name=""/>
        <dsp:cNvSpPr/>
      </dsp:nvSpPr>
      <dsp:spPr>
        <a:xfrm>
          <a:off x="0" y="1605573"/>
          <a:ext cx="7859028" cy="130876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19230-D9C2-45C4-9195-DBEB44D77775}">
      <dsp:nvSpPr>
        <dsp:cNvPr id="0" name=""/>
        <dsp:cNvSpPr/>
      </dsp:nvSpPr>
      <dsp:spPr>
        <a:xfrm>
          <a:off x="395900" y="1900044"/>
          <a:ext cx="720521" cy="719818"/>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A81C2E-3D00-41EC-8131-19FC6D1A6E27}">
      <dsp:nvSpPr>
        <dsp:cNvPr id="0" name=""/>
        <dsp:cNvSpPr/>
      </dsp:nvSpPr>
      <dsp:spPr>
        <a:xfrm>
          <a:off x="1512322" y="1605573"/>
          <a:ext cx="3536562" cy="1310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46" tIns="138646" rIns="138646" bIns="138646" numCol="1" spcCol="1270" anchor="ctr" anchorCtr="0">
          <a:noAutofit/>
        </a:bodyPr>
        <a:lstStyle/>
        <a:p>
          <a:pPr marL="0" lvl="0" indent="0" algn="l" defTabSz="889000">
            <a:lnSpc>
              <a:spcPct val="90000"/>
            </a:lnSpc>
            <a:spcBef>
              <a:spcPct val="0"/>
            </a:spcBef>
            <a:spcAft>
              <a:spcPct val="35000"/>
            </a:spcAft>
            <a:buNone/>
          </a:pPr>
          <a:r>
            <a:rPr lang="en-US" sz="2000" b="1" kern="1200" dirty="0" err="1"/>
            <a:t>Subsymbolic</a:t>
          </a:r>
          <a:r>
            <a:rPr lang="en-US" sz="2000" b="1" kern="1200" dirty="0"/>
            <a:t> AI</a:t>
          </a:r>
          <a:br>
            <a:rPr lang="en-US" sz="2000" b="1" kern="1200" dirty="0"/>
          </a:br>
          <a:r>
            <a:rPr lang="en-US" sz="1600" kern="1200" dirty="0"/>
            <a:t>Operate below the level of individual symbols. Store information as small mathematical equations (weights). Train on massive data sets.</a:t>
          </a:r>
        </a:p>
      </dsp:txBody>
      <dsp:txXfrm>
        <a:off x="1512322" y="1605573"/>
        <a:ext cx="3536562" cy="1310039"/>
      </dsp:txXfrm>
    </dsp:sp>
    <dsp:sp modelId="{2B219972-CD5D-4206-A377-9B509C923936}">
      <dsp:nvSpPr>
        <dsp:cNvPr id="0" name=""/>
        <dsp:cNvSpPr/>
      </dsp:nvSpPr>
      <dsp:spPr>
        <a:xfrm>
          <a:off x="5048884" y="1605573"/>
          <a:ext cx="2689871" cy="130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510" tIns="138510" rIns="138510" bIns="138510" numCol="1" spcCol="1270" anchor="ctr" anchorCtr="0">
          <a:noAutofit/>
        </a:bodyPr>
        <a:lstStyle/>
        <a:p>
          <a:pPr marL="0" lvl="0" indent="0" algn="l" defTabSz="800100">
            <a:lnSpc>
              <a:spcPct val="90000"/>
            </a:lnSpc>
            <a:spcBef>
              <a:spcPct val="0"/>
            </a:spcBef>
            <a:spcAft>
              <a:spcPct val="35000"/>
            </a:spcAft>
            <a:buNone/>
          </a:pPr>
          <a:r>
            <a:rPr lang="en-US" sz="1800" b="1" kern="1200" dirty="0"/>
            <a:t>Perception</a:t>
          </a:r>
        </a:p>
        <a:p>
          <a:pPr marL="0" lvl="0" indent="0" algn="l" defTabSz="800100">
            <a:lnSpc>
              <a:spcPct val="90000"/>
            </a:lnSpc>
            <a:spcBef>
              <a:spcPct val="0"/>
            </a:spcBef>
            <a:spcAft>
              <a:spcPct val="35000"/>
            </a:spcAft>
            <a:buNone/>
          </a:pPr>
          <a:r>
            <a:rPr lang="en-US" sz="1800" kern="1200" dirty="0"/>
            <a:t>- Artificial neural nets</a:t>
          </a:r>
        </a:p>
        <a:p>
          <a:pPr marL="0" lvl="0" indent="0" algn="l" defTabSz="800100">
            <a:lnSpc>
              <a:spcPct val="90000"/>
            </a:lnSpc>
            <a:spcBef>
              <a:spcPct val="0"/>
            </a:spcBef>
            <a:spcAft>
              <a:spcPct val="35000"/>
            </a:spcAft>
            <a:buNone/>
          </a:pPr>
          <a:r>
            <a:rPr lang="en-US" sz="1800" kern="1200" dirty="0"/>
            <a:t>- Deep learning</a:t>
          </a:r>
        </a:p>
      </dsp:txBody>
      <dsp:txXfrm>
        <a:off x="5048884" y="1605573"/>
        <a:ext cx="2689871" cy="1308760"/>
      </dsp:txXfrm>
    </dsp:sp>
    <dsp:sp modelId="{530BB4A2-B0E4-4B86-8525-887F97420646}">
      <dsp:nvSpPr>
        <dsp:cNvPr id="0" name=""/>
        <dsp:cNvSpPr/>
      </dsp:nvSpPr>
      <dsp:spPr>
        <a:xfrm>
          <a:off x="0" y="3196891"/>
          <a:ext cx="7859028" cy="130876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DBB835-9005-4E49-9303-295B8153D6E5}">
      <dsp:nvSpPr>
        <dsp:cNvPr id="0" name=""/>
        <dsp:cNvSpPr/>
      </dsp:nvSpPr>
      <dsp:spPr>
        <a:xfrm>
          <a:off x="395900" y="3501204"/>
          <a:ext cx="720521" cy="71981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21EC53-F58E-452A-9058-C1278C38378F}">
      <dsp:nvSpPr>
        <dsp:cNvPr id="0" name=""/>
        <dsp:cNvSpPr/>
      </dsp:nvSpPr>
      <dsp:spPr>
        <a:xfrm>
          <a:off x="1512322" y="3206732"/>
          <a:ext cx="6226433" cy="1310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46" tIns="138646" rIns="138646" bIns="138646" numCol="1" spcCol="1270" anchor="ctr" anchorCtr="0">
          <a:noAutofit/>
        </a:bodyPr>
        <a:lstStyle/>
        <a:p>
          <a:pPr marL="0" lvl="0" indent="0" algn="l" defTabSz="1022350">
            <a:lnSpc>
              <a:spcPct val="90000"/>
            </a:lnSpc>
            <a:spcBef>
              <a:spcPct val="0"/>
            </a:spcBef>
            <a:spcAft>
              <a:spcPct val="35000"/>
            </a:spcAft>
            <a:buNone/>
          </a:pPr>
          <a:r>
            <a:rPr lang="en-US" sz="2300" b="1" kern="1200" dirty="0" err="1"/>
            <a:t>Neurosymbolic</a:t>
          </a:r>
          <a:r>
            <a:rPr lang="en-US" sz="2300" b="1" kern="1200" dirty="0"/>
            <a:t> (modern) AI</a:t>
          </a:r>
          <a:br>
            <a:rPr lang="en-US" sz="2300" b="1" kern="1200" dirty="0"/>
          </a:br>
          <a:r>
            <a:rPr lang="en-US" sz="1800" kern="1200" dirty="0"/>
            <a:t>combines learning artificial neural networks with planning and search.</a:t>
          </a:r>
          <a:endParaRPr lang="en-US" sz="2300" kern="1200" dirty="0"/>
        </a:p>
      </dsp:txBody>
      <dsp:txXfrm>
        <a:off x="1512322" y="3206732"/>
        <a:ext cx="6226433" cy="131003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73B27-D4F4-4730-89C6-C8B26EEB89F9}">
      <dsp:nvSpPr>
        <dsp:cNvPr id="0" name=""/>
        <dsp:cNvSpPr/>
      </dsp:nvSpPr>
      <dsp:spPr>
        <a:xfrm rot="10800000">
          <a:off x="4017"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Clearly defined roles assigning responsibility for AI-driven decisions, system failures, and human oversight checkpoints.</a:t>
          </a:r>
        </a:p>
      </dsp:txBody>
      <dsp:txXfrm rot="10800000">
        <a:off x="81556" y="1242336"/>
        <a:ext cx="1609842" cy="2599579"/>
      </dsp:txXfrm>
    </dsp:sp>
    <dsp:sp modelId="{240D52EC-85C8-40DA-8588-A068C20A3678}">
      <dsp:nvSpPr>
        <dsp:cNvPr id="0" name=""/>
        <dsp:cNvSpPr/>
      </dsp:nvSpPr>
      <dsp:spPr>
        <a:xfrm>
          <a:off x="4017" y="728744"/>
          <a:ext cx="1764920" cy="529476"/>
        </a:xfrm>
        <a:prstGeom prst="round2SameRect">
          <a:avLst>
            <a:gd name="adj1" fmla="val 4500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Accountability</a:t>
          </a:r>
          <a:endParaRPr lang="en-US" sz="1400" b="1" kern="1200" dirty="0"/>
        </a:p>
      </dsp:txBody>
      <dsp:txXfrm>
        <a:off x="73802" y="798529"/>
        <a:ext cx="1625350" cy="459691"/>
      </dsp:txXfrm>
    </dsp:sp>
    <dsp:sp modelId="{9EE4DBCC-8748-4884-899F-5468846D2D87}">
      <dsp:nvSpPr>
        <dsp:cNvPr id="0" name=""/>
        <dsp:cNvSpPr/>
      </dsp:nvSpPr>
      <dsp:spPr>
        <a:xfrm rot="10800000">
          <a:off x="1876832"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The ability to understand how an AI model makes decisions, fostering trust among end-users and regulators.</a:t>
          </a:r>
        </a:p>
      </dsp:txBody>
      <dsp:txXfrm rot="10800000">
        <a:off x="1954371" y="1242336"/>
        <a:ext cx="1609842" cy="2599579"/>
      </dsp:txXfrm>
    </dsp:sp>
    <dsp:sp modelId="{FCCEDACC-BE81-4C04-AFB4-8FE3CF3D6FDC}">
      <dsp:nvSpPr>
        <dsp:cNvPr id="0" name=""/>
        <dsp:cNvSpPr/>
      </dsp:nvSpPr>
      <dsp:spPr>
        <a:xfrm>
          <a:off x="1876832" y="728744"/>
          <a:ext cx="1764920" cy="529476"/>
        </a:xfrm>
        <a:prstGeom prst="round2SameRect">
          <a:avLst>
            <a:gd name="adj1" fmla="val 4500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Transparency</a:t>
          </a:r>
        </a:p>
      </dsp:txBody>
      <dsp:txXfrm>
        <a:off x="1946617" y="798529"/>
        <a:ext cx="1625350" cy="459691"/>
      </dsp:txXfrm>
    </dsp:sp>
    <dsp:sp modelId="{F93AB8E6-2001-4D4B-A522-ECAA7128E64A}">
      <dsp:nvSpPr>
        <dsp:cNvPr id="0" name=""/>
        <dsp:cNvSpPr/>
      </dsp:nvSpPr>
      <dsp:spPr>
        <a:xfrm rot="10800000">
          <a:off x="3749647"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Protocols designed to ensure AI systems do not discriminate against protected groups or yield inequitable outcomes.</a:t>
          </a:r>
        </a:p>
      </dsp:txBody>
      <dsp:txXfrm rot="10800000">
        <a:off x="3827186" y="1242336"/>
        <a:ext cx="1609842" cy="2599579"/>
      </dsp:txXfrm>
    </dsp:sp>
    <dsp:sp modelId="{03628250-9CE0-42FC-A0AC-7FAF813ED583}">
      <dsp:nvSpPr>
        <dsp:cNvPr id="0" name=""/>
        <dsp:cNvSpPr/>
      </dsp:nvSpPr>
      <dsp:spPr>
        <a:xfrm>
          <a:off x="3749647" y="728744"/>
          <a:ext cx="1764920" cy="529476"/>
        </a:xfrm>
        <a:prstGeom prst="round2SameRect">
          <a:avLst>
            <a:gd name="adj1" fmla="val 45000"/>
            <a:gd name="adj2" fmla="val 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Fairness</a:t>
          </a:r>
          <a:endParaRPr lang="en-US" sz="1400" b="1" kern="1200" dirty="0"/>
        </a:p>
      </dsp:txBody>
      <dsp:txXfrm>
        <a:off x="3819432" y="798529"/>
        <a:ext cx="1625350" cy="459691"/>
      </dsp:txXfrm>
    </dsp:sp>
    <dsp:sp modelId="{B9E9453C-D67E-4B70-9D0C-134D61C247B4}">
      <dsp:nvSpPr>
        <dsp:cNvPr id="0" name=""/>
        <dsp:cNvSpPr/>
      </dsp:nvSpPr>
      <dsp:spPr>
        <a:xfrm rot="10800000">
          <a:off x="5622462" y="1242336"/>
          <a:ext cx="1764920" cy="2677118"/>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715" tIns="74715" rIns="74715" bIns="74715" numCol="1" spcCol="1270" anchor="t" anchorCtr="0">
          <a:noAutofit/>
        </a:bodyPr>
        <a:lstStyle/>
        <a:p>
          <a:pPr marL="0" lvl="0" indent="0" algn="l" defTabSz="711200">
            <a:lnSpc>
              <a:spcPct val="90000"/>
            </a:lnSpc>
            <a:spcBef>
              <a:spcPct val="0"/>
            </a:spcBef>
            <a:spcAft>
              <a:spcPct val="35000"/>
            </a:spcAft>
            <a:buNone/>
          </a:pPr>
          <a:r>
            <a:rPr lang="en-US" sz="1600" kern="1200" dirty="0"/>
            <a:t>Strict safeguards dictating how personal and proprietary data is collected, anonymized, stored, and utilized during model training.</a:t>
          </a:r>
        </a:p>
      </dsp:txBody>
      <dsp:txXfrm rot="10800000">
        <a:off x="5700001" y="1242336"/>
        <a:ext cx="1609842" cy="2599579"/>
      </dsp:txXfrm>
    </dsp:sp>
    <dsp:sp modelId="{43C63CB3-2B03-476A-8DF4-0A28A13819F9}">
      <dsp:nvSpPr>
        <dsp:cNvPr id="0" name=""/>
        <dsp:cNvSpPr/>
      </dsp:nvSpPr>
      <dsp:spPr>
        <a:xfrm>
          <a:off x="5622462" y="728744"/>
          <a:ext cx="1764920" cy="529476"/>
        </a:xfrm>
        <a:prstGeom prst="round2SameRect">
          <a:avLst>
            <a:gd name="adj1" fmla="val 45000"/>
            <a:gd name="adj2" fmla="val 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468" tIns="139468" rIns="139468" bIns="139468" numCol="1" spcCol="1270" anchor="ctr" anchorCtr="0">
          <a:noAutofit/>
        </a:bodyPr>
        <a:lstStyle/>
        <a:p>
          <a:pPr marL="0" lvl="0" indent="0" algn="ctr" defTabSz="711200">
            <a:lnSpc>
              <a:spcPct val="90000"/>
            </a:lnSpc>
            <a:spcBef>
              <a:spcPct val="0"/>
            </a:spcBef>
            <a:spcAft>
              <a:spcPct val="35000"/>
            </a:spcAft>
            <a:buNone/>
          </a:pPr>
          <a:r>
            <a:rPr lang="en-US" sz="1600" b="1" kern="1200" dirty="0"/>
            <a:t>Data Privacy &amp; Security</a:t>
          </a:r>
        </a:p>
      </dsp:txBody>
      <dsp:txXfrm>
        <a:off x="5692247" y="798529"/>
        <a:ext cx="1625350" cy="45969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37F87-D89B-4265-9CCA-767E09BB27BA}">
      <dsp:nvSpPr>
        <dsp:cNvPr id="0" name=""/>
        <dsp:cNvSpPr/>
      </dsp:nvSpPr>
      <dsp:spPr>
        <a:xfrm>
          <a:off x="3720" y="315369"/>
          <a:ext cx="1903139" cy="846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2"/>
              </a:solidFill>
            </a:rPr>
            <a:t>Use of AI by companies and organizations</a:t>
          </a:r>
        </a:p>
      </dsp:txBody>
      <dsp:txXfrm>
        <a:off x="3720" y="315369"/>
        <a:ext cx="1903139" cy="846450"/>
      </dsp:txXfrm>
    </dsp:sp>
    <dsp:sp modelId="{18817703-F11E-41DC-8E9C-0E557B75EE9A}">
      <dsp:nvSpPr>
        <dsp:cNvPr id="0" name=""/>
        <dsp:cNvSpPr/>
      </dsp:nvSpPr>
      <dsp:spPr>
        <a:xfrm>
          <a:off x="1906860" y="103757"/>
          <a:ext cx="380627" cy="1269675"/>
        </a:xfrm>
        <a:prstGeom prst="leftBrace">
          <a:avLst>
            <a:gd name="adj1" fmla="val 35000"/>
            <a:gd name="adj2" fmla="val 5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9E74F86F-4160-4D59-AE65-BF20920FD515}">
      <dsp:nvSpPr>
        <dsp:cNvPr id="0" name=""/>
        <dsp:cNvSpPr/>
      </dsp:nvSpPr>
      <dsp:spPr>
        <a:xfrm>
          <a:off x="2439739" y="103757"/>
          <a:ext cx="5176539" cy="1269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Ensure safety</a:t>
          </a:r>
        </a:p>
        <a:p>
          <a:pPr marL="171450" lvl="1" indent="-171450" algn="l" defTabSz="800100">
            <a:lnSpc>
              <a:spcPct val="90000"/>
            </a:lnSpc>
            <a:spcBef>
              <a:spcPct val="0"/>
            </a:spcBef>
            <a:spcAft>
              <a:spcPct val="15000"/>
            </a:spcAft>
            <a:buChar char="•"/>
          </a:pPr>
          <a:r>
            <a:rPr lang="en-US" sz="1800" kern="1200" dirty="0"/>
            <a:t>Limit harmful uses of AI</a:t>
          </a:r>
        </a:p>
        <a:p>
          <a:pPr marL="171450" lvl="1" indent="-171450" algn="l" defTabSz="800100">
            <a:lnSpc>
              <a:spcPct val="90000"/>
            </a:lnSpc>
            <a:spcBef>
              <a:spcPct val="0"/>
            </a:spcBef>
            <a:spcAft>
              <a:spcPct val="15000"/>
            </a:spcAft>
            <a:buChar char="•"/>
          </a:pPr>
          <a:r>
            <a:rPr lang="en-US" sz="1800" kern="1200" dirty="0"/>
            <a:t>Establish accountability: Liability?</a:t>
          </a:r>
        </a:p>
        <a:p>
          <a:pPr marL="171450" lvl="1" indent="-171450" algn="l" defTabSz="800100">
            <a:lnSpc>
              <a:spcPct val="90000"/>
            </a:lnSpc>
            <a:spcBef>
              <a:spcPct val="0"/>
            </a:spcBef>
            <a:spcAft>
              <a:spcPct val="15000"/>
            </a:spcAft>
            <a:buChar char="•"/>
          </a:pPr>
          <a:r>
            <a:rPr lang="en-US" sz="1800" kern="1200" dirty="0"/>
            <a:t>Avoid concentration of power: Winner-takes-All</a:t>
          </a:r>
        </a:p>
      </dsp:txBody>
      <dsp:txXfrm>
        <a:off x="2439739" y="103757"/>
        <a:ext cx="5176539" cy="1269675"/>
      </dsp:txXfrm>
    </dsp:sp>
    <dsp:sp modelId="{8551A47B-1180-4CEB-95F0-15010AF97308}">
      <dsp:nvSpPr>
        <dsp:cNvPr id="0" name=""/>
        <dsp:cNvSpPr/>
      </dsp:nvSpPr>
      <dsp:spPr>
        <a:xfrm>
          <a:off x="3720" y="2171218"/>
          <a:ext cx="1903139" cy="601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t>Protect individuals</a:t>
          </a:r>
        </a:p>
      </dsp:txBody>
      <dsp:txXfrm>
        <a:off x="3720" y="2171218"/>
        <a:ext cx="1903139" cy="601425"/>
      </dsp:txXfrm>
    </dsp:sp>
    <dsp:sp modelId="{33078966-B16B-4AC2-8803-8A1030501DAA}">
      <dsp:nvSpPr>
        <dsp:cNvPr id="0" name=""/>
        <dsp:cNvSpPr/>
      </dsp:nvSpPr>
      <dsp:spPr>
        <a:xfrm>
          <a:off x="1906860" y="1438232"/>
          <a:ext cx="380627" cy="2067398"/>
        </a:xfrm>
        <a:prstGeom prst="leftBrace">
          <a:avLst>
            <a:gd name="adj1" fmla="val 35000"/>
            <a:gd name="adj2" fmla="val 5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8B5DC7CC-6301-4814-93A2-3DB6A0512DB4}">
      <dsp:nvSpPr>
        <dsp:cNvPr id="0" name=""/>
        <dsp:cNvSpPr/>
      </dsp:nvSpPr>
      <dsp:spPr>
        <a:xfrm>
          <a:off x="2439739" y="1438232"/>
          <a:ext cx="5176539" cy="206739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Uphold human rights and values.</a:t>
          </a:r>
        </a:p>
        <a:p>
          <a:pPr marL="171450" lvl="1" indent="-171450" algn="l" defTabSz="800100">
            <a:lnSpc>
              <a:spcPct val="90000"/>
            </a:lnSpc>
            <a:spcBef>
              <a:spcPct val="0"/>
            </a:spcBef>
            <a:spcAft>
              <a:spcPct val="15000"/>
            </a:spcAft>
            <a:buChar char="•"/>
          </a:pPr>
          <a:r>
            <a:rPr lang="en-US" sz="1800" kern="1200" dirty="0"/>
            <a:t>Ensure fairness: Equal opportunity/equal impact. Reflect diversity/inclusion</a:t>
          </a:r>
        </a:p>
        <a:p>
          <a:pPr marL="171450" lvl="1" indent="-171450" algn="l" defTabSz="800100">
            <a:lnSpc>
              <a:spcPct val="90000"/>
            </a:lnSpc>
            <a:spcBef>
              <a:spcPct val="0"/>
            </a:spcBef>
            <a:spcAft>
              <a:spcPct val="15000"/>
            </a:spcAft>
            <a:buChar char="•"/>
          </a:pPr>
          <a:r>
            <a:rPr lang="en-US" sz="1800" kern="1200" dirty="0"/>
            <a:t>Provide transparency: Explanations to build trust</a:t>
          </a:r>
        </a:p>
        <a:p>
          <a:pPr marL="171450" lvl="1" indent="-171450" algn="l" defTabSz="800100">
            <a:lnSpc>
              <a:spcPct val="90000"/>
            </a:lnSpc>
            <a:spcBef>
              <a:spcPct val="0"/>
            </a:spcBef>
            <a:spcAft>
              <a:spcPct val="15000"/>
            </a:spcAft>
            <a:buChar char="•"/>
          </a:pPr>
          <a:r>
            <a:rPr lang="en-US" sz="1800" kern="1200" dirty="0"/>
            <a:t>Respect privacy: Surveillance?</a:t>
          </a:r>
        </a:p>
        <a:p>
          <a:pPr marL="171450" lvl="1" indent="-171450" algn="l" defTabSz="800100">
            <a:lnSpc>
              <a:spcPct val="90000"/>
            </a:lnSpc>
            <a:spcBef>
              <a:spcPct val="0"/>
            </a:spcBef>
            <a:spcAft>
              <a:spcPct val="15000"/>
            </a:spcAft>
            <a:buChar char="•"/>
          </a:pPr>
          <a:r>
            <a:rPr lang="en-US" sz="1800" kern="1200" dirty="0"/>
            <a:t>Contemplate implications for employment: Income and purpose.</a:t>
          </a:r>
        </a:p>
      </dsp:txBody>
      <dsp:txXfrm>
        <a:off x="2439739" y="1438232"/>
        <a:ext cx="5176539" cy="2067398"/>
      </dsp:txXfrm>
    </dsp:sp>
    <dsp:sp modelId="{81A863B9-2C90-43D8-B529-1F605AC44A8F}">
      <dsp:nvSpPr>
        <dsp:cNvPr id="0" name=""/>
        <dsp:cNvSpPr/>
      </dsp:nvSpPr>
      <dsp:spPr>
        <a:xfrm>
          <a:off x="3720" y="3587136"/>
          <a:ext cx="1903139" cy="35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accent4"/>
              </a:solidFill>
            </a:rPr>
            <a:t>Governance</a:t>
          </a:r>
        </a:p>
      </dsp:txBody>
      <dsp:txXfrm>
        <a:off x="3720" y="3587136"/>
        <a:ext cx="1903139" cy="356400"/>
      </dsp:txXfrm>
    </dsp:sp>
    <dsp:sp modelId="{D8E4AC64-8AD0-4103-9AC8-A55D40C4C783}">
      <dsp:nvSpPr>
        <dsp:cNvPr id="0" name=""/>
        <dsp:cNvSpPr/>
      </dsp:nvSpPr>
      <dsp:spPr>
        <a:xfrm>
          <a:off x="1906860" y="3570430"/>
          <a:ext cx="380627" cy="389812"/>
        </a:xfrm>
        <a:prstGeom prst="leftBrace">
          <a:avLst>
            <a:gd name="adj1" fmla="val 35000"/>
            <a:gd name="adj2" fmla="val 50000"/>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sp>
    <dsp:sp modelId="{6EFC526C-5B53-453B-9481-B9BD9F7CDE94}">
      <dsp:nvSpPr>
        <dsp:cNvPr id="0" name=""/>
        <dsp:cNvSpPr/>
      </dsp:nvSpPr>
      <dsp:spPr>
        <a:xfrm>
          <a:off x="2439739" y="3570430"/>
          <a:ext cx="5176539" cy="38981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Acknowledge legal/policy implications</a:t>
          </a:r>
        </a:p>
      </dsp:txBody>
      <dsp:txXfrm>
        <a:off x="2439739" y="3570430"/>
        <a:ext cx="5176539" cy="38981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6EC90-DE5C-4DF9-89E4-A0945B60FCFA}">
      <dsp:nvSpPr>
        <dsp:cNvPr id="0" name=""/>
        <dsp:cNvSpPr/>
      </dsp:nvSpPr>
      <dsp:spPr>
        <a:xfrm>
          <a:off x="1067990" y="0"/>
          <a:ext cx="711993" cy="661034"/>
        </a:xfrm>
        <a:prstGeom prst="trapezoid">
          <a:avLst>
            <a:gd name="adj" fmla="val 53855"/>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Unacceptable Risk: Banned</a:t>
          </a:r>
        </a:p>
      </dsp:txBody>
      <dsp:txXfrm>
        <a:off x="1067990" y="0"/>
        <a:ext cx="711993" cy="661034"/>
      </dsp:txXfrm>
    </dsp:sp>
    <dsp:sp modelId="{147C15EC-EDDB-43DB-B67A-025148B7F5BE}">
      <dsp:nvSpPr>
        <dsp:cNvPr id="0" name=""/>
        <dsp:cNvSpPr/>
      </dsp:nvSpPr>
      <dsp:spPr>
        <a:xfrm>
          <a:off x="711993" y="661034"/>
          <a:ext cx="1423987" cy="661034"/>
        </a:xfrm>
        <a:prstGeom prst="trapezoid">
          <a:avLst>
            <a:gd name="adj" fmla="val 53855"/>
          </a:avLst>
        </a:prstGeom>
        <a:solidFill>
          <a:schemeClr val="accent2">
            <a:hueOff val="2158670"/>
            <a:satOff val="-6273"/>
            <a:lumOff val="-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High Risk: </a:t>
          </a:r>
          <a:br>
            <a:rPr lang="en-US" sz="900" kern="1200" dirty="0"/>
          </a:br>
          <a:r>
            <a:rPr lang="en-US" sz="900" kern="1200" dirty="0"/>
            <a:t>Strictly Regulated</a:t>
          </a:r>
        </a:p>
      </dsp:txBody>
      <dsp:txXfrm>
        <a:off x="961191" y="661034"/>
        <a:ext cx="925591" cy="661034"/>
      </dsp:txXfrm>
    </dsp:sp>
    <dsp:sp modelId="{D696FDA0-1C3A-4AC4-8DB3-D25FF3824A7B}">
      <dsp:nvSpPr>
        <dsp:cNvPr id="0" name=""/>
        <dsp:cNvSpPr/>
      </dsp:nvSpPr>
      <dsp:spPr>
        <a:xfrm>
          <a:off x="355996" y="1322068"/>
          <a:ext cx="2135981" cy="661034"/>
        </a:xfrm>
        <a:prstGeom prst="trapezoid">
          <a:avLst>
            <a:gd name="adj" fmla="val 53855"/>
          </a:avLst>
        </a:prstGeom>
        <a:solidFill>
          <a:schemeClr val="accent2">
            <a:hueOff val="4317340"/>
            <a:satOff val="-12547"/>
            <a:lumOff val="-101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Specific Transparency Risk: Disclosure &amp; watermarking </a:t>
          </a:r>
        </a:p>
      </dsp:txBody>
      <dsp:txXfrm>
        <a:off x="729793" y="1322068"/>
        <a:ext cx="1388387" cy="661034"/>
      </dsp:txXfrm>
    </dsp:sp>
    <dsp:sp modelId="{63B5AA04-31F1-4559-8493-21534E9B0CBE}">
      <dsp:nvSpPr>
        <dsp:cNvPr id="0" name=""/>
        <dsp:cNvSpPr/>
      </dsp:nvSpPr>
      <dsp:spPr>
        <a:xfrm>
          <a:off x="0" y="1983102"/>
          <a:ext cx="2847975" cy="661034"/>
        </a:xfrm>
        <a:prstGeom prst="trapezoid">
          <a:avLst>
            <a:gd name="adj" fmla="val 53855"/>
          </a:avLst>
        </a:prstGeom>
        <a:solidFill>
          <a:schemeClr val="accent2">
            <a:hueOff val="6476011"/>
            <a:satOff val="-18820"/>
            <a:lumOff val="-152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Minimal or No Risk</a:t>
          </a:r>
        </a:p>
      </dsp:txBody>
      <dsp:txXfrm>
        <a:off x="498395" y="1983102"/>
        <a:ext cx="1851183" cy="66103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24/layout/HorizontalActionList">
  <dgm:title val=""/>
  <dgm:desc val=""/>
  <dgm:catLst>
    <dgm:cat type="textcard" pri="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95"/>
      <dgm:constr type="h" for="des" forName="composite" op="equ"/>
      <dgm:constr type="w" for="ch" forName="composite" refType="w"/>
      <dgm:constr type="w" for="des" forName="parTx"/>
      <dgm:constr type="h" for="des" forName="parTx" op="equ"/>
      <dgm:constr type="w" for="des" forName="bgOutline"/>
      <dgm:constr type="primFontSz" for="des" forName="parTx" val="54"/>
      <dgm:constr type="primFontSz" for="des" forName="bgOutline" refType="primFontSz" refFor="des" refForName="parTx" op="lte" fact="0.75"/>
      <dgm:constr type="h" for="des" forName="bgOutline"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bgOutline"/>
          <dgm:constr type="t" for="ch" forName="bgOutline" refType="h" refFor="ch" refForName="parTx" fact="0.97"/>
          <dgm:constr type="w" for="ch" forName="bgOutline" refType="w"/>
          <dgm:constr type="h" for="ch" forName="bgOutline" refType="h" fact="0.75"/>
        </dgm:constrLst>
        <dgm:ruleLst/>
        <dgm:layoutNode name="parTx" styleLbl="alignNode1">
          <dgm:varLst>
            <dgm:chMax val="0"/>
            <dgm:chPref val="0"/>
          </dgm:varLst>
          <dgm:alg type="tx">
            <dgm:param type="parTxLTRAlign" val="l"/>
            <dgm:param type="parTxRTLAlign" val="r"/>
          </dgm:alg>
          <dgm:shape xmlns:r="http://schemas.openxmlformats.org/officeDocument/2006/relationships" type="round2SameRect" r:blip="" zOrderOff="3">
            <dgm:adjLst>
              <dgm:adj idx="1" val="0.45"/>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primFontSz" val="14" fact="NaN" max="NaN"/>
          </dgm:ruleLst>
        </dgm:layoutNode>
        <dgm:layoutNode name="bgOutline" styleLbl="fgAcc1">
          <dgm:varLst>
            <dgm:bulletEnabled/>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rot="180" type="round2SameRect" r:blip="">
            <dgm:adjLst>
              <dgm:adj idx="1" val="0.15"/>
              <dgm:adj idx="2" val="0"/>
            </dgm:adjLst>
          </dgm:shape>
          <dgm:presOf axis="des" ptType="node"/>
          <dgm:constrLst>
            <dgm:constr type="primFontSz" val="28"/>
            <dgm:constr type="tMarg" refType="w" fact="0.12"/>
            <dgm:constr type="bMarg" refType="w" fact="0.12"/>
            <dgm:constr type="lMarg" refType="w" fact="0.12"/>
            <dgm:constr type="rMarg" refType="w" fact="0.12"/>
          </dgm:constrLst>
          <dgm:ruleLst>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0T17:18:49.300"/>
    </inkml:context>
    <inkml:brush xml:id="br0">
      <inkml:brushProperty name="width" value="0.05" units="cm"/>
      <inkml:brushProperty name="height" value="0.05" units="cm"/>
      <inkml:brushProperty name="color" value="#008C3A"/>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662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86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662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663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spcBef>
                <a:spcPct val="0"/>
              </a:spcBef>
              <a:defRPr sz="1300" b="0">
                <a:solidFill>
                  <a:schemeClr val="bg1"/>
                </a:solidFill>
                <a:latin typeface="Calibri" panose="020F0502020204030204" pitchFamily="34" charset="0"/>
              </a:defRPr>
            </a:lvl1pPr>
          </a:lstStyle>
          <a:p>
            <a:pPr>
              <a:defRPr/>
            </a:pPr>
            <a:endParaRPr lang="en-US" dirty="0"/>
          </a:p>
        </p:txBody>
      </p:sp>
      <p:sp>
        <p:nvSpPr>
          <p:cNvPr id="2663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spcBef>
                <a:spcPct val="0"/>
              </a:spcBef>
              <a:defRPr sz="1300" b="0">
                <a:solidFill>
                  <a:schemeClr val="bg1"/>
                </a:solidFill>
                <a:latin typeface="Calibri" panose="020F0502020204030204" pitchFamily="34" charset="0"/>
              </a:defRPr>
            </a:lvl1pPr>
          </a:lstStyle>
          <a:p>
            <a:pPr>
              <a:defRPr/>
            </a:pPr>
            <a:fld id="{767FC3A7-0F7B-44C6-ACD4-A5FC741D946B}"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xfrm>
            <a:off x="1257300" y="720725"/>
            <a:ext cx="4800600" cy="3600450"/>
          </a:xfrm>
          <a:ln/>
        </p:spPr>
      </p:sp>
      <p:sp>
        <p:nvSpPr>
          <p:cNvPr id="29699" name="Notes Placeholder 2"/>
          <p:cNvSpPr>
            <a:spLocks noGrp="1"/>
          </p:cNvSpPr>
          <p:nvPr>
            <p:ph type="body" idx="1"/>
          </p:nvPr>
        </p:nvSpPr>
        <p:spPr>
          <a:noFill/>
          <a:ln/>
        </p:spPr>
        <p:txBody>
          <a:bodyPr/>
          <a:lstStyle/>
          <a:p>
            <a:endParaRPr lang="en-US" dirty="0"/>
          </a:p>
        </p:txBody>
      </p:sp>
      <p:sp>
        <p:nvSpPr>
          <p:cNvPr id="29700" name="Slide Number Placeholder 3"/>
          <p:cNvSpPr>
            <a:spLocks noGrp="1"/>
          </p:cNvSpPr>
          <p:nvPr>
            <p:ph type="sldNum" sz="quarter" idx="5"/>
          </p:nvPr>
        </p:nvSpPr>
        <p:spPr>
          <a:noFill/>
        </p:spPr>
        <p:txBody>
          <a:bodyPr/>
          <a:lstStyle/>
          <a:p>
            <a:fld id="{25AD7B03-BE14-45DB-B0F7-17EB6D027DC3}"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5</a:t>
            </a:fld>
            <a:endParaRPr lang="en-US" dirty="0"/>
          </a:p>
        </p:txBody>
      </p:sp>
    </p:spTree>
    <p:extLst>
      <p:ext uri="{BB962C8B-B14F-4D97-AF65-F5344CB8AC3E}">
        <p14:creationId xmlns:p14="http://schemas.microsoft.com/office/powerpoint/2010/main" val="239889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1257300" y="720725"/>
            <a:ext cx="4800600" cy="3600450"/>
          </a:xfrm>
          <a:ln/>
        </p:spPr>
      </p:sp>
      <p:sp>
        <p:nvSpPr>
          <p:cNvPr id="36867" name="Notes Placeholder 2"/>
          <p:cNvSpPr>
            <a:spLocks noGrp="1"/>
          </p:cNvSpPr>
          <p:nvPr>
            <p:ph type="body" idx="1"/>
          </p:nvPr>
        </p:nvSpPr>
        <p:spPr>
          <a:noFill/>
          <a:ln/>
        </p:spPr>
        <p:txBody>
          <a:bodyPr/>
          <a:lstStyle/>
          <a:p>
            <a:endParaRPr lang="en-US"/>
          </a:p>
        </p:txBody>
      </p:sp>
      <p:sp>
        <p:nvSpPr>
          <p:cNvPr id="36868" name="Slide Number Placeholder 3"/>
          <p:cNvSpPr>
            <a:spLocks noGrp="1"/>
          </p:cNvSpPr>
          <p:nvPr>
            <p:ph type="sldNum" sz="quarter" idx="5"/>
          </p:nvPr>
        </p:nvSpPr>
        <p:spPr>
          <a:noFill/>
        </p:spPr>
        <p:txBody>
          <a:bodyPr/>
          <a:lstStyle/>
          <a:p>
            <a:fld id="{080424BB-542F-432C-8987-2FEC1AB3AB05}" type="slidenum">
              <a:rPr lang="en-US" smtClean="0"/>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257300" y="720725"/>
            <a:ext cx="4800600" cy="3600450"/>
          </a:xfrm>
          <a:ln/>
        </p:spPr>
      </p:sp>
      <p:sp>
        <p:nvSpPr>
          <p:cNvPr id="37891" name="Notes Placeholder 2"/>
          <p:cNvSpPr>
            <a:spLocks noGrp="1"/>
          </p:cNvSpPr>
          <p:nvPr>
            <p:ph type="body" idx="1"/>
          </p:nvPr>
        </p:nvSpPr>
        <p:spPr>
          <a:noFill/>
          <a:ln/>
        </p:spPr>
        <p:txBody>
          <a:bodyPr/>
          <a:lstStyle/>
          <a:p>
            <a:endParaRPr lang="en-US"/>
          </a:p>
        </p:txBody>
      </p:sp>
      <p:sp>
        <p:nvSpPr>
          <p:cNvPr id="37892" name="Slide Number Placeholder 3"/>
          <p:cNvSpPr>
            <a:spLocks noGrp="1"/>
          </p:cNvSpPr>
          <p:nvPr>
            <p:ph type="sldNum" sz="quarter" idx="5"/>
          </p:nvPr>
        </p:nvSpPr>
        <p:spPr>
          <a:noFill/>
        </p:spPr>
        <p:txBody>
          <a:bodyPr/>
          <a:lstStyle/>
          <a:p>
            <a:fld id="{B98A5923-1D79-48C0-BAB4-81F673DB35DD}" type="slidenum">
              <a:rPr lang="en-US" smtClean="0"/>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xfrm>
            <a:off x="1257300" y="720725"/>
            <a:ext cx="4800600" cy="3600450"/>
          </a:xfrm>
          <a:ln/>
        </p:spPr>
      </p:sp>
      <p:sp>
        <p:nvSpPr>
          <p:cNvPr id="38915" name="Notes Placeholder 2"/>
          <p:cNvSpPr>
            <a:spLocks noGrp="1"/>
          </p:cNvSpPr>
          <p:nvPr>
            <p:ph type="body" idx="1"/>
          </p:nvPr>
        </p:nvSpPr>
        <p:spPr>
          <a:noFill/>
          <a:ln/>
        </p:spPr>
        <p:txBody>
          <a:bodyPr/>
          <a:lstStyle/>
          <a:p>
            <a:endParaRPr lang="en-US"/>
          </a:p>
        </p:txBody>
      </p:sp>
      <p:sp>
        <p:nvSpPr>
          <p:cNvPr id="38916" name="Slide Number Placeholder 3"/>
          <p:cNvSpPr>
            <a:spLocks noGrp="1"/>
          </p:cNvSpPr>
          <p:nvPr>
            <p:ph type="sldNum" sz="quarter" idx="5"/>
          </p:nvPr>
        </p:nvSpPr>
        <p:spPr>
          <a:noFill/>
        </p:spPr>
        <p:txBody>
          <a:bodyPr/>
          <a:lstStyle/>
          <a:p>
            <a:fld id="{E6437020-ABE3-4089-A7B9-E1FE78834896}" type="slidenum">
              <a:rPr lang="en-US" smtClean="0"/>
              <a:pPr/>
              <a:t>8</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xfrm>
            <a:off x="1257300" y="720725"/>
            <a:ext cx="4800600" cy="3600450"/>
          </a:xfrm>
          <a:ln/>
        </p:spPr>
      </p:sp>
      <p:sp>
        <p:nvSpPr>
          <p:cNvPr id="39939" name="Notes Placeholder 2"/>
          <p:cNvSpPr>
            <a:spLocks noGrp="1"/>
          </p:cNvSpPr>
          <p:nvPr>
            <p:ph type="body" idx="1"/>
          </p:nvPr>
        </p:nvSpPr>
        <p:spPr>
          <a:noFill/>
          <a:ln/>
        </p:spPr>
        <p:txBody>
          <a:bodyPr/>
          <a:lstStyle/>
          <a:p>
            <a:endParaRPr lang="en-US"/>
          </a:p>
        </p:txBody>
      </p:sp>
      <p:sp>
        <p:nvSpPr>
          <p:cNvPr id="39940" name="Slide Number Placeholder 3"/>
          <p:cNvSpPr>
            <a:spLocks noGrp="1"/>
          </p:cNvSpPr>
          <p:nvPr>
            <p:ph type="sldNum" sz="quarter" idx="5"/>
          </p:nvPr>
        </p:nvSpPr>
        <p:spPr>
          <a:noFill/>
        </p:spPr>
        <p:txBody>
          <a:bodyPr/>
          <a:lstStyle/>
          <a:p>
            <a:fld id="{79269AC5-6E01-4B62-B863-4B789F07BED7}" type="slidenum">
              <a:rPr lang="en-US" smtClean="0"/>
              <a:pPr/>
              <a:t>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1257300" y="720725"/>
            <a:ext cx="4800600" cy="3600450"/>
          </a:xfrm>
          <a:ln/>
        </p:spPr>
      </p:sp>
      <p:sp>
        <p:nvSpPr>
          <p:cNvPr id="40963" name="Notes Placeholder 2"/>
          <p:cNvSpPr>
            <a:spLocks noGrp="1"/>
          </p:cNvSpPr>
          <p:nvPr>
            <p:ph type="body" idx="1"/>
          </p:nvPr>
        </p:nvSpPr>
        <p:spPr>
          <a:noFill/>
          <a:ln/>
        </p:spPr>
        <p:txBody>
          <a:bodyPr/>
          <a:lstStyle/>
          <a:p>
            <a:endParaRPr lang="en-US"/>
          </a:p>
        </p:txBody>
      </p:sp>
      <p:sp>
        <p:nvSpPr>
          <p:cNvPr id="40964" name="Slide Number Placeholder 3"/>
          <p:cNvSpPr>
            <a:spLocks noGrp="1"/>
          </p:cNvSpPr>
          <p:nvPr>
            <p:ph type="sldNum" sz="quarter" idx="5"/>
          </p:nvPr>
        </p:nvSpPr>
        <p:spPr>
          <a:noFill/>
        </p:spPr>
        <p:txBody>
          <a:bodyPr/>
          <a:lstStyle/>
          <a:p>
            <a:fld id="{CA846566-71AB-4018-8E0E-12F77AFED267}" type="slidenum">
              <a:rPr lang="en-US" smtClean="0"/>
              <a:pPr/>
              <a:t>10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11</a:t>
            </a:fld>
            <a:endParaRPr lang="en-US" dirty="0"/>
          </a:p>
        </p:txBody>
      </p:sp>
    </p:spTree>
    <p:extLst>
      <p:ext uri="{BB962C8B-B14F-4D97-AF65-F5344CB8AC3E}">
        <p14:creationId xmlns:p14="http://schemas.microsoft.com/office/powerpoint/2010/main" val="565337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257300" y="720725"/>
            <a:ext cx="4800600" cy="3600450"/>
          </a:xfrm>
          <a:ln/>
        </p:spPr>
      </p:sp>
      <p:sp>
        <p:nvSpPr>
          <p:cNvPr id="35843" name="Notes Placeholder 2"/>
          <p:cNvSpPr>
            <a:spLocks noGrp="1"/>
          </p:cNvSpPr>
          <p:nvPr>
            <p:ph type="body" idx="1"/>
          </p:nvPr>
        </p:nvSpPr>
        <p:spPr>
          <a:noFill/>
          <a:ln/>
        </p:spPr>
        <p:txBody>
          <a:bodyPr/>
          <a:lstStyle/>
          <a:p>
            <a:endParaRPr lang="en-US"/>
          </a:p>
        </p:txBody>
      </p:sp>
      <p:sp>
        <p:nvSpPr>
          <p:cNvPr id="35844" name="Slide Number Placeholder 3"/>
          <p:cNvSpPr>
            <a:spLocks noGrp="1"/>
          </p:cNvSpPr>
          <p:nvPr>
            <p:ph type="sldNum" sz="quarter" idx="5"/>
          </p:nvPr>
        </p:nvSpPr>
        <p:spPr>
          <a:noFill/>
        </p:spPr>
        <p:txBody>
          <a:bodyPr/>
          <a:lstStyle/>
          <a:p>
            <a:fld id="{C8FB721F-31C6-4B60-861A-A0998B2E02B0}" type="slidenum">
              <a:rPr lang="en-US" smtClean="0"/>
              <a:pPr/>
              <a:t>13</a:t>
            </a:fld>
            <a:endParaRPr lang="en-US" dirty="0"/>
          </a:p>
        </p:txBody>
      </p:sp>
    </p:spTree>
    <p:extLst>
      <p:ext uri="{BB962C8B-B14F-4D97-AF65-F5344CB8AC3E}">
        <p14:creationId xmlns:p14="http://schemas.microsoft.com/office/powerpoint/2010/main" val="516460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14</a:t>
            </a:fld>
            <a:endParaRPr lang="en-US"/>
          </a:p>
        </p:txBody>
      </p:sp>
    </p:spTree>
    <p:extLst>
      <p:ext uri="{BB962C8B-B14F-4D97-AF65-F5344CB8AC3E}">
        <p14:creationId xmlns:p14="http://schemas.microsoft.com/office/powerpoint/2010/main" val="3477020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15</a:t>
            </a:fld>
            <a:endParaRPr lang="en-US"/>
          </a:p>
        </p:txBody>
      </p:sp>
    </p:spTree>
    <p:extLst>
      <p:ext uri="{BB962C8B-B14F-4D97-AF65-F5344CB8AC3E}">
        <p14:creationId xmlns:p14="http://schemas.microsoft.com/office/powerpoint/2010/main" val="3639598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C3052CD-1CA6-4627-843B-5157C53BE131}" type="slidenum">
              <a:rPr lang="en-US" smtClean="0"/>
              <a:pPr>
                <a:defRPr/>
              </a:pPr>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1257300" y="720725"/>
            <a:ext cx="4800600" cy="3600450"/>
          </a:xfrm>
          <a:ln/>
        </p:spPr>
      </p:sp>
      <p:sp>
        <p:nvSpPr>
          <p:cNvPr id="51203" name="Notes Placeholder 2"/>
          <p:cNvSpPr>
            <a:spLocks noGrp="1"/>
          </p:cNvSpPr>
          <p:nvPr>
            <p:ph type="body" idx="1"/>
          </p:nvPr>
        </p:nvSpPr>
        <p:spPr>
          <a:noFill/>
          <a:ln/>
        </p:spPr>
        <p:txBody>
          <a:bodyPr/>
          <a:lstStyle/>
          <a:p>
            <a:endParaRPr lang="en-US" dirty="0"/>
          </a:p>
        </p:txBody>
      </p:sp>
      <p:sp>
        <p:nvSpPr>
          <p:cNvPr id="51204" name="Slide Number Placeholder 3"/>
          <p:cNvSpPr>
            <a:spLocks noGrp="1"/>
          </p:cNvSpPr>
          <p:nvPr>
            <p:ph type="sldNum" sz="quarter" idx="5"/>
          </p:nvPr>
        </p:nvSpPr>
        <p:spPr>
          <a:noFill/>
        </p:spPr>
        <p:txBody>
          <a:bodyPr/>
          <a:lstStyle/>
          <a:p>
            <a:fld id="{F6914E40-AC29-42C3-8555-9EA329777EF1}" type="slidenum">
              <a:rPr lang="en-US" smtClean="0"/>
              <a:pPr/>
              <a:t>24</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1257300" y="720725"/>
            <a:ext cx="4800600" cy="3600450"/>
          </a:xfrm>
          <a:ln/>
        </p:spPr>
      </p:sp>
      <p:sp>
        <p:nvSpPr>
          <p:cNvPr id="47107" name="Notes Placeholder 2"/>
          <p:cNvSpPr>
            <a:spLocks noGrp="1"/>
          </p:cNvSpPr>
          <p:nvPr>
            <p:ph type="body" idx="1"/>
          </p:nvPr>
        </p:nvSpPr>
        <p:spPr>
          <a:noFill/>
          <a:ln/>
        </p:spPr>
        <p:txBody>
          <a:bodyPr/>
          <a:lstStyle/>
          <a:p>
            <a:endParaRPr lang="en-US" dirty="0"/>
          </a:p>
        </p:txBody>
      </p:sp>
      <p:sp>
        <p:nvSpPr>
          <p:cNvPr id="47108" name="Slide Number Placeholder 3"/>
          <p:cNvSpPr>
            <a:spLocks noGrp="1"/>
          </p:cNvSpPr>
          <p:nvPr>
            <p:ph type="sldNum" sz="quarter" idx="5"/>
          </p:nvPr>
        </p:nvSpPr>
        <p:spPr>
          <a:noFill/>
        </p:spPr>
        <p:txBody>
          <a:bodyPr/>
          <a:lstStyle/>
          <a:p>
            <a:fld id="{A687E8A5-776B-42C8-821D-233A9950CDEE}" type="slidenum">
              <a:rPr lang="en-US" smtClean="0"/>
              <a:pPr/>
              <a:t>25</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1257300" y="720725"/>
            <a:ext cx="4800600" cy="3600450"/>
          </a:xfrm>
          <a:ln/>
        </p:spPr>
      </p:sp>
      <p:sp>
        <p:nvSpPr>
          <p:cNvPr id="52227" name="Notes Placeholder 2"/>
          <p:cNvSpPr>
            <a:spLocks noGrp="1"/>
          </p:cNvSpPr>
          <p:nvPr>
            <p:ph type="body" idx="1"/>
          </p:nvPr>
        </p:nvSpPr>
        <p:spPr>
          <a:noFill/>
          <a:ln/>
        </p:spPr>
        <p:txBody>
          <a:bodyPr/>
          <a:lstStyle/>
          <a:p>
            <a:endParaRPr lang="en-US"/>
          </a:p>
        </p:txBody>
      </p:sp>
      <p:sp>
        <p:nvSpPr>
          <p:cNvPr id="52228" name="Slide Number Placeholder 3"/>
          <p:cNvSpPr>
            <a:spLocks noGrp="1"/>
          </p:cNvSpPr>
          <p:nvPr>
            <p:ph type="sldNum" sz="quarter" idx="5"/>
          </p:nvPr>
        </p:nvSpPr>
        <p:spPr>
          <a:noFill/>
        </p:spPr>
        <p:txBody>
          <a:bodyPr/>
          <a:lstStyle/>
          <a:p>
            <a:fld id="{321F3201-8425-4AFC-B629-22028E4AF458}" type="slidenum">
              <a:rPr lang="en-US" smtClean="0"/>
              <a:pPr/>
              <a:t>26</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30</a:t>
            </a:fld>
            <a:endParaRPr lang="en-US"/>
          </a:p>
        </p:txBody>
      </p:sp>
    </p:spTree>
    <p:extLst>
      <p:ext uri="{BB962C8B-B14F-4D97-AF65-F5344CB8AC3E}">
        <p14:creationId xmlns:p14="http://schemas.microsoft.com/office/powerpoint/2010/main" val="186386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40</a:t>
            </a:fld>
            <a:endParaRPr lang="en-US"/>
          </a:p>
        </p:txBody>
      </p:sp>
    </p:spTree>
    <p:extLst>
      <p:ext uri="{BB962C8B-B14F-4D97-AF65-F5344CB8AC3E}">
        <p14:creationId xmlns:p14="http://schemas.microsoft.com/office/powerpoint/2010/main" val="1085463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67FC3A7-0F7B-44C6-ACD4-A5FC741D946B}" type="slidenum">
              <a:rPr lang="en-US" smtClean="0"/>
              <a:pPr>
                <a:defRPr/>
              </a:pPr>
              <a:t>41</a:t>
            </a:fld>
            <a:endParaRPr lang="en-US"/>
          </a:p>
        </p:txBody>
      </p:sp>
    </p:spTree>
    <p:extLst>
      <p:ext uri="{BB962C8B-B14F-4D97-AF65-F5344CB8AC3E}">
        <p14:creationId xmlns:p14="http://schemas.microsoft.com/office/powerpoint/2010/main" val="640234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BAC3F58-2633-43B5-944D-9A29CA4A9EC1}" type="slidenum">
              <a:rPr lang="en-US" smtClean="0"/>
              <a:pPr>
                <a:defRPr/>
              </a:pPr>
              <a:t>‹#›</a:t>
            </a:fld>
            <a:endParaRPr lang="en-US"/>
          </a:p>
        </p:txBody>
      </p:sp>
    </p:spTree>
    <p:extLst>
      <p:ext uri="{BB962C8B-B14F-4D97-AF65-F5344CB8AC3E}">
        <p14:creationId xmlns:p14="http://schemas.microsoft.com/office/powerpoint/2010/main" val="7343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C49721-C3A1-4425-99EF-30C57743CC15}" type="slidenum">
              <a:rPr lang="en-US" smtClean="0"/>
              <a:pPr>
                <a:defRPr/>
              </a:pPr>
              <a:t>‹#›</a:t>
            </a:fld>
            <a:endParaRPr lang="en-US"/>
          </a:p>
        </p:txBody>
      </p:sp>
    </p:spTree>
    <p:extLst>
      <p:ext uri="{BB962C8B-B14F-4D97-AF65-F5344CB8AC3E}">
        <p14:creationId xmlns:p14="http://schemas.microsoft.com/office/powerpoint/2010/main" val="390366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876BB52-192B-4E7D-9E15-B5945998B30B}" type="slidenum">
              <a:rPr lang="en-US" smtClean="0"/>
              <a:pPr>
                <a:defRPr/>
              </a:pPr>
              <a:t>‹#›</a:t>
            </a:fld>
            <a:endParaRPr lang="en-US"/>
          </a:p>
        </p:txBody>
      </p:sp>
    </p:spTree>
    <p:extLst>
      <p:ext uri="{BB962C8B-B14F-4D97-AF65-F5344CB8AC3E}">
        <p14:creationId xmlns:p14="http://schemas.microsoft.com/office/powerpoint/2010/main" val="157046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9634D7A-5DE0-40F6-876D-D2AFBCA76471}" type="slidenum">
              <a:rPr lang="en-US" smtClean="0"/>
              <a:pPr>
                <a:defRPr/>
              </a:pPr>
              <a:t>‹#›</a:t>
            </a:fld>
            <a:endParaRPr lang="en-US"/>
          </a:p>
        </p:txBody>
      </p:sp>
    </p:spTree>
    <p:extLst>
      <p:ext uri="{BB962C8B-B14F-4D97-AF65-F5344CB8AC3E}">
        <p14:creationId xmlns:p14="http://schemas.microsoft.com/office/powerpoint/2010/main" val="2676029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A733130-C1C8-4197-ACEE-A73DA10DD24F}" type="slidenum">
              <a:rPr lang="en-US" smtClean="0"/>
              <a:pPr>
                <a:defRPr/>
              </a:pPr>
              <a:t>‹#›</a:t>
            </a:fld>
            <a:endParaRPr lang="en-US"/>
          </a:p>
        </p:txBody>
      </p:sp>
    </p:spTree>
    <p:extLst>
      <p:ext uri="{BB962C8B-B14F-4D97-AF65-F5344CB8AC3E}">
        <p14:creationId xmlns:p14="http://schemas.microsoft.com/office/powerpoint/2010/main" val="2235316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08389DD-3A77-4664-9585-0D0E9A5EB606}" type="slidenum">
              <a:rPr lang="en-US" smtClean="0"/>
              <a:pPr>
                <a:defRPr/>
              </a:pPr>
              <a:t>‹#›</a:t>
            </a:fld>
            <a:endParaRPr lang="en-US"/>
          </a:p>
        </p:txBody>
      </p:sp>
    </p:spTree>
    <p:extLst>
      <p:ext uri="{BB962C8B-B14F-4D97-AF65-F5344CB8AC3E}">
        <p14:creationId xmlns:p14="http://schemas.microsoft.com/office/powerpoint/2010/main" val="179929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B740A81-9E01-4FD9-8249-D9D456571D47}" type="slidenum">
              <a:rPr lang="en-US" smtClean="0"/>
              <a:pPr>
                <a:defRPr/>
              </a:pPr>
              <a:t>‹#›</a:t>
            </a:fld>
            <a:endParaRPr lang="en-US"/>
          </a:p>
        </p:txBody>
      </p:sp>
    </p:spTree>
    <p:extLst>
      <p:ext uri="{BB962C8B-B14F-4D97-AF65-F5344CB8AC3E}">
        <p14:creationId xmlns:p14="http://schemas.microsoft.com/office/powerpoint/2010/main" val="214156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306D5C0-30C3-4567-9087-D7285F18DEDD}" type="slidenum">
              <a:rPr lang="en-US" smtClean="0"/>
              <a:pPr>
                <a:defRPr/>
              </a:pPr>
              <a:t>‹#›</a:t>
            </a:fld>
            <a:endParaRPr lang="en-US"/>
          </a:p>
        </p:txBody>
      </p:sp>
    </p:spTree>
    <p:extLst>
      <p:ext uri="{BB962C8B-B14F-4D97-AF65-F5344CB8AC3E}">
        <p14:creationId xmlns:p14="http://schemas.microsoft.com/office/powerpoint/2010/main" val="384313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59245C4-C502-4096-92D6-EC376ED5F3D1}" type="slidenum">
              <a:rPr lang="en-US" smtClean="0"/>
              <a:pPr>
                <a:defRPr/>
              </a:pPr>
              <a:t>‹#›</a:t>
            </a:fld>
            <a:endParaRPr lang="en-US"/>
          </a:p>
        </p:txBody>
      </p:sp>
    </p:spTree>
    <p:extLst>
      <p:ext uri="{BB962C8B-B14F-4D97-AF65-F5344CB8AC3E}">
        <p14:creationId xmlns:p14="http://schemas.microsoft.com/office/powerpoint/2010/main" val="905125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DC7C65B-D709-43A0-BF27-CBEBE59D506B}" type="slidenum">
              <a:rPr lang="en-US" smtClean="0"/>
              <a:pPr>
                <a:defRPr/>
              </a:pPr>
              <a:t>‹#›</a:t>
            </a:fld>
            <a:endParaRPr lang="en-US"/>
          </a:p>
        </p:txBody>
      </p:sp>
    </p:spTree>
    <p:extLst>
      <p:ext uri="{BB962C8B-B14F-4D97-AF65-F5344CB8AC3E}">
        <p14:creationId xmlns:p14="http://schemas.microsoft.com/office/powerpoint/2010/main" val="2167653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52BCF5F-F163-48A3-8709-B31AFB4E6F34}" type="slidenum">
              <a:rPr lang="en-US" smtClean="0"/>
              <a:pPr>
                <a:defRPr/>
              </a:pPr>
              <a:t>‹#›</a:t>
            </a:fld>
            <a:endParaRPr lang="en-US"/>
          </a:p>
        </p:txBody>
      </p:sp>
    </p:spTree>
    <p:extLst>
      <p:ext uri="{BB962C8B-B14F-4D97-AF65-F5344CB8AC3E}">
        <p14:creationId xmlns:p14="http://schemas.microsoft.com/office/powerpoint/2010/main" val="3246150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DE62156-1480-49ED-B33B-CE1D8F42A3CD}" type="slidenum">
              <a:rPr lang="en-US" smtClean="0"/>
              <a:pPr>
                <a:defRPr/>
              </a:pPr>
              <a:t>‹#›</a:t>
            </a:fld>
            <a:endParaRPr lang="en-US"/>
          </a:p>
        </p:txBody>
      </p:sp>
    </p:spTree>
    <p:extLst>
      <p:ext uri="{BB962C8B-B14F-4D97-AF65-F5344CB8AC3E}">
        <p14:creationId xmlns:p14="http://schemas.microsoft.com/office/powerpoint/2010/main" val="426092775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hyperlink" Target="https://en.wikipedia.org/wiki/Honda" TargetMode="External"/><Relationship Id="rId4" Type="http://schemas.openxmlformats.org/officeDocument/2006/relationships/hyperlink" Target="https://en.wikipedia.org/wiki/Humanoid_robot"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8.png"/><Relationship Id="rId7" Type="http://schemas.openxmlformats.org/officeDocument/2006/relationships/diagramQuickStyle" Target="../diagrams/quickStyle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9.png"/><Relationship Id="rId9" Type="http://schemas.microsoft.com/office/2007/relationships/diagramDrawing" Target="../diagrams/drawing5.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0.png"/><Relationship Id="rId7" Type="http://schemas.openxmlformats.org/officeDocument/2006/relationships/diagramColors" Target="../diagrams/colors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Humanoid_robot" TargetMode="External"/><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hyperlink" Target="https://en.wikipedia.org/wiki/Hond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qbi.uq.edu.au/brain/intelligent-machines/history-artificial-intelligence" TargetMode="Externa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newsweek.com/googles-new-two-legged-robot-future-warfare-42983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8" Type="http://schemas.openxmlformats.org/officeDocument/2006/relationships/hyperlink" Target="http://www.nytimes.com/2010/07/05/science/05robot.html?_r=1&amp;ref=artificial_intelligence" TargetMode="External"/><Relationship Id="rId3" Type="http://schemas.openxmlformats.org/officeDocument/2006/relationships/image" Target="../media/image36.png"/><Relationship Id="rId7" Type="http://schemas.openxmlformats.org/officeDocument/2006/relationships/hyperlink" Target="http://www.darpa.mil/grandchallenge05/"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www.robocup.org/" TargetMode="External"/><Relationship Id="rId5" Type="http://schemas.openxmlformats.org/officeDocument/2006/relationships/image" Target="../media/image38.png"/><Relationship Id="rId4" Type="http://schemas.openxmlformats.org/officeDocument/2006/relationships/image" Target="../media/image37.jpeg"/><Relationship Id="rId9" Type="http://schemas.openxmlformats.org/officeDocument/2006/relationships/image" Target="../media/image39.jpeg"/></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gdpr-info.eu/art-22-gdpr/" TargetMode="External"/><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hyperlink" Target="https://www.europarl.europa.eu/thinktank/en/document.html?reference=EPRS_STU(2019)624262"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ai.google/static/documents/recommendations-for-regulating-ai.pdf" TargetMode="External"/><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50.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slideLayout" Target="../slideLayouts/slideLayout2.xml"/><Relationship Id="rId4" Type="http://schemas.openxmlformats.org/officeDocument/2006/relationships/image" Target="../media/image53.svg"/></Relationships>
</file>

<file path=ppt/slides/_rels/slide4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svg"/></Relationships>
</file>

<file path=ppt/slides/_rels/slide4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8.svg"/><Relationship Id="rId4" Type="http://schemas.openxmlformats.org/officeDocument/2006/relationships/image" Target="../media/image12.sv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dx.doi.org/10.2139/ssrn.4921696"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71EBC5-8F77-4D05-B52D-24E94DBD9058}"/>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254" r="9089" b="5987"/>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0" name="Title 1"/>
          <p:cNvSpPr>
            <a:spLocks noGrp="1"/>
          </p:cNvSpPr>
          <p:nvPr>
            <p:ph type="ctrTitle"/>
          </p:nvPr>
        </p:nvSpPr>
        <p:spPr>
          <a:xfrm>
            <a:off x="358484" y="1122363"/>
            <a:ext cx="3375315" cy="3204134"/>
          </a:xfrm>
        </p:spPr>
        <p:txBody>
          <a:bodyPr vert="horz" lIns="91440" tIns="45720" rIns="91440" bIns="45720" rtlCol="0" anchor="b">
            <a:normAutofit/>
          </a:bodyPr>
          <a:lstStyle/>
          <a:p>
            <a:pPr algn="l" defTabSz="914400"/>
            <a:r>
              <a:rPr lang="en-US" sz="2600" b="1" dirty="0"/>
              <a:t>CS 5/7320 </a:t>
            </a:r>
            <a:br>
              <a:rPr lang="en-US" sz="2600" b="1" dirty="0"/>
            </a:br>
            <a:r>
              <a:rPr lang="en-US" sz="2600" b="1" dirty="0"/>
              <a:t>Artificial Intelligence</a:t>
            </a:r>
            <a:br>
              <a:rPr lang="en-US" sz="2600" b="1" dirty="0"/>
            </a:br>
            <a:br>
              <a:rPr lang="en-US" sz="2600" b="1" dirty="0"/>
            </a:br>
            <a:r>
              <a:rPr lang="en-US" sz="2600" b="1" dirty="0"/>
              <a:t>Introduction to AI</a:t>
            </a:r>
            <a:br>
              <a:rPr lang="en-US" sz="2600" b="1" dirty="0"/>
            </a:br>
            <a:br>
              <a:rPr lang="en-US" sz="2600" b="1" dirty="0"/>
            </a:br>
            <a:r>
              <a:rPr lang="en-US" sz="2600" b="1" dirty="0"/>
              <a:t>AIMA Chapters 1 + 27</a:t>
            </a:r>
          </a:p>
        </p:txBody>
      </p:sp>
      <p:sp>
        <p:nvSpPr>
          <p:cNvPr id="8" name="Subtitle 7">
            <a:extLst>
              <a:ext uri="{FF2B5EF4-FFF2-40B4-BE49-F238E27FC236}">
                <a16:creationId xmlns:a16="http://schemas.microsoft.com/office/drawing/2014/main" id="{71970712-7B6B-FF1B-6B47-BB7A92726235}"/>
              </a:ext>
            </a:extLst>
          </p:cNvPr>
          <p:cNvSpPr>
            <a:spLocks noGrp="1"/>
          </p:cNvSpPr>
          <p:nvPr>
            <p:ph type="subTitle" idx="1"/>
          </p:nvPr>
        </p:nvSpPr>
        <p:spPr>
          <a:xfrm>
            <a:off x="358485" y="4872922"/>
            <a:ext cx="3017519" cy="1208141"/>
          </a:xfrm>
        </p:spPr>
        <p:txBody>
          <a:bodyPr>
            <a:normAutofit lnSpcReduction="10000"/>
          </a:bodyPr>
          <a:lstStyle/>
          <a:p>
            <a:pPr algn="l"/>
            <a:r>
              <a:rPr lang="en-US" sz="1700" dirty="0"/>
              <a:t>Slides by Michael Hahsler</a:t>
            </a:r>
            <a:br>
              <a:rPr lang="en-US" sz="1700" dirty="0"/>
            </a:br>
            <a:br>
              <a:rPr lang="en-US" sz="1700" dirty="0"/>
            </a:br>
            <a:r>
              <a:rPr lang="en-US" sz="1700" dirty="0"/>
              <a:t>based on slides by Svetlana </a:t>
            </a:r>
            <a:r>
              <a:rPr lang="en-US" sz="1700" dirty="0" err="1"/>
              <a:t>Lazepnik</a:t>
            </a:r>
            <a:r>
              <a:rPr lang="en-US" sz="1700" dirty="0"/>
              <a:t> with figures and cover art from the AIMA textbook. 	</a:t>
            </a:r>
          </a:p>
          <a:p>
            <a:pPr algn="l"/>
            <a:endParaRPr lang="en-US" sz="1700" dirty="0"/>
          </a:p>
        </p:txBody>
      </p:sp>
      <p:sp>
        <p:nvSpPr>
          <p:cNvPr id="2059" name="Rectangle 205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551EF9FF-12FF-4F03-4D90-E4991E9CABBE}"/>
              </a:ext>
              <a:ext uri="{C183D7F6-B498-43B3-948B-1728B52AA6E4}">
                <adec:decorative xmlns:adec="http://schemas.microsoft.com/office/drawing/2017/decorative" val="1"/>
              </a:ext>
            </a:extLst>
          </p:cNvPr>
          <p:cNvGrpSpPr/>
          <p:nvPr/>
        </p:nvGrpSpPr>
        <p:grpSpPr>
          <a:xfrm>
            <a:off x="7171961" y="4716889"/>
            <a:ext cx="1676400" cy="1981200"/>
            <a:chOff x="7162800" y="4191000"/>
            <a:chExt cx="1676400" cy="1981200"/>
          </a:xfrm>
        </p:grpSpPr>
        <p:sp>
          <p:nvSpPr>
            <p:cNvPr id="15" name="Rectangle 14">
              <a:extLst>
                <a:ext uri="{FF2B5EF4-FFF2-40B4-BE49-F238E27FC236}">
                  <a16:creationId xmlns:a16="http://schemas.microsoft.com/office/drawing/2014/main" id="{B3C65A4B-B0A0-AF04-CE85-7D210DDDC3E8}"/>
                </a:ext>
              </a:extLst>
            </p:cNvPr>
            <p:cNvSpPr/>
            <p:nvPr/>
          </p:nvSpPr>
          <p:spPr>
            <a:xfrm>
              <a:off x="7162800" y="4191000"/>
              <a:ext cx="1676400" cy="1981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qr code with black dots&#10;&#10;Description automatically generated">
              <a:extLst>
                <a:ext uri="{FF2B5EF4-FFF2-40B4-BE49-F238E27FC236}">
                  <a16:creationId xmlns:a16="http://schemas.microsoft.com/office/drawing/2014/main" id="{475F2505-5B89-1F3A-7D7E-9847C40AAC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0900" y="4212771"/>
              <a:ext cx="1600200" cy="1600200"/>
            </a:xfrm>
            <a:prstGeom prst="rect">
              <a:avLst/>
            </a:prstGeom>
          </p:spPr>
        </p:pic>
        <p:sp>
          <p:nvSpPr>
            <p:cNvPr id="17" name="Rectangle 16">
              <a:extLst>
                <a:ext uri="{FF2B5EF4-FFF2-40B4-BE49-F238E27FC236}">
                  <a16:creationId xmlns:a16="http://schemas.microsoft.com/office/drawing/2014/main" id="{043842AC-2A2D-8FD0-3DA1-764F6B0C3100}"/>
                </a:ext>
              </a:extLst>
            </p:cNvPr>
            <p:cNvSpPr/>
            <p:nvPr/>
          </p:nvSpPr>
          <p:spPr>
            <a:xfrm>
              <a:off x="7162800" y="5812971"/>
              <a:ext cx="1676400" cy="3592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Online Material</a:t>
              </a:r>
            </a:p>
          </p:txBody>
        </p:sp>
      </p:grpSp>
      <p:grpSp>
        <p:nvGrpSpPr>
          <p:cNvPr id="7" name="Group 6">
            <a:extLst>
              <a:ext uri="{FF2B5EF4-FFF2-40B4-BE49-F238E27FC236}">
                <a16:creationId xmlns:a16="http://schemas.microsoft.com/office/drawing/2014/main" id="{697F41E1-EF35-BB71-C3A6-254FBB3F55A4}"/>
              </a:ext>
            </a:extLst>
          </p:cNvPr>
          <p:cNvGrpSpPr/>
          <p:nvPr/>
        </p:nvGrpSpPr>
        <p:grpSpPr>
          <a:xfrm>
            <a:off x="480501" y="6300760"/>
            <a:ext cx="3943959" cy="430887"/>
            <a:chOff x="480501" y="6300760"/>
            <a:chExt cx="3943959" cy="430887"/>
          </a:xfrm>
        </p:grpSpPr>
        <p:sp>
          <p:nvSpPr>
            <p:cNvPr id="4" name="TextBox 3">
              <a:extLst>
                <a:ext uri="{FF2B5EF4-FFF2-40B4-BE49-F238E27FC236}">
                  <a16:creationId xmlns:a16="http://schemas.microsoft.com/office/drawing/2014/main" id="{C8BFCEB4-C6F2-6930-B1FE-B464C25B686C}"/>
                </a:ext>
              </a:extLst>
            </p:cNvPr>
            <p:cNvSpPr txBox="1"/>
            <p:nvPr/>
          </p:nvSpPr>
          <p:spPr>
            <a:xfrm>
              <a:off x="1406939" y="6300760"/>
              <a:ext cx="3017521" cy="430887"/>
            </a:xfrm>
            <a:prstGeom prst="rect">
              <a:avLst/>
            </a:prstGeom>
            <a:noFill/>
          </p:spPr>
          <p:txBody>
            <a:bodyPr wrap="square">
              <a:spAutoFit/>
            </a:bodyPr>
            <a:lstStyle/>
            <a:p>
              <a:r>
                <a:rPr lang="en-US" sz="1100" b="0" i="0" dirty="0">
                  <a:effectLst/>
                  <a:latin typeface="Calibri" panose="020F0502020204030204" pitchFamily="34" charset="0"/>
                </a:rPr>
                <a:t>This work is licensed under a </a:t>
              </a:r>
              <a:r>
                <a:rPr lang="en-US" sz="1100" b="0" i="0" strike="noStrike" dirty="0">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effectLst/>
                  <a:latin typeface="Calibri" panose="020F0502020204030204" pitchFamily="34" charset="0"/>
                </a:rPr>
                <a:t>.</a:t>
              </a:r>
              <a:endParaRPr lang="en-US" sz="1100" dirty="0"/>
            </a:p>
          </p:txBody>
        </p:sp>
        <p:pic>
          <p:nvPicPr>
            <p:cNvPr id="6" name="Picture 2">
              <a:extLst>
                <a:ext uri="{FF2B5EF4-FFF2-40B4-BE49-F238E27FC236}">
                  <a16:creationId xmlns:a16="http://schemas.microsoft.com/office/drawing/2014/main" id="{020FF2B0-631E-9B7E-EF09-A5E46D7A571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0501" y="6359732"/>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A828D4B-3260-9801-5A60-3E0616CCB243}"/>
              </a:ext>
            </a:extLst>
          </p:cNvPr>
          <p:cNvSpPr>
            <a:spLocks noGrp="1"/>
          </p:cNvSpPr>
          <p:nvPr>
            <p:ph type="title"/>
          </p:nvPr>
        </p:nvSpPr>
        <p:spPr/>
        <p:txBody>
          <a:bodyPr/>
          <a:lstStyle/>
          <a:p>
            <a:r>
              <a:rPr lang="en-US" dirty="0"/>
              <a:t>Agenda</a:t>
            </a:r>
          </a:p>
        </p:txBody>
      </p:sp>
      <p:graphicFrame>
        <p:nvGraphicFramePr>
          <p:cNvPr id="4" name="Content Placeholder 3" descr="This lecture is about:&#10;What is AI?&#10;The history of AI.&#10;AI today.&#10;And finally, about Ethics and Safety.">
            <a:extLst>
              <a:ext uri="{FF2B5EF4-FFF2-40B4-BE49-F238E27FC236}">
                <a16:creationId xmlns:a16="http://schemas.microsoft.com/office/drawing/2014/main" id="{AAEAB6F2-DD79-4218-9B7D-697B6DFFFAF5}"/>
              </a:ext>
            </a:extLst>
          </p:cNvPr>
          <p:cNvGraphicFramePr>
            <a:graphicFrameLocks noGrp="1"/>
          </p:cNvGraphicFramePr>
          <p:nvPr>
            <p:ph idx="1"/>
            <p:extLst>
              <p:ext uri="{D42A27DB-BD31-4B8C-83A1-F6EECF244321}">
                <p14:modId xmlns:p14="http://schemas.microsoft.com/office/powerpoint/2010/main" val="4152365874"/>
              </p:ext>
            </p:extLst>
          </p:nvPr>
        </p:nvGraphicFramePr>
        <p:xfrm>
          <a:off x="630959" y="1027909"/>
          <a:ext cx="7886700" cy="3813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Rounded Corners 5">
            <a:extLst>
              <a:ext uri="{FF2B5EF4-FFF2-40B4-BE49-F238E27FC236}">
                <a16:creationId xmlns:a16="http://schemas.microsoft.com/office/drawing/2014/main" id="{1B851D21-EA66-742C-D0B7-14E6BAA7ACAF}"/>
              </a:ext>
            </a:extLst>
          </p:cNvPr>
          <p:cNvSpPr/>
          <p:nvPr/>
        </p:nvSpPr>
        <p:spPr>
          <a:xfrm>
            <a:off x="1866900" y="5181600"/>
            <a:ext cx="5410200" cy="83026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dirty="0"/>
              <a:t>AI Governance</a:t>
            </a:r>
          </a:p>
        </p:txBody>
      </p:sp>
    </p:spTree>
    <p:extLst>
      <p:ext uri="{BB962C8B-B14F-4D97-AF65-F5344CB8AC3E}">
        <p14:creationId xmlns:p14="http://schemas.microsoft.com/office/powerpoint/2010/main" val="3431697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776D29F-0A2C-4F75-8582-7C7DFCBD1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50" y="1174819"/>
            <a:ext cx="3181350" cy="2858363"/>
          </a:xfrm>
        </p:spPr>
        <p:txBody>
          <a:bodyPr vert="horz" lIns="91440" tIns="45720" rIns="91440" bIns="45720" rtlCol="0" anchor="b">
            <a:normAutofit/>
          </a:bodyPr>
          <a:lstStyle/>
          <a:p>
            <a:r>
              <a:rPr lang="en-US" sz="4000" dirty="0">
                <a:solidFill>
                  <a:schemeClr val="bg1"/>
                </a:solidFill>
              </a:rPr>
              <a:t>What is Artificial Intelligence?</a:t>
            </a:r>
          </a:p>
        </p:txBody>
      </p:sp>
      <p:pic>
        <p:nvPicPr>
          <p:cNvPr id="6" name="Picture 14">
            <a:extLst>
              <a:ext uri="{FF2B5EF4-FFF2-40B4-BE49-F238E27FC236}">
                <a16:creationId xmlns:a16="http://schemas.microsoft.com/office/drawing/2014/main" id="{A2AECC0A-2E6F-4723-9D06-ED7B1882F037}"/>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srcRect t="5643" r="2" b="597"/>
          <a:stretch/>
        </p:blipFill>
        <p:spPr bwMode="auto">
          <a:xfrm>
            <a:off x="4261757" y="1"/>
            <a:ext cx="4882243"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noFill/>
          <a:effectLst>
            <a:outerShdw blurRad="381000" dist="152400" dir="10800000" algn="r" rotWithShape="0">
              <a:prstClr val="black">
                <a:alpha val="10000"/>
              </a:prstClr>
            </a:outerShdw>
          </a:effectLst>
        </p:spPr>
      </p:pic>
      <p:sp>
        <p:nvSpPr>
          <p:cNvPr id="28" name="Freeform: Shape 27">
            <a:extLst>
              <a:ext uri="{FF2B5EF4-FFF2-40B4-BE49-F238E27FC236}">
                <a16:creationId xmlns:a16="http://schemas.microsoft.com/office/drawing/2014/main" id="{C4D41903-2C9D-4F9E-AA1F-6161F8A6F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23558" y="3100710"/>
            <a:ext cx="6857455" cy="65603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9E4574B5-C90E-412D-BAB0-B9F483290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23559" y="3100710"/>
            <a:ext cx="6857455" cy="65603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 Placeholder 4">
            <a:extLst>
              <a:ext uri="{FF2B5EF4-FFF2-40B4-BE49-F238E27FC236}">
                <a16:creationId xmlns:a16="http://schemas.microsoft.com/office/drawing/2014/main" id="{BFC4CE63-B8C6-4E6A-89D0-4B283116F5C9}"/>
              </a:ext>
              <a:ext uri="{C183D7F6-B498-43B3-948B-1728B52AA6E4}">
                <adec:decorative xmlns:adec="http://schemas.microsoft.com/office/drawing/2017/decorative" val="1"/>
              </a:ext>
            </a:extLst>
          </p:cNvPr>
          <p:cNvSpPr>
            <a:spLocks noGrp="1"/>
          </p:cNvSpPr>
          <p:nvPr>
            <p:ph type="body" idx="1"/>
          </p:nvPr>
        </p:nvSpPr>
        <p:spPr>
          <a:xfrm>
            <a:off x="4946368" y="6172200"/>
            <a:ext cx="4112860" cy="533400"/>
          </a:xfrm>
        </p:spPr>
        <p:txBody>
          <a:bodyPr vert="horz" lIns="91440" tIns="45720" rIns="91440" bIns="45720" rtlCol="0">
            <a:normAutofit/>
          </a:bodyPr>
          <a:lstStyle/>
          <a:p>
            <a:r>
              <a:rPr lang="en-US" sz="1600" b="1" dirty="0"/>
              <a:t>ASIMO</a:t>
            </a:r>
            <a:r>
              <a:rPr lang="en-US" sz="1600" dirty="0"/>
              <a:t> (</a:t>
            </a:r>
            <a:r>
              <a:rPr lang="en-US" sz="1600" b="1" dirty="0"/>
              <a:t>Advanced Step in Innovative Mobility</a:t>
            </a:r>
            <a:r>
              <a:rPr lang="en-US" sz="1600" dirty="0"/>
              <a:t>) is a </a:t>
            </a:r>
            <a:r>
              <a:rPr lang="en-US" sz="1600" dirty="0">
                <a:hlinkClick r:id="rId4" tooltip="Humanoid robot">
                  <a:extLst>
                    <a:ext uri="{A12FA001-AC4F-418D-AE19-62706E023703}">
                      <ahyp:hlinkClr xmlns:ahyp="http://schemas.microsoft.com/office/drawing/2018/hyperlinkcolor" val="tx"/>
                    </a:ext>
                  </a:extLst>
                </a:hlinkClick>
              </a:rPr>
              <a:t>humanoid robot</a:t>
            </a:r>
            <a:r>
              <a:rPr lang="en-US" sz="1600" dirty="0"/>
              <a:t> created by </a:t>
            </a:r>
            <a:r>
              <a:rPr lang="en-US" sz="1600" dirty="0">
                <a:hlinkClick r:id="rId5" tooltip="Honda">
                  <a:extLst>
                    <a:ext uri="{A12FA001-AC4F-418D-AE19-62706E023703}">
                      <ahyp:hlinkClr xmlns:ahyp="http://schemas.microsoft.com/office/drawing/2018/hyperlinkcolor" val="tx"/>
                    </a:ext>
                  </a:extLst>
                </a:hlinkClick>
              </a:rPr>
              <a:t>Honda</a:t>
            </a:r>
            <a:r>
              <a:rPr lang="en-US" sz="1600" dirty="0"/>
              <a:t> in 2000</a:t>
            </a:r>
          </a:p>
        </p:txBody>
      </p:sp>
    </p:spTree>
    <p:extLst>
      <p:ext uri="{BB962C8B-B14F-4D97-AF65-F5344CB8AC3E}">
        <p14:creationId xmlns:p14="http://schemas.microsoft.com/office/powerpoint/2010/main" val="246462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9F5520-F1C7-7BEF-2A38-5FE16E2622A3}"/>
              </a:ext>
            </a:extLst>
          </p:cNvPr>
          <p:cNvSpPr>
            <a:spLocks noGrp="1"/>
          </p:cNvSpPr>
          <p:nvPr>
            <p:ph type="title"/>
          </p:nvPr>
        </p:nvSpPr>
        <p:spPr/>
        <p:txBody>
          <a:bodyPr/>
          <a:lstStyle/>
          <a:p>
            <a:r>
              <a:rPr lang="en-US" dirty="0"/>
              <a:t>What is Intelligence?</a:t>
            </a:r>
          </a:p>
        </p:txBody>
      </p:sp>
      <p:sp>
        <p:nvSpPr>
          <p:cNvPr id="10" name="TextBox 9">
            <a:extLst>
              <a:ext uri="{FF2B5EF4-FFF2-40B4-BE49-F238E27FC236}">
                <a16:creationId xmlns:a16="http://schemas.microsoft.com/office/drawing/2014/main" id="{A6FC4B74-FC62-8C45-ECE7-5CA0F20A2975}"/>
              </a:ext>
            </a:extLst>
          </p:cNvPr>
          <p:cNvSpPr txBox="1"/>
          <p:nvPr/>
        </p:nvSpPr>
        <p:spPr>
          <a:xfrm>
            <a:off x="1219200" y="1447334"/>
            <a:ext cx="4572000" cy="369332"/>
          </a:xfrm>
          <a:prstGeom prst="rect">
            <a:avLst/>
          </a:prstGeom>
          <a:noFill/>
        </p:spPr>
        <p:txBody>
          <a:bodyPr wrap="square">
            <a:spAutoFit/>
          </a:bodyPr>
          <a:lstStyle/>
          <a:p>
            <a:pPr marL="0" indent="0" algn="l" fontAlgn="base">
              <a:buNone/>
            </a:pPr>
            <a:r>
              <a:rPr lang="en-US" b="1" i="0" dirty="0">
                <a:solidFill>
                  <a:srgbClr val="303336"/>
                </a:solidFill>
                <a:effectLst/>
                <a:latin typeface="Calibri" panose="020F0502020204030204" pitchFamily="34" charset="0"/>
              </a:rPr>
              <a:t>Definition from Merriam-Webster</a:t>
            </a:r>
          </a:p>
        </p:txBody>
      </p:sp>
      <p:pic>
        <p:nvPicPr>
          <p:cNvPr id="8" name="Picture 7" descr="intelligence&#10;noun&#10;&#10;(1) the ability to learn or understand or to deal with new or trying situations.&#10;&#10;(2) the ability to apply knowledge to manipulate one's environment or to think abstractly as measured by objective criteria (such as tests)">
            <a:extLst>
              <a:ext uri="{FF2B5EF4-FFF2-40B4-BE49-F238E27FC236}">
                <a16:creationId xmlns:a16="http://schemas.microsoft.com/office/drawing/2014/main" id="{FC3200B7-C58D-5107-3512-3BA9A0266F72}"/>
              </a:ext>
            </a:extLst>
          </p:cNvPr>
          <p:cNvPicPr>
            <a:picLocks noChangeAspect="1"/>
          </p:cNvPicPr>
          <p:nvPr/>
        </p:nvPicPr>
        <p:blipFill>
          <a:blip r:embed="rId2"/>
          <a:stretch>
            <a:fillRect/>
          </a:stretch>
        </p:blipFill>
        <p:spPr>
          <a:xfrm>
            <a:off x="1295400" y="1942640"/>
            <a:ext cx="6553200" cy="4261826"/>
          </a:xfrm>
          <a:prstGeom prst="rect">
            <a:avLst/>
          </a:prstGeom>
          <a:ln>
            <a:noFill/>
          </a:ln>
          <a:effectLst>
            <a:outerShdw blurRad="292100" dist="139700" dir="2700000" algn="tl" rotWithShape="0">
              <a:srgbClr val="333333">
                <a:alpha val="65000"/>
              </a:srgbClr>
            </a:outerShdw>
          </a:effectLst>
        </p:spPr>
        <p:style>
          <a:lnRef idx="2">
            <a:schemeClr val="dk1"/>
          </a:lnRef>
          <a:fillRef idx="1">
            <a:schemeClr val="lt1"/>
          </a:fillRef>
          <a:effectRef idx="0">
            <a:schemeClr val="dk1"/>
          </a:effectRef>
          <a:fontRef idx="minor">
            <a:schemeClr val="dk1"/>
          </a:fontRef>
        </p:style>
      </p:pic>
      <p:sp>
        <p:nvSpPr>
          <p:cNvPr id="27" name="Rectangle 26">
            <a:extLst>
              <a:ext uri="{FF2B5EF4-FFF2-40B4-BE49-F238E27FC236}">
                <a16:creationId xmlns:a16="http://schemas.microsoft.com/office/drawing/2014/main" id="{AF464993-6C69-1AE7-F69F-8CA71A71D8C3}"/>
              </a:ext>
              <a:ext uri="{C183D7F6-B498-43B3-948B-1728B52AA6E4}">
                <adec:decorative xmlns:adec="http://schemas.microsoft.com/office/drawing/2017/decorative" val="1"/>
              </a:ext>
            </a:extLst>
          </p:cNvPr>
          <p:cNvSpPr/>
          <p:nvPr/>
        </p:nvSpPr>
        <p:spPr>
          <a:xfrm>
            <a:off x="1485900" y="3276600"/>
            <a:ext cx="6172200" cy="129540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3102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The Goal of AI</a:t>
            </a:r>
          </a:p>
        </p:txBody>
      </p:sp>
      <p:graphicFrame>
        <p:nvGraphicFramePr>
          <p:cNvPr id="6" name="Content Placeholder 5" descr="think like a human, act like a human, think rationally, or act rationaly?">
            <a:extLst>
              <a:ext uri="{FF2B5EF4-FFF2-40B4-BE49-F238E27FC236}">
                <a16:creationId xmlns:a16="http://schemas.microsoft.com/office/drawing/2014/main" id="{866B7DF7-FCCC-4D51-B98D-02AC3932B9FA}"/>
              </a:ext>
            </a:extLst>
          </p:cNvPr>
          <p:cNvGraphicFramePr>
            <a:graphicFrameLocks noGrp="1"/>
          </p:cNvGraphicFramePr>
          <p:nvPr>
            <p:ph idx="1"/>
            <p:extLst>
              <p:ext uri="{D42A27DB-BD31-4B8C-83A1-F6EECF244321}">
                <p14:modId xmlns:p14="http://schemas.microsoft.com/office/powerpoint/2010/main" val="3036749943"/>
              </p:ext>
            </p:extLst>
          </p:nvPr>
        </p:nvGraphicFramePr>
        <p:xfrm>
          <a:off x="1190625" y="5129189"/>
          <a:ext cx="6762750" cy="1659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0DC40672-1DAD-B7B0-8166-7B453ED540AE}"/>
              </a:ext>
            </a:extLst>
          </p:cNvPr>
          <p:cNvSpPr txBox="1"/>
          <p:nvPr/>
        </p:nvSpPr>
        <p:spPr>
          <a:xfrm>
            <a:off x="581025" y="1397000"/>
            <a:ext cx="7981950" cy="1015663"/>
          </a:xfrm>
          <a:prstGeom prst="rect">
            <a:avLst/>
          </a:prstGeom>
          <a:noFill/>
        </p:spPr>
        <p:txBody>
          <a:bodyPr wrap="square">
            <a:spAutoFit/>
          </a:bodyPr>
          <a:lstStyle/>
          <a:p>
            <a:pPr algn="ctr"/>
            <a:r>
              <a:rPr lang="en-US" sz="2000" b="1" dirty="0"/>
              <a:t>“Have machines solve problems that are challenging for humans.”</a:t>
            </a:r>
            <a:endParaRPr lang="en-US" sz="2000" dirty="0"/>
          </a:p>
          <a:p>
            <a:pPr algn="ctr"/>
            <a:r>
              <a:rPr lang="en-US" sz="2000" dirty="0"/>
              <a:t>We call such a machine an</a:t>
            </a:r>
            <a:r>
              <a:rPr lang="en-US" sz="2000" b="1" dirty="0"/>
              <a:t> intelligent agent.</a:t>
            </a:r>
          </a:p>
          <a:p>
            <a:pPr algn="ctr"/>
            <a:r>
              <a:rPr lang="en-US" sz="2000" dirty="0"/>
              <a:t>			</a:t>
            </a:r>
            <a:endParaRPr lang="en-US" sz="2000" dirty="0">
              <a:solidFill>
                <a:schemeClr val="bg1">
                  <a:lumMod val="65000"/>
                </a:schemeClr>
              </a:solidFill>
            </a:endParaRPr>
          </a:p>
        </p:txBody>
      </p:sp>
      <p:grpSp>
        <p:nvGrpSpPr>
          <p:cNvPr id="16" name="Group 15">
            <a:extLst>
              <a:ext uri="{FF2B5EF4-FFF2-40B4-BE49-F238E27FC236}">
                <a16:creationId xmlns:a16="http://schemas.microsoft.com/office/drawing/2014/main" id="{00C2F1A9-34A7-1D31-1169-51AFB74AC531}"/>
              </a:ext>
            </a:extLst>
          </p:cNvPr>
          <p:cNvGrpSpPr/>
          <p:nvPr/>
        </p:nvGrpSpPr>
        <p:grpSpPr>
          <a:xfrm>
            <a:off x="628827" y="2347014"/>
            <a:ext cx="2197810" cy="2678673"/>
            <a:chOff x="628827" y="2347014"/>
            <a:chExt cx="2197810" cy="2678673"/>
          </a:xfrm>
        </p:grpSpPr>
        <p:sp>
          <p:nvSpPr>
            <p:cNvPr id="8" name="Freeform: Shape 7">
              <a:extLst>
                <a:ext uri="{FF2B5EF4-FFF2-40B4-BE49-F238E27FC236}">
                  <a16:creationId xmlns:a16="http://schemas.microsoft.com/office/drawing/2014/main" id="{6348F3CA-149F-6CFD-3498-20CECAA62EA2}"/>
                </a:ext>
              </a:extLst>
            </p:cNvPr>
            <p:cNvSpPr/>
            <p:nvPr/>
          </p:nvSpPr>
          <p:spPr>
            <a:xfrm>
              <a:off x="628827" y="2347014"/>
              <a:ext cx="1824182" cy="931994"/>
            </a:xfrm>
            <a:custGeom>
              <a:avLst/>
              <a:gdLst>
                <a:gd name="connsiteX0" fmla="*/ 0 w 1824182"/>
                <a:gd name="connsiteY0" fmla="*/ 93199 h 931994"/>
                <a:gd name="connsiteX1" fmla="*/ 93199 w 1824182"/>
                <a:gd name="connsiteY1" fmla="*/ 0 h 931994"/>
                <a:gd name="connsiteX2" fmla="*/ 1730983 w 1824182"/>
                <a:gd name="connsiteY2" fmla="*/ 0 h 931994"/>
                <a:gd name="connsiteX3" fmla="*/ 1824182 w 1824182"/>
                <a:gd name="connsiteY3" fmla="*/ 93199 h 931994"/>
                <a:gd name="connsiteX4" fmla="*/ 1824182 w 1824182"/>
                <a:gd name="connsiteY4" fmla="*/ 838795 h 931994"/>
                <a:gd name="connsiteX5" fmla="*/ 1730983 w 1824182"/>
                <a:gd name="connsiteY5" fmla="*/ 931994 h 931994"/>
                <a:gd name="connsiteX6" fmla="*/ 93199 w 1824182"/>
                <a:gd name="connsiteY6" fmla="*/ 931994 h 931994"/>
                <a:gd name="connsiteX7" fmla="*/ 0 w 1824182"/>
                <a:gd name="connsiteY7" fmla="*/ 838795 h 931994"/>
                <a:gd name="connsiteX8" fmla="*/ 0 w 1824182"/>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931994">
                  <a:moveTo>
                    <a:pt x="0" y="93199"/>
                  </a:moveTo>
                  <a:cubicBezTo>
                    <a:pt x="0" y="41727"/>
                    <a:pt x="41727" y="0"/>
                    <a:pt x="93199" y="0"/>
                  </a:cubicBezTo>
                  <a:lnTo>
                    <a:pt x="1730983" y="0"/>
                  </a:lnTo>
                  <a:cubicBezTo>
                    <a:pt x="1782455" y="0"/>
                    <a:pt x="1824182" y="41727"/>
                    <a:pt x="1824182" y="93199"/>
                  </a:cubicBezTo>
                  <a:lnTo>
                    <a:pt x="1824182" y="838795"/>
                  </a:lnTo>
                  <a:cubicBezTo>
                    <a:pt x="1824182" y="890267"/>
                    <a:pt x="1782455" y="931994"/>
                    <a:pt x="1730983"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142240" rIns="142240" bIns="386865" numCol="1" spcCol="1270" anchor="t"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1" kern="1200" dirty="0"/>
                <a:t>Narrow AI</a:t>
              </a:r>
              <a:endParaRPr lang="en-US" sz="2000" kern="1200" dirty="0"/>
            </a:p>
          </p:txBody>
        </p:sp>
        <p:sp>
          <p:nvSpPr>
            <p:cNvPr id="9" name="Freeform: Shape 8">
              <a:extLst>
                <a:ext uri="{FF2B5EF4-FFF2-40B4-BE49-F238E27FC236}">
                  <a16:creationId xmlns:a16="http://schemas.microsoft.com/office/drawing/2014/main" id="{3CCB6166-4E89-4721-691A-32D5FA5157D4}"/>
                </a:ext>
              </a:extLst>
            </p:cNvPr>
            <p:cNvSpPr/>
            <p:nvPr/>
          </p:nvSpPr>
          <p:spPr>
            <a:xfrm>
              <a:off x="1002455"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An intelligent agent that can solve a specific problem. </a:t>
              </a:r>
              <a:br>
                <a:rPr lang="en-US" sz="1400" dirty="0"/>
              </a:br>
              <a:br>
                <a:rPr lang="en-US" sz="1400" dirty="0"/>
              </a:br>
              <a:r>
                <a:rPr lang="en-US" sz="1400" kern="1200" dirty="0"/>
                <a:t>E.g., drive a car or play chess.</a:t>
              </a:r>
            </a:p>
          </p:txBody>
        </p:sp>
      </p:grpSp>
      <p:grpSp>
        <p:nvGrpSpPr>
          <p:cNvPr id="17" name="Group 16">
            <a:extLst>
              <a:ext uri="{FF2B5EF4-FFF2-40B4-BE49-F238E27FC236}">
                <a16:creationId xmlns:a16="http://schemas.microsoft.com/office/drawing/2014/main" id="{AAD8371C-1238-A7CA-BB7F-9342422324DE}"/>
              </a:ext>
            </a:extLst>
          </p:cNvPr>
          <p:cNvGrpSpPr/>
          <p:nvPr/>
        </p:nvGrpSpPr>
        <p:grpSpPr>
          <a:xfrm>
            <a:off x="2729549" y="2347014"/>
            <a:ext cx="3027428" cy="2678673"/>
            <a:chOff x="2729549" y="2347014"/>
            <a:chExt cx="3027428" cy="2678673"/>
          </a:xfrm>
        </p:grpSpPr>
        <p:sp>
          <p:nvSpPr>
            <p:cNvPr id="10" name="Freeform: Shape 9">
              <a:extLst>
                <a:ext uri="{FF2B5EF4-FFF2-40B4-BE49-F238E27FC236}">
                  <a16:creationId xmlns:a16="http://schemas.microsoft.com/office/drawing/2014/main" id="{A5CB96B0-E6B1-BEEE-9A6B-94C84BDD3E3C}"/>
                </a:ext>
              </a:extLst>
            </p:cNvPr>
            <p:cNvSpPr/>
            <p:nvPr/>
          </p:nvSpPr>
          <p:spPr>
            <a:xfrm>
              <a:off x="2729549" y="2430595"/>
              <a:ext cx="586263" cy="454168"/>
            </a:xfrm>
            <a:custGeom>
              <a:avLst/>
              <a:gdLst>
                <a:gd name="connsiteX0" fmla="*/ 0 w 586263"/>
                <a:gd name="connsiteY0" fmla="*/ 90834 h 454168"/>
                <a:gd name="connsiteX1" fmla="*/ 359179 w 586263"/>
                <a:gd name="connsiteY1" fmla="*/ 90834 h 454168"/>
                <a:gd name="connsiteX2" fmla="*/ 359179 w 586263"/>
                <a:gd name="connsiteY2" fmla="*/ 0 h 454168"/>
                <a:gd name="connsiteX3" fmla="*/ 586263 w 586263"/>
                <a:gd name="connsiteY3" fmla="*/ 227084 h 454168"/>
                <a:gd name="connsiteX4" fmla="*/ 359179 w 586263"/>
                <a:gd name="connsiteY4" fmla="*/ 454168 h 454168"/>
                <a:gd name="connsiteX5" fmla="*/ 359179 w 586263"/>
                <a:gd name="connsiteY5" fmla="*/ 363334 h 454168"/>
                <a:gd name="connsiteX6" fmla="*/ 0 w 586263"/>
                <a:gd name="connsiteY6" fmla="*/ 363334 h 454168"/>
                <a:gd name="connsiteX7" fmla="*/ 0 w 586263"/>
                <a:gd name="connsiteY7" fmla="*/ 90834 h 4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263" h="454168">
                  <a:moveTo>
                    <a:pt x="0" y="90834"/>
                  </a:moveTo>
                  <a:lnTo>
                    <a:pt x="359179" y="90834"/>
                  </a:lnTo>
                  <a:lnTo>
                    <a:pt x="359179" y="0"/>
                  </a:lnTo>
                  <a:lnTo>
                    <a:pt x="586263" y="227084"/>
                  </a:lnTo>
                  <a:lnTo>
                    <a:pt x="359179" y="454168"/>
                  </a:lnTo>
                  <a:lnTo>
                    <a:pt x="359179" y="363334"/>
                  </a:lnTo>
                  <a:lnTo>
                    <a:pt x="0" y="363334"/>
                  </a:lnTo>
                  <a:lnTo>
                    <a:pt x="0" y="90834"/>
                  </a:lnTo>
                  <a:close/>
                </a:path>
              </a:pathLst>
            </a:custGeom>
          </p:spPr>
          <p:style>
            <a:lnRef idx="3">
              <a:schemeClr val="lt1"/>
            </a:lnRef>
            <a:fillRef idx="1">
              <a:schemeClr val="accent3"/>
            </a:fillRef>
            <a:effectRef idx="1">
              <a:schemeClr val="accent3"/>
            </a:effectRef>
            <a:fontRef idx="minor">
              <a:schemeClr val="lt1"/>
            </a:fontRef>
          </p:style>
          <p:txBody>
            <a:bodyPr spcFirstLastPara="0" vert="horz" wrap="square" lIns="0" tIns="90834" rIns="136250" bIns="90834" numCol="1" spcCol="1270" anchor="ctr" anchorCtr="0">
              <a:noAutofit/>
            </a:bodyPr>
            <a:lstStyle/>
            <a:p>
              <a:pPr marL="0" lvl="0" indent="0" algn="ctr" defTabSz="666750">
                <a:lnSpc>
                  <a:spcPct val="90000"/>
                </a:lnSpc>
                <a:spcBef>
                  <a:spcPct val="0"/>
                </a:spcBef>
                <a:spcAft>
                  <a:spcPct val="35000"/>
                </a:spcAft>
                <a:buNone/>
              </a:pPr>
              <a:endParaRPr lang="en-US" sz="1500" kern="1200"/>
            </a:p>
          </p:txBody>
        </p:sp>
        <p:sp>
          <p:nvSpPr>
            <p:cNvPr id="11" name="Freeform: Shape 10">
              <a:extLst>
                <a:ext uri="{FF2B5EF4-FFF2-40B4-BE49-F238E27FC236}">
                  <a16:creationId xmlns:a16="http://schemas.microsoft.com/office/drawing/2014/main" id="{9718E5CA-3931-A07F-3FA7-59F926206C93}"/>
                </a:ext>
              </a:extLst>
            </p:cNvPr>
            <p:cNvSpPr/>
            <p:nvPr/>
          </p:nvSpPr>
          <p:spPr>
            <a:xfrm>
              <a:off x="3559168" y="2347014"/>
              <a:ext cx="1824182" cy="931994"/>
            </a:xfrm>
            <a:custGeom>
              <a:avLst/>
              <a:gdLst>
                <a:gd name="connsiteX0" fmla="*/ 0 w 1824182"/>
                <a:gd name="connsiteY0" fmla="*/ 93199 h 931994"/>
                <a:gd name="connsiteX1" fmla="*/ 93199 w 1824182"/>
                <a:gd name="connsiteY1" fmla="*/ 0 h 931994"/>
                <a:gd name="connsiteX2" fmla="*/ 1730983 w 1824182"/>
                <a:gd name="connsiteY2" fmla="*/ 0 h 931994"/>
                <a:gd name="connsiteX3" fmla="*/ 1824182 w 1824182"/>
                <a:gd name="connsiteY3" fmla="*/ 93199 h 931994"/>
                <a:gd name="connsiteX4" fmla="*/ 1824182 w 1824182"/>
                <a:gd name="connsiteY4" fmla="*/ 838795 h 931994"/>
                <a:gd name="connsiteX5" fmla="*/ 1730983 w 1824182"/>
                <a:gd name="connsiteY5" fmla="*/ 931994 h 931994"/>
                <a:gd name="connsiteX6" fmla="*/ 93199 w 1824182"/>
                <a:gd name="connsiteY6" fmla="*/ 931994 h 931994"/>
                <a:gd name="connsiteX7" fmla="*/ 0 w 1824182"/>
                <a:gd name="connsiteY7" fmla="*/ 838795 h 931994"/>
                <a:gd name="connsiteX8" fmla="*/ 0 w 1824182"/>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931994">
                  <a:moveTo>
                    <a:pt x="0" y="93199"/>
                  </a:moveTo>
                  <a:cubicBezTo>
                    <a:pt x="0" y="41727"/>
                    <a:pt x="41727" y="0"/>
                    <a:pt x="93199" y="0"/>
                  </a:cubicBezTo>
                  <a:lnTo>
                    <a:pt x="1730983" y="0"/>
                  </a:lnTo>
                  <a:cubicBezTo>
                    <a:pt x="1782455" y="0"/>
                    <a:pt x="1824182" y="41727"/>
                    <a:pt x="1824182" y="93199"/>
                  </a:cubicBezTo>
                  <a:lnTo>
                    <a:pt x="1824182" y="838795"/>
                  </a:lnTo>
                  <a:cubicBezTo>
                    <a:pt x="1824182" y="890267"/>
                    <a:pt x="1782455" y="931994"/>
                    <a:pt x="1730983"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13792" tIns="113792" rIns="113792" bIns="371625" numCol="1" spcCol="1270" anchor="t" anchorCtr="0">
              <a:noAutofit/>
            </a:bodyPr>
            <a:lstStyle/>
            <a:p>
              <a:pPr marL="0" lvl="0" indent="0" algn="l" defTabSz="711200">
                <a:lnSpc>
                  <a:spcPct val="90000"/>
                </a:lnSpc>
                <a:spcBef>
                  <a:spcPct val="0"/>
                </a:spcBef>
                <a:spcAft>
                  <a:spcPct val="35000"/>
                </a:spcAft>
                <a:buNone/>
              </a:pPr>
              <a:r>
                <a:rPr lang="en-US" sz="1600" b="1" kern="1200" dirty="0"/>
                <a:t>Artificial General Intelligence (AGI)</a:t>
              </a:r>
              <a:endParaRPr lang="en-US" sz="1400" kern="1200" dirty="0"/>
            </a:p>
          </p:txBody>
        </p:sp>
        <p:sp>
          <p:nvSpPr>
            <p:cNvPr id="12" name="Freeform: Shape 11">
              <a:extLst>
                <a:ext uri="{FF2B5EF4-FFF2-40B4-BE49-F238E27FC236}">
                  <a16:creationId xmlns:a16="http://schemas.microsoft.com/office/drawing/2014/main" id="{A45E00BE-7750-52A7-7E40-D67D819FE037}"/>
                </a:ext>
              </a:extLst>
            </p:cNvPr>
            <p:cNvSpPr/>
            <p:nvPr/>
          </p:nvSpPr>
          <p:spPr>
            <a:xfrm>
              <a:off x="3932795"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 hypothetical intelligent agent which can understand or learn any intellectual task that human beings can. </a:t>
              </a:r>
              <a:r>
                <a:rPr lang="en-US" sz="1200" kern="1200" dirty="0">
                  <a:solidFill>
                    <a:schemeClr val="bg1">
                      <a:lumMod val="65000"/>
                    </a:schemeClr>
                  </a:solidFill>
                  <a:latin typeface="+mn-lt"/>
                  <a:ea typeface="+mn-ea"/>
                  <a:cs typeface="+mn-cs"/>
                </a:rPr>
                <a:t>[Wikipedia: AGI]</a:t>
              </a:r>
              <a:endParaRPr lang="en-US" sz="1400" kern="1200" dirty="0"/>
            </a:p>
          </p:txBody>
        </p:sp>
      </p:grpSp>
      <p:grpSp>
        <p:nvGrpSpPr>
          <p:cNvPr id="18" name="Group 17">
            <a:extLst>
              <a:ext uri="{FF2B5EF4-FFF2-40B4-BE49-F238E27FC236}">
                <a16:creationId xmlns:a16="http://schemas.microsoft.com/office/drawing/2014/main" id="{E158F116-2D69-3A98-8BF4-E0BA1F4D255A}"/>
              </a:ext>
            </a:extLst>
          </p:cNvPr>
          <p:cNvGrpSpPr/>
          <p:nvPr/>
        </p:nvGrpSpPr>
        <p:grpSpPr>
          <a:xfrm>
            <a:off x="5659890" y="2347014"/>
            <a:ext cx="3064112" cy="2678673"/>
            <a:chOff x="5659890" y="2347014"/>
            <a:chExt cx="3064112" cy="2678673"/>
          </a:xfrm>
        </p:grpSpPr>
        <p:sp>
          <p:nvSpPr>
            <p:cNvPr id="13" name="Freeform: Shape 12">
              <a:extLst>
                <a:ext uri="{FF2B5EF4-FFF2-40B4-BE49-F238E27FC236}">
                  <a16:creationId xmlns:a16="http://schemas.microsoft.com/office/drawing/2014/main" id="{9E128CCC-B9CD-F58A-D202-F84221806E63}"/>
                </a:ext>
              </a:extLst>
            </p:cNvPr>
            <p:cNvSpPr/>
            <p:nvPr/>
          </p:nvSpPr>
          <p:spPr>
            <a:xfrm>
              <a:off x="5659890" y="2430595"/>
              <a:ext cx="586263" cy="454168"/>
            </a:xfrm>
            <a:custGeom>
              <a:avLst/>
              <a:gdLst>
                <a:gd name="connsiteX0" fmla="*/ 0 w 586263"/>
                <a:gd name="connsiteY0" fmla="*/ 90834 h 454168"/>
                <a:gd name="connsiteX1" fmla="*/ 359179 w 586263"/>
                <a:gd name="connsiteY1" fmla="*/ 90834 h 454168"/>
                <a:gd name="connsiteX2" fmla="*/ 359179 w 586263"/>
                <a:gd name="connsiteY2" fmla="*/ 0 h 454168"/>
                <a:gd name="connsiteX3" fmla="*/ 586263 w 586263"/>
                <a:gd name="connsiteY3" fmla="*/ 227084 h 454168"/>
                <a:gd name="connsiteX4" fmla="*/ 359179 w 586263"/>
                <a:gd name="connsiteY4" fmla="*/ 454168 h 454168"/>
                <a:gd name="connsiteX5" fmla="*/ 359179 w 586263"/>
                <a:gd name="connsiteY5" fmla="*/ 363334 h 454168"/>
                <a:gd name="connsiteX6" fmla="*/ 0 w 586263"/>
                <a:gd name="connsiteY6" fmla="*/ 363334 h 454168"/>
                <a:gd name="connsiteX7" fmla="*/ 0 w 586263"/>
                <a:gd name="connsiteY7" fmla="*/ 90834 h 45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263" h="454168">
                  <a:moveTo>
                    <a:pt x="0" y="90834"/>
                  </a:moveTo>
                  <a:lnTo>
                    <a:pt x="359179" y="90834"/>
                  </a:lnTo>
                  <a:lnTo>
                    <a:pt x="359179" y="0"/>
                  </a:lnTo>
                  <a:lnTo>
                    <a:pt x="586263" y="227084"/>
                  </a:lnTo>
                  <a:lnTo>
                    <a:pt x="359179" y="454168"/>
                  </a:lnTo>
                  <a:lnTo>
                    <a:pt x="359179" y="363334"/>
                  </a:lnTo>
                  <a:lnTo>
                    <a:pt x="0" y="363334"/>
                  </a:lnTo>
                  <a:lnTo>
                    <a:pt x="0" y="90834"/>
                  </a:lnTo>
                  <a:close/>
                </a:path>
              </a:pathLst>
            </a:custGeom>
          </p:spPr>
          <p:style>
            <a:lnRef idx="3">
              <a:schemeClr val="lt1"/>
            </a:lnRef>
            <a:fillRef idx="1">
              <a:schemeClr val="accent4"/>
            </a:fillRef>
            <a:effectRef idx="1">
              <a:schemeClr val="accent4"/>
            </a:effectRef>
            <a:fontRef idx="minor">
              <a:schemeClr val="lt1"/>
            </a:fontRef>
          </p:style>
          <p:txBody>
            <a:bodyPr spcFirstLastPara="0" vert="horz" wrap="square" lIns="0" tIns="90834" rIns="136250" bIns="90834" numCol="1" spcCol="1270" anchor="ctr" anchorCtr="0">
              <a:noAutofit/>
            </a:bodyPr>
            <a:lstStyle/>
            <a:p>
              <a:pPr marL="0" lvl="0" indent="0" algn="ctr" defTabSz="666750">
                <a:lnSpc>
                  <a:spcPct val="90000"/>
                </a:lnSpc>
                <a:spcBef>
                  <a:spcPct val="0"/>
                </a:spcBef>
                <a:spcAft>
                  <a:spcPct val="35000"/>
                </a:spcAft>
                <a:buNone/>
              </a:pPr>
              <a:endParaRPr lang="en-US" sz="1500" kern="1200"/>
            </a:p>
          </p:txBody>
        </p:sp>
        <p:sp>
          <p:nvSpPr>
            <p:cNvPr id="14" name="Freeform: Shape 13">
              <a:extLst>
                <a:ext uri="{FF2B5EF4-FFF2-40B4-BE49-F238E27FC236}">
                  <a16:creationId xmlns:a16="http://schemas.microsoft.com/office/drawing/2014/main" id="{2F9F7217-3140-FC99-D821-368825E3A7C3}"/>
                </a:ext>
              </a:extLst>
            </p:cNvPr>
            <p:cNvSpPr/>
            <p:nvPr/>
          </p:nvSpPr>
          <p:spPr>
            <a:xfrm>
              <a:off x="6489508" y="2347014"/>
              <a:ext cx="1897551" cy="931994"/>
            </a:xfrm>
            <a:custGeom>
              <a:avLst/>
              <a:gdLst>
                <a:gd name="connsiteX0" fmla="*/ 0 w 1897551"/>
                <a:gd name="connsiteY0" fmla="*/ 93199 h 931994"/>
                <a:gd name="connsiteX1" fmla="*/ 93199 w 1897551"/>
                <a:gd name="connsiteY1" fmla="*/ 0 h 931994"/>
                <a:gd name="connsiteX2" fmla="*/ 1804352 w 1897551"/>
                <a:gd name="connsiteY2" fmla="*/ 0 h 931994"/>
                <a:gd name="connsiteX3" fmla="*/ 1897551 w 1897551"/>
                <a:gd name="connsiteY3" fmla="*/ 93199 h 931994"/>
                <a:gd name="connsiteX4" fmla="*/ 1897551 w 1897551"/>
                <a:gd name="connsiteY4" fmla="*/ 838795 h 931994"/>
                <a:gd name="connsiteX5" fmla="*/ 1804352 w 1897551"/>
                <a:gd name="connsiteY5" fmla="*/ 931994 h 931994"/>
                <a:gd name="connsiteX6" fmla="*/ 93199 w 1897551"/>
                <a:gd name="connsiteY6" fmla="*/ 931994 h 931994"/>
                <a:gd name="connsiteX7" fmla="*/ 0 w 1897551"/>
                <a:gd name="connsiteY7" fmla="*/ 838795 h 931994"/>
                <a:gd name="connsiteX8" fmla="*/ 0 w 1897551"/>
                <a:gd name="connsiteY8" fmla="*/ 93199 h 9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7551" h="931994">
                  <a:moveTo>
                    <a:pt x="0" y="93199"/>
                  </a:moveTo>
                  <a:cubicBezTo>
                    <a:pt x="0" y="41727"/>
                    <a:pt x="41727" y="0"/>
                    <a:pt x="93199" y="0"/>
                  </a:cubicBezTo>
                  <a:lnTo>
                    <a:pt x="1804352" y="0"/>
                  </a:lnTo>
                  <a:cubicBezTo>
                    <a:pt x="1855824" y="0"/>
                    <a:pt x="1897551" y="41727"/>
                    <a:pt x="1897551" y="93199"/>
                  </a:cubicBezTo>
                  <a:lnTo>
                    <a:pt x="1897551" y="838795"/>
                  </a:lnTo>
                  <a:cubicBezTo>
                    <a:pt x="1897551" y="890267"/>
                    <a:pt x="1855824" y="931994"/>
                    <a:pt x="1804352" y="931994"/>
                  </a:cubicBezTo>
                  <a:lnTo>
                    <a:pt x="93199" y="931994"/>
                  </a:lnTo>
                  <a:cubicBezTo>
                    <a:pt x="41727" y="931994"/>
                    <a:pt x="0" y="890267"/>
                    <a:pt x="0" y="838795"/>
                  </a:cubicBezTo>
                  <a:lnTo>
                    <a:pt x="0" y="93199"/>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8016" tIns="128016" rIns="128016" bIns="379245" numCol="1" spcCol="1270" anchor="t" anchorCtr="0">
              <a:noAutofit/>
            </a:bodyPr>
            <a:lstStyle/>
            <a:p>
              <a:pPr marL="0" lvl="0" indent="0" algn="l" defTabSz="800100">
                <a:lnSpc>
                  <a:spcPct val="90000"/>
                </a:lnSpc>
                <a:spcBef>
                  <a:spcPct val="0"/>
                </a:spcBef>
                <a:spcAft>
                  <a:spcPct val="35000"/>
                </a:spcAft>
                <a:buNone/>
              </a:pPr>
              <a:r>
                <a:rPr lang="en-US" sz="1800" b="1" kern="1200" dirty="0"/>
                <a:t>Artificial Superintelligence</a:t>
              </a:r>
            </a:p>
          </p:txBody>
        </p:sp>
        <p:sp>
          <p:nvSpPr>
            <p:cNvPr id="15" name="Freeform: Shape 14">
              <a:extLst>
                <a:ext uri="{FF2B5EF4-FFF2-40B4-BE49-F238E27FC236}">
                  <a16:creationId xmlns:a16="http://schemas.microsoft.com/office/drawing/2014/main" id="{288709BC-C908-1338-738C-C993B5830966}"/>
                </a:ext>
              </a:extLst>
            </p:cNvPr>
            <p:cNvSpPr/>
            <p:nvPr/>
          </p:nvSpPr>
          <p:spPr>
            <a:xfrm>
              <a:off x="6899820" y="2968344"/>
              <a:ext cx="1824182" cy="2057343"/>
            </a:xfrm>
            <a:custGeom>
              <a:avLst/>
              <a:gdLst>
                <a:gd name="connsiteX0" fmla="*/ 0 w 1824182"/>
                <a:gd name="connsiteY0" fmla="*/ 182418 h 2057343"/>
                <a:gd name="connsiteX1" fmla="*/ 182418 w 1824182"/>
                <a:gd name="connsiteY1" fmla="*/ 0 h 2057343"/>
                <a:gd name="connsiteX2" fmla="*/ 1641764 w 1824182"/>
                <a:gd name="connsiteY2" fmla="*/ 0 h 2057343"/>
                <a:gd name="connsiteX3" fmla="*/ 1824182 w 1824182"/>
                <a:gd name="connsiteY3" fmla="*/ 182418 h 2057343"/>
                <a:gd name="connsiteX4" fmla="*/ 1824182 w 1824182"/>
                <a:gd name="connsiteY4" fmla="*/ 1874925 h 2057343"/>
                <a:gd name="connsiteX5" fmla="*/ 1641764 w 1824182"/>
                <a:gd name="connsiteY5" fmla="*/ 2057343 h 2057343"/>
                <a:gd name="connsiteX6" fmla="*/ 182418 w 1824182"/>
                <a:gd name="connsiteY6" fmla="*/ 2057343 h 2057343"/>
                <a:gd name="connsiteX7" fmla="*/ 0 w 1824182"/>
                <a:gd name="connsiteY7" fmla="*/ 1874925 h 2057343"/>
                <a:gd name="connsiteX8" fmla="*/ 0 w 1824182"/>
                <a:gd name="connsiteY8" fmla="*/ 182418 h 205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4182" h="2057343">
                  <a:moveTo>
                    <a:pt x="0" y="182418"/>
                  </a:moveTo>
                  <a:cubicBezTo>
                    <a:pt x="0" y="81671"/>
                    <a:pt x="81671" y="0"/>
                    <a:pt x="182418" y="0"/>
                  </a:cubicBezTo>
                  <a:lnTo>
                    <a:pt x="1641764" y="0"/>
                  </a:lnTo>
                  <a:cubicBezTo>
                    <a:pt x="1742511" y="0"/>
                    <a:pt x="1824182" y="81671"/>
                    <a:pt x="1824182" y="182418"/>
                  </a:cubicBezTo>
                  <a:lnTo>
                    <a:pt x="1824182" y="1874925"/>
                  </a:lnTo>
                  <a:cubicBezTo>
                    <a:pt x="1824182" y="1975672"/>
                    <a:pt x="1742511" y="2057343"/>
                    <a:pt x="1641764" y="2057343"/>
                  </a:cubicBezTo>
                  <a:lnTo>
                    <a:pt x="182418" y="2057343"/>
                  </a:lnTo>
                  <a:cubicBezTo>
                    <a:pt x="81671" y="2057343"/>
                    <a:pt x="0" y="1975672"/>
                    <a:pt x="0" y="1874925"/>
                  </a:cubicBezTo>
                  <a:lnTo>
                    <a:pt x="0" y="182418"/>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52996" tIns="152996" rIns="152996" bIns="152996"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 hypothetical intelligent agent possessing intelligence surpassing that of the brightest and most gifted human minds. </a:t>
              </a:r>
              <a:r>
                <a:rPr lang="en-US" sz="1200" kern="1200" dirty="0">
                  <a:solidFill>
                    <a:schemeClr val="bg1">
                      <a:lumMod val="65000"/>
                    </a:schemeClr>
                  </a:solidFill>
                  <a:latin typeface="+mn-lt"/>
                  <a:ea typeface="+mn-ea"/>
                  <a:cs typeface="+mn-cs"/>
                </a:rPr>
                <a:t>[Wikipedia: Superintelligence]</a:t>
              </a:r>
              <a:endParaRPr lang="en-US" sz="1400" kern="1200" dirty="0"/>
            </a:p>
          </p:txBody>
        </p:sp>
      </p:grpSp>
      <p:sp>
        <p:nvSpPr>
          <p:cNvPr id="4" name="TextBox 3">
            <a:extLst>
              <a:ext uri="{FF2B5EF4-FFF2-40B4-BE49-F238E27FC236}">
                <a16:creationId xmlns:a16="http://schemas.microsoft.com/office/drawing/2014/main" id="{96992D9C-939E-4C5F-3DE2-66B465C4813A}"/>
              </a:ext>
            </a:extLst>
          </p:cNvPr>
          <p:cNvSpPr txBox="1"/>
          <p:nvPr/>
        </p:nvSpPr>
        <p:spPr>
          <a:xfrm>
            <a:off x="838200" y="5080943"/>
            <a:ext cx="7981950" cy="400110"/>
          </a:xfrm>
          <a:prstGeom prst="rect">
            <a:avLst/>
          </a:prstGeom>
          <a:noFill/>
        </p:spPr>
        <p:txBody>
          <a:bodyPr wrap="square">
            <a:spAutoFit/>
          </a:bodyPr>
          <a:lstStyle/>
          <a:p>
            <a:r>
              <a:rPr lang="en-US" sz="2000" b="1" dirty="0"/>
              <a:t>How can we achieve this? Create an agent that can:</a:t>
            </a:r>
            <a:r>
              <a:rPr lang="en-US" sz="2000" dirty="0"/>
              <a:t>	</a:t>
            </a:r>
            <a:endParaRPr lang="en-US" sz="2000" dirty="0">
              <a:solidFill>
                <a:schemeClr val="bg1">
                  <a:lumMod val="65000"/>
                </a:schemeClr>
              </a:solidFill>
            </a:endParaRPr>
          </a:p>
        </p:txBody>
      </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8880A51-300C-8F5D-4170-28BB816DFE84}"/>
                  </a:ext>
                </a:extLst>
              </p14:cNvPr>
              <p14:cNvContentPartPr/>
              <p14:nvPr/>
            </p14:nvContentPartPr>
            <p14:xfrm>
              <a:off x="9931085" y="3394643"/>
              <a:ext cx="360" cy="360"/>
            </p14:xfrm>
          </p:contentPart>
        </mc:Choice>
        <mc:Fallback xmlns="">
          <p:pic>
            <p:nvPicPr>
              <p:cNvPr id="5" name="Ink 4">
                <a:extLst>
                  <a:ext uri="{FF2B5EF4-FFF2-40B4-BE49-F238E27FC236}">
                    <a16:creationId xmlns:a16="http://schemas.microsoft.com/office/drawing/2014/main" id="{28880A51-300C-8F5D-4170-28BB816DFE84}"/>
                  </a:ext>
                </a:extLst>
              </p:cNvPr>
              <p:cNvPicPr/>
              <p:nvPr/>
            </p:nvPicPr>
            <p:blipFill>
              <a:blip r:embed="rId14"/>
              <a:stretch>
                <a:fillRect/>
              </a:stretch>
            </p:blipFill>
            <p:spPr>
              <a:xfrm>
                <a:off x="9922445" y="3386003"/>
                <a:ext cx="18000" cy="18000"/>
              </a:xfrm>
              <a:prstGeom prst="rect">
                <a:avLst/>
              </a:prstGeom>
            </p:spPr>
          </p:pic>
        </mc:Fallback>
      </mc:AlternateContent>
    </p:spTree>
    <p:extLst>
      <p:ext uri="{BB962C8B-B14F-4D97-AF65-F5344CB8AC3E}">
        <p14:creationId xmlns:p14="http://schemas.microsoft.com/office/powerpoint/2010/main" val="226163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9FE6E0-2499-4899-AEE4-A9B64443C289}"/>
              </a:ext>
            </a:extLst>
          </p:cNvPr>
          <p:cNvSpPr txBox="1">
            <a:spLocks noGrp="1"/>
          </p:cNvSpPr>
          <p:nvPr>
            <p:ph type="title"/>
          </p:nvPr>
        </p:nvSpPr>
        <p:spPr>
          <a:xfrm>
            <a:off x="1524000" y="5788781"/>
            <a:ext cx="3306739" cy="584775"/>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mn-lt"/>
                <a:ea typeface="+mn-ea"/>
                <a:cs typeface="+mn-cs"/>
              </a:rPr>
              <a:t>Cognitive Sciences</a:t>
            </a:r>
          </a:p>
        </p:txBody>
      </p:sp>
      <p:graphicFrame>
        <p:nvGraphicFramePr>
          <p:cNvPr id="2" name="Content Placeholder 1">
            <a:extLst>
              <a:ext uri="{FF2B5EF4-FFF2-40B4-BE49-F238E27FC236}">
                <a16:creationId xmlns:a16="http://schemas.microsoft.com/office/drawing/2014/main" id="{3E5A5EF0-9CC7-4975-85A5-A6A3BDCF1401}"/>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70344853"/>
              </p:ext>
            </p:extLst>
          </p:nvPr>
        </p:nvGraphicFramePr>
        <p:xfrm>
          <a:off x="628650" y="1825627"/>
          <a:ext cx="5391150" cy="3432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Left Brace 4">
            <a:extLst>
              <a:ext uri="{FF2B5EF4-FFF2-40B4-BE49-F238E27FC236}">
                <a16:creationId xmlns:a16="http://schemas.microsoft.com/office/drawing/2014/main" id="{4894A1DB-6F51-A0EA-F97D-41524E2C0977}"/>
              </a:ext>
              <a:ext uri="{C183D7F6-B498-43B3-948B-1728B52AA6E4}">
                <adec:decorative xmlns:adec="http://schemas.microsoft.com/office/drawing/2017/decorative" val="1"/>
              </a:ext>
            </a:extLst>
          </p:cNvPr>
          <p:cNvSpPr/>
          <p:nvPr/>
        </p:nvSpPr>
        <p:spPr>
          <a:xfrm rot="16200000">
            <a:off x="3124203" y="2893181"/>
            <a:ext cx="400050" cy="53911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BE3F5FDF-8244-970D-24F1-CFA6DEBF300B}"/>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208255410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Title 2">
            <a:extLst>
              <a:ext uri="{FF2B5EF4-FFF2-40B4-BE49-F238E27FC236}">
                <a16:creationId xmlns:a16="http://schemas.microsoft.com/office/drawing/2014/main" id="{47E42546-2015-E5D3-5084-2514F21533FF}"/>
              </a:ext>
            </a:extLst>
          </p:cNvPr>
          <p:cNvSpPr txBox="1">
            <a:spLocks/>
          </p:cNvSpPr>
          <p:nvPr/>
        </p:nvSpPr>
        <p:spPr>
          <a:xfrm>
            <a:off x="6592026" y="5562600"/>
            <a:ext cx="2055947" cy="1077218"/>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0"/>
              </a:spcBef>
              <a:defRPr/>
            </a:pPr>
            <a:r>
              <a:rPr lang="en-US" sz="3200" b="1" dirty="0">
                <a:latin typeface="+mn-lt"/>
                <a:ea typeface="+mn-ea"/>
                <a:cs typeface="+mn-cs"/>
              </a:rPr>
              <a:t>Moral </a:t>
            </a:r>
            <a:br>
              <a:rPr lang="en-US" sz="3200" b="1" dirty="0">
                <a:latin typeface="+mn-lt"/>
                <a:ea typeface="+mn-ea"/>
                <a:cs typeface="+mn-cs"/>
              </a:rPr>
            </a:br>
            <a:r>
              <a:rPr lang="en-US" sz="3200" b="1" dirty="0">
                <a:latin typeface="+mn-lt"/>
                <a:ea typeface="+mn-ea"/>
                <a:cs typeface="+mn-cs"/>
              </a:rPr>
              <a:t>Philosophy</a:t>
            </a:r>
          </a:p>
        </p:txBody>
      </p:sp>
      <p:grpSp>
        <p:nvGrpSpPr>
          <p:cNvPr id="14" name="Group 13">
            <a:extLst>
              <a:ext uri="{FF2B5EF4-FFF2-40B4-BE49-F238E27FC236}">
                <a16:creationId xmlns:a16="http://schemas.microsoft.com/office/drawing/2014/main" id="{23C9FECE-A846-6BB7-C79A-433AC982FB35}"/>
              </a:ext>
            </a:extLst>
          </p:cNvPr>
          <p:cNvGrpSpPr/>
          <p:nvPr/>
        </p:nvGrpSpPr>
        <p:grpSpPr>
          <a:xfrm>
            <a:off x="6324600" y="1825627"/>
            <a:ext cx="2402978" cy="3386690"/>
            <a:chOff x="6324600" y="1825627"/>
            <a:chExt cx="2402978" cy="3386690"/>
          </a:xfrm>
        </p:grpSpPr>
        <p:grpSp>
          <p:nvGrpSpPr>
            <p:cNvPr id="7" name="Group 6">
              <a:extLst>
                <a:ext uri="{FF2B5EF4-FFF2-40B4-BE49-F238E27FC236}">
                  <a16:creationId xmlns:a16="http://schemas.microsoft.com/office/drawing/2014/main" id="{8D30211F-BFEA-413F-8D2C-1D0EBC42E3FA}"/>
                </a:ext>
              </a:extLst>
            </p:cNvPr>
            <p:cNvGrpSpPr/>
            <p:nvPr/>
          </p:nvGrpSpPr>
          <p:grpSpPr>
            <a:xfrm>
              <a:off x="6324600" y="1825627"/>
              <a:ext cx="2402978" cy="858030"/>
              <a:chOff x="5481256" y="22742"/>
              <a:chExt cx="2402978" cy="858030"/>
            </a:xfrm>
            <a:solidFill>
              <a:schemeClr val="accent2"/>
            </a:solidFill>
          </p:grpSpPr>
          <p:sp>
            <p:nvSpPr>
              <p:cNvPr id="11" name="Rectangle 10">
                <a:extLst>
                  <a:ext uri="{FF2B5EF4-FFF2-40B4-BE49-F238E27FC236}">
                    <a16:creationId xmlns:a16="http://schemas.microsoft.com/office/drawing/2014/main" id="{D041AFE9-B8F6-86D7-C5BD-C702F0CEE91D}"/>
                  </a:ext>
                </a:extLst>
              </p:cNvPr>
              <p:cNvSpPr/>
              <p:nvPr/>
            </p:nvSpPr>
            <p:spPr>
              <a:xfrm>
                <a:off x="5481256" y="22742"/>
                <a:ext cx="2402978" cy="858030"/>
              </a:xfrm>
              <a:prstGeom prst="rect">
                <a:avLst/>
              </a:prstGeom>
              <a:grpFill/>
              <a:ln>
                <a:noFill/>
              </a:ln>
            </p:spPr>
            <p:style>
              <a:lnRef idx="2">
                <a:schemeClr val="accent5">
                  <a:hueOff val="-12162821"/>
                  <a:satOff val="-296"/>
                  <a:lumOff val="-10393"/>
                  <a:alphaOff val="0"/>
                </a:schemeClr>
              </a:lnRef>
              <a:fillRef idx="1">
                <a:schemeClr val="accent5">
                  <a:hueOff val="-12162821"/>
                  <a:satOff val="-296"/>
                  <a:lumOff val="-10393"/>
                  <a:alphaOff val="0"/>
                </a:schemeClr>
              </a:fillRef>
              <a:effectRef idx="0">
                <a:schemeClr val="accent5">
                  <a:hueOff val="-12162821"/>
                  <a:satOff val="-296"/>
                  <a:lumOff val="-10393"/>
                  <a:alphaOff val="0"/>
                </a:schemeClr>
              </a:effectRef>
              <a:fontRef idx="minor">
                <a:schemeClr val="lt1"/>
              </a:fontRef>
            </p:style>
            <p:txBody>
              <a:bodyPr/>
              <a:lstStyle/>
              <a:p>
                <a:endParaRPr lang="en-US"/>
              </a:p>
            </p:txBody>
          </p:sp>
          <p:sp>
            <p:nvSpPr>
              <p:cNvPr id="12" name="TextBox 11">
                <a:extLst>
                  <a:ext uri="{FF2B5EF4-FFF2-40B4-BE49-F238E27FC236}">
                    <a16:creationId xmlns:a16="http://schemas.microsoft.com/office/drawing/2014/main" id="{950D21E8-C187-E89C-26DA-20FA2E9C8F5F}"/>
                  </a:ext>
                </a:extLst>
              </p:cNvPr>
              <p:cNvSpPr txBox="1"/>
              <p:nvPr/>
            </p:nvSpPr>
            <p:spPr>
              <a:xfrm>
                <a:off x="5481256" y="22742"/>
                <a:ext cx="2402978" cy="858030"/>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AI consciousness</a:t>
                </a:r>
              </a:p>
            </p:txBody>
          </p:sp>
        </p:grpSp>
        <p:grpSp>
          <p:nvGrpSpPr>
            <p:cNvPr id="8" name="Group 7">
              <a:extLst>
                <a:ext uri="{FF2B5EF4-FFF2-40B4-BE49-F238E27FC236}">
                  <a16:creationId xmlns:a16="http://schemas.microsoft.com/office/drawing/2014/main" id="{537CE197-62B7-A6A2-BEA6-11650555F463}"/>
                </a:ext>
              </a:extLst>
            </p:cNvPr>
            <p:cNvGrpSpPr/>
            <p:nvPr/>
          </p:nvGrpSpPr>
          <p:grpSpPr>
            <a:xfrm>
              <a:off x="6324600" y="2683658"/>
              <a:ext cx="2402978" cy="2528659"/>
              <a:chOff x="5481256" y="880773"/>
              <a:chExt cx="2402978" cy="2528659"/>
            </a:xfrm>
            <a:solidFill>
              <a:schemeClr val="accent2">
                <a:lumMod val="20000"/>
                <a:lumOff val="80000"/>
              </a:schemeClr>
            </a:solidFill>
          </p:grpSpPr>
          <p:sp>
            <p:nvSpPr>
              <p:cNvPr id="9" name="Rectangle 8">
                <a:extLst>
                  <a:ext uri="{FF2B5EF4-FFF2-40B4-BE49-F238E27FC236}">
                    <a16:creationId xmlns:a16="http://schemas.microsoft.com/office/drawing/2014/main" id="{086D4D65-C08E-1F8B-BBB1-D00ED7F5F4F5}"/>
                  </a:ext>
                </a:extLst>
              </p:cNvPr>
              <p:cNvSpPr/>
              <p:nvPr/>
            </p:nvSpPr>
            <p:spPr>
              <a:xfrm>
                <a:off x="5481256" y="880773"/>
                <a:ext cx="2402978" cy="2528659"/>
              </a:xfrm>
              <a:prstGeom prst="rect">
                <a:avLst/>
              </a:prstGeom>
              <a:grpFill/>
              <a:ln>
                <a:noFill/>
              </a:ln>
            </p:spPr>
            <p:style>
              <a:lnRef idx="2">
                <a:schemeClr val="accent5">
                  <a:tint val="40000"/>
                  <a:alpha val="90000"/>
                  <a:hueOff val="-11954114"/>
                  <a:satOff val="-12022"/>
                  <a:lumOff val="-1949"/>
                  <a:alphaOff val="0"/>
                </a:schemeClr>
              </a:lnRef>
              <a:fillRef idx="1">
                <a:schemeClr val="accent5">
                  <a:tint val="40000"/>
                  <a:alpha val="90000"/>
                  <a:hueOff val="-11954114"/>
                  <a:satOff val="-12022"/>
                  <a:lumOff val="-1949"/>
                  <a:alphaOff val="0"/>
                </a:schemeClr>
              </a:fillRef>
              <a:effectRef idx="0">
                <a:schemeClr val="accent5">
                  <a:tint val="40000"/>
                  <a:alpha val="90000"/>
                  <a:hueOff val="-11954114"/>
                  <a:satOff val="-12022"/>
                  <a:lumOff val="-1949"/>
                  <a:alphaOff val="0"/>
                </a:schemeClr>
              </a:effectRef>
              <a:fontRef idx="minor">
                <a:schemeClr val="dk1">
                  <a:hueOff val="0"/>
                  <a:satOff val="0"/>
                  <a:lumOff val="0"/>
                  <a:alphaOff val="0"/>
                </a:schemeClr>
              </a:fontRef>
            </p:style>
            <p:txBody>
              <a:bodyPr/>
              <a:lstStyle/>
              <a:p>
                <a:endParaRPr lang="en-US"/>
              </a:p>
            </p:txBody>
          </p:sp>
          <p:sp>
            <p:nvSpPr>
              <p:cNvPr id="10" name="TextBox 9">
                <a:extLst>
                  <a:ext uri="{FF2B5EF4-FFF2-40B4-BE49-F238E27FC236}">
                    <a16:creationId xmlns:a16="http://schemas.microsoft.com/office/drawing/2014/main" id="{4973D866-48F3-D086-16B3-0982DD2628E5}"/>
                  </a:ext>
                </a:extLst>
              </p:cNvPr>
              <p:cNvSpPr txBox="1"/>
              <p:nvPr/>
            </p:nvSpPr>
            <p:spPr>
              <a:xfrm>
                <a:off x="5481256" y="880773"/>
                <a:ext cx="2402978" cy="2528659"/>
              </a:xfrm>
              <a:prstGeom prst="rect">
                <a:avLst/>
              </a:prstGeom>
              <a:grp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What does it mean that a machine is conscient/sentient?</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r>
                  <a:rPr lang="en-US" sz="1700" kern="1200" dirty="0"/>
                  <a:t>How can we tell?</a:t>
                </a:r>
                <a:endParaRPr lang="en-US" sz="1700" dirty="0"/>
              </a:p>
              <a:p>
                <a:pPr marL="171450" lvl="1" indent="-171450" algn="l" defTabSz="755650">
                  <a:lnSpc>
                    <a:spcPct val="90000"/>
                  </a:lnSpc>
                  <a:spcBef>
                    <a:spcPct val="0"/>
                  </a:spcBef>
                  <a:spcAft>
                    <a:spcPct val="15000"/>
                  </a:spcAft>
                  <a:buChar char="•"/>
                </a:pPr>
                <a:r>
                  <a:rPr lang="en-US" sz="1700" kern="1200" dirty="0"/>
                  <a:t>What do we do then?</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p:txBody>
          </p:sp>
        </p:grpSp>
      </p:grpSp>
      <p:sp>
        <p:nvSpPr>
          <p:cNvPr id="13" name="Arrow: Down 12">
            <a:extLst>
              <a:ext uri="{FF2B5EF4-FFF2-40B4-BE49-F238E27FC236}">
                <a16:creationId xmlns:a16="http://schemas.microsoft.com/office/drawing/2014/main" id="{C3B63EDF-41D8-C167-8111-990D74E4E8B8}"/>
              </a:ext>
            </a:extLst>
          </p:cNvPr>
          <p:cNvSpPr/>
          <p:nvPr/>
        </p:nvSpPr>
        <p:spPr>
          <a:xfrm>
            <a:off x="7239000" y="4648200"/>
            <a:ext cx="609600" cy="990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4" grpId="0"/>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1999A5-A9F1-D8DC-079A-32F097EB75B4}"/>
              </a:ext>
              <a:ext uri="{C183D7F6-B498-43B3-948B-1728B52AA6E4}">
                <adec:decorative xmlns:adec="http://schemas.microsoft.com/office/drawing/2017/decorative" val="1"/>
              </a:ext>
            </a:extLst>
          </p:cNvPr>
          <p:cNvSpPr txBox="1">
            <a:spLocks noGrp="1"/>
          </p:cNvSpPr>
          <p:nvPr>
            <p:ph type="title"/>
          </p:nvPr>
        </p:nvSpPr>
        <p:spPr>
          <a:xfrm>
            <a:off x="7290292" y="3230039"/>
            <a:ext cx="1828800" cy="95410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Alan Turing (1950) </a:t>
            </a:r>
            <a:r>
              <a:rPr lang="en-US" sz="1400" dirty="0">
                <a:latin typeface="+mn-lt"/>
                <a:ea typeface="+mn-ea"/>
                <a:cs typeface="+mn-cs"/>
              </a:rPr>
              <a:t>“</a:t>
            </a:r>
            <a:r>
              <a:rPr kumimoji="0" lang="en-US" sz="1400" b="0" u="none" strike="noStrike" kern="1200" cap="none" spc="0" normalizeH="0" baseline="0" noProof="0" dirty="0">
                <a:ln>
                  <a:noFill/>
                </a:ln>
                <a:solidFill>
                  <a:schemeClr val="tx1"/>
                </a:solidFill>
                <a:effectLst/>
                <a:uLnTx/>
                <a:uFillTx/>
                <a:latin typeface="+mn-lt"/>
                <a:ea typeface="+mn-ea"/>
                <a:cs typeface="+mn-cs"/>
              </a:rPr>
              <a:t>Computing machinery and intelligence”</a:t>
            </a:r>
          </a:p>
        </p:txBody>
      </p:sp>
      <p:sp>
        <p:nvSpPr>
          <p:cNvPr id="8195" name="Rectangle 3"/>
          <p:cNvSpPr>
            <a:spLocks noGrp="1" noChangeArrowheads="1"/>
          </p:cNvSpPr>
          <p:nvPr>
            <p:ph idx="1"/>
          </p:nvPr>
        </p:nvSpPr>
        <p:spPr>
          <a:xfrm>
            <a:off x="628650" y="1447800"/>
            <a:ext cx="6762750" cy="5029200"/>
          </a:xfrm>
        </p:spPr>
        <p:txBody>
          <a:bodyPr>
            <a:noAutofit/>
          </a:bodyPr>
          <a:lstStyle/>
          <a:p>
            <a:r>
              <a:rPr lang="en-US" sz="1600" dirty="0"/>
              <a:t>Alan Turing rejects the question “Can machines think?”</a:t>
            </a:r>
          </a:p>
          <a:p>
            <a:r>
              <a:rPr lang="en-US" sz="1600" dirty="0"/>
              <a:t>The Turing Test tries to define what acting like a human means.</a:t>
            </a:r>
            <a:br>
              <a:rPr lang="en-US" sz="1600" dirty="0"/>
            </a:br>
            <a:endParaRPr lang="en-US" sz="1600" dirty="0"/>
          </a:p>
          <a:p>
            <a:endParaRPr lang="en-US" sz="1600" dirty="0"/>
          </a:p>
          <a:p>
            <a:pPr marL="0" indent="0">
              <a:buNone/>
            </a:pPr>
            <a:br>
              <a:rPr lang="en-US" sz="1600" dirty="0"/>
            </a:br>
            <a:endParaRPr lang="en-US" sz="1600" dirty="0"/>
          </a:p>
          <a:p>
            <a:endParaRPr lang="en-US" sz="1600" dirty="0"/>
          </a:p>
          <a:p>
            <a:pPr marL="0" indent="0">
              <a:buNone/>
            </a:pPr>
            <a:endParaRPr lang="en-US" sz="1600" dirty="0"/>
          </a:p>
          <a:p>
            <a:r>
              <a:rPr lang="en-US" sz="1600" dirty="0"/>
              <a:t>What capabilities would a computer need to have to pass the Turing Test? These are still the core AI areas.</a:t>
            </a:r>
          </a:p>
          <a:p>
            <a:pPr lvl="1"/>
            <a:r>
              <a:rPr lang="en-US" sz="1400" dirty="0"/>
              <a:t>Natural language processing</a:t>
            </a:r>
          </a:p>
          <a:p>
            <a:pPr lvl="1"/>
            <a:r>
              <a:rPr lang="en-US" sz="1400" dirty="0"/>
              <a:t>Knowledge representation</a:t>
            </a:r>
          </a:p>
          <a:p>
            <a:pPr lvl="1"/>
            <a:r>
              <a:rPr lang="en-US" sz="1400" dirty="0"/>
              <a:t>Automated reasoning</a:t>
            </a:r>
          </a:p>
          <a:p>
            <a:pPr lvl="1"/>
            <a:r>
              <a:rPr lang="en-US" sz="1400" dirty="0"/>
              <a:t>Machine learning</a:t>
            </a:r>
            <a:endParaRPr lang="en-US" sz="1600" dirty="0"/>
          </a:p>
          <a:p>
            <a:r>
              <a:rPr lang="en-US" sz="1600" dirty="0"/>
              <a:t>Turing predicted that by the year 2000, machines would be able to fool 30% of human judges for five minutes. </a:t>
            </a:r>
            <a:br>
              <a:rPr lang="en-US" sz="1600" dirty="0"/>
            </a:br>
            <a:r>
              <a:rPr lang="en-US" sz="1600" dirty="0"/>
              <a:t>ChatGPT (2023) is probably doing a least that!</a:t>
            </a:r>
          </a:p>
        </p:txBody>
      </p:sp>
      <p:pic>
        <p:nvPicPr>
          <p:cNvPr id="8196" name="Picture 4" descr="A diagram of the setup of the Turing test with the human interrogator trying to establish if she is communicating with a human or an AI system."/>
          <p:cNvPicPr>
            <a:picLocks noChangeAspect="1" noChangeArrowheads="1"/>
          </p:cNvPicPr>
          <p:nvPr/>
        </p:nvPicPr>
        <p:blipFill>
          <a:blip r:embed="rId3" cstate="print"/>
          <a:srcRect/>
          <a:stretch>
            <a:fillRect/>
          </a:stretch>
        </p:blipFill>
        <p:spPr bwMode="auto">
          <a:xfrm>
            <a:off x="1524000" y="2209800"/>
            <a:ext cx="4579176" cy="1587153"/>
          </a:xfrm>
          <a:prstGeom prst="rect">
            <a:avLst/>
          </a:prstGeom>
          <a:noFill/>
          <a:ln w="9525">
            <a:noFill/>
            <a:miter lim="800000"/>
            <a:headEnd/>
            <a:tailEnd/>
          </a:ln>
        </p:spPr>
      </p:pic>
      <p:pic>
        <p:nvPicPr>
          <p:cNvPr id="10245" name="Picture 3">
            <a:extLst>
              <a:ext uri="{C183D7F6-B498-43B3-948B-1728B52AA6E4}">
                <adec:decorative xmlns:adec="http://schemas.microsoft.com/office/drawing/2017/decorative" val="1"/>
              </a:ext>
            </a:extLst>
          </p:cNvPr>
          <p:cNvPicPr>
            <a:picLocks noChangeAspect="1" noChangeArrowheads="1"/>
          </p:cNvPicPr>
          <p:nvPr/>
        </p:nvPicPr>
        <p:blipFill>
          <a:blip r:embed="rId4" cstate="print"/>
          <a:srcRect/>
          <a:stretch>
            <a:fillRect/>
          </a:stretch>
        </p:blipFill>
        <p:spPr bwMode="auto">
          <a:xfrm>
            <a:off x="7580737" y="1555471"/>
            <a:ext cx="1247911" cy="1551806"/>
          </a:xfrm>
          <a:prstGeom prst="rect">
            <a:avLst/>
          </a:prstGeom>
          <a:ln>
            <a:noFill/>
          </a:ln>
          <a:effectLst>
            <a:outerShdw blurRad="292100" dist="139700" dir="2700000" algn="tl" rotWithShape="0">
              <a:srgbClr val="333333">
                <a:alpha val="65000"/>
              </a:srgbClr>
            </a:outerShdw>
          </a:effectLst>
        </p:spPr>
      </p:pic>
      <p:graphicFrame>
        <p:nvGraphicFramePr>
          <p:cNvPr id="2" name="Content Placeholder 5">
            <a:extLst>
              <a:ext uri="{FF2B5EF4-FFF2-40B4-BE49-F238E27FC236}">
                <a16:creationId xmlns:a16="http://schemas.microsoft.com/office/drawing/2014/main" id="{FB9E4C2B-4282-1092-DA38-43E2C14F5727}"/>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340282742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TextBox 2">
            <a:extLst>
              <a:ext uri="{FF2B5EF4-FFF2-40B4-BE49-F238E27FC236}">
                <a16:creationId xmlns:a16="http://schemas.microsoft.com/office/drawing/2014/main" id="{3E644102-1A7B-D610-56FB-B4611241010D}"/>
              </a:ext>
              <a:ext uri="{C183D7F6-B498-43B3-948B-1728B52AA6E4}">
                <adec:decorative xmlns:adec="http://schemas.microsoft.com/office/drawing/2017/decorative" val="1"/>
              </a:ext>
            </a:extLst>
          </p:cNvPr>
          <p:cNvSpPr txBox="1"/>
          <p:nvPr/>
        </p:nvSpPr>
        <p:spPr>
          <a:xfrm>
            <a:off x="1138101" y="3060761"/>
            <a:ext cx="1631224" cy="646331"/>
          </a:xfrm>
          <a:prstGeom prst="rect">
            <a:avLst/>
          </a:prstGeom>
          <a:noFill/>
        </p:spPr>
        <p:txBody>
          <a:bodyPr wrap="square" rtlCol="0">
            <a:spAutoFit/>
          </a:bodyPr>
          <a:lstStyle/>
          <a:p>
            <a:pPr algn="ctr"/>
            <a:r>
              <a:rPr lang="en-US" sz="1200" dirty="0"/>
              <a:t>Needs to decide if she talks to a human or an AI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611717" y="-12701"/>
            <a:ext cx="7886700" cy="1325563"/>
          </a:xfrm>
        </p:spPr>
        <p:txBody>
          <a:bodyPr/>
          <a:lstStyle/>
          <a:p>
            <a:r>
              <a:rPr lang="en-US" dirty="0"/>
              <a:t>Turing Test: Criticism</a:t>
            </a:r>
          </a:p>
        </p:txBody>
      </p:sp>
      <p:sp>
        <p:nvSpPr>
          <p:cNvPr id="8195" name="Rectangle 3"/>
          <p:cNvSpPr>
            <a:spLocks noGrp="1" noChangeArrowheads="1"/>
          </p:cNvSpPr>
          <p:nvPr>
            <p:ph idx="1"/>
          </p:nvPr>
        </p:nvSpPr>
        <p:spPr>
          <a:xfrm>
            <a:off x="685800" y="1066800"/>
            <a:ext cx="4605863" cy="5257800"/>
          </a:xfrm>
        </p:spPr>
        <p:txBody>
          <a:bodyPr>
            <a:normAutofit fontScale="70000" lnSpcReduction="20000"/>
          </a:bodyPr>
          <a:lstStyle/>
          <a:p>
            <a:pPr marL="0" indent="0">
              <a:buNone/>
            </a:pPr>
            <a:r>
              <a:rPr lang="en-US" sz="2400" dirty="0"/>
              <a:t>What are some potential problems with the Turing Test?</a:t>
            </a:r>
            <a:endParaRPr lang="en-US" sz="1600" dirty="0"/>
          </a:p>
          <a:p>
            <a:pPr lvl="1"/>
            <a:r>
              <a:rPr lang="en-US" dirty="0"/>
              <a:t>Some human behavior is not intelligent.</a:t>
            </a:r>
          </a:p>
          <a:p>
            <a:pPr lvl="1"/>
            <a:r>
              <a:rPr lang="en-US" dirty="0"/>
              <a:t>Some intelligent behavior may not be human.</a:t>
            </a:r>
          </a:p>
          <a:p>
            <a:pPr lvl="1"/>
            <a:r>
              <a:rPr lang="en-US" dirty="0"/>
              <a:t>Human observers may be easy to fool.</a:t>
            </a:r>
          </a:p>
          <a:p>
            <a:pPr lvl="2">
              <a:buFont typeface="Arial" pitchFamily="34" charset="0"/>
              <a:buChar char="•"/>
            </a:pPr>
            <a:r>
              <a:rPr lang="en-US" dirty="0"/>
              <a:t>A lot depends on expectations.</a:t>
            </a:r>
          </a:p>
          <a:p>
            <a:pPr lvl="2">
              <a:buFont typeface="Arial" pitchFamily="34" charset="0"/>
              <a:buChar char="•"/>
            </a:pPr>
            <a:r>
              <a:rPr lang="en-US" dirty="0"/>
              <a:t>Anthropomorphic fallacy: humans tend to humanize things.</a:t>
            </a:r>
          </a:p>
          <a:p>
            <a:pPr lvl="1"/>
            <a:r>
              <a:rPr lang="en-US" dirty="0"/>
              <a:t>Imitate intelligence without intelligence. E.g., the early chatbots ELIZA (1964) simulates a conversation using pattern matching.</a:t>
            </a:r>
          </a:p>
          <a:p>
            <a:pPr marL="0" indent="0">
              <a:buNone/>
            </a:pPr>
            <a:endParaRPr lang="en-US" sz="2400" dirty="0"/>
          </a:p>
          <a:p>
            <a:pPr marL="0" indent="0">
              <a:buNone/>
            </a:pPr>
            <a:r>
              <a:rPr lang="en-US" sz="2400" dirty="0"/>
              <a:t>Is passing the Turing test a good scientific goal?</a:t>
            </a:r>
          </a:p>
          <a:p>
            <a:pPr lvl="1"/>
            <a:r>
              <a:rPr lang="en-US" dirty="0"/>
              <a:t>Engineering perspective: Imitating a human is not a good way to solve practical problems.</a:t>
            </a:r>
          </a:p>
          <a:p>
            <a:pPr lvl="1"/>
            <a:r>
              <a:rPr lang="en-US" dirty="0"/>
              <a:t>We can create useful intelligent agents without trying to imitate humans.</a:t>
            </a:r>
          </a:p>
        </p:txBody>
      </p:sp>
      <p:sp>
        <p:nvSpPr>
          <p:cNvPr id="4" name="TextBox 3">
            <a:extLst>
              <a:ext uri="{FF2B5EF4-FFF2-40B4-BE49-F238E27FC236}">
                <a16:creationId xmlns:a16="http://schemas.microsoft.com/office/drawing/2014/main" id="{393C4225-2660-EA17-EAC2-588B90A17022}"/>
              </a:ext>
            </a:extLst>
          </p:cNvPr>
          <p:cNvSpPr txBox="1"/>
          <p:nvPr/>
        </p:nvSpPr>
        <p:spPr>
          <a:xfrm>
            <a:off x="5973233" y="1394632"/>
            <a:ext cx="2781300" cy="369332"/>
          </a:xfrm>
          <a:prstGeom prst="rect">
            <a:avLst/>
          </a:prstGeom>
          <a:noFill/>
        </p:spPr>
        <p:txBody>
          <a:bodyPr wrap="square">
            <a:spAutoFit/>
          </a:bodyPr>
          <a:lstStyle/>
          <a:p>
            <a:r>
              <a:rPr lang="en-US" b="1" dirty="0"/>
              <a:t>Chinese Room Argument</a:t>
            </a:r>
          </a:p>
        </p:txBody>
      </p:sp>
      <p:pic>
        <p:nvPicPr>
          <p:cNvPr id="6146" name="Picture 2" descr="Robots that gain consciousness and become like humans. « Psychological ...">
            <a:extLst>
              <a:ext uri="{FF2B5EF4-FFF2-40B4-BE49-F238E27FC236}">
                <a16:creationId xmlns:a16="http://schemas.microsoft.com/office/drawing/2014/main" id="{032C3494-7E0D-AE45-B66A-C2D26844F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828800"/>
            <a:ext cx="3048000" cy="2000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D0DCB2-4A36-0BDB-EB16-18BD8B3FBACE}"/>
              </a:ext>
            </a:extLst>
          </p:cNvPr>
          <p:cNvSpPr txBox="1"/>
          <p:nvPr/>
        </p:nvSpPr>
        <p:spPr>
          <a:xfrm>
            <a:off x="5833533" y="3868486"/>
            <a:ext cx="2895600" cy="830997"/>
          </a:xfrm>
          <a:prstGeom prst="rect">
            <a:avLst/>
          </a:prstGeom>
          <a:noFill/>
        </p:spPr>
        <p:txBody>
          <a:bodyPr wrap="square">
            <a:spAutoFit/>
          </a:bodyPr>
          <a:lstStyle/>
          <a:p>
            <a:r>
              <a:rPr lang="en-US" sz="1600" dirty="0"/>
              <a:t>Thought experiment by John Searle (1980): Imitate intelligence using rules. </a:t>
            </a:r>
          </a:p>
        </p:txBody>
      </p:sp>
      <p:cxnSp>
        <p:nvCxnSpPr>
          <p:cNvPr id="9" name="Straight Connector 8">
            <a:extLst>
              <a:ext uri="{FF2B5EF4-FFF2-40B4-BE49-F238E27FC236}">
                <a16:creationId xmlns:a16="http://schemas.microsoft.com/office/drawing/2014/main" id="{5694F0D9-0638-DFA0-D73B-BC2AB56271F7}"/>
              </a:ext>
              <a:ext uri="{C183D7F6-B498-43B3-948B-1728B52AA6E4}">
                <adec:decorative xmlns:adec="http://schemas.microsoft.com/office/drawing/2017/decorative" val="1"/>
              </a:ext>
            </a:extLst>
          </p:cNvPr>
          <p:cNvCxnSpPr>
            <a:cxnSpLocks/>
          </p:cNvCxnSpPr>
          <p:nvPr/>
        </p:nvCxnSpPr>
        <p:spPr>
          <a:xfrm>
            <a:off x="5562600" y="1066800"/>
            <a:ext cx="0" cy="5257800"/>
          </a:xfrm>
          <a:prstGeom prst="line">
            <a:avLst/>
          </a:prstGeom>
          <a:ln w="2857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Arrow: Right 1">
            <a:extLst>
              <a:ext uri="{FF2B5EF4-FFF2-40B4-BE49-F238E27FC236}">
                <a16:creationId xmlns:a16="http://schemas.microsoft.com/office/drawing/2014/main" id="{5E2D6868-C925-9B65-03CA-3301086BF6B5}"/>
              </a:ext>
              <a:ext uri="{C183D7F6-B498-43B3-948B-1728B52AA6E4}">
                <adec:decorative xmlns:adec="http://schemas.microsoft.com/office/drawing/2017/decorative" val="1"/>
              </a:ext>
            </a:extLst>
          </p:cNvPr>
          <p:cNvSpPr/>
          <p:nvPr/>
        </p:nvSpPr>
        <p:spPr>
          <a:xfrm>
            <a:off x="5147735" y="3102451"/>
            <a:ext cx="491066" cy="457200"/>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32B707-2004-CB32-910E-24AEAE3AD8BA}"/>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Thinking Rationally?</a:t>
            </a:r>
          </a:p>
        </p:txBody>
      </p:sp>
      <p:sp>
        <p:nvSpPr>
          <p:cNvPr id="3" name="Content Placeholder 2"/>
          <p:cNvSpPr>
            <a:spLocks noGrp="1"/>
          </p:cNvSpPr>
          <p:nvPr>
            <p:ph idx="1"/>
          </p:nvPr>
        </p:nvSpPr>
        <p:spPr>
          <a:xfrm>
            <a:off x="628650" y="1495556"/>
            <a:ext cx="7886700" cy="3228844"/>
          </a:xfrm>
        </p:spPr>
        <p:txBody>
          <a:bodyPr>
            <a:normAutofit fontScale="77500" lnSpcReduction="20000"/>
          </a:bodyPr>
          <a:lstStyle/>
          <a:p>
            <a:pPr>
              <a:buFontTx/>
              <a:buChar char="•"/>
            </a:pPr>
            <a:r>
              <a:rPr lang="en-US" b="1" dirty="0"/>
              <a:t>Thinking Rationality</a:t>
            </a:r>
            <a:r>
              <a:rPr lang="en-US" dirty="0"/>
              <a:t>: Draw sensible conclusions from facts, logic and data.</a:t>
            </a:r>
          </a:p>
          <a:p>
            <a:pPr>
              <a:buFontTx/>
              <a:buChar char="•"/>
            </a:pPr>
            <a:r>
              <a:rPr lang="en-US" b="1" dirty="0"/>
              <a:t>Logic</a:t>
            </a:r>
            <a:r>
              <a:rPr lang="en-US" dirty="0"/>
              <a:t>: A chain of argument that always yield correct conclusions. </a:t>
            </a:r>
            <a:br>
              <a:rPr lang="en-US" dirty="0"/>
            </a:br>
            <a:r>
              <a:rPr lang="en-US" sz="1800" dirty="0"/>
              <a:t>E.g., “Socrates is a man; all men are mortal; therefore, Socrates is mortal.”</a:t>
            </a:r>
            <a:endParaRPr lang="en-US" sz="2000" dirty="0"/>
          </a:p>
          <a:p>
            <a:pPr>
              <a:buFontTx/>
              <a:buChar char="•"/>
            </a:pPr>
            <a:r>
              <a:rPr lang="en-US" b="1" dirty="0"/>
              <a:t>Logic-based approach to AI</a:t>
            </a:r>
            <a:r>
              <a:rPr lang="en-US" dirty="0"/>
              <a:t>: Describe a problem in formal logic notation and apply general deduction procedures to solve it.</a:t>
            </a:r>
            <a:br>
              <a:rPr lang="en-US" dirty="0"/>
            </a:br>
            <a:r>
              <a:rPr lang="en-US" dirty="0"/>
              <a:t>Issues:</a:t>
            </a:r>
          </a:p>
          <a:p>
            <a:pPr lvl="1"/>
            <a:r>
              <a:rPr lang="en-US" dirty="0"/>
              <a:t>Describing real-world problems and knowledge using logic notation is hard.</a:t>
            </a:r>
          </a:p>
          <a:p>
            <a:pPr lvl="1"/>
            <a:r>
              <a:rPr lang="en-US" dirty="0"/>
              <a:t>Computational complexity of finding the solution.</a:t>
            </a:r>
          </a:p>
          <a:p>
            <a:pPr lvl="1"/>
            <a:r>
              <a:rPr lang="en-US" dirty="0"/>
              <a:t>Much intelligent or “rational” behavior in an uncertain world cannot be defined by simple logic rules.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2D37FFC-3C6B-43CF-8251-E9BAF4CAF6D9}"/>
                  </a:ext>
                </a:extLst>
              </p:cNvPr>
              <p:cNvSpPr/>
              <p:nvPr/>
            </p:nvSpPr>
            <p:spPr>
              <a:xfrm>
                <a:off x="1752600" y="4876800"/>
                <a:ext cx="6000750" cy="17163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indent="-114300" algn="ctr"/>
                <a:r>
                  <a:rPr lang="en-US" dirty="0"/>
                  <a:t>Example: What about the logical implication</a:t>
                </a:r>
              </a:p>
              <a:p>
                <a:pPr indent="-114300" algn="ctr"/>
                <a:r>
                  <a:rPr lang="en-US" dirty="0"/>
                  <a:t> </a:t>
                </a:r>
                <a14:m>
                  <m:oMath xmlns:m="http://schemas.openxmlformats.org/officeDocument/2006/math">
                    <m:r>
                      <a:rPr lang="en-US" i="1">
                        <a:latin typeface="Cambria Math" panose="02040503050406030204" pitchFamily="18" charset="0"/>
                      </a:rPr>
                      <m:t>𝑠𝑡𝑢𝑑𝑦</m:t>
                    </m:r>
                    <m:r>
                      <a:rPr lang="en-US" i="1">
                        <a:latin typeface="Cambria Math" panose="02040503050406030204" pitchFamily="18" charset="0"/>
                      </a:rPr>
                      <m:t> </m:t>
                    </m:r>
                    <m:r>
                      <a:rPr lang="en-US" i="1">
                        <a:latin typeface="Cambria Math" panose="02040503050406030204" pitchFamily="18" charset="0"/>
                      </a:rPr>
                      <m:t>ℎ𝑎𝑟𝑑</m:t>
                    </m:r>
                    <m:r>
                      <a:rPr lang="en-US" i="1">
                        <a:latin typeface="Cambria Math" panose="02040503050406030204" pitchFamily="18" charset="0"/>
                      </a:rPr>
                      <m:t> </m:t>
                    </m:r>
                    <m:groupChr>
                      <m:groupChrPr>
                        <m:chr m:val="⇒"/>
                        <m:pos m:val="bot"/>
                        <m:vertJc m:val="bot"/>
                        <m:ctrlPr>
                          <a:rPr lang="en-US" i="1">
                            <a:latin typeface="Cambria Math" panose="02040503050406030204" pitchFamily="18" charset="0"/>
                          </a:rPr>
                        </m:ctrlPr>
                      </m:groupChrPr>
                      <m:e/>
                    </m:groupChr>
                    <m:r>
                      <a:rPr lang="en-US" i="1">
                        <a:latin typeface="Cambria Math" panose="02040503050406030204" pitchFamily="18" charset="0"/>
                      </a:rPr>
                      <m:t>𝐴</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b="0" i="1" smtClean="0">
                        <a:latin typeface="Cambria Math" panose="02040503050406030204" pitchFamily="18" charset="0"/>
                      </a:rPr>
                      <m:t>𝑚𝑦</m:t>
                    </m:r>
                    <m:r>
                      <a:rPr lang="en-US" b="0" i="1" smtClean="0">
                        <a:latin typeface="Cambria Math" panose="02040503050406030204" pitchFamily="18" charset="0"/>
                      </a:rPr>
                      <m:t> </m:t>
                    </m:r>
                    <m:r>
                      <a:rPr lang="en-US" i="1">
                        <a:latin typeface="Cambria Math" panose="02040503050406030204" pitchFamily="18" charset="0"/>
                      </a:rPr>
                      <m:t>𝐴𝐼</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oMath>
                </a14:m>
                <a:endParaRPr lang="en-US" dirty="0"/>
              </a:p>
              <a:p>
                <a:pPr indent="-114300" algn="ctr"/>
                <a:endParaRPr lang="en-US" dirty="0"/>
              </a:p>
              <a:p>
                <a:pPr indent="-114300" algn="ctr"/>
                <a:r>
                  <a:rPr lang="en-US" dirty="0"/>
                  <a:t>Should it rather be</a:t>
                </a:r>
              </a:p>
              <a:p>
                <a:pPr indent="-114300" algn="ctr"/>
                <a14:m>
                  <m:oMathPara xmlns:m="http://schemas.openxmlformats.org/officeDocument/2006/math">
                    <m:oMath>
                      <m:r>
                        <a:rPr lang="en-US" i="1" smtClean="0">
                          <a:latin typeface="Cambria Math" panose="02040503050406030204" pitchFamily="18" charset="0"/>
                        </a:rPr>
                        <m:t>𝑠𝑡𝑢𝑑𝑦</m:t>
                      </m:r>
                      <m:r>
                        <a:rPr lang="en-US" i="1" smtClean="0">
                          <a:latin typeface="Cambria Math" panose="02040503050406030204" pitchFamily="18" charset="0"/>
                        </a:rPr>
                        <m:t> </m:t>
                      </m:r>
                      <m:r>
                        <a:rPr lang="en-US" i="1" smtClean="0">
                          <a:latin typeface="Cambria Math" panose="02040503050406030204" pitchFamily="18" charset="0"/>
                        </a:rPr>
                        <m:t>ℎ𝑎𝑟𝑑</m:t>
                      </m:r>
                      <m:r>
                        <a:rPr lang="en-US" b="0" i="1" smtClean="0">
                          <a:latin typeface="Cambria Math" panose="02040503050406030204" pitchFamily="18" charset="0"/>
                        </a:rPr>
                        <m:t> </m:t>
                      </m:r>
                      <m:r>
                        <a:rPr lang="en-US" b="0" i="1" smtClean="0">
                          <a:latin typeface="Cambria Math" panose="02040503050406030204" pitchFamily="18" charset="0"/>
                        </a:rPr>
                        <m:t>𝐴𝑁𝐷</m:t>
                      </m:r>
                      <m:r>
                        <a:rPr lang="en-US" b="0" i="1" smtClean="0">
                          <a:latin typeface="Cambria Math" panose="02040503050406030204" pitchFamily="18" charset="0"/>
                        </a:rPr>
                        <m:t> </m:t>
                      </m:r>
                      <m:r>
                        <a:rPr lang="en-US" b="0" i="1" smtClean="0">
                          <a:latin typeface="Cambria Math" panose="02040503050406030204" pitchFamily="18" charset="0"/>
                        </a:rPr>
                        <m:t>𝑏𝑒</m:t>
                      </m:r>
                      <m:r>
                        <a:rPr lang="en-US" b="0" i="1" smtClean="0">
                          <a:latin typeface="Cambria Math" panose="02040503050406030204" pitchFamily="18" charset="0"/>
                        </a:rPr>
                        <m:t> </m:t>
                      </m:r>
                      <m:r>
                        <a:rPr lang="en-US" b="0" i="1" smtClean="0">
                          <a:latin typeface="Cambria Math" panose="02040503050406030204" pitchFamily="18" charset="0"/>
                        </a:rPr>
                        <m:t>𝑙𝑢𝑐𝑘𝑦</m:t>
                      </m:r>
                      <m:r>
                        <a:rPr lang="en-US" i="1" smtClean="0">
                          <a:latin typeface="Cambria Math" panose="02040503050406030204" pitchFamily="18" charset="0"/>
                        </a:rPr>
                        <m:t> </m:t>
                      </m:r>
                      <m:r>
                        <a:rPr lang="en-US" b="0" i="1" smtClean="0">
                          <a:latin typeface="Cambria Math" panose="02040503050406030204" pitchFamily="18" charset="0"/>
                        </a:rPr>
                        <m:t>𝐴𝑁𝐷</m:t>
                      </m:r>
                      <m:r>
                        <a:rPr lang="en-US" b="0" i="1" smtClean="0">
                          <a:latin typeface="Cambria Math" panose="02040503050406030204" pitchFamily="18" charset="0"/>
                        </a:rPr>
                        <m:t> …</m:t>
                      </m:r>
                      <m:groupChr>
                        <m:groupChrPr>
                          <m:chr m:val="⇒"/>
                          <m:pos m:val="bot"/>
                          <m:vertJc m:val="bot"/>
                          <m:ctrlPr>
                            <a:rPr lang="en-US" i="1">
                              <a:latin typeface="Cambria Math" panose="02040503050406030204" pitchFamily="18" charset="0"/>
                            </a:rPr>
                          </m:ctrlPr>
                        </m:groupChrPr>
                        <m:e/>
                      </m:groupChr>
                      <m:r>
                        <a:rPr lang="en-US" i="1">
                          <a:latin typeface="Cambria Math" panose="02040503050406030204" pitchFamily="18" charset="0"/>
                        </a:rPr>
                        <m:t>𝐴</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b="0" i="1" smtClean="0">
                          <a:latin typeface="Cambria Math" panose="02040503050406030204" pitchFamily="18" charset="0"/>
                        </a:rPr>
                        <m:t>𝑚𝑦</m:t>
                      </m:r>
                      <m:r>
                        <a:rPr lang="en-US" b="0" i="1" smtClean="0">
                          <a:latin typeface="Cambria Math" panose="02040503050406030204" pitchFamily="18" charset="0"/>
                        </a:rPr>
                        <m:t> </m:t>
                      </m:r>
                      <m:r>
                        <a:rPr lang="en-US" i="1">
                          <a:latin typeface="Cambria Math" panose="02040503050406030204" pitchFamily="18" charset="0"/>
                        </a:rPr>
                        <m:t>𝐴𝐼</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oMath>
                  </m:oMathPara>
                </a14:m>
                <a:endParaRPr lang="en-US" dirty="0"/>
              </a:p>
            </p:txBody>
          </p:sp>
        </mc:Choice>
        <mc:Fallback xmlns="">
          <p:sp>
            <p:nvSpPr>
              <p:cNvPr id="2" name="Rectangle 1">
                <a:extLst>
                  <a:ext uri="{FF2B5EF4-FFF2-40B4-BE49-F238E27FC236}">
                    <a16:creationId xmlns:a16="http://schemas.microsoft.com/office/drawing/2014/main" id="{D2D37FFC-3C6B-43CF-8251-E9BAF4CAF6D9}"/>
                  </a:ext>
                </a:extLst>
              </p:cNvPr>
              <p:cNvSpPr>
                <a:spLocks noRot="1" noChangeAspect="1" noMove="1" noResize="1" noEditPoints="1" noAdjustHandles="1" noChangeArrowheads="1" noChangeShapeType="1" noTextEdit="1"/>
              </p:cNvSpPr>
              <p:nvPr/>
            </p:nvSpPr>
            <p:spPr>
              <a:xfrm>
                <a:off x="1752600" y="4876800"/>
                <a:ext cx="6000750" cy="1716367"/>
              </a:xfrm>
              <a:prstGeom prst="rect">
                <a:avLst/>
              </a:prstGeom>
              <a:blipFill>
                <a:blip r:embed="rId3"/>
                <a:stretch>
                  <a:fillRect t="-1408"/>
                </a:stretch>
              </a:blipFill>
            </p:spPr>
            <p:txBody>
              <a:bodyPr/>
              <a:lstStyle/>
              <a:p>
                <a:r>
                  <a:rPr lang="en-US">
                    <a:noFill/>
                  </a:rPr>
                  <a:t> </a:t>
                </a:r>
              </a:p>
            </p:txBody>
          </p:sp>
        </mc:Fallback>
      </mc:AlternateContent>
      <p:graphicFrame>
        <p:nvGraphicFramePr>
          <p:cNvPr id="4" name="Content Placeholder 5">
            <a:extLst>
              <a:ext uri="{FF2B5EF4-FFF2-40B4-BE49-F238E27FC236}">
                <a16:creationId xmlns:a16="http://schemas.microsoft.com/office/drawing/2014/main" id="{86EDA3C4-09A0-A9CD-0B35-6E779062BC01}"/>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147419120"/>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3602D5-101B-2C26-4ABD-5858D33587D4}"/>
              </a:ext>
            </a:extLst>
          </p:cNvPr>
          <p:cNvSpPr>
            <a:spLocks noGrp="1"/>
          </p:cNvSpPr>
          <p:nvPr>
            <p:ph type="title"/>
          </p:nvPr>
        </p:nvSpPr>
        <p:spPr>
          <a:xfrm>
            <a:off x="628650" y="-1325563"/>
            <a:ext cx="7886700" cy="1325563"/>
          </a:xfrm>
        </p:spPr>
        <p:txBody>
          <a:bodyPr vert="horz" lIns="91440" tIns="45720" rIns="91440" bIns="45720" rtlCol="0" anchor="b">
            <a:normAutofit/>
          </a:bodyPr>
          <a:lstStyle/>
          <a:p>
            <a:r>
              <a:rPr lang="en-US" dirty="0"/>
              <a:t>Acting Rationally</a:t>
            </a:r>
          </a:p>
        </p:txBody>
      </p:sp>
      <p:sp>
        <p:nvSpPr>
          <p:cNvPr id="2" name="Speech Bubble: Rectangle with Corners Rounded 1">
            <a:extLst>
              <a:ext uri="{FF2B5EF4-FFF2-40B4-BE49-F238E27FC236}">
                <a16:creationId xmlns:a16="http://schemas.microsoft.com/office/drawing/2014/main" id="{344807E9-6908-42EF-D1EC-4DD78FCC0943}"/>
              </a:ext>
            </a:extLst>
          </p:cNvPr>
          <p:cNvSpPr/>
          <p:nvPr/>
        </p:nvSpPr>
        <p:spPr>
          <a:xfrm>
            <a:off x="5105400" y="1316577"/>
            <a:ext cx="3505200" cy="685800"/>
          </a:xfrm>
          <a:prstGeom prst="wedgeRoundRectCallout">
            <a:avLst>
              <a:gd name="adj1" fmla="val 7966"/>
              <a:gd name="adj2" fmla="val -76096"/>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Acting rational means to try to achieve the “best” outcome.</a:t>
            </a:r>
          </a:p>
        </p:txBody>
      </p:sp>
      <p:sp>
        <p:nvSpPr>
          <p:cNvPr id="11267" name="Rectangle 3"/>
          <p:cNvSpPr>
            <a:spLocks noGrp="1" noChangeArrowheads="1"/>
          </p:cNvSpPr>
          <p:nvPr>
            <p:ph idx="1"/>
          </p:nvPr>
        </p:nvSpPr>
        <p:spPr>
          <a:xfrm>
            <a:off x="628650" y="2133599"/>
            <a:ext cx="7886700" cy="4267201"/>
          </a:xfrm>
        </p:spPr>
        <p:txBody>
          <a:bodyPr>
            <a:normAutofit fontScale="70000" lnSpcReduction="20000"/>
          </a:bodyPr>
          <a:lstStyle/>
          <a:p>
            <a:pPr>
              <a:defRPr/>
            </a:pPr>
            <a:r>
              <a:rPr lang="en-US" dirty="0"/>
              <a:t>Best means that we need to do </a:t>
            </a:r>
            <a:r>
              <a:rPr lang="en-US" b="1" dirty="0"/>
              <a:t>optimization</a:t>
            </a:r>
            <a:r>
              <a:rPr lang="en-US" dirty="0"/>
              <a:t>.</a:t>
            </a:r>
          </a:p>
          <a:p>
            <a:pPr>
              <a:defRPr/>
            </a:pPr>
            <a:r>
              <a:rPr lang="en-US" dirty="0"/>
              <a:t>The desirability of outcomes can be measured by the economic concept of </a:t>
            </a:r>
            <a:r>
              <a:rPr lang="en-US" b="1" dirty="0"/>
              <a:t>utility. </a:t>
            </a:r>
            <a:r>
              <a:rPr lang="en-US" dirty="0"/>
              <a:t>If there is uncertainty about achieving outcomes, then we need to maximizing the </a:t>
            </a:r>
            <a:r>
              <a:rPr lang="en-US" b="1" dirty="0"/>
              <a:t>expected utility.</a:t>
            </a:r>
          </a:p>
          <a:p>
            <a:endParaRPr lang="en-US" dirty="0"/>
          </a:p>
          <a:p>
            <a:r>
              <a:rPr lang="en-US" dirty="0"/>
              <a:t>Optimization has several advantages:</a:t>
            </a:r>
          </a:p>
          <a:p>
            <a:pPr lvl="1"/>
            <a:r>
              <a:rPr lang="en-US" b="1" dirty="0"/>
              <a:t>Generality</a:t>
            </a:r>
            <a:r>
              <a:rPr lang="en-US" dirty="0"/>
              <a:t>: optimization is not limited to logical rules.</a:t>
            </a:r>
          </a:p>
          <a:p>
            <a:pPr lvl="1"/>
            <a:r>
              <a:rPr lang="en-US" b="1" dirty="0"/>
              <a:t>Practicality</a:t>
            </a:r>
            <a:r>
              <a:rPr lang="en-US" dirty="0"/>
              <a:t>: can be adapted to many real-world problems.</a:t>
            </a:r>
          </a:p>
          <a:p>
            <a:pPr lvl="1"/>
            <a:r>
              <a:rPr lang="en-US" b="1" dirty="0"/>
              <a:t>Well established</a:t>
            </a:r>
            <a:r>
              <a:rPr lang="en-US" dirty="0"/>
              <a:t>: existing solvers and methods for  simulation and experimentation.</a:t>
            </a:r>
          </a:p>
          <a:p>
            <a:pPr lvl="1"/>
            <a:r>
              <a:rPr lang="en-US" dirty="0"/>
              <a:t>Avoids philosophy and psychology in favor of a </a:t>
            </a:r>
            <a:r>
              <a:rPr lang="en-US" b="1" dirty="0"/>
              <a:t>clearly defined objective</a:t>
            </a:r>
            <a:r>
              <a:rPr lang="en-US" dirty="0"/>
              <a:t>.</a:t>
            </a:r>
          </a:p>
          <a:p>
            <a:pPr>
              <a:defRPr/>
            </a:pPr>
            <a:endParaRPr lang="en-US" dirty="0"/>
          </a:p>
          <a:p>
            <a:pPr>
              <a:defRPr/>
            </a:pPr>
            <a:r>
              <a:rPr lang="en-US" b="1" dirty="0"/>
              <a:t>Bounded rationality: </a:t>
            </a:r>
            <a:r>
              <a:rPr lang="en-US" dirty="0"/>
              <a:t>In practice, expected utility optimization is subject to the agent’s knowledge and computational constraints. The agent needs to do the best with its knowledge and resources.</a:t>
            </a:r>
          </a:p>
        </p:txBody>
      </p:sp>
      <p:graphicFrame>
        <p:nvGraphicFramePr>
          <p:cNvPr id="4" name="Content Placeholder 5">
            <a:extLst>
              <a:ext uri="{FF2B5EF4-FFF2-40B4-BE49-F238E27FC236}">
                <a16:creationId xmlns:a16="http://schemas.microsoft.com/office/drawing/2014/main" id="{ABED2194-8702-4B77-15AC-9939D0432D1E}"/>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3388589863"/>
              </p:ext>
            </p:extLst>
          </p:nvPr>
        </p:nvGraphicFramePr>
        <p:xfrm>
          <a:off x="990600" y="0"/>
          <a:ext cx="6762750" cy="1659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US" sz="3200" dirty="0"/>
              <a:t>The Type of AI is Covered in this Course</a:t>
            </a:r>
          </a:p>
        </p:txBody>
      </p:sp>
      <p:sp>
        <p:nvSpPr>
          <p:cNvPr id="5" name="Rectangle 4">
            <a:extLst>
              <a:ext uri="{FF2B5EF4-FFF2-40B4-BE49-F238E27FC236}">
                <a16:creationId xmlns:a16="http://schemas.microsoft.com/office/drawing/2014/main" id="{E837B443-89B7-4AA6-96BC-9CD32C6AC163}"/>
              </a:ext>
            </a:extLst>
          </p:cNvPr>
          <p:cNvSpPr/>
          <p:nvPr/>
        </p:nvSpPr>
        <p:spPr>
          <a:xfrm>
            <a:off x="228600" y="1633916"/>
            <a:ext cx="8348920" cy="830997"/>
          </a:xfrm>
          <a:prstGeom prst="rect">
            <a:avLst/>
          </a:prstGeom>
        </p:spPr>
        <p:txBody>
          <a:bodyPr wrap="square">
            <a:spAutoFit/>
          </a:bodyPr>
          <a:lstStyle/>
          <a:p>
            <a:pPr lvl="1">
              <a:buNone/>
            </a:pPr>
            <a:r>
              <a:rPr lang="en-US" sz="2400" dirty="0"/>
              <a:t>This course focuses on the computational techniques needed to creating a </a:t>
            </a:r>
            <a:r>
              <a:rPr lang="en-US" sz="2400" b="1" dirty="0"/>
              <a:t>narrow AI agent </a:t>
            </a:r>
            <a:r>
              <a:rPr lang="en-US" sz="2400" dirty="0"/>
              <a:t>that can</a:t>
            </a:r>
          </a:p>
        </p:txBody>
      </p:sp>
      <p:graphicFrame>
        <p:nvGraphicFramePr>
          <p:cNvPr id="6" name="Content Placeholder 5" descr="act rationally.">
            <a:extLst>
              <a:ext uri="{FF2B5EF4-FFF2-40B4-BE49-F238E27FC236}">
                <a16:creationId xmlns:a16="http://schemas.microsoft.com/office/drawing/2014/main" id="{866B7DF7-FCCC-4D51-B98D-02AC3932B9FA}"/>
              </a:ext>
            </a:extLst>
          </p:cNvPr>
          <p:cNvGraphicFramePr>
            <a:graphicFrameLocks noGrp="1"/>
          </p:cNvGraphicFramePr>
          <p:nvPr>
            <p:ph idx="1"/>
            <p:extLst>
              <p:ext uri="{D42A27DB-BD31-4B8C-83A1-F6EECF244321}">
                <p14:modId xmlns:p14="http://schemas.microsoft.com/office/powerpoint/2010/main" val="62900698"/>
              </p:ext>
            </p:extLst>
          </p:nvPr>
        </p:nvGraphicFramePr>
        <p:xfrm>
          <a:off x="1190625" y="1253331"/>
          <a:ext cx="676275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a:extLst>
              <a:ext uri="{FF2B5EF4-FFF2-40B4-BE49-F238E27FC236}">
                <a16:creationId xmlns:a16="http://schemas.microsoft.com/office/drawing/2014/main" id="{884441B2-D68C-44C5-ACDC-31A309778453}"/>
              </a:ext>
            </a:extLst>
          </p:cNvPr>
          <p:cNvSpPr/>
          <p:nvPr/>
        </p:nvSpPr>
        <p:spPr>
          <a:xfrm>
            <a:off x="1247775" y="4569151"/>
            <a:ext cx="6762750" cy="1200329"/>
          </a:xfrm>
          <a:prstGeom prst="rect">
            <a:avLst/>
          </a:prstGeom>
        </p:spPr>
        <p:txBody>
          <a:bodyPr wrap="square">
            <a:spAutoFit/>
          </a:bodyPr>
          <a:lstStyle/>
          <a:p>
            <a:pPr algn="ctr"/>
            <a:r>
              <a:rPr lang="en-US" sz="2400" dirty="0"/>
              <a:t>That is, create a machines that acts in a way to solve a specific hard problem that traditionally would have been thought to require human intelligence.</a:t>
            </a:r>
          </a:p>
        </p:txBody>
      </p:sp>
      <p:grpSp>
        <p:nvGrpSpPr>
          <p:cNvPr id="10" name="Group 9">
            <a:extLst>
              <a:ext uri="{FF2B5EF4-FFF2-40B4-BE49-F238E27FC236}">
                <a16:creationId xmlns:a16="http://schemas.microsoft.com/office/drawing/2014/main" id="{3A153E7F-FB0D-470C-B0A5-2388599521CA}"/>
              </a:ext>
              <a:ext uri="{C183D7F6-B498-43B3-948B-1728B52AA6E4}">
                <adec:decorative xmlns:adec="http://schemas.microsoft.com/office/drawing/2017/decorative" val="1"/>
              </a:ext>
            </a:extLst>
          </p:cNvPr>
          <p:cNvGrpSpPr/>
          <p:nvPr/>
        </p:nvGrpSpPr>
        <p:grpSpPr>
          <a:xfrm>
            <a:off x="1066800" y="3048000"/>
            <a:ext cx="1752600" cy="762000"/>
            <a:chOff x="-15240" y="4609699"/>
            <a:chExt cx="1752600" cy="762000"/>
          </a:xfrm>
        </p:grpSpPr>
        <p:cxnSp>
          <p:nvCxnSpPr>
            <p:cNvPr id="3" name="Straight Connector 2">
              <a:extLst>
                <a:ext uri="{FF2B5EF4-FFF2-40B4-BE49-F238E27FC236}">
                  <a16:creationId xmlns:a16="http://schemas.microsoft.com/office/drawing/2014/main" id="{EB65DCB1-7681-43A8-B17C-CFDA1525A14A}"/>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CB35F7E-2353-4BE8-AE32-444BBB1105CC}"/>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C1140C69-6A40-40ED-B68D-91B8B41ADAAF}"/>
              </a:ext>
              <a:ext uri="{C183D7F6-B498-43B3-948B-1728B52AA6E4}">
                <adec:decorative xmlns:adec="http://schemas.microsoft.com/office/drawing/2017/decorative" val="1"/>
              </a:ext>
            </a:extLst>
          </p:cNvPr>
          <p:cNvGrpSpPr/>
          <p:nvPr/>
        </p:nvGrpSpPr>
        <p:grpSpPr>
          <a:xfrm>
            <a:off x="2867025" y="3048000"/>
            <a:ext cx="1752600" cy="762000"/>
            <a:chOff x="-15240" y="4609699"/>
            <a:chExt cx="1752600" cy="762000"/>
          </a:xfrm>
        </p:grpSpPr>
        <p:cxnSp>
          <p:nvCxnSpPr>
            <p:cNvPr id="13" name="Straight Connector 12">
              <a:extLst>
                <a:ext uri="{FF2B5EF4-FFF2-40B4-BE49-F238E27FC236}">
                  <a16:creationId xmlns:a16="http://schemas.microsoft.com/office/drawing/2014/main" id="{5DADC38C-FA29-40BD-AC6E-787B6D40222C}"/>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854F8B-F232-40DB-ADBC-96392E09E494}"/>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7458D84F-F193-476E-B37D-36E88F9DD236}"/>
              </a:ext>
              <a:ext uri="{C183D7F6-B498-43B3-948B-1728B52AA6E4}">
                <adec:decorative xmlns:adec="http://schemas.microsoft.com/office/drawing/2017/decorative" val="1"/>
              </a:ext>
            </a:extLst>
          </p:cNvPr>
          <p:cNvGrpSpPr/>
          <p:nvPr/>
        </p:nvGrpSpPr>
        <p:grpSpPr>
          <a:xfrm>
            <a:off x="4629150" y="3048000"/>
            <a:ext cx="1752600" cy="762000"/>
            <a:chOff x="-15240" y="4609699"/>
            <a:chExt cx="1752600" cy="762000"/>
          </a:xfrm>
        </p:grpSpPr>
        <p:cxnSp>
          <p:nvCxnSpPr>
            <p:cNvPr id="16" name="Straight Connector 15">
              <a:extLst>
                <a:ext uri="{FF2B5EF4-FFF2-40B4-BE49-F238E27FC236}">
                  <a16:creationId xmlns:a16="http://schemas.microsoft.com/office/drawing/2014/main" id="{D552F11D-F764-4D74-ADD3-A7FE230F75A3}"/>
                </a:ext>
              </a:extLst>
            </p:cNvPr>
            <p:cNvCxnSpPr/>
            <p:nvPr/>
          </p:nvCxnSpPr>
          <p:spPr>
            <a:xfrm>
              <a:off x="-15240" y="4609699"/>
              <a:ext cx="17526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60FAD4-CFBE-42EB-80ED-34BC22C5C19E}"/>
                </a:ext>
              </a:extLst>
            </p:cNvPr>
            <p:cNvCxnSpPr>
              <a:cxnSpLocks/>
            </p:cNvCxnSpPr>
            <p:nvPr/>
          </p:nvCxnSpPr>
          <p:spPr>
            <a:xfrm flipV="1">
              <a:off x="-15240" y="4609699"/>
              <a:ext cx="1676400" cy="7620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5795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4">
            <a:extLst>
              <a:ext uri="{FF2B5EF4-FFF2-40B4-BE49-F238E27FC236}">
                <a16:creationId xmlns:a16="http://schemas.microsoft.com/office/drawing/2014/main" id="{51991BF2-2552-1D28-54A7-702650B0492E}"/>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alphaModFix amt="50000"/>
          </a:blip>
          <a:srcRect t="27493" b="22444"/>
          <a:stretch/>
        </p:blipFill>
        <p:spPr bwMode="auto">
          <a:xfrm>
            <a:off x="20" y="1"/>
            <a:ext cx="9143980" cy="6857999"/>
          </a:xfrm>
          <a:prstGeom prst="rect">
            <a:avLst/>
          </a:prstGeom>
          <a:noFill/>
        </p:spPr>
      </p:pic>
      <p:sp>
        <p:nvSpPr>
          <p:cNvPr id="4" name="Title 3">
            <a:extLst>
              <a:ext uri="{FF2B5EF4-FFF2-40B4-BE49-F238E27FC236}">
                <a16:creationId xmlns:a16="http://schemas.microsoft.com/office/drawing/2014/main" id="{AC48B6A4-85FC-FF62-B3C7-8D128C5BE471}"/>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a:r>
              <a:rPr lang="en-US">
                <a:solidFill>
                  <a:srgbClr val="FFFFFF"/>
                </a:solidFill>
              </a:rPr>
              <a:t>Intelligent Agents</a:t>
            </a:r>
          </a:p>
        </p:txBody>
      </p:sp>
      <p:sp>
        <p:nvSpPr>
          <p:cNvPr id="5" name="Text Placeholder 4">
            <a:extLst>
              <a:ext uri="{FF2B5EF4-FFF2-40B4-BE49-F238E27FC236}">
                <a16:creationId xmlns:a16="http://schemas.microsoft.com/office/drawing/2014/main" id="{B14CE2D6-8929-F07E-C8F7-0FB634A9DF95}"/>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a:r>
              <a:rPr lang="en-US" dirty="0">
                <a:solidFill>
                  <a:srgbClr val="FFFFFF"/>
                </a:solidFill>
              </a:rPr>
              <a:t>Machines that act rationally.</a:t>
            </a:r>
          </a:p>
        </p:txBody>
      </p:sp>
      <p:sp>
        <p:nvSpPr>
          <p:cNvPr id="12" name="Text Placeholder 4">
            <a:extLst>
              <a:ext uri="{FF2B5EF4-FFF2-40B4-BE49-F238E27FC236}">
                <a16:creationId xmlns:a16="http://schemas.microsoft.com/office/drawing/2014/main" id="{234A172B-027C-7F8B-3857-6D447AA226D9}"/>
              </a:ext>
              <a:ext uri="{C183D7F6-B498-43B3-948B-1728B52AA6E4}">
                <adec:decorative xmlns:adec="http://schemas.microsoft.com/office/drawing/2017/decorative" val="1"/>
              </a:ext>
            </a:extLst>
          </p:cNvPr>
          <p:cNvSpPr txBox="1">
            <a:spLocks/>
          </p:cNvSpPr>
          <p:nvPr/>
        </p:nvSpPr>
        <p:spPr>
          <a:xfrm>
            <a:off x="609600" y="6248400"/>
            <a:ext cx="8380060" cy="381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600" b="1" dirty="0"/>
              <a:t>ASIMO</a:t>
            </a:r>
            <a:r>
              <a:rPr lang="en-US" sz="1600" dirty="0"/>
              <a:t> (</a:t>
            </a:r>
            <a:r>
              <a:rPr lang="en-US" sz="1600" b="1" dirty="0"/>
              <a:t>Advanced Step in Innovative Mobility</a:t>
            </a:r>
            <a:r>
              <a:rPr lang="en-US" sz="1600" dirty="0"/>
              <a:t>) is a </a:t>
            </a:r>
            <a:r>
              <a:rPr lang="en-US" sz="1600" dirty="0">
                <a:hlinkClick r:id="rId3" tooltip="Humanoid robot">
                  <a:extLst>
                    <a:ext uri="{A12FA001-AC4F-418D-AE19-62706E023703}">
                      <ahyp:hlinkClr xmlns:ahyp="http://schemas.microsoft.com/office/drawing/2018/hyperlinkcolor" val="tx"/>
                    </a:ext>
                  </a:extLst>
                </a:hlinkClick>
              </a:rPr>
              <a:t>humanoid robot</a:t>
            </a:r>
            <a:r>
              <a:rPr lang="en-US" sz="1600" dirty="0"/>
              <a:t> created by </a:t>
            </a:r>
            <a:r>
              <a:rPr lang="en-US" sz="1600" dirty="0">
                <a:hlinkClick r:id="rId4" tooltip="Honda">
                  <a:extLst>
                    <a:ext uri="{A12FA001-AC4F-418D-AE19-62706E023703}">
                      <ahyp:hlinkClr xmlns:ahyp="http://schemas.microsoft.com/office/drawing/2018/hyperlinkcolor" val="tx"/>
                    </a:ext>
                  </a:extLst>
                </a:hlinkClick>
              </a:rPr>
              <a:t>Honda</a:t>
            </a:r>
            <a:r>
              <a:rPr lang="en-US" sz="1600" dirty="0"/>
              <a:t> in 2000</a:t>
            </a:r>
          </a:p>
        </p:txBody>
      </p:sp>
    </p:spTree>
    <p:extLst>
      <p:ext uri="{BB962C8B-B14F-4D97-AF65-F5344CB8AC3E}">
        <p14:creationId xmlns:p14="http://schemas.microsoft.com/office/powerpoint/2010/main" val="227263368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30936" y="251312"/>
            <a:ext cx="7879842" cy="1010264"/>
          </a:xfrm>
        </p:spPr>
        <p:txBody>
          <a:bodyPr anchor="ctr">
            <a:normAutofit fontScale="90000"/>
          </a:bodyPr>
          <a:lstStyle/>
          <a:p>
            <a:r>
              <a:rPr lang="en-US" dirty="0"/>
              <a:t>Components of an Intelligent Agent</a:t>
            </a:r>
          </a:p>
        </p:txBody>
      </p:sp>
      <p:sp>
        <p:nvSpPr>
          <p:cNvPr id="11" name="Rectangle 10">
            <a:extLst>
              <a:ext uri="{FF2B5EF4-FFF2-40B4-BE49-F238E27FC236}">
                <a16:creationId xmlns:a16="http://schemas.microsoft.com/office/drawing/2014/main" id="{CCA3ACF4-94F7-8606-D2F6-5FB02C0CFE44}"/>
              </a:ext>
              <a:ext uri="{C183D7F6-B498-43B3-948B-1728B52AA6E4}">
                <adec:decorative xmlns:adec="http://schemas.microsoft.com/office/drawing/2017/decorative" val="1"/>
              </a:ext>
            </a:extLst>
          </p:cNvPr>
          <p:cNvSpPr/>
          <p:nvPr/>
        </p:nvSpPr>
        <p:spPr>
          <a:xfrm>
            <a:off x="3927578" y="2590800"/>
            <a:ext cx="4291656" cy="24918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013B97C3-DCC6-2DA7-0B2D-AD6F495E5EEB}"/>
              </a:ext>
            </a:extLst>
          </p:cNvPr>
          <p:cNvSpPr txBox="1"/>
          <p:nvPr/>
        </p:nvSpPr>
        <p:spPr>
          <a:xfrm>
            <a:off x="787387" y="1641448"/>
            <a:ext cx="2752104" cy="4478149"/>
          </a:xfrm>
          <a:prstGeom prst="rect">
            <a:avLst/>
          </a:prstGeom>
          <a:noFill/>
        </p:spPr>
        <p:txBody>
          <a:bodyPr wrap="square">
            <a:spAutoFit/>
          </a:bodyPr>
          <a:lstStyle/>
          <a:p>
            <a:pPr defTabSz="822960">
              <a:spcAft>
                <a:spcPts val="600"/>
              </a:spcAft>
            </a:pPr>
            <a:r>
              <a:rPr lang="en-US" kern="1200" dirty="0">
                <a:solidFill>
                  <a:schemeClr val="tx1"/>
                </a:solidFill>
                <a:latin typeface="+mn-lt"/>
                <a:ea typeface="+mn-ea"/>
                <a:cs typeface="+mn-cs"/>
              </a:rPr>
              <a:t>Intelligent agents </a:t>
            </a:r>
            <a:r>
              <a:rPr lang="en-US" b="1" kern="1200" dirty="0">
                <a:solidFill>
                  <a:schemeClr val="tx1"/>
                </a:solidFill>
                <a:latin typeface="+mn-lt"/>
                <a:ea typeface="+mn-ea"/>
                <a:cs typeface="+mn-cs"/>
              </a:rPr>
              <a:t>act rationally</a:t>
            </a:r>
            <a:r>
              <a:rPr lang="en-US" kern="1200" dirty="0">
                <a:solidFill>
                  <a:schemeClr val="tx1"/>
                </a:solidFill>
                <a:latin typeface="+mn-lt"/>
                <a:ea typeface="+mn-ea"/>
                <a:cs typeface="+mn-cs"/>
              </a:rPr>
              <a:t> in </a:t>
            </a:r>
            <a:r>
              <a:rPr lang="en-US" dirty="0"/>
              <a:t>their</a:t>
            </a:r>
            <a:r>
              <a:rPr lang="en-US" kern="1200" dirty="0">
                <a:solidFill>
                  <a:schemeClr val="tx1"/>
                </a:solidFill>
                <a:latin typeface="+mn-lt"/>
                <a:ea typeface="+mn-ea"/>
                <a:cs typeface="+mn-cs"/>
              </a:rPr>
              <a:t> environment. </a:t>
            </a:r>
          </a:p>
          <a:p>
            <a:pPr defTabSz="822960">
              <a:spcAft>
                <a:spcPts val="600"/>
              </a:spcAft>
            </a:pPr>
            <a:endParaRPr lang="en-US" dirty="0"/>
          </a:p>
          <a:p>
            <a:pPr defTabSz="822960">
              <a:spcAft>
                <a:spcPts val="600"/>
              </a:spcAft>
            </a:pPr>
            <a:r>
              <a:rPr lang="en-US" kern="1200" dirty="0">
                <a:solidFill>
                  <a:schemeClr val="tx1"/>
                </a:solidFill>
                <a:latin typeface="+mn-lt"/>
                <a:ea typeface="+mn-ea"/>
                <a:cs typeface="+mn-cs"/>
              </a:rPr>
              <a:t>They need to</a:t>
            </a:r>
          </a:p>
          <a:p>
            <a:pPr marL="308610" indent="-308610" defTabSz="822960">
              <a:spcAft>
                <a:spcPts val="600"/>
              </a:spcAft>
              <a:buFont typeface="Arial" panose="020B0604020202020204" pitchFamily="34" charset="0"/>
              <a:buChar char="•"/>
            </a:pPr>
            <a:r>
              <a:rPr lang="en-US" sz="1600" b="1" dirty="0"/>
              <a:t>C</a:t>
            </a:r>
            <a:r>
              <a:rPr lang="en-US" sz="1600" b="1" kern="1200" dirty="0">
                <a:solidFill>
                  <a:schemeClr val="tx1"/>
                </a:solidFill>
                <a:latin typeface="+mn-lt"/>
                <a:ea typeface="+mn-ea"/>
                <a:cs typeface="+mn-cs"/>
              </a:rPr>
              <a:t>ommunicate</a:t>
            </a:r>
            <a:r>
              <a:rPr lang="en-US" sz="1600" kern="1200" dirty="0">
                <a:solidFill>
                  <a:schemeClr val="tx1"/>
                </a:solidFill>
                <a:latin typeface="+mn-lt"/>
                <a:ea typeface="+mn-ea"/>
                <a:cs typeface="+mn-cs"/>
              </a:rPr>
              <a:t> with the environment</a:t>
            </a:r>
            <a:r>
              <a:rPr lang="en-US" sz="1600" dirty="0"/>
              <a:t> using </a:t>
            </a:r>
            <a:r>
              <a:rPr lang="en-US" sz="1600" b="1" dirty="0"/>
              <a:t>percepts</a:t>
            </a:r>
            <a:r>
              <a:rPr lang="en-US" sz="1600" dirty="0"/>
              <a:t> and </a:t>
            </a:r>
            <a:r>
              <a:rPr lang="en-US" sz="1600" b="1" dirty="0"/>
              <a:t>actions</a:t>
            </a:r>
            <a:r>
              <a:rPr lang="en-US" sz="1600" dirty="0"/>
              <a:t>.</a:t>
            </a:r>
          </a:p>
          <a:p>
            <a:pPr marL="308610" indent="-308610" defTabSz="822960">
              <a:spcAft>
                <a:spcPts val="600"/>
              </a:spcAft>
              <a:buFont typeface="Arial" panose="020B0604020202020204" pitchFamily="34" charset="0"/>
              <a:buChar char="•"/>
            </a:pPr>
            <a:r>
              <a:rPr lang="en-US" sz="1600" b="1" dirty="0"/>
              <a:t>R</a:t>
            </a:r>
            <a:r>
              <a:rPr lang="en-US" sz="1600" b="1" kern="1200" dirty="0">
                <a:solidFill>
                  <a:schemeClr val="tx1"/>
                </a:solidFill>
                <a:latin typeface="+mn-lt"/>
                <a:ea typeface="+mn-ea"/>
                <a:cs typeface="+mn-cs"/>
              </a:rPr>
              <a:t>epresent knowledge</a:t>
            </a:r>
            <a:r>
              <a:rPr lang="en-US" sz="1600" kern="1200" dirty="0">
                <a:solidFill>
                  <a:schemeClr val="tx1"/>
                </a:solidFill>
                <a:latin typeface="+mn-lt"/>
                <a:ea typeface="+mn-ea"/>
                <a:cs typeface="+mn-cs"/>
              </a:rPr>
              <a:t>,</a:t>
            </a:r>
            <a:r>
              <a:rPr lang="en-US" sz="1600" dirty="0"/>
              <a:t> </a:t>
            </a:r>
            <a:r>
              <a:rPr lang="en-US" sz="1600" b="1" kern="1200" dirty="0">
                <a:solidFill>
                  <a:schemeClr val="tx1"/>
                </a:solidFill>
                <a:latin typeface="+mn-lt"/>
                <a:ea typeface="+mn-ea"/>
                <a:cs typeface="+mn-cs"/>
              </a:rPr>
              <a:t>reason</a:t>
            </a:r>
            <a:r>
              <a:rPr lang="en-US" sz="1600" kern="1200" dirty="0">
                <a:solidFill>
                  <a:schemeClr val="tx1"/>
                </a:solidFill>
                <a:latin typeface="+mn-lt"/>
                <a:ea typeface="+mn-ea"/>
                <a:cs typeface="+mn-cs"/>
              </a:rPr>
              <a:t> and </a:t>
            </a:r>
            <a:r>
              <a:rPr lang="en-US" sz="1600" b="1" kern="1200" dirty="0">
                <a:solidFill>
                  <a:schemeClr val="tx1"/>
                </a:solidFill>
                <a:latin typeface="+mn-lt"/>
                <a:ea typeface="+mn-ea"/>
                <a:cs typeface="+mn-cs"/>
              </a:rPr>
              <a:t>plan</a:t>
            </a:r>
            <a:r>
              <a:rPr lang="en-US" sz="1600" kern="1200" dirty="0">
                <a:solidFill>
                  <a:schemeClr val="tx1"/>
                </a:solidFill>
                <a:latin typeface="+mn-lt"/>
                <a:ea typeface="+mn-ea"/>
                <a:cs typeface="+mn-cs"/>
              </a:rPr>
              <a:t> to achieve a desired </a:t>
            </a:r>
            <a:r>
              <a:rPr lang="en-US" sz="1600" b="1" kern="1200" dirty="0">
                <a:solidFill>
                  <a:schemeClr val="tx1"/>
                </a:solidFill>
                <a:latin typeface="+mn-lt"/>
                <a:ea typeface="+mn-ea"/>
                <a:cs typeface="+mn-cs"/>
              </a:rPr>
              <a:t>outcome</a:t>
            </a:r>
            <a:r>
              <a:rPr lang="en-US" sz="1600" kern="1200" dirty="0">
                <a:solidFill>
                  <a:schemeClr val="tx1"/>
                </a:solidFill>
                <a:latin typeface="+mn-lt"/>
                <a:ea typeface="+mn-ea"/>
                <a:cs typeface="+mn-cs"/>
              </a:rPr>
              <a:t>.</a:t>
            </a:r>
          </a:p>
          <a:p>
            <a:pPr defTabSz="822960">
              <a:spcAft>
                <a:spcPts val="600"/>
              </a:spcAft>
            </a:pPr>
            <a:endParaRPr lang="en-US" sz="1600" b="1" dirty="0"/>
          </a:p>
          <a:p>
            <a:pPr defTabSz="822960">
              <a:spcAft>
                <a:spcPts val="600"/>
              </a:spcAft>
            </a:pPr>
            <a:r>
              <a:rPr lang="en-US" sz="1600" dirty="0"/>
              <a:t>Optional</a:t>
            </a:r>
          </a:p>
          <a:p>
            <a:pPr marL="308610" indent="-308610" defTabSz="822960">
              <a:spcAft>
                <a:spcPts val="600"/>
              </a:spcAft>
              <a:buFont typeface="Arial" panose="020B0604020202020204" pitchFamily="34" charset="0"/>
              <a:buChar char="•"/>
            </a:pPr>
            <a:r>
              <a:rPr lang="en-US" sz="1600" b="1" dirty="0"/>
              <a:t>L</a:t>
            </a:r>
            <a:r>
              <a:rPr lang="en-US" sz="1600" b="1" kern="1200" dirty="0">
                <a:solidFill>
                  <a:schemeClr val="tx1"/>
                </a:solidFill>
                <a:latin typeface="+mn-lt"/>
                <a:ea typeface="+mn-ea"/>
                <a:cs typeface="+mn-cs"/>
              </a:rPr>
              <a:t>earn from experience </a:t>
            </a:r>
            <a:r>
              <a:rPr lang="en-US" sz="1600" kern="1200" dirty="0">
                <a:solidFill>
                  <a:schemeClr val="tx1"/>
                </a:solidFill>
                <a:latin typeface="+mn-lt"/>
                <a:ea typeface="+mn-ea"/>
                <a:cs typeface="+mn-cs"/>
              </a:rPr>
              <a:t>to improve performance</a:t>
            </a:r>
            <a:r>
              <a:rPr lang="en-US" sz="1600" b="1" kern="1200" dirty="0">
                <a:solidFill>
                  <a:schemeClr val="tx1"/>
                </a:solidFill>
                <a:latin typeface="+mn-lt"/>
                <a:ea typeface="+mn-ea"/>
                <a:cs typeface="+mn-cs"/>
              </a:rPr>
              <a:t>.</a:t>
            </a:r>
          </a:p>
        </p:txBody>
      </p:sp>
      <p:pic>
        <p:nvPicPr>
          <p:cNvPr id="8" name="Picture 4" descr="Diagram of an intelligent agent perceiving inputs from the environment and performing actions on the environment.">
            <a:extLst>
              <a:ext uri="{FF2B5EF4-FFF2-40B4-BE49-F238E27FC236}">
                <a16:creationId xmlns:a16="http://schemas.microsoft.com/office/drawing/2014/main" id="{4DB3E2C6-EE4E-D364-BCB4-E75726340565}"/>
              </a:ext>
            </a:extLst>
          </p:cNvPr>
          <p:cNvPicPr>
            <a:picLocks noChangeAspect="1" noChangeArrowheads="1"/>
          </p:cNvPicPr>
          <p:nvPr/>
        </p:nvPicPr>
        <p:blipFill>
          <a:blip r:embed="rId3" cstate="print"/>
          <a:srcRect/>
          <a:stretch>
            <a:fillRect/>
          </a:stretch>
        </p:blipFill>
        <p:spPr bwMode="auto">
          <a:xfrm>
            <a:off x="3996797" y="2642519"/>
            <a:ext cx="4176800" cy="1799405"/>
          </a:xfrm>
          <a:prstGeom prst="rect">
            <a:avLst/>
          </a:prstGeom>
          <a:noFill/>
          <a:ln w="9525">
            <a:noFill/>
            <a:miter lim="800000"/>
            <a:headEnd/>
            <a:tailEnd/>
          </a:ln>
        </p:spPr>
      </p:pic>
      <p:sp>
        <p:nvSpPr>
          <p:cNvPr id="10" name="TextBox 9">
            <a:extLst>
              <a:ext uri="{FF2B5EF4-FFF2-40B4-BE49-F238E27FC236}">
                <a16:creationId xmlns:a16="http://schemas.microsoft.com/office/drawing/2014/main" id="{D65825CC-57D2-D785-815A-D40859707529}"/>
              </a:ext>
            </a:extLst>
          </p:cNvPr>
          <p:cNvSpPr txBox="1"/>
          <p:nvPr/>
        </p:nvSpPr>
        <p:spPr>
          <a:xfrm>
            <a:off x="3927578" y="4556320"/>
            <a:ext cx="4291656"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pic>
        <p:nvPicPr>
          <p:cNvPr id="2" name="Graphic 1">
            <a:extLst>
              <a:ext uri="{FF2B5EF4-FFF2-40B4-BE49-F238E27FC236}">
                <a16:creationId xmlns:a16="http://schemas.microsoft.com/office/drawing/2014/main" id="{C183E897-3442-3193-0715-35F3DF0871B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35528" y="1795282"/>
            <a:ext cx="583706" cy="547585"/>
          </a:xfrm>
          <a:prstGeom prst="rect">
            <a:avLst/>
          </a:prstGeom>
        </p:spPr>
      </p:pic>
      <p:sp>
        <p:nvSpPr>
          <p:cNvPr id="3" name="TextBox 2">
            <a:extLst>
              <a:ext uri="{FF2B5EF4-FFF2-40B4-BE49-F238E27FC236}">
                <a16:creationId xmlns:a16="http://schemas.microsoft.com/office/drawing/2014/main" id="{3BAF1CB9-674C-B108-5636-A0D007C25EA0}"/>
              </a:ext>
              <a:ext uri="{C183D7F6-B498-43B3-948B-1728B52AA6E4}">
                <adec:decorative xmlns:adec="http://schemas.microsoft.com/office/drawing/2017/decorative" val="1"/>
              </a:ext>
            </a:extLst>
          </p:cNvPr>
          <p:cNvSpPr txBox="1"/>
          <p:nvPr/>
        </p:nvSpPr>
        <p:spPr>
          <a:xfrm>
            <a:off x="7539293" y="2172526"/>
            <a:ext cx="776175" cy="261610"/>
          </a:xfrm>
          <a:prstGeom prst="rect">
            <a:avLst/>
          </a:prstGeom>
          <a:noFill/>
        </p:spPr>
        <p:txBody>
          <a:bodyPr wrap="none" rtlCol="0">
            <a:spAutoFit/>
          </a:bodyPr>
          <a:lstStyle/>
          <a:p>
            <a:r>
              <a:rPr lang="en-US" sz="1100" dirty="0">
                <a:solidFill>
                  <a:schemeClr val="accent2"/>
                </a:solidFill>
              </a:rPr>
              <a:t>Developer</a:t>
            </a:r>
          </a:p>
        </p:txBody>
      </p:sp>
      <p:cxnSp>
        <p:nvCxnSpPr>
          <p:cNvPr id="6" name="Straight Arrow Connector 5">
            <a:extLst>
              <a:ext uri="{FF2B5EF4-FFF2-40B4-BE49-F238E27FC236}">
                <a16:creationId xmlns:a16="http://schemas.microsoft.com/office/drawing/2014/main" id="{7319B92B-FA7E-C3BE-8F98-98493103921F}"/>
              </a:ext>
              <a:ext uri="{C183D7F6-B498-43B3-948B-1728B52AA6E4}">
                <adec:decorative xmlns:adec="http://schemas.microsoft.com/office/drawing/2017/decorative" val="1"/>
              </a:ext>
            </a:extLst>
          </p:cNvPr>
          <p:cNvCxnSpPr>
            <a:cxnSpLocks/>
            <a:stCxn id="3" idx="2"/>
          </p:cNvCxnSpPr>
          <p:nvPr/>
        </p:nvCxnSpPr>
        <p:spPr>
          <a:xfrm flipH="1">
            <a:off x="7381034" y="2434136"/>
            <a:ext cx="546347" cy="92309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4950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CF22-BCE0-DF14-C282-B553C8C22E8C}"/>
              </a:ext>
            </a:extLst>
          </p:cNvPr>
          <p:cNvSpPr>
            <a:spLocks noGrp="1"/>
          </p:cNvSpPr>
          <p:nvPr>
            <p:ph type="title"/>
          </p:nvPr>
        </p:nvSpPr>
        <p:spPr/>
        <p:txBody>
          <a:bodyPr/>
          <a:lstStyle/>
          <a:p>
            <a:r>
              <a:rPr lang="en-US" dirty="0"/>
              <a:t>Example: Self-Driving Car</a:t>
            </a:r>
          </a:p>
        </p:txBody>
      </p:sp>
      <p:pic>
        <p:nvPicPr>
          <p:cNvPr id="1026" name="Picture 2" descr="figure">
            <a:extLst>
              <a:ext uri="{FF2B5EF4-FFF2-40B4-BE49-F238E27FC236}">
                <a16:creationId xmlns:a16="http://schemas.microsoft.com/office/drawing/2014/main" id="{0A0FB048-7716-FD58-394E-C8B0FE987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2" y="1580197"/>
            <a:ext cx="6162675" cy="369760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0EB2BF99-2546-E2B6-E428-37F6D024790C}"/>
              </a:ext>
              <a:ext uri="{C183D7F6-B498-43B3-948B-1728B52AA6E4}">
                <adec:decorative xmlns:adec="http://schemas.microsoft.com/office/drawing/2017/decorative" val="1"/>
              </a:ext>
            </a:extLst>
          </p:cNvPr>
          <p:cNvSpPr/>
          <p:nvPr/>
        </p:nvSpPr>
        <p:spPr>
          <a:xfrm>
            <a:off x="3124200" y="2438400"/>
            <a:ext cx="609600" cy="68580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E9FC3AC1-9E5A-CAE3-79DE-07A7B1FB104B}"/>
              </a:ext>
            </a:extLst>
          </p:cNvPr>
          <p:cNvSpPr txBox="1">
            <a:spLocks/>
          </p:cNvSpPr>
          <p:nvPr/>
        </p:nvSpPr>
        <p:spPr>
          <a:xfrm>
            <a:off x="628650" y="5486400"/>
            <a:ext cx="1200150" cy="1143000"/>
          </a:xfrm>
          <a:prstGeom prst="rect">
            <a:avLst/>
          </a:prstGeom>
        </p:spPr>
        <p:txBody>
          <a:bodyPr vert="horz" lIns="91440" tIns="45720" rIns="91440" bIns="45720" rtlCol="0">
            <a:normAutofit/>
          </a:bodyPr>
          <a:lst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indent="0">
              <a:buFont typeface="Arial" panose="020B0604020202020204" pitchFamily="34" charset="0"/>
              <a:buNone/>
            </a:pPr>
            <a:r>
              <a:rPr lang="en-US" sz="1800" dirty="0"/>
              <a:t>Percepts:</a:t>
            </a:r>
          </a:p>
          <a:p>
            <a:pPr marL="0" indent="0">
              <a:buFont typeface="Arial" panose="020B0604020202020204" pitchFamily="34" charset="0"/>
              <a:buNone/>
            </a:pPr>
            <a:r>
              <a:rPr lang="en-US" sz="1800" dirty="0"/>
              <a:t>Action:</a:t>
            </a:r>
          </a:p>
          <a:p>
            <a:pPr marL="0" indent="0">
              <a:buFont typeface="Arial" panose="020B0604020202020204" pitchFamily="34" charset="0"/>
              <a:buNone/>
            </a:pPr>
            <a:r>
              <a:rPr lang="en-US" sz="1800" dirty="0"/>
              <a:t>Objective:</a:t>
            </a:r>
          </a:p>
        </p:txBody>
      </p:sp>
      <p:sp>
        <p:nvSpPr>
          <p:cNvPr id="14" name="TextBox 13">
            <a:extLst>
              <a:ext uri="{FF2B5EF4-FFF2-40B4-BE49-F238E27FC236}">
                <a16:creationId xmlns:a16="http://schemas.microsoft.com/office/drawing/2014/main" id="{0A56205F-5AD4-29B4-D72E-FE85F09CB14A}"/>
              </a:ext>
            </a:extLst>
          </p:cNvPr>
          <p:cNvSpPr txBox="1"/>
          <p:nvPr/>
        </p:nvSpPr>
        <p:spPr>
          <a:xfrm>
            <a:off x="1835446" y="5460157"/>
            <a:ext cx="5251154" cy="369332"/>
          </a:xfrm>
          <a:prstGeom prst="rect">
            <a:avLst/>
          </a:prstGeom>
          <a:noFill/>
        </p:spPr>
        <p:txBody>
          <a:bodyPr wrap="square">
            <a:spAutoFit/>
          </a:bodyPr>
          <a:lstStyle/>
          <a:p>
            <a:pPr marL="0" indent="0">
              <a:buFont typeface="Arial" panose="020B0604020202020204" pitchFamily="34" charset="0"/>
              <a:buNone/>
            </a:pPr>
            <a:r>
              <a:rPr lang="en-US" dirty="0"/>
              <a:t>Other objects including people crossing the street.</a:t>
            </a:r>
          </a:p>
        </p:txBody>
      </p:sp>
      <p:sp>
        <p:nvSpPr>
          <p:cNvPr id="13" name="TextBox 12">
            <a:extLst>
              <a:ext uri="{FF2B5EF4-FFF2-40B4-BE49-F238E27FC236}">
                <a16:creationId xmlns:a16="http://schemas.microsoft.com/office/drawing/2014/main" id="{55E0DCC2-0AD9-2F6F-08BC-3DBBD6460BE3}"/>
              </a:ext>
            </a:extLst>
          </p:cNvPr>
          <p:cNvSpPr txBox="1"/>
          <p:nvPr/>
        </p:nvSpPr>
        <p:spPr>
          <a:xfrm>
            <a:off x="1835446" y="5790040"/>
            <a:ext cx="2801031" cy="369332"/>
          </a:xfrm>
          <a:prstGeom prst="rect">
            <a:avLst/>
          </a:prstGeom>
          <a:noFill/>
        </p:spPr>
        <p:txBody>
          <a:bodyPr wrap="square">
            <a:spAutoFit/>
          </a:bodyPr>
          <a:lstStyle/>
          <a:p>
            <a:pPr marL="0" indent="0">
              <a:buFont typeface="Arial" panose="020B0604020202020204" pitchFamily="34" charset="0"/>
              <a:buNone/>
            </a:pPr>
            <a:r>
              <a:rPr lang="en-US" dirty="0"/>
              <a:t>Slow down or stop the car.</a:t>
            </a:r>
          </a:p>
        </p:txBody>
      </p:sp>
      <p:sp>
        <p:nvSpPr>
          <p:cNvPr id="5" name="TextBox 4">
            <a:extLst>
              <a:ext uri="{FF2B5EF4-FFF2-40B4-BE49-F238E27FC236}">
                <a16:creationId xmlns:a16="http://schemas.microsoft.com/office/drawing/2014/main" id="{A95FC49C-1351-D371-8B11-86386BAC958C}"/>
              </a:ext>
            </a:extLst>
          </p:cNvPr>
          <p:cNvSpPr txBox="1"/>
          <p:nvPr/>
        </p:nvSpPr>
        <p:spPr>
          <a:xfrm>
            <a:off x="1835446" y="6159372"/>
            <a:ext cx="3733800" cy="369332"/>
          </a:xfrm>
          <a:prstGeom prst="rect">
            <a:avLst/>
          </a:prstGeom>
          <a:noFill/>
        </p:spPr>
        <p:txBody>
          <a:bodyPr wrap="square">
            <a:spAutoFit/>
          </a:bodyPr>
          <a:lstStyle/>
          <a:p>
            <a:pPr marL="0" indent="0">
              <a:buFont typeface="Arial" panose="020B0604020202020204" pitchFamily="34" charset="0"/>
              <a:buNone/>
            </a:pPr>
            <a:r>
              <a:rPr lang="en-US" dirty="0"/>
              <a:t>Reach the destination safely</a:t>
            </a:r>
          </a:p>
        </p:txBody>
      </p:sp>
    </p:spTree>
    <p:extLst>
      <p:ext uri="{BB962C8B-B14F-4D97-AF65-F5344CB8AC3E}">
        <p14:creationId xmlns:p14="http://schemas.microsoft.com/office/powerpoint/2010/main" val="136338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a:xfrm>
            <a:off x="636814" y="137917"/>
            <a:ext cx="7886700" cy="1325563"/>
          </a:xfrm>
        </p:spPr>
        <p:txBody>
          <a:bodyPr>
            <a:normAutofit/>
          </a:bodyPr>
          <a:lstStyle/>
          <a:p>
            <a:r>
              <a:rPr lang="en-US" sz="3600" dirty="0"/>
              <a:t>Example: Homework and LLMs</a:t>
            </a:r>
          </a:p>
        </p:txBody>
      </p:sp>
      <p:pic>
        <p:nvPicPr>
          <p:cNvPr id="13" name="Picture 12" descr="A screenshot of ChatGPT writing an essay about Sokrates.">
            <a:extLst>
              <a:ext uri="{FF2B5EF4-FFF2-40B4-BE49-F238E27FC236}">
                <a16:creationId xmlns:a16="http://schemas.microsoft.com/office/drawing/2014/main" id="{58A7AB83-ADCF-F4C1-3E52-9A5442F71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178881"/>
            <a:ext cx="7562850" cy="4155119"/>
          </a:xfrm>
          <a:prstGeom prst="rect">
            <a:avLst/>
          </a:prstGeom>
        </p:spPr>
      </p:pic>
      <p:pic>
        <p:nvPicPr>
          <p:cNvPr id="1026" name="Picture 2">
            <a:extLst>
              <a:ext uri="{FF2B5EF4-FFF2-40B4-BE49-F238E27FC236}">
                <a16:creationId xmlns:a16="http://schemas.microsoft.com/office/drawing/2014/main" id="{7B854F5C-F02E-55D3-B81E-0C4136F64300}"/>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Content Placeholder 2">
            <a:extLst>
              <a:ext uri="{FF2B5EF4-FFF2-40B4-BE49-F238E27FC236}">
                <a16:creationId xmlns:a16="http://schemas.microsoft.com/office/drawing/2014/main" id="{46891738-C22D-B399-A6A9-BC285AF1D66E}"/>
              </a:ext>
            </a:extLst>
          </p:cNvPr>
          <p:cNvSpPr txBox="1">
            <a:spLocks/>
          </p:cNvSpPr>
          <p:nvPr/>
        </p:nvSpPr>
        <p:spPr>
          <a:xfrm>
            <a:off x="628650" y="5486400"/>
            <a:ext cx="1200150" cy="1069776"/>
          </a:xfrm>
          <a:prstGeom prst="rect">
            <a:avLst/>
          </a:prstGeom>
        </p:spPr>
        <p:txBody>
          <a:bodyPr vert="horz" lIns="91440" tIns="45720" rIns="91440" bIns="45720" rtlCol="0">
            <a:normAutofit/>
          </a:bodyPr>
          <a:lst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indent="0">
              <a:buFont typeface="Arial" panose="020B0604020202020204" pitchFamily="34" charset="0"/>
              <a:buNone/>
            </a:pPr>
            <a:r>
              <a:rPr lang="en-US" sz="1800" dirty="0"/>
              <a:t>Percept:</a:t>
            </a:r>
          </a:p>
          <a:p>
            <a:pPr marL="0" indent="0">
              <a:buFont typeface="Arial" panose="020B0604020202020204" pitchFamily="34" charset="0"/>
              <a:buNone/>
            </a:pPr>
            <a:r>
              <a:rPr lang="en-US" sz="1800" dirty="0"/>
              <a:t>Action:</a:t>
            </a:r>
          </a:p>
          <a:p>
            <a:pPr marL="0" indent="0">
              <a:buFont typeface="Arial" panose="020B0604020202020204" pitchFamily="34" charset="0"/>
              <a:buNone/>
            </a:pPr>
            <a:r>
              <a:rPr lang="en-US" sz="1800" dirty="0"/>
              <a:t>Objective:</a:t>
            </a:r>
          </a:p>
        </p:txBody>
      </p:sp>
      <p:sp>
        <p:nvSpPr>
          <p:cNvPr id="9" name="TextBox 8">
            <a:extLst>
              <a:ext uri="{FF2B5EF4-FFF2-40B4-BE49-F238E27FC236}">
                <a16:creationId xmlns:a16="http://schemas.microsoft.com/office/drawing/2014/main" id="{704EA84D-FAC2-97B4-8EDF-719AB42A6361}"/>
              </a:ext>
            </a:extLst>
          </p:cNvPr>
          <p:cNvSpPr txBox="1"/>
          <p:nvPr/>
        </p:nvSpPr>
        <p:spPr>
          <a:xfrm>
            <a:off x="1828800" y="5482343"/>
            <a:ext cx="4572000" cy="369332"/>
          </a:xfrm>
          <a:prstGeom prst="rect">
            <a:avLst/>
          </a:prstGeom>
          <a:noFill/>
        </p:spPr>
        <p:txBody>
          <a:bodyPr wrap="square">
            <a:spAutoFit/>
          </a:bodyPr>
          <a:lstStyle/>
          <a:p>
            <a:pPr marL="0" indent="0">
              <a:buFont typeface="Arial" panose="020B0604020202020204" pitchFamily="34" charset="0"/>
              <a:buNone/>
            </a:pPr>
            <a:r>
              <a:rPr lang="en-US" dirty="0"/>
              <a:t>Your prompt</a:t>
            </a:r>
            <a:endParaRPr lang="en-US" sz="2000" dirty="0"/>
          </a:p>
        </p:txBody>
      </p:sp>
      <p:sp>
        <p:nvSpPr>
          <p:cNvPr id="4" name="TextBox 3">
            <a:extLst>
              <a:ext uri="{FF2B5EF4-FFF2-40B4-BE49-F238E27FC236}">
                <a16:creationId xmlns:a16="http://schemas.microsoft.com/office/drawing/2014/main" id="{753FA0D2-51AC-EF25-3F99-782ED1E0071D}"/>
              </a:ext>
            </a:extLst>
          </p:cNvPr>
          <p:cNvSpPr txBox="1"/>
          <p:nvPr/>
        </p:nvSpPr>
        <p:spPr>
          <a:xfrm>
            <a:off x="1835263" y="5801318"/>
            <a:ext cx="6915831" cy="369332"/>
          </a:xfrm>
          <a:prstGeom prst="rect">
            <a:avLst/>
          </a:prstGeom>
          <a:noFill/>
        </p:spPr>
        <p:txBody>
          <a:bodyPr wrap="square">
            <a:spAutoFit/>
          </a:bodyPr>
          <a:lstStyle/>
          <a:p>
            <a:r>
              <a:rPr lang="en-US" dirty="0"/>
              <a:t>Next most likely word… More words are created word-by-word. </a:t>
            </a:r>
          </a:p>
        </p:txBody>
      </p:sp>
      <p:sp>
        <p:nvSpPr>
          <p:cNvPr id="5" name="Rectangle 4">
            <a:extLst>
              <a:ext uri="{FF2B5EF4-FFF2-40B4-BE49-F238E27FC236}">
                <a16:creationId xmlns:a16="http://schemas.microsoft.com/office/drawing/2014/main" id="{7178DF08-72CE-68C1-06E3-FB9050FFAFF2}"/>
              </a:ext>
              <a:ext uri="{C183D7F6-B498-43B3-948B-1728B52AA6E4}">
                <adec:decorative xmlns:adec="http://schemas.microsoft.com/office/drawing/2017/decorative" val="1"/>
              </a:ext>
            </a:extLst>
          </p:cNvPr>
          <p:cNvSpPr/>
          <p:nvPr/>
        </p:nvSpPr>
        <p:spPr>
          <a:xfrm>
            <a:off x="3905250" y="1861822"/>
            <a:ext cx="3352800" cy="341551"/>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C4B857-3E6C-45F8-F973-6BE5699547E1}"/>
              </a:ext>
              <a:ext uri="{C183D7F6-B498-43B3-948B-1728B52AA6E4}">
                <adec:decorative xmlns:adec="http://schemas.microsoft.com/office/drawing/2017/decorative" val="1"/>
              </a:ext>
            </a:extLst>
          </p:cNvPr>
          <p:cNvSpPr/>
          <p:nvPr/>
        </p:nvSpPr>
        <p:spPr>
          <a:xfrm>
            <a:off x="2152650" y="3684140"/>
            <a:ext cx="381000" cy="271833"/>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7CB975-65BE-FE0D-ADC4-DAD2951C9372}"/>
              </a:ext>
            </a:extLst>
          </p:cNvPr>
          <p:cNvSpPr txBox="1"/>
          <p:nvPr/>
        </p:nvSpPr>
        <p:spPr>
          <a:xfrm>
            <a:off x="1835263" y="6164191"/>
            <a:ext cx="6013337" cy="369332"/>
          </a:xfrm>
          <a:prstGeom prst="rect">
            <a:avLst/>
          </a:prstGeom>
          <a:noFill/>
        </p:spPr>
        <p:txBody>
          <a:bodyPr wrap="square">
            <a:spAutoFit/>
          </a:bodyPr>
          <a:lstStyle/>
          <a:p>
            <a:pPr marL="0" indent="0">
              <a:buFont typeface="Arial" panose="020B0604020202020204" pitchFamily="34" charset="0"/>
              <a:buNone/>
            </a:pPr>
            <a:r>
              <a:rPr lang="en-US" dirty="0"/>
              <a:t>You may like a useful answer, but what is ChatGPT’s objective?</a:t>
            </a:r>
          </a:p>
        </p:txBody>
      </p:sp>
    </p:spTree>
    <p:extLst>
      <p:ext uri="{BB962C8B-B14F-4D97-AF65-F5344CB8AC3E}">
        <p14:creationId xmlns:p14="http://schemas.microsoft.com/office/powerpoint/2010/main" val="127924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5" grpId="0" animBg="1"/>
      <p:bldP spid="6" grpId="0" animBg="1"/>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F25740F-58C5-1464-C667-D614A9B0F16C}"/>
              </a:ext>
            </a:extLst>
          </p:cNvPr>
          <p:cNvGrpSpPr/>
          <p:nvPr/>
        </p:nvGrpSpPr>
        <p:grpSpPr>
          <a:xfrm>
            <a:off x="506258" y="1697300"/>
            <a:ext cx="4273249" cy="4357524"/>
            <a:chOff x="506258" y="1697300"/>
            <a:chExt cx="4273249" cy="4357524"/>
          </a:xfrm>
        </p:grpSpPr>
        <p:sp>
          <p:nvSpPr>
            <p:cNvPr id="7" name="Freeform: Shape 6">
              <a:extLst>
                <a:ext uri="{FF2B5EF4-FFF2-40B4-BE49-F238E27FC236}">
                  <a16:creationId xmlns:a16="http://schemas.microsoft.com/office/drawing/2014/main" id="{C2FAD070-5C98-641D-6F75-7AE4D1B12DED}"/>
                </a:ext>
              </a:extLst>
            </p:cNvPr>
            <p:cNvSpPr/>
            <p:nvPr/>
          </p:nvSpPr>
          <p:spPr>
            <a:xfrm>
              <a:off x="506258" y="1697300"/>
              <a:ext cx="4273249" cy="4357524"/>
            </a:xfrm>
            <a:custGeom>
              <a:avLst/>
              <a:gdLst>
                <a:gd name="connsiteX0" fmla="*/ 0 w 4273249"/>
                <a:gd name="connsiteY0" fmla="*/ 2178762 h 4357524"/>
                <a:gd name="connsiteX1" fmla="*/ 2136625 w 4273249"/>
                <a:gd name="connsiteY1" fmla="*/ 0 h 4357524"/>
                <a:gd name="connsiteX2" fmla="*/ 4273250 w 4273249"/>
                <a:gd name="connsiteY2" fmla="*/ 2178762 h 4357524"/>
                <a:gd name="connsiteX3" fmla="*/ 2136625 w 4273249"/>
                <a:gd name="connsiteY3" fmla="*/ 4357524 h 4357524"/>
                <a:gd name="connsiteX4" fmla="*/ 0 w 4273249"/>
                <a:gd name="connsiteY4" fmla="*/ 2178762 h 4357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3249" h="4357524">
                  <a:moveTo>
                    <a:pt x="0" y="2178762"/>
                  </a:moveTo>
                  <a:cubicBezTo>
                    <a:pt x="0" y="975465"/>
                    <a:pt x="956600" y="0"/>
                    <a:pt x="2136625" y="0"/>
                  </a:cubicBezTo>
                  <a:cubicBezTo>
                    <a:pt x="3316650" y="0"/>
                    <a:pt x="4273250" y="975465"/>
                    <a:pt x="4273250" y="2178762"/>
                  </a:cubicBezTo>
                  <a:cubicBezTo>
                    <a:pt x="4273250" y="3382059"/>
                    <a:pt x="3316650" y="4357524"/>
                    <a:pt x="2136625" y="4357524"/>
                  </a:cubicBezTo>
                  <a:cubicBezTo>
                    <a:pt x="956600" y="4357524"/>
                    <a:pt x="0" y="3382059"/>
                    <a:pt x="0" y="2178762"/>
                  </a:cubicBez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45906" tIns="473908" rIns="1645907" bIns="3742052" numCol="1" spcCol="1270" anchor="ctr" anchorCtr="0">
              <a:noAutofit/>
            </a:bodyPr>
            <a:lstStyle/>
            <a:p>
              <a:pPr marL="0" lvl="0" indent="0" algn="ctr" defTabSz="1600200">
                <a:lnSpc>
                  <a:spcPct val="90000"/>
                </a:lnSpc>
                <a:spcBef>
                  <a:spcPct val="0"/>
                </a:spcBef>
                <a:spcAft>
                  <a:spcPct val="35000"/>
                </a:spcAft>
                <a:buNone/>
              </a:pPr>
              <a:r>
                <a:rPr lang="en-US" sz="3600" b="1" kern="1200" dirty="0"/>
                <a:t>AI</a:t>
              </a:r>
            </a:p>
          </p:txBody>
        </p:sp>
        <p:sp>
          <p:nvSpPr>
            <p:cNvPr id="8" name="TextBox 7">
              <a:extLst>
                <a:ext uri="{FF2B5EF4-FFF2-40B4-BE49-F238E27FC236}">
                  <a16:creationId xmlns:a16="http://schemas.microsoft.com/office/drawing/2014/main" id="{982FA158-D318-31F6-4481-B520095C3658}"/>
                </a:ext>
                <a:ext uri="{C183D7F6-B498-43B3-948B-1728B52AA6E4}">
                  <adec:decorative xmlns:adec="http://schemas.microsoft.com/office/drawing/2017/decorative" val="1"/>
                </a:ext>
              </a:extLst>
            </p:cNvPr>
            <p:cNvSpPr txBox="1"/>
            <p:nvPr/>
          </p:nvSpPr>
          <p:spPr>
            <a:xfrm>
              <a:off x="1106155" y="2470739"/>
              <a:ext cx="3156800" cy="338554"/>
            </a:xfrm>
            <a:prstGeom prst="rect">
              <a:avLst/>
            </a:prstGeom>
            <a:noFill/>
          </p:spPr>
          <p:txBody>
            <a:bodyPr wrap="square">
              <a:spAutoFit/>
            </a:bodyPr>
            <a:lstStyle/>
            <a:p>
              <a:pPr algn="ctr" defTabSz="813816"/>
              <a:r>
                <a:rPr lang="en-US" sz="1600" kern="1200" dirty="0">
                  <a:solidFill>
                    <a:schemeClr val="bg1"/>
                  </a:solidFill>
                  <a:latin typeface="+mn-lt"/>
                  <a:ea typeface="+mn-ea"/>
                  <a:cs typeface="+mn-cs"/>
                </a:rPr>
                <a:t>Designing an intelligent agent </a:t>
              </a:r>
            </a:p>
          </p:txBody>
        </p:sp>
        <p:sp>
          <p:nvSpPr>
            <p:cNvPr id="6" name="TextBox 5">
              <a:extLst>
                <a:ext uri="{FF2B5EF4-FFF2-40B4-BE49-F238E27FC236}">
                  <a16:creationId xmlns:a16="http://schemas.microsoft.com/office/drawing/2014/main" id="{BFCA1891-26C0-FFD0-93A7-3896C9DC583B}"/>
                </a:ext>
                <a:ext uri="{C183D7F6-B498-43B3-948B-1728B52AA6E4}">
                  <adec:decorative xmlns:adec="http://schemas.microsoft.com/office/drawing/2017/decorative" val="1"/>
                </a:ext>
              </a:extLst>
            </p:cNvPr>
            <p:cNvSpPr txBox="1"/>
            <p:nvPr/>
          </p:nvSpPr>
          <p:spPr>
            <a:xfrm>
              <a:off x="859302" y="2890528"/>
              <a:ext cx="1649603" cy="2031325"/>
            </a:xfrm>
            <a:prstGeom prst="rect">
              <a:avLst/>
            </a:prstGeom>
            <a:noFill/>
          </p:spPr>
          <p:txBody>
            <a:bodyPr wrap="square" rtlCol="0">
              <a:spAutoFit/>
            </a:bodyPr>
            <a:lstStyle/>
            <a:p>
              <a:pPr marL="254318" indent="-254318" defTabSz="813816">
                <a:buFont typeface="Arial" panose="020B0604020202020204" pitchFamily="34" charset="0"/>
                <a:buChar char="•"/>
              </a:pPr>
              <a:r>
                <a:rPr lang="en-US" sz="1400" kern="1200" dirty="0">
                  <a:solidFill>
                    <a:schemeClr val="bg1"/>
                  </a:solidFill>
                  <a:latin typeface="+mn-lt"/>
                  <a:ea typeface="+mn-ea"/>
                  <a:cs typeface="+mn-cs"/>
                </a:rPr>
                <a:t>Sensing</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Vision</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Robotics</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Natural Lan</a:t>
              </a:r>
              <a:r>
                <a:rPr lang="en-US" sz="1400" dirty="0">
                  <a:solidFill>
                    <a:schemeClr val="bg1"/>
                  </a:solidFill>
                </a:rPr>
                <a:t>guage Processing</a:t>
              </a:r>
              <a:endParaRPr lang="en-US" sz="1400" kern="1200" dirty="0">
                <a:solidFill>
                  <a:schemeClr val="bg1"/>
                </a:solidFill>
                <a:latin typeface="+mn-lt"/>
                <a:ea typeface="+mn-ea"/>
                <a:cs typeface="+mn-cs"/>
              </a:endParaRP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Knowledge representation</a:t>
              </a:r>
            </a:p>
            <a:p>
              <a:pPr marL="254318" indent="-254318" defTabSz="813816">
                <a:buFont typeface="Arial" panose="020B0604020202020204" pitchFamily="34" charset="0"/>
                <a:buChar char="•"/>
              </a:pPr>
              <a:r>
                <a:rPr lang="en-US" sz="1400" kern="1200" dirty="0">
                  <a:solidFill>
                    <a:schemeClr val="bg1"/>
                  </a:solidFill>
                  <a:latin typeface="+mn-lt"/>
                  <a:ea typeface="+mn-ea"/>
                  <a:cs typeface="+mn-cs"/>
                </a:rPr>
                <a:t>Planning</a:t>
              </a:r>
            </a:p>
          </p:txBody>
        </p:sp>
      </p:grpSp>
      <p:sp>
        <p:nvSpPr>
          <p:cNvPr id="2" name="Title 1">
            <a:extLst>
              <a:ext uri="{FF2B5EF4-FFF2-40B4-BE49-F238E27FC236}">
                <a16:creationId xmlns:a16="http://schemas.microsoft.com/office/drawing/2014/main" id="{5715E6F7-DA34-713C-1D25-79AD4E41C280}"/>
              </a:ext>
            </a:extLst>
          </p:cNvPr>
          <p:cNvSpPr>
            <a:spLocks noGrp="1"/>
          </p:cNvSpPr>
          <p:nvPr>
            <p:ph type="title"/>
          </p:nvPr>
        </p:nvSpPr>
        <p:spPr>
          <a:xfrm>
            <a:off x="630936" y="256032"/>
            <a:ext cx="7879842" cy="1014984"/>
          </a:xfrm>
        </p:spPr>
        <p:txBody>
          <a:bodyPr anchor="b">
            <a:noAutofit/>
          </a:bodyPr>
          <a:lstStyle/>
          <a:p>
            <a:r>
              <a:rPr lang="en-US" sz="3200" dirty="0"/>
              <a:t>Artificial Intelligence  vs. Machine Learning</a:t>
            </a:r>
          </a:p>
        </p:txBody>
      </p:sp>
      <p:grpSp>
        <p:nvGrpSpPr>
          <p:cNvPr id="12" name="Group 11">
            <a:extLst>
              <a:ext uri="{FF2B5EF4-FFF2-40B4-BE49-F238E27FC236}">
                <a16:creationId xmlns:a16="http://schemas.microsoft.com/office/drawing/2014/main" id="{EE5B1273-3213-4457-E61E-8C235E2B761B}"/>
              </a:ext>
            </a:extLst>
          </p:cNvPr>
          <p:cNvGrpSpPr/>
          <p:nvPr/>
        </p:nvGrpSpPr>
        <p:grpSpPr>
          <a:xfrm>
            <a:off x="2196808" y="2911630"/>
            <a:ext cx="2385613" cy="2249070"/>
            <a:chOff x="2274818" y="3182328"/>
            <a:chExt cx="2385613" cy="2249070"/>
          </a:xfrm>
        </p:grpSpPr>
        <p:sp>
          <p:nvSpPr>
            <p:cNvPr id="9" name="Freeform: Shape 8">
              <a:extLst>
                <a:ext uri="{FF2B5EF4-FFF2-40B4-BE49-F238E27FC236}">
                  <a16:creationId xmlns:a16="http://schemas.microsoft.com/office/drawing/2014/main" id="{082F6A43-FFF6-3A7F-AEC3-0A616304AF1F}"/>
                </a:ext>
              </a:extLst>
            </p:cNvPr>
            <p:cNvSpPr/>
            <p:nvPr/>
          </p:nvSpPr>
          <p:spPr>
            <a:xfrm>
              <a:off x="2274818" y="3182328"/>
              <a:ext cx="2385613" cy="2249070"/>
            </a:xfrm>
            <a:custGeom>
              <a:avLst/>
              <a:gdLst>
                <a:gd name="connsiteX0" fmla="*/ 0 w 2385613"/>
                <a:gd name="connsiteY0" fmla="*/ 1124535 h 2249070"/>
                <a:gd name="connsiteX1" fmla="*/ 1192807 w 2385613"/>
                <a:gd name="connsiteY1" fmla="*/ 0 h 2249070"/>
                <a:gd name="connsiteX2" fmla="*/ 2385614 w 2385613"/>
                <a:gd name="connsiteY2" fmla="*/ 1124535 h 2249070"/>
                <a:gd name="connsiteX3" fmla="*/ 1192807 w 2385613"/>
                <a:gd name="connsiteY3" fmla="*/ 2249070 h 2249070"/>
                <a:gd name="connsiteX4" fmla="*/ 0 w 2385613"/>
                <a:gd name="connsiteY4" fmla="*/ 1124535 h 224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5613" h="2249070">
                  <a:moveTo>
                    <a:pt x="0" y="1124535"/>
                  </a:moveTo>
                  <a:cubicBezTo>
                    <a:pt x="0" y="503471"/>
                    <a:pt x="534038" y="0"/>
                    <a:pt x="1192807" y="0"/>
                  </a:cubicBezTo>
                  <a:cubicBezTo>
                    <a:pt x="1851576" y="0"/>
                    <a:pt x="2385614" y="503471"/>
                    <a:pt x="2385614" y="1124535"/>
                  </a:cubicBezTo>
                  <a:cubicBezTo>
                    <a:pt x="2385614" y="1745599"/>
                    <a:pt x="1851576" y="2249070"/>
                    <a:pt x="1192807" y="2249070"/>
                  </a:cubicBezTo>
                  <a:cubicBezTo>
                    <a:pt x="534038" y="2249070"/>
                    <a:pt x="0" y="1745599"/>
                    <a:pt x="0" y="1124535"/>
                  </a:cubicBezTo>
                  <a:close/>
                </a:path>
              </a:pathLst>
            </a:cu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864543" tIns="368151" rIns="864543" bIns="1914387" numCol="1" spcCol="1270" anchor="ctr" anchorCtr="0">
              <a:noAutofit/>
            </a:bodyPr>
            <a:lstStyle/>
            <a:p>
              <a:pPr marL="0" lvl="0" indent="0" algn="ctr" defTabSz="1422400">
                <a:lnSpc>
                  <a:spcPct val="90000"/>
                </a:lnSpc>
                <a:spcBef>
                  <a:spcPct val="0"/>
                </a:spcBef>
                <a:spcAft>
                  <a:spcPct val="35000"/>
                </a:spcAft>
                <a:buNone/>
              </a:pPr>
              <a:r>
                <a:rPr lang="en-US" sz="3200" b="1" kern="1200" dirty="0"/>
                <a:t>ML</a:t>
              </a:r>
            </a:p>
          </p:txBody>
        </p:sp>
        <p:sp>
          <p:nvSpPr>
            <p:cNvPr id="5" name="TextBox 4">
              <a:extLst>
                <a:ext uri="{FF2B5EF4-FFF2-40B4-BE49-F238E27FC236}">
                  <a16:creationId xmlns:a16="http://schemas.microsoft.com/office/drawing/2014/main" id="{B1BB3D58-293A-30AC-E632-C3D824119189}"/>
                </a:ext>
                <a:ext uri="{C183D7F6-B498-43B3-948B-1728B52AA6E4}">
                  <adec:decorative xmlns:adec="http://schemas.microsoft.com/office/drawing/2017/decorative" val="1"/>
                </a:ext>
              </a:extLst>
            </p:cNvPr>
            <p:cNvSpPr txBox="1"/>
            <p:nvPr/>
          </p:nvSpPr>
          <p:spPr>
            <a:xfrm>
              <a:off x="2508905" y="3670730"/>
              <a:ext cx="2040597" cy="1015663"/>
            </a:xfrm>
            <a:prstGeom prst="rect">
              <a:avLst/>
            </a:prstGeom>
            <a:noFill/>
          </p:spPr>
          <p:txBody>
            <a:bodyPr wrap="square" rtlCol="0">
              <a:spAutoFit/>
            </a:bodyPr>
            <a:lstStyle/>
            <a:p>
              <a:pPr defTabSz="813816"/>
              <a:r>
                <a:rPr lang="en-US" sz="1200" kern="1200" dirty="0">
                  <a:solidFill>
                    <a:schemeClr val="bg1"/>
                  </a:solidFill>
                  <a:latin typeface="+mn-lt"/>
                  <a:ea typeface="+mn-ea"/>
                  <a:cs typeface="+mn-cs"/>
                </a:rPr>
                <a:t>Learning from examples instead of being programmed</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Supervised learning</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Unsupervised learning</a:t>
              </a:r>
            </a:p>
            <a:p>
              <a:pPr marL="254318" indent="-254318" defTabSz="813816">
                <a:buFont typeface="Arial" panose="020B0604020202020204" pitchFamily="34" charset="0"/>
                <a:buChar char="•"/>
              </a:pPr>
              <a:r>
                <a:rPr lang="en-US" sz="1200" kern="1200" dirty="0">
                  <a:solidFill>
                    <a:schemeClr val="bg1"/>
                  </a:solidFill>
                  <a:latin typeface="+mn-lt"/>
                  <a:ea typeface="+mn-ea"/>
                  <a:cs typeface="+mn-cs"/>
                </a:rPr>
                <a:t>RL</a:t>
              </a:r>
              <a:endParaRPr lang="en-US" sz="1200" dirty="0">
                <a:solidFill>
                  <a:schemeClr val="bg1"/>
                </a:solidFill>
              </a:endParaRPr>
            </a:p>
          </p:txBody>
        </p:sp>
      </p:grpSp>
      <p:grpSp>
        <p:nvGrpSpPr>
          <p:cNvPr id="13" name="Group 12">
            <a:extLst>
              <a:ext uri="{FF2B5EF4-FFF2-40B4-BE49-F238E27FC236}">
                <a16:creationId xmlns:a16="http://schemas.microsoft.com/office/drawing/2014/main" id="{008CC340-1192-EBC9-024E-6A30DA21FED3}"/>
              </a:ext>
            </a:extLst>
          </p:cNvPr>
          <p:cNvGrpSpPr/>
          <p:nvPr/>
        </p:nvGrpSpPr>
        <p:grpSpPr>
          <a:xfrm>
            <a:off x="5181599" y="4414345"/>
            <a:ext cx="3747471" cy="2295620"/>
            <a:chOff x="5181599" y="4414345"/>
            <a:chExt cx="3747471" cy="2295620"/>
          </a:xfrm>
        </p:grpSpPr>
        <p:sp>
          <p:nvSpPr>
            <p:cNvPr id="41" name="Rectangle 40">
              <a:extLst>
                <a:ext uri="{FF2B5EF4-FFF2-40B4-BE49-F238E27FC236}">
                  <a16:creationId xmlns:a16="http://schemas.microsoft.com/office/drawing/2014/main" id="{AE9847EE-361D-982D-EE6A-8197E05122D4}"/>
                </a:ext>
                <a:ext uri="{C183D7F6-B498-43B3-948B-1728B52AA6E4}">
                  <adec:decorative xmlns:adec="http://schemas.microsoft.com/office/drawing/2017/decorative" val="1"/>
                </a:ext>
              </a:extLst>
            </p:cNvPr>
            <p:cNvSpPr/>
            <p:nvPr/>
          </p:nvSpPr>
          <p:spPr>
            <a:xfrm>
              <a:off x="5181600" y="4414345"/>
              <a:ext cx="3710152" cy="226854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3" name="TextBox 42">
              <a:extLst>
                <a:ext uri="{FF2B5EF4-FFF2-40B4-BE49-F238E27FC236}">
                  <a16:creationId xmlns:a16="http://schemas.microsoft.com/office/drawing/2014/main" id="{599E7C00-DECA-E2A2-A413-FE997F2BB64D}"/>
                </a:ext>
                <a:ext uri="{C183D7F6-B498-43B3-948B-1728B52AA6E4}">
                  <adec:decorative xmlns:adec="http://schemas.microsoft.com/office/drawing/2017/decorative" val="0"/>
                </a:ext>
              </a:extLst>
            </p:cNvPr>
            <p:cNvSpPr txBox="1"/>
            <p:nvPr/>
          </p:nvSpPr>
          <p:spPr>
            <a:xfrm>
              <a:off x="5181599" y="6248300"/>
              <a:ext cx="3747471" cy="461665"/>
            </a:xfrm>
            <a:prstGeom prst="rect">
              <a:avLst/>
            </a:prstGeom>
            <a:noFill/>
          </p:spPr>
          <p:txBody>
            <a:bodyPr wrap="square">
              <a:spAutoFit/>
            </a:bodyPr>
            <a:lstStyle/>
            <a:p>
              <a:pPr algn="ctr" defTabSz="822960">
                <a:spcAft>
                  <a:spcPts val="600"/>
                </a:spcAft>
              </a:pPr>
              <a:r>
                <a:rPr lang="en-US" sz="1200" kern="1200" dirty="0">
                  <a:solidFill>
                    <a:schemeClr val="tx1"/>
                  </a:solidFill>
                  <a:latin typeface="+mn-lt"/>
                  <a:ea typeface="+mn-ea"/>
                  <a:cs typeface="+mn-cs"/>
                </a:rPr>
                <a:t>Agent interacting with the environment </a:t>
              </a:r>
              <a:br>
                <a:rPr lang="en-US" sz="1200" kern="1200" dirty="0">
                  <a:solidFill>
                    <a:schemeClr val="tx1"/>
                  </a:solidFill>
                  <a:latin typeface="+mn-lt"/>
                  <a:ea typeface="+mn-ea"/>
                  <a:cs typeface="+mn-cs"/>
                </a:rPr>
              </a:br>
              <a:r>
                <a:rPr lang="en-US" sz="1200" kern="1200" dirty="0">
                  <a:solidFill>
                    <a:schemeClr val="bg1">
                      <a:lumMod val="65000"/>
                    </a:schemeClr>
                  </a:solidFill>
                  <a:latin typeface="+mn-lt"/>
                  <a:ea typeface="+mn-ea"/>
                  <a:cs typeface="+mn-cs"/>
                </a:rPr>
                <a:t>[Artificial Intelligence: A Modern Approach, Editions 1-3]</a:t>
              </a:r>
              <a:endParaRPr lang="en-US" sz="1200" dirty="0"/>
            </a:p>
          </p:txBody>
        </p:sp>
        <p:pic>
          <p:nvPicPr>
            <p:cNvPr id="42" name="Picture 4" descr="A diagram showing how an agent interacts with the environment. ML can be used in sensors, actuators and by the agent function.">
              <a:extLst>
                <a:ext uri="{FF2B5EF4-FFF2-40B4-BE49-F238E27FC236}">
                  <a16:creationId xmlns:a16="http://schemas.microsoft.com/office/drawing/2014/main" id="{30D6E7FE-90C9-3490-6B78-C3341C99E84A}"/>
                </a:ext>
              </a:extLst>
            </p:cNvPr>
            <p:cNvPicPr>
              <a:picLocks noChangeAspect="1" noChangeArrowheads="1"/>
            </p:cNvPicPr>
            <p:nvPr/>
          </p:nvPicPr>
          <p:blipFill>
            <a:blip r:embed="rId2" cstate="print"/>
            <a:srcRect/>
            <a:stretch>
              <a:fillRect/>
            </a:stretch>
          </p:blipFill>
          <p:spPr bwMode="auto">
            <a:xfrm>
              <a:off x="5236254" y="4470885"/>
              <a:ext cx="3647179" cy="1571239"/>
            </a:xfrm>
            <a:prstGeom prst="rect">
              <a:avLst/>
            </a:prstGeom>
            <a:noFill/>
            <a:ln w="9525">
              <a:noFill/>
              <a:miter lim="800000"/>
              <a:headEnd/>
              <a:tailEnd/>
            </a:ln>
          </p:spPr>
        </p:pic>
      </p:grpSp>
      <p:sp>
        <p:nvSpPr>
          <p:cNvPr id="45" name="TextBox 44">
            <a:extLst>
              <a:ext uri="{FF2B5EF4-FFF2-40B4-BE49-F238E27FC236}">
                <a16:creationId xmlns:a16="http://schemas.microsoft.com/office/drawing/2014/main" id="{CB75EB49-B65C-F080-9E52-5B9A0486AC00}"/>
              </a:ext>
              <a:ext uri="{C183D7F6-B498-43B3-948B-1728B52AA6E4}">
                <adec:decorative xmlns:adec="http://schemas.microsoft.com/office/drawing/2017/decorative" val="1"/>
              </a:ext>
            </a:extLst>
          </p:cNvPr>
          <p:cNvSpPr txBox="1"/>
          <p:nvPr/>
        </p:nvSpPr>
        <p:spPr>
          <a:xfrm>
            <a:off x="7772400" y="4422529"/>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46" name="TextBox 45">
            <a:extLst>
              <a:ext uri="{FF2B5EF4-FFF2-40B4-BE49-F238E27FC236}">
                <a16:creationId xmlns:a16="http://schemas.microsoft.com/office/drawing/2014/main" id="{B8BF1C7E-DB58-881F-B167-89675BE7876B}"/>
              </a:ext>
              <a:ext uri="{C183D7F6-B498-43B3-948B-1728B52AA6E4}">
                <adec:decorative xmlns:adec="http://schemas.microsoft.com/office/drawing/2017/decorative" val="1"/>
              </a:ext>
            </a:extLst>
          </p:cNvPr>
          <p:cNvSpPr txBox="1"/>
          <p:nvPr/>
        </p:nvSpPr>
        <p:spPr>
          <a:xfrm>
            <a:off x="8053578" y="4950544"/>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47" name="TextBox 46">
            <a:extLst>
              <a:ext uri="{FF2B5EF4-FFF2-40B4-BE49-F238E27FC236}">
                <a16:creationId xmlns:a16="http://schemas.microsoft.com/office/drawing/2014/main" id="{AB9EE0F4-4663-A849-2D1D-5CB6E30D4F09}"/>
              </a:ext>
              <a:ext uri="{C183D7F6-B498-43B3-948B-1728B52AA6E4}">
                <adec:decorative xmlns:adec="http://schemas.microsoft.com/office/drawing/2017/decorative" val="1"/>
              </a:ext>
            </a:extLst>
          </p:cNvPr>
          <p:cNvSpPr txBox="1"/>
          <p:nvPr/>
        </p:nvSpPr>
        <p:spPr>
          <a:xfrm>
            <a:off x="6846189" y="5934835"/>
            <a:ext cx="457200" cy="276999"/>
          </a:xfrm>
          <a:prstGeom prst="rect">
            <a:avLst/>
          </a:prstGeom>
          <a:noFill/>
        </p:spPr>
        <p:txBody>
          <a:bodyPr wrap="square">
            <a:spAutoFit/>
          </a:bodyPr>
          <a:lstStyle/>
          <a:p>
            <a:r>
              <a:rPr lang="en-US" sz="1200" b="1" kern="1200" dirty="0">
                <a:solidFill>
                  <a:schemeClr val="bg1">
                    <a:lumMod val="65000"/>
                  </a:schemeClr>
                </a:solidFill>
                <a:latin typeface="+mn-lt"/>
                <a:ea typeface="+mn-ea"/>
                <a:cs typeface="+mn-cs"/>
              </a:rPr>
              <a:t>ML</a:t>
            </a:r>
            <a:endParaRPr lang="en-US" sz="1400" b="1" dirty="0"/>
          </a:p>
        </p:txBody>
      </p:sp>
      <p:sp>
        <p:nvSpPr>
          <p:cNvPr id="10" name="Freeform: Shape 9">
            <a:extLst>
              <a:ext uri="{FF2B5EF4-FFF2-40B4-BE49-F238E27FC236}">
                <a16:creationId xmlns:a16="http://schemas.microsoft.com/office/drawing/2014/main" id="{44107C21-3EAF-C1BE-FC5C-B3C681FDB92B}"/>
              </a:ext>
            </a:extLst>
          </p:cNvPr>
          <p:cNvSpPr/>
          <p:nvPr/>
        </p:nvSpPr>
        <p:spPr>
          <a:xfrm>
            <a:off x="2870489" y="4197476"/>
            <a:ext cx="1379766" cy="810869"/>
          </a:xfrm>
          <a:custGeom>
            <a:avLst/>
            <a:gdLst>
              <a:gd name="connsiteX0" fmla="*/ 0 w 1379766"/>
              <a:gd name="connsiteY0" fmla="*/ 405435 h 810869"/>
              <a:gd name="connsiteX1" fmla="*/ 689883 w 1379766"/>
              <a:gd name="connsiteY1" fmla="*/ 0 h 810869"/>
              <a:gd name="connsiteX2" fmla="*/ 1379766 w 1379766"/>
              <a:gd name="connsiteY2" fmla="*/ 405435 h 810869"/>
              <a:gd name="connsiteX3" fmla="*/ 689883 w 1379766"/>
              <a:gd name="connsiteY3" fmla="*/ 810870 h 810869"/>
              <a:gd name="connsiteX4" fmla="*/ 0 w 1379766"/>
              <a:gd name="connsiteY4" fmla="*/ 405435 h 81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766" h="810869">
                <a:moveTo>
                  <a:pt x="0" y="405435"/>
                </a:moveTo>
                <a:cubicBezTo>
                  <a:pt x="0" y="181519"/>
                  <a:pt x="308871" y="0"/>
                  <a:pt x="689883" y="0"/>
                </a:cubicBezTo>
                <a:cubicBezTo>
                  <a:pt x="1070895" y="0"/>
                  <a:pt x="1379766" y="181519"/>
                  <a:pt x="1379766" y="405435"/>
                </a:cubicBezTo>
                <a:cubicBezTo>
                  <a:pt x="1379766" y="629351"/>
                  <a:pt x="1070895" y="810870"/>
                  <a:pt x="689883" y="810870"/>
                </a:cubicBezTo>
                <a:cubicBezTo>
                  <a:pt x="308871" y="810870"/>
                  <a:pt x="0" y="629351"/>
                  <a:pt x="0" y="405435"/>
                </a:cubicBez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301630" tIns="302285" rIns="301630" bIns="302286" numCol="1" spcCol="1270" anchor="ctr" anchorCtr="0">
            <a:noAutofit/>
          </a:bodyPr>
          <a:lstStyle/>
          <a:p>
            <a:pPr marL="0" lvl="0" indent="0" algn="ctr" defTabSz="622300">
              <a:lnSpc>
                <a:spcPct val="90000"/>
              </a:lnSpc>
              <a:spcBef>
                <a:spcPct val="0"/>
              </a:spcBef>
              <a:spcAft>
                <a:spcPct val="35000"/>
              </a:spcAft>
              <a:buNone/>
            </a:pPr>
            <a:r>
              <a:rPr lang="en-US" sz="1400" b="1" kern="1200" dirty="0"/>
              <a:t>Deep Learning</a:t>
            </a:r>
          </a:p>
        </p:txBody>
      </p:sp>
    </p:spTree>
    <p:extLst>
      <p:ext uri="{BB962C8B-B14F-4D97-AF65-F5344CB8AC3E}">
        <p14:creationId xmlns:p14="http://schemas.microsoft.com/office/powerpoint/2010/main" val="195007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D7D3C-5AC6-2696-293B-BCE0269D786F}"/>
              </a:ext>
            </a:extLst>
          </p:cNvPr>
          <p:cNvSpPr>
            <a:spLocks noGrp="1"/>
          </p:cNvSpPr>
          <p:nvPr>
            <p:ph type="title"/>
          </p:nvPr>
        </p:nvSpPr>
        <p:spPr>
          <a:xfrm>
            <a:off x="630936" y="256032"/>
            <a:ext cx="7879842" cy="1014984"/>
          </a:xfrm>
        </p:spPr>
        <p:txBody>
          <a:bodyPr anchor="b">
            <a:normAutofit/>
          </a:bodyPr>
          <a:lstStyle/>
          <a:p>
            <a:r>
              <a:rPr lang="en-US" dirty="0"/>
              <a:t>Categories of AI with ML</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C92B9DD-3E4F-6121-E936-1E351301E0F2}"/>
              </a:ext>
            </a:extLst>
          </p:cNvPr>
          <p:cNvGraphicFramePr>
            <a:graphicFrameLocks noGrp="1"/>
          </p:cNvGraphicFramePr>
          <p:nvPr>
            <p:ph idx="1"/>
            <p:extLst>
              <p:ext uri="{D42A27DB-BD31-4B8C-83A1-F6EECF244321}">
                <p14:modId xmlns:p14="http://schemas.microsoft.com/office/powerpoint/2010/main" val="3298620651"/>
              </p:ext>
            </p:extLst>
          </p:nvPr>
        </p:nvGraphicFramePr>
        <p:xfrm>
          <a:off x="649464" y="1762604"/>
          <a:ext cx="7859028" cy="4521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FBB3459-25F5-5447-83B9-D7FD035DA765}"/>
              </a:ext>
            </a:extLst>
          </p:cNvPr>
          <p:cNvSpPr txBox="1"/>
          <p:nvPr/>
        </p:nvSpPr>
        <p:spPr>
          <a:xfrm>
            <a:off x="4495800" y="2895600"/>
            <a:ext cx="533400" cy="584775"/>
          </a:xfrm>
          <a:prstGeom prst="rect">
            <a:avLst/>
          </a:prstGeom>
          <a:noFill/>
        </p:spPr>
        <p:txBody>
          <a:bodyPr wrap="square" rtlCol="0">
            <a:spAutoFit/>
          </a:bodyPr>
          <a:lstStyle/>
          <a:p>
            <a:r>
              <a:rPr lang="en-US" sz="3200" dirty="0"/>
              <a:t>+</a:t>
            </a:r>
          </a:p>
        </p:txBody>
      </p:sp>
      <p:sp>
        <p:nvSpPr>
          <p:cNvPr id="4" name="TextBox 3">
            <a:extLst>
              <a:ext uri="{FF2B5EF4-FFF2-40B4-BE49-F238E27FC236}">
                <a16:creationId xmlns:a16="http://schemas.microsoft.com/office/drawing/2014/main" id="{198A2D7D-5CEC-021D-095A-96AE6F6F7184}"/>
              </a:ext>
            </a:extLst>
          </p:cNvPr>
          <p:cNvSpPr txBox="1"/>
          <p:nvPr/>
        </p:nvSpPr>
        <p:spPr>
          <a:xfrm>
            <a:off x="4370380" y="4419600"/>
            <a:ext cx="677108" cy="584775"/>
          </a:xfrm>
          <a:prstGeom prst="rect">
            <a:avLst/>
          </a:prstGeom>
          <a:noFill/>
        </p:spPr>
        <p:txBody>
          <a:bodyPr vert="vert270" wrap="square" rtlCol="0">
            <a:spAutoFit/>
          </a:bodyPr>
          <a:lstStyle/>
          <a:p>
            <a:r>
              <a:rPr lang="en-US" sz="3200" dirty="0"/>
              <a:t>=</a:t>
            </a:r>
          </a:p>
        </p:txBody>
      </p:sp>
    </p:spTree>
    <p:extLst>
      <p:ext uri="{BB962C8B-B14F-4D97-AF65-F5344CB8AC3E}">
        <p14:creationId xmlns:p14="http://schemas.microsoft.com/office/powerpoint/2010/main" val="3096116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49" y="4428000"/>
            <a:ext cx="4607719" cy="1400400"/>
          </a:xfrm>
        </p:spPr>
        <p:txBody>
          <a:bodyPr vert="horz" wrap="square" lIns="91440" tIns="45720" rIns="91440" bIns="45720" rtlCol="0" anchor="b">
            <a:normAutofit/>
          </a:bodyPr>
          <a:lstStyle/>
          <a:p>
            <a:r>
              <a:rPr lang="en-US" sz="4900" dirty="0">
                <a:solidFill>
                  <a:schemeClr val="bg1"/>
                </a:solidFill>
              </a:rPr>
              <a:t>The History of AI</a:t>
            </a:r>
          </a:p>
        </p:txBody>
      </p:sp>
      <p:pic>
        <p:nvPicPr>
          <p:cNvPr id="6" name="Picture 2">
            <a:extLst>
              <a:ext uri="{FF2B5EF4-FFF2-40B4-BE49-F238E27FC236}">
                <a16:creationId xmlns:a16="http://schemas.microsoft.com/office/drawing/2014/main" id="{99D46CF7-6F3B-4ABC-8C57-3392AB693ECE}"/>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srcRect t="13053" b="22144"/>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p:spPr>
      </p:pic>
      <p:grpSp>
        <p:nvGrpSpPr>
          <p:cNvPr id="13" name="Group 12">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4" name="Freeform: Shape 13">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737671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041430-15F1-CB49-D12E-B9A38E2DE3B6}"/>
              </a:ext>
            </a:extLst>
          </p:cNvPr>
          <p:cNvSpPr>
            <a:spLocks noGrp="1"/>
          </p:cNvSpPr>
          <p:nvPr>
            <p:ph type="title" idx="4294967295"/>
          </p:nvPr>
        </p:nvSpPr>
        <p:spPr>
          <a:xfrm>
            <a:off x="0" y="-1325563"/>
            <a:ext cx="7886700" cy="1325563"/>
          </a:xfrm>
        </p:spPr>
        <p:txBody>
          <a:bodyPr vert="horz" lIns="91440" tIns="45720" rIns="91440" bIns="45720" rtlCol="0" anchor="b">
            <a:normAutofit/>
          </a:bodyPr>
          <a:lstStyle/>
          <a:p>
            <a:r>
              <a:rPr lang="en-US" dirty="0"/>
              <a:t>The Timeline of AI Development</a:t>
            </a:r>
          </a:p>
        </p:txBody>
      </p:sp>
      <p:sp>
        <p:nvSpPr>
          <p:cNvPr id="4" name="AutoShape 2">
            <a:extLst>
              <a:ext uri="{FF2B5EF4-FFF2-40B4-BE49-F238E27FC236}">
                <a16:creationId xmlns:a16="http://schemas.microsoft.com/office/drawing/2014/main" id="{011284A3-47DB-4E45-9399-2C392DC95843}"/>
              </a:ext>
              <a:ext uri="{C183D7F6-B498-43B3-948B-1728B52AA6E4}">
                <adec:decorative xmlns:adec="http://schemas.microsoft.com/office/drawing/2017/decorative" val="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descr="The timeline of AI from first mechanical computers to Ggenerative AI.">
            <a:extLst>
              <a:ext uri="{FF2B5EF4-FFF2-40B4-BE49-F238E27FC236}">
                <a16:creationId xmlns:a16="http://schemas.microsoft.com/office/drawing/2014/main" id="{B8AA1387-679B-49E7-A37A-662D4981DC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581" y="0"/>
            <a:ext cx="6987599" cy="56139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6378B4-03BF-44BD-8450-3CD272657FCE}"/>
              </a:ext>
              <a:ext uri="{C183D7F6-B498-43B3-948B-1728B52AA6E4}">
                <adec:decorative xmlns:adec="http://schemas.microsoft.com/office/drawing/2017/decorative" val="1"/>
              </a:ext>
            </a:extLst>
          </p:cNvPr>
          <p:cNvSpPr txBox="1"/>
          <p:nvPr/>
        </p:nvSpPr>
        <p:spPr>
          <a:xfrm>
            <a:off x="3312961" y="6571579"/>
            <a:ext cx="5711820" cy="261610"/>
          </a:xfrm>
          <a:prstGeom prst="rect">
            <a:avLst/>
          </a:prstGeom>
          <a:noFill/>
        </p:spPr>
        <p:txBody>
          <a:bodyPr wrap="none" rtlCol="0">
            <a:spAutoFit/>
          </a:bodyPr>
          <a:lstStyle/>
          <a:p>
            <a:r>
              <a:rPr lang="en-US" sz="1100" dirty="0"/>
              <a:t>Source: </a:t>
            </a:r>
            <a:r>
              <a:rPr lang="en-US" sz="1100" dirty="0">
                <a:hlinkClick r:id="rId3"/>
              </a:rPr>
              <a:t>https://qbi.uq.edu.au/brain/intelligent-machines/history-artificial-intelligence</a:t>
            </a:r>
            <a:r>
              <a:rPr lang="en-US" sz="1100" dirty="0"/>
              <a:t> + additions</a:t>
            </a:r>
          </a:p>
        </p:txBody>
      </p:sp>
      <p:sp>
        <p:nvSpPr>
          <p:cNvPr id="8" name="Rectangle 7">
            <a:extLst>
              <a:ext uri="{FF2B5EF4-FFF2-40B4-BE49-F238E27FC236}">
                <a16:creationId xmlns:a16="http://schemas.microsoft.com/office/drawing/2014/main" id="{C7620384-44A7-1A64-1236-262B91A7CD21}"/>
              </a:ext>
              <a:ext uri="{C183D7F6-B498-43B3-948B-1728B52AA6E4}">
                <adec:decorative xmlns:adec="http://schemas.microsoft.com/office/drawing/2017/decorative" val="1"/>
              </a:ext>
            </a:extLst>
          </p:cNvPr>
          <p:cNvSpPr/>
          <p:nvPr/>
        </p:nvSpPr>
        <p:spPr>
          <a:xfrm>
            <a:off x="5932386" y="4917114"/>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7BCD33F-3055-7CE8-716C-F0439E5A1B3D}"/>
              </a:ext>
              <a:ext uri="{C183D7F6-B498-43B3-948B-1728B52AA6E4}">
                <adec:decorative xmlns:adec="http://schemas.microsoft.com/office/drawing/2017/decorative" val="1"/>
              </a:ext>
            </a:extLst>
          </p:cNvPr>
          <p:cNvSpPr/>
          <p:nvPr/>
        </p:nvSpPr>
        <p:spPr>
          <a:xfrm>
            <a:off x="6648047" y="4419828"/>
            <a:ext cx="1198467" cy="795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FE991F4-60E0-0233-1254-B5BC08842CA8}"/>
              </a:ext>
              <a:ext uri="{C183D7F6-B498-43B3-948B-1728B52AA6E4}">
                <adec:decorative xmlns:adec="http://schemas.microsoft.com/office/drawing/2017/decorative" val="1"/>
              </a:ext>
            </a:extLst>
          </p:cNvPr>
          <p:cNvCxnSpPr>
            <a:cxnSpLocks/>
          </p:cNvCxnSpPr>
          <p:nvPr/>
        </p:nvCxnSpPr>
        <p:spPr>
          <a:xfrm>
            <a:off x="6033033" y="4889283"/>
            <a:ext cx="2820888" cy="0"/>
          </a:xfrm>
          <a:prstGeom prst="straightConnector1">
            <a:avLst/>
          </a:prstGeom>
          <a:ln w="38100">
            <a:solidFill>
              <a:srgbClr val="5CC0D4"/>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p:sp>
        <p:nvSpPr>
          <p:cNvPr id="7" name="TextBox 6">
            <a:extLst>
              <a:ext uri="{FF2B5EF4-FFF2-40B4-BE49-F238E27FC236}">
                <a16:creationId xmlns:a16="http://schemas.microsoft.com/office/drawing/2014/main" id="{8C15E1F4-4D0A-562C-0F36-41E5743B2F2D}"/>
              </a:ext>
              <a:ext uri="{C183D7F6-B498-43B3-948B-1728B52AA6E4}">
                <adec:decorative xmlns:adec="http://schemas.microsoft.com/office/drawing/2017/decorative" val="0"/>
              </a:ext>
            </a:extLst>
          </p:cNvPr>
          <p:cNvSpPr txBox="1"/>
          <p:nvPr/>
        </p:nvSpPr>
        <p:spPr>
          <a:xfrm>
            <a:off x="1899733" y="5715000"/>
            <a:ext cx="2015018" cy="861774"/>
          </a:xfrm>
          <a:prstGeom prst="rect">
            <a:avLst/>
          </a:prstGeom>
          <a:noFill/>
        </p:spPr>
        <p:txBody>
          <a:bodyPr wrap="square" rtlCol="0">
            <a:spAutoFit/>
          </a:bodyPr>
          <a:lstStyle/>
          <a:p>
            <a:r>
              <a:rPr lang="en-US" sz="1000" dirty="0"/>
              <a:t>Deep Learning Revolution  (learning layered artificial neural networks) starts fueled by NVIDIA GPUs.  enables leaps in image processing and speech recognition.</a:t>
            </a:r>
          </a:p>
        </p:txBody>
      </p:sp>
      <p:sp>
        <p:nvSpPr>
          <p:cNvPr id="19" name="TextBox 18">
            <a:extLst>
              <a:ext uri="{FF2B5EF4-FFF2-40B4-BE49-F238E27FC236}">
                <a16:creationId xmlns:a16="http://schemas.microsoft.com/office/drawing/2014/main" id="{1581DE04-DF51-67D0-7E11-2C1FE15F7863}"/>
              </a:ext>
              <a:ext uri="{C183D7F6-B498-43B3-948B-1728B52AA6E4}">
                <adec:decorative xmlns:adec="http://schemas.microsoft.com/office/drawing/2017/decorative" val="0"/>
              </a:ext>
            </a:extLst>
          </p:cNvPr>
          <p:cNvSpPr txBox="1"/>
          <p:nvPr/>
        </p:nvSpPr>
        <p:spPr>
          <a:xfrm rot="16200000">
            <a:off x="6032610" y="448021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2017</a:t>
            </a:r>
          </a:p>
        </p:txBody>
      </p:sp>
      <p:sp>
        <p:nvSpPr>
          <p:cNvPr id="18" name="TextBox 17">
            <a:extLst>
              <a:ext uri="{FF2B5EF4-FFF2-40B4-BE49-F238E27FC236}">
                <a16:creationId xmlns:a16="http://schemas.microsoft.com/office/drawing/2014/main" id="{E41005D7-2B4F-FDEB-7546-A44E42BFA8E8}"/>
              </a:ext>
              <a:ext uri="{C183D7F6-B498-43B3-948B-1728B52AA6E4}">
                <adec:decorative xmlns:adec="http://schemas.microsoft.com/office/drawing/2017/decorative" val="0"/>
              </a:ext>
            </a:extLst>
          </p:cNvPr>
          <p:cNvSpPr txBox="1"/>
          <p:nvPr/>
        </p:nvSpPr>
        <p:spPr>
          <a:xfrm>
            <a:off x="6299459" y="4898213"/>
            <a:ext cx="952608" cy="861774"/>
          </a:xfrm>
          <a:prstGeom prst="rect">
            <a:avLst/>
          </a:prstGeom>
          <a:noFill/>
        </p:spPr>
        <p:txBody>
          <a:bodyPr wrap="square" rtlCol="0">
            <a:spAutoFit/>
          </a:bodyPr>
          <a:lstStyle/>
          <a:p>
            <a:r>
              <a:rPr lang="en-US" sz="1000" dirty="0"/>
              <a:t>Transformer architecture and large language models LLMs</a:t>
            </a:r>
          </a:p>
        </p:txBody>
      </p:sp>
      <p:sp>
        <p:nvSpPr>
          <p:cNvPr id="13" name="TextBox 12">
            <a:extLst>
              <a:ext uri="{FF2B5EF4-FFF2-40B4-BE49-F238E27FC236}">
                <a16:creationId xmlns:a16="http://schemas.microsoft.com/office/drawing/2014/main" id="{2141B2AF-B71B-A7BE-6FDD-4D30166BD450}"/>
              </a:ext>
              <a:ext uri="{C183D7F6-B498-43B3-948B-1728B52AA6E4}">
                <adec:decorative xmlns:adec="http://schemas.microsoft.com/office/drawing/2017/decorative" val="0"/>
              </a:ext>
            </a:extLst>
          </p:cNvPr>
          <p:cNvSpPr txBox="1"/>
          <p:nvPr/>
        </p:nvSpPr>
        <p:spPr>
          <a:xfrm rot="16200000">
            <a:off x="7254397" y="447128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2022</a:t>
            </a:r>
            <a:endParaRPr lang="en-US" b="1" dirty="0">
              <a:solidFill>
                <a:srgbClr val="5CC0D4"/>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A9E1EA6F-E8D2-3C63-5EF5-144FC5A9650A}"/>
              </a:ext>
              <a:ext uri="{C183D7F6-B498-43B3-948B-1728B52AA6E4}">
                <adec:decorative xmlns:adec="http://schemas.microsoft.com/office/drawing/2017/decorative" val="0"/>
              </a:ext>
            </a:extLst>
          </p:cNvPr>
          <p:cNvSpPr txBox="1"/>
          <p:nvPr/>
        </p:nvSpPr>
        <p:spPr>
          <a:xfrm>
            <a:off x="7584666" y="4928991"/>
            <a:ext cx="1193331" cy="861774"/>
          </a:xfrm>
          <a:prstGeom prst="rect">
            <a:avLst/>
          </a:prstGeom>
          <a:noFill/>
        </p:spPr>
        <p:txBody>
          <a:bodyPr wrap="square" rtlCol="0">
            <a:spAutoFit/>
          </a:bodyPr>
          <a:lstStyle/>
          <a:p>
            <a:r>
              <a:rPr lang="en-US" sz="1000" dirty="0"/>
              <a:t>Generative AI models:</a:t>
            </a:r>
          </a:p>
          <a:p>
            <a:pPr marL="171450" indent="-171450">
              <a:buFont typeface="Arial" panose="020B0604020202020204" pitchFamily="34" charset="0"/>
              <a:buChar char="•"/>
            </a:pPr>
            <a:r>
              <a:rPr lang="en-US" sz="1000" dirty="0"/>
              <a:t>DALL-E</a:t>
            </a:r>
          </a:p>
          <a:p>
            <a:pPr marL="171450" indent="-171450">
              <a:buFont typeface="Arial" panose="020B0604020202020204" pitchFamily="34" charset="0"/>
              <a:buChar char="•"/>
            </a:pPr>
            <a:r>
              <a:rPr lang="en-US" sz="1000" dirty="0" err="1"/>
              <a:t>ChatGPT</a:t>
            </a:r>
            <a:r>
              <a:rPr lang="en-US" sz="1000" dirty="0"/>
              <a:t>, Bard</a:t>
            </a:r>
          </a:p>
          <a:p>
            <a:pPr marL="171450" indent="-171450">
              <a:buFont typeface="Arial" panose="020B0604020202020204" pitchFamily="34" charset="0"/>
              <a:buChar char="•"/>
            </a:pPr>
            <a:r>
              <a:rPr lang="en-US" sz="1000" dirty="0"/>
              <a:t>…</a:t>
            </a:r>
          </a:p>
        </p:txBody>
      </p:sp>
      <p:cxnSp>
        <p:nvCxnSpPr>
          <p:cNvPr id="23" name="Straight Arrow Connector 22">
            <a:extLst>
              <a:ext uri="{FF2B5EF4-FFF2-40B4-BE49-F238E27FC236}">
                <a16:creationId xmlns:a16="http://schemas.microsoft.com/office/drawing/2014/main" id="{85EBC6CC-BEA2-E0A0-9671-5198184C1B66}"/>
              </a:ext>
              <a:ext uri="{C183D7F6-B498-43B3-948B-1728B52AA6E4}">
                <adec:decorative xmlns:adec="http://schemas.microsoft.com/office/drawing/2017/decorative" val="1"/>
              </a:ext>
            </a:extLst>
          </p:cNvPr>
          <p:cNvCxnSpPr>
            <a:cxnSpLocks/>
          </p:cNvCxnSpPr>
          <p:nvPr/>
        </p:nvCxnSpPr>
        <p:spPr>
          <a:xfrm>
            <a:off x="7584665" y="4886251"/>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27" name="Rectangle 26">
            <a:extLst>
              <a:ext uri="{FF2B5EF4-FFF2-40B4-BE49-F238E27FC236}">
                <a16:creationId xmlns:a16="http://schemas.microsoft.com/office/drawing/2014/main" id="{9D729B0B-22BD-B621-0997-111490E8C9C6}"/>
              </a:ext>
              <a:ext uri="{C183D7F6-B498-43B3-948B-1728B52AA6E4}">
                <adec:decorative xmlns:adec="http://schemas.microsoft.com/office/drawing/2017/decorative" val="1"/>
              </a:ext>
            </a:extLst>
          </p:cNvPr>
          <p:cNvSpPr/>
          <p:nvPr/>
        </p:nvSpPr>
        <p:spPr>
          <a:xfrm>
            <a:off x="2201048" y="813737"/>
            <a:ext cx="914400" cy="15843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8" name="Rectangle 27">
            <a:extLst>
              <a:ext uri="{FF2B5EF4-FFF2-40B4-BE49-F238E27FC236}">
                <a16:creationId xmlns:a16="http://schemas.microsoft.com/office/drawing/2014/main" id="{F63DD0B0-6722-5812-B80F-B0C583BE163E}"/>
              </a:ext>
              <a:ext uri="{C183D7F6-B498-43B3-948B-1728B52AA6E4}">
                <adec:decorative xmlns:adec="http://schemas.microsoft.com/office/drawing/2017/decorative" val="1"/>
              </a:ext>
            </a:extLst>
          </p:cNvPr>
          <p:cNvSpPr/>
          <p:nvPr/>
        </p:nvSpPr>
        <p:spPr>
          <a:xfrm>
            <a:off x="6009797" y="804983"/>
            <a:ext cx="526388" cy="2770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9" name="Rectangle 28">
            <a:extLst>
              <a:ext uri="{FF2B5EF4-FFF2-40B4-BE49-F238E27FC236}">
                <a16:creationId xmlns:a16="http://schemas.microsoft.com/office/drawing/2014/main" id="{92B375D2-6C66-14EC-F5FF-A9D3F87D3629}"/>
              </a:ext>
              <a:ext uri="{C183D7F6-B498-43B3-948B-1728B52AA6E4}">
                <adec:decorative xmlns:adec="http://schemas.microsoft.com/office/drawing/2017/decorative" val="1"/>
              </a:ext>
            </a:extLst>
          </p:cNvPr>
          <p:cNvSpPr/>
          <p:nvPr/>
        </p:nvSpPr>
        <p:spPr>
          <a:xfrm>
            <a:off x="5471229" y="3219450"/>
            <a:ext cx="381000" cy="1333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0" name="Rectangle 29">
            <a:extLst>
              <a:ext uri="{FF2B5EF4-FFF2-40B4-BE49-F238E27FC236}">
                <a16:creationId xmlns:a16="http://schemas.microsoft.com/office/drawing/2014/main" id="{697A3868-09F6-35AB-768E-8CF21EC0707C}"/>
              </a:ext>
              <a:ext uri="{C183D7F6-B498-43B3-948B-1728B52AA6E4}">
                <adec:decorative xmlns:adec="http://schemas.microsoft.com/office/drawing/2017/decorative" val="1"/>
              </a:ext>
            </a:extLst>
          </p:cNvPr>
          <p:cNvSpPr/>
          <p:nvPr/>
        </p:nvSpPr>
        <p:spPr>
          <a:xfrm>
            <a:off x="1188686" y="3152775"/>
            <a:ext cx="563914" cy="1333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3C176792-DA24-2940-FD6F-58D7D04A0CCD}"/>
              </a:ext>
              <a:ext uri="{C183D7F6-B498-43B3-948B-1728B52AA6E4}">
                <adec:decorative xmlns:adec="http://schemas.microsoft.com/office/drawing/2017/decorative" val="1"/>
              </a:ext>
            </a:extLst>
          </p:cNvPr>
          <p:cNvCxnSpPr>
            <a:cxnSpLocks/>
          </p:cNvCxnSpPr>
          <p:nvPr/>
        </p:nvCxnSpPr>
        <p:spPr>
          <a:xfrm>
            <a:off x="6296227" y="4889283"/>
            <a:ext cx="0" cy="544412"/>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35" name="Rectangle 34">
            <a:extLst>
              <a:ext uri="{FF2B5EF4-FFF2-40B4-BE49-F238E27FC236}">
                <a16:creationId xmlns:a16="http://schemas.microsoft.com/office/drawing/2014/main" id="{EB078DB0-8A79-7626-9DE9-751238C7BE33}"/>
              </a:ext>
              <a:ext uri="{C183D7F6-B498-43B3-948B-1728B52AA6E4}">
                <adec:decorative xmlns:adec="http://schemas.microsoft.com/office/drawing/2017/decorative" val="1"/>
              </a:ext>
            </a:extLst>
          </p:cNvPr>
          <p:cNvSpPr/>
          <p:nvPr/>
        </p:nvSpPr>
        <p:spPr>
          <a:xfrm>
            <a:off x="1954090" y="5763120"/>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1028" name="Picture 4">
            <a:extLst>
              <a:ext uri="{FF2B5EF4-FFF2-40B4-BE49-F238E27FC236}">
                <a16:creationId xmlns:a16="http://schemas.microsoft.com/office/drawing/2014/main" id="{8D1BD011-AB87-D760-0664-E3067C375B42}"/>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9448" y="6099727"/>
            <a:ext cx="720026" cy="42391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3D35CDAC-95A8-97B7-F995-8916F927FF8A}"/>
              </a:ext>
              <a:ext uri="{C183D7F6-B498-43B3-948B-1728B52AA6E4}">
                <adec:decorative xmlns:adec="http://schemas.microsoft.com/office/drawing/2017/decorative" val="1"/>
              </a:ext>
            </a:extLst>
          </p:cNvPr>
          <p:cNvSpPr txBox="1"/>
          <p:nvPr/>
        </p:nvSpPr>
        <p:spPr>
          <a:xfrm rot="16200000">
            <a:off x="4118032" y="4496000"/>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2015</a:t>
            </a:r>
          </a:p>
        </p:txBody>
      </p:sp>
      <p:cxnSp>
        <p:nvCxnSpPr>
          <p:cNvPr id="41" name="Straight Arrow Connector 40">
            <a:extLst>
              <a:ext uri="{FF2B5EF4-FFF2-40B4-BE49-F238E27FC236}">
                <a16:creationId xmlns:a16="http://schemas.microsoft.com/office/drawing/2014/main" id="{BDF6A578-CC3D-36FD-510F-338956C8B540}"/>
              </a:ext>
              <a:ext uri="{C183D7F6-B498-43B3-948B-1728B52AA6E4}">
                <adec:decorative xmlns:adec="http://schemas.microsoft.com/office/drawing/2017/decorative" val="1"/>
              </a:ext>
            </a:extLst>
          </p:cNvPr>
          <p:cNvCxnSpPr>
            <a:cxnSpLocks/>
          </p:cNvCxnSpPr>
          <p:nvPr/>
        </p:nvCxnSpPr>
        <p:spPr>
          <a:xfrm>
            <a:off x="4422945" y="5515928"/>
            <a:ext cx="0" cy="1007716"/>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46" name="Straight Arrow Connector 45">
            <a:extLst>
              <a:ext uri="{FF2B5EF4-FFF2-40B4-BE49-F238E27FC236}">
                <a16:creationId xmlns:a16="http://schemas.microsoft.com/office/drawing/2014/main" id="{64234466-250D-80B9-3794-6411E73796F7}"/>
              </a:ext>
              <a:ext uri="{C183D7F6-B498-43B3-948B-1728B52AA6E4}">
                <adec:decorative xmlns:adec="http://schemas.microsoft.com/office/drawing/2017/decorative" val="1"/>
              </a:ext>
            </a:extLst>
          </p:cNvPr>
          <p:cNvCxnSpPr>
            <a:cxnSpLocks/>
          </p:cNvCxnSpPr>
          <p:nvPr/>
        </p:nvCxnSpPr>
        <p:spPr>
          <a:xfrm>
            <a:off x="1905000" y="5460621"/>
            <a:ext cx="0" cy="1063023"/>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pic>
        <p:nvPicPr>
          <p:cNvPr id="1030" name="Picture 6">
            <a:extLst>
              <a:ext uri="{FF2B5EF4-FFF2-40B4-BE49-F238E27FC236}">
                <a16:creationId xmlns:a16="http://schemas.microsoft.com/office/drawing/2014/main" id="{581BB29F-DB94-850D-43E9-DFDF706EA617}"/>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87820" y="5564255"/>
            <a:ext cx="782846" cy="14909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92FEF6A6-3D53-5807-2C3B-1BB5B5D0EB2D}"/>
              </a:ext>
            </a:extLst>
          </p:cNvPr>
          <p:cNvGrpSpPr/>
          <p:nvPr/>
        </p:nvGrpSpPr>
        <p:grpSpPr>
          <a:xfrm>
            <a:off x="6824589" y="883988"/>
            <a:ext cx="1143000" cy="503976"/>
            <a:chOff x="6840290" y="857532"/>
            <a:chExt cx="1143000" cy="503976"/>
          </a:xfrm>
        </p:grpSpPr>
        <p:sp>
          <p:nvSpPr>
            <p:cNvPr id="50" name="TextBox 49">
              <a:extLst>
                <a:ext uri="{FF2B5EF4-FFF2-40B4-BE49-F238E27FC236}">
                  <a16:creationId xmlns:a16="http://schemas.microsoft.com/office/drawing/2014/main" id="{395CF2B9-54B0-6284-FE90-2C92B08F7768}"/>
                </a:ext>
                <a:ext uri="{C183D7F6-B498-43B3-948B-1728B52AA6E4}">
                  <adec:decorative xmlns:adec="http://schemas.microsoft.com/office/drawing/2017/decorative" val="1"/>
                </a:ext>
              </a:extLst>
            </p:cNvPr>
            <p:cNvSpPr txBox="1"/>
            <p:nvPr/>
          </p:nvSpPr>
          <p:spPr>
            <a:xfrm>
              <a:off x="6840290" y="857532"/>
              <a:ext cx="1143000" cy="369332"/>
            </a:xfrm>
            <a:prstGeom prst="rect">
              <a:avLst/>
            </a:prstGeom>
            <a:noFill/>
          </p:spPr>
          <p:txBody>
            <a:bodyPr wrap="square">
              <a:spAutoFit/>
            </a:bodyPr>
            <a:lstStyle/>
            <a:p>
              <a:r>
                <a:rPr lang="en-US" b="0" i="0" dirty="0">
                  <a:solidFill>
                    <a:srgbClr val="202122"/>
                  </a:solidFill>
                  <a:effectLst/>
                  <a:latin typeface="Calibri" panose="020F0502020204030204" pitchFamily="34" charset="0"/>
                </a:rPr>
                <a:t> </a:t>
              </a:r>
              <a:r>
                <a:rPr lang="en-US" sz="1400" b="1" dirty="0">
                  <a:solidFill>
                    <a:srgbClr val="5CC0D4"/>
                  </a:solidFill>
                  <a:latin typeface="Calibri" panose="020F0502020204030204" pitchFamily="34" charset="0"/>
                  <a:cs typeface="Calibri" panose="020F0502020204030204" pitchFamily="34" charset="0"/>
                </a:rPr>
                <a:t>1974-1980</a:t>
              </a:r>
            </a:p>
          </p:txBody>
        </p:sp>
        <p:sp>
          <p:nvSpPr>
            <p:cNvPr id="51" name="TextBox 50">
              <a:extLst>
                <a:ext uri="{FF2B5EF4-FFF2-40B4-BE49-F238E27FC236}">
                  <a16:creationId xmlns:a16="http://schemas.microsoft.com/office/drawing/2014/main" id="{65859210-A916-585E-DEEF-EF2D0566638D}"/>
                </a:ext>
                <a:ext uri="{C183D7F6-B498-43B3-948B-1728B52AA6E4}">
                  <adec:decorative xmlns:adec="http://schemas.microsoft.com/office/drawing/2017/decorative" val="1"/>
                </a:ext>
              </a:extLst>
            </p:cNvPr>
            <p:cNvSpPr txBox="1"/>
            <p:nvPr/>
          </p:nvSpPr>
          <p:spPr>
            <a:xfrm>
              <a:off x="6934742" y="1115287"/>
              <a:ext cx="952608" cy="246221"/>
            </a:xfrm>
            <a:prstGeom prst="rect">
              <a:avLst/>
            </a:prstGeom>
            <a:noFill/>
          </p:spPr>
          <p:txBody>
            <a:bodyPr wrap="square" rtlCol="0">
              <a:spAutoFit/>
            </a:bodyPr>
            <a:lstStyle/>
            <a:p>
              <a:r>
                <a:rPr lang="en-US" sz="1000" dirty="0"/>
                <a:t>First AI Winter</a:t>
              </a:r>
            </a:p>
          </p:txBody>
        </p:sp>
      </p:grpSp>
      <p:grpSp>
        <p:nvGrpSpPr>
          <p:cNvPr id="16" name="Group 15">
            <a:extLst>
              <a:ext uri="{FF2B5EF4-FFF2-40B4-BE49-F238E27FC236}">
                <a16:creationId xmlns:a16="http://schemas.microsoft.com/office/drawing/2014/main" id="{0C68A1B4-0744-D999-1B88-EDBA2E469F45}"/>
              </a:ext>
            </a:extLst>
          </p:cNvPr>
          <p:cNvGrpSpPr/>
          <p:nvPr/>
        </p:nvGrpSpPr>
        <p:grpSpPr>
          <a:xfrm>
            <a:off x="5943600" y="2010702"/>
            <a:ext cx="1212982" cy="819994"/>
            <a:chOff x="6995419" y="1559022"/>
            <a:chExt cx="1212982" cy="819994"/>
          </a:xfrm>
        </p:grpSpPr>
        <p:sp>
          <p:nvSpPr>
            <p:cNvPr id="52" name="TextBox 51">
              <a:extLst>
                <a:ext uri="{FF2B5EF4-FFF2-40B4-BE49-F238E27FC236}">
                  <a16:creationId xmlns:a16="http://schemas.microsoft.com/office/drawing/2014/main" id="{52D25F7D-9624-A834-29B0-3E25E381631A}"/>
                </a:ext>
                <a:ext uri="{C183D7F6-B498-43B3-948B-1728B52AA6E4}">
                  <adec:decorative xmlns:adec="http://schemas.microsoft.com/office/drawing/2017/decorative" val="1"/>
                </a:ext>
              </a:extLst>
            </p:cNvPr>
            <p:cNvSpPr txBox="1"/>
            <p:nvPr/>
          </p:nvSpPr>
          <p:spPr>
            <a:xfrm>
              <a:off x="6995419" y="1559022"/>
              <a:ext cx="1143000" cy="523220"/>
            </a:xfrm>
            <a:prstGeom prst="rect">
              <a:avLst/>
            </a:prstGeom>
            <a:noFill/>
          </p:spPr>
          <p:txBody>
            <a:bodyPr wrap="square">
              <a:spAutoFit/>
            </a:bodyPr>
            <a:lstStyle/>
            <a:p>
              <a:r>
                <a:rPr lang="en-US" sz="1400" b="1" dirty="0">
                  <a:solidFill>
                    <a:srgbClr val="5CC0D4"/>
                  </a:solidFill>
                  <a:latin typeface="Calibri" panose="020F0502020204030204" pitchFamily="34" charset="0"/>
                  <a:cs typeface="Calibri" panose="020F0502020204030204" pitchFamily="34" charset="0"/>
                </a:rPr>
                <a:t>1987-</a:t>
              </a:r>
              <a:br>
                <a:rPr lang="en-US" sz="1400" b="1" dirty="0">
                  <a:solidFill>
                    <a:srgbClr val="5CC0D4"/>
                  </a:solidFill>
                  <a:latin typeface="Calibri" panose="020F0502020204030204" pitchFamily="34" charset="0"/>
                  <a:cs typeface="Calibri" panose="020F0502020204030204" pitchFamily="34" charset="0"/>
                </a:rPr>
              </a:br>
              <a:r>
                <a:rPr lang="en-US" sz="1400" b="1" dirty="0">
                  <a:solidFill>
                    <a:srgbClr val="5CC0D4"/>
                  </a:solidFill>
                  <a:latin typeface="Calibri" panose="020F0502020204030204" pitchFamily="34" charset="0"/>
                  <a:cs typeface="Calibri" panose="020F0502020204030204" pitchFamily="34" charset="0"/>
                </a:rPr>
                <a:t>1993</a:t>
              </a:r>
            </a:p>
          </p:txBody>
        </p:sp>
        <p:sp>
          <p:nvSpPr>
            <p:cNvPr id="53" name="TextBox 52">
              <a:extLst>
                <a:ext uri="{FF2B5EF4-FFF2-40B4-BE49-F238E27FC236}">
                  <a16:creationId xmlns:a16="http://schemas.microsoft.com/office/drawing/2014/main" id="{C9D518F0-81D3-89FA-4C33-DA33C47775C4}"/>
                </a:ext>
                <a:ext uri="{C183D7F6-B498-43B3-948B-1728B52AA6E4}">
                  <adec:decorative xmlns:adec="http://schemas.microsoft.com/office/drawing/2017/decorative" val="1"/>
                </a:ext>
              </a:extLst>
            </p:cNvPr>
            <p:cNvSpPr txBox="1"/>
            <p:nvPr/>
          </p:nvSpPr>
          <p:spPr>
            <a:xfrm>
              <a:off x="7009934" y="1978906"/>
              <a:ext cx="1198467" cy="400110"/>
            </a:xfrm>
            <a:prstGeom prst="rect">
              <a:avLst/>
            </a:prstGeom>
            <a:noFill/>
          </p:spPr>
          <p:txBody>
            <a:bodyPr wrap="square" rtlCol="0">
              <a:spAutoFit/>
            </a:bodyPr>
            <a:lstStyle/>
            <a:p>
              <a:r>
                <a:rPr lang="en-US" sz="1000" dirty="0"/>
                <a:t>Second AI </a:t>
              </a:r>
              <a:br>
                <a:rPr lang="en-US" sz="1000" dirty="0"/>
              </a:br>
              <a:r>
                <a:rPr lang="en-US" sz="1000" dirty="0"/>
                <a:t>Winter</a:t>
              </a:r>
            </a:p>
          </p:txBody>
        </p:sp>
      </p:grpSp>
      <p:sp>
        <p:nvSpPr>
          <p:cNvPr id="54" name="Rectangle 53">
            <a:extLst>
              <a:ext uri="{FF2B5EF4-FFF2-40B4-BE49-F238E27FC236}">
                <a16:creationId xmlns:a16="http://schemas.microsoft.com/office/drawing/2014/main" id="{F01C1D97-FE73-4B19-E7F8-246B9B9B6C4F}"/>
              </a:ext>
              <a:ext uri="{C183D7F6-B498-43B3-948B-1728B52AA6E4}">
                <adec:decorative xmlns:adec="http://schemas.microsoft.com/office/drawing/2017/decorative" val="1"/>
              </a:ext>
            </a:extLst>
          </p:cNvPr>
          <p:cNvSpPr/>
          <p:nvPr/>
        </p:nvSpPr>
        <p:spPr>
          <a:xfrm>
            <a:off x="7631405" y="4955422"/>
            <a:ext cx="816563" cy="18048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pic>
        <p:nvPicPr>
          <p:cNvPr id="3078" name="Picture 6">
            <a:extLst>
              <a:ext uri="{FF2B5EF4-FFF2-40B4-BE49-F238E27FC236}">
                <a16:creationId xmlns:a16="http://schemas.microsoft.com/office/drawing/2014/main" id="{0B60143D-E955-D7F1-002D-2BC76CC444E5}"/>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744" y="6155259"/>
            <a:ext cx="1097443" cy="26438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AAF524EC-A651-8C0B-CC3E-09EE8DA1F9F8}"/>
              </a:ext>
              <a:ext uri="{C183D7F6-B498-43B3-948B-1728B52AA6E4}">
                <adec:decorative xmlns:adec="http://schemas.microsoft.com/office/drawing/2017/decorative" val="1"/>
              </a:ext>
            </a:extLst>
          </p:cNvPr>
          <p:cNvCxnSpPr>
            <a:cxnSpLocks/>
          </p:cNvCxnSpPr>
          <p:nvPr/>
        </p:nvCxnSpPr>
        <p:spPr>
          <a:xfrm>
            <a:off x="533400" y="4874245"/>
            <a:ext cx="0" cy="1697334"/>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14" name="TextBox 13">
            <a:extLst>
              <a:ext uri="{FF2B5EF4-FFF2-40B4-BE49-F238E27FC236}">
                <a16:creationId xmlns:a16="http://schemas.microsoft.com/office/drawing/2014/main" id="{F11F3C1F-784F-C7AC-488F-58827953A71A}"/>
              </a:ext>
              <a:ext uri="{C183D7F6-B498-43B3-948B-1728B52AA6E4}">
                <adec:decorative xmlns:adec="http://schemas.microsoft.com/office/drawing/2017/decorative" val="1"/>
              </a:ext>
            </a:extLst>
          </p:cNvPr>
          <p:cNvSpPr txBox="1"/>
          <p:nvPr/>
        </p:nvSpPr>
        <p:spPr>
          <a:xfrm rot="16200000">
            <a:off x="233318" y="4461296"/>
            <a:ext cx="600163" cy="307777"/>
          </a:xfrm>
          <a:prstGeom prst="rect">
            <a:avLst/>
          </a:prstGeom>
          <a:noFill/>
        </p:spPr>
        <p:txBody>
          <a:bodyPr wrap="square" rtlCol="0">
            <a:spAutoFit/>
          </a:bodyPr>
          <a:lstStyle/>
          <a:p>
            <a:r>
              <a:rPr lang="en-US" sz="1400" b="1" dirty="0">
                <a:solidFill>
                  <a:srgbClr val="5CC0D4"/>
                </a:solidFill>
                <a:latin typeface="Calibri" panose="020F0502020204030204" pitchFamily="34" charset="0"/>
                <a:cs typeface="Calibri" panose="020F0502020204030204" pitchFamily="34" charset="0"/>
              </a:rPr>
              <a:t>2010</a:t>
            </a:r>
            <a:endParaRPr lang="en-US" b="1" dirty="0">
              <a:solidFill>
                <a:srgbClr val="5CC0D4"/>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742E7D22-D41C-92F6-9B6D-410F3819FBAA}"/>
              </a:ext>
              <a:ext uri="{C183D7F6-B498-43B3-948B-1728B52AA6E4}">
                <adec:decorative xmlns:adec="http://schemas.microsoft.com/office/drawing/2017/decorative" val="1"/>
              </a:ext>
            </a:extLst>
          </p:cNvPr>
          <p:cNvSpPr txBox="1"/>
          <p:nvPr/>
        </p:nvSpPr>
        <p:spPr>
          <a:xfrm>
            <a:off x="852001" y="6347895"/>
            <a:ext cx="1254899" cy="276999"/>
          </a:xfrm>
          <a:prstGeom prst="rect">
            <a:avLst/>
          </a:prstGeom>
          <a:noFill/>
        </p:spPr>
        <p:txBody>
          <a:bodyPr wrap="square" rtlCol="0">
            <a:spAutoFit/>
          </a:bodyPr>
          <a:lstStyle/>
          <a:p>
            <a:r>
              <a:rPr lang="en-US" sz="1200" dirty="0"/>
              <a:t>Now Google</a:t>
            </a:r>
          </a:p>
        </p:txBody>
      </p:sp>
      <p:sp>
        <p:nvSpPr>
          <p:cNvPr id="2" name="Rectangle 1">
            <a:extLst>
              <a:ext uri="{FF2B5EF4-FFF2-40B4-BE49-F238E27FC236}">
                <a16:creationId xmlns:a16="http://schemas.microsoft.com/office/drawing/2014/main" id="{C9D1EE7D-9285-0B2F-8261-9AC4166AF320}"/>
              </a:ext>
              <a:ext uri="{C183D7F6-B498-43B3-948B-1728B52AA6E4}">
                <adec:decorative xmlns:adec="http://schemas.microsoft.com/office/drawing/2017/decorative" val="1"/>
              </a:ext>
            </a:extLst>
          </p:cNvPr>
          <p:cNvSpPr/>
          <p:nvPr/>
        </p:nvSpPr>
        <p:spPr>
          <a:xfrm>
            <a:off x="4424291" y="685799"/>
            <a:ext cx="914400" cy="42948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Rectangle 5">
            <a:extLst>
              <a:ext uri="{FF2B5EF4-FFF2-40B4-BE49-F238E27FC236}">
                <a16:creationId xmlns:a16="http://schemas.microsoft.com/office/drawing/2014/main" id="{551B9AA7-D7A5-B75D-9019-7AD2A4495EF1}"/>
              </a:ext>
              <a:ext uri="{C183D7F6-B498-43B3-948B-1728B52AA6E4}">
                <adec:decorative xmlns:adec="http://schemas.microsoft.com/office/drawing/2017/decorative" val="1"/>
              </a:ext>
            </a:extLst>
          </p:cNvPr>
          <p:cNvSpPr/>
          <p:nvPr/>
        </p:nvSpPr>
        <p:spPr>
          <a:xfrm>
            <a:off x="3588412" y="914400"/>
            <a:ext cx="526388" cy="3048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20" name="Group 19">
            <a:extLst>
              <a:ext uri="{FF2B5EF4-FFF2-40B4-BE49-F238E27FC236}">
                <a16:creationId xmlns:a16="http://schemas.microsoft.com/office/drawing/2014/main" id="{4C8068F9-37CD-E94A-5F3A-F83D99E7CE2D}"/>
              </a:ext>
            </a:extLst>
          </p:cNvPr>
          <p:cNvGrpSpPr/>
          <p:nvPr/>
        </p:nvGrpSpPr>
        <p:grpSpPr>
          <a:xfrm>
            <a:off x="6848015" y="1356419"/>
            <a:ext cx="1310628" cy="1129836"/>
            <a:chOff x="6840290" y="1482627"/>
            <a:chExt cx="1310628" cy="1129836"/>
          </a:xfrm>
        </p:grpSpPr>
        <p:sp>
          <p:nvSpPr>
            <p:cNvPr id="21" name="TextBox 20">
              <a:extLst>
                <a:ext uri="{FF2B5EF4-FFF2-40B4-BE49-F238E27FC236}">
                  <a16:creationId xmlns:a16="http://schemas.microsoft.com/office/drawing/2014/main" id="{8F25E9CC-F6FC-2F73-61CE-DEE594D09015}"/>
                </a:ext>
                <a:ext uri="{C183D7F6-B498-43B3-948B-1728B52AA6E4}">
                  <adec:decorative xmlns:adec="http://schemas.microsoft.com/office/drawing/2017/decorative" val="1"/>
                </a:ext>
              </a:extLst>
            </p:cNvPr>
            <p:cNvSpPr txBox="1"/>
            <p:nvPr/>
          </p:nvSpPr>
          <p:spPr>
            <a:xfrm>
              <a:off x="6840290" y="1482627"/>
              <a:ext cx="1143000" cy="369332"/>
            </a:xfrm>
            <a:prstGeom prst="rect">
              <a:avLst/>
            </a:prstGeom>
            <a:noFill/>
          </p:spPr>
          <p:txBody>
            <a:bodyPr wrap="square">
              <a:spAutoFit/>
            </a:bodyPr>
            <a:lstStyle/>
            <a:p>
              <a:r>
                <a:rPr lang="en-US" b="0" i="0" dirty="0">
                  <a:solidFill>
                    <a:srgbClr val="202122"/>
                  </a:solidFill>
                  <a:effectLst/>
                  <a:latin typeface="Calibri" panose="020F0502020204030204" pitchFamily="34" charset="0"/>
                </a:rPr>
                <a:t> </a:t>
              </a:r>
              <a:r>
                <a:rPr lang="en-US" sz="1400" b="1" dirty="0">
                  <a:solidFill>
                    <a:srgbClr val="5CC0D4"/>
                  </a:solidFill>
                  <a:latin typeface="Calibri" panose="020F0502020204030204" pitchFamily="34" charset="0"/>
                  <a:cs typeface="Calibri" panose="020F0502020204030204" pitchFamily="34" charset="0"/>
                </a:rPr>
                <a:t>1989</a:t>
              </a:r>
            </a:p>
          </p:txBody>
        </p:sp>
        <p:sp>
          <p:nvSpPr>
            <p:cNvPr id="22" name="TextBox 21">
              <a:extLst>
                <a:ext uri="{FF2B5EF4-FFF2-40B4-BE49-F238E27FC236}">
                  <a16:creationId xmlns:a16="http://schemas.microsoft.com/office/drawing/2014/main" id="{923F24FB-61D6-2831-68C8-2B3357524AC0}"/>
                </a:ext>
                <a:ext uri="{C183D7F6-B498-43B3-948B-1728B52AA6E4}">
                  <adec:decorative xmlns:adec="http://schemas.microsoft.com/office/drawing/2017/decorative" val="1"/>
                </a:ext>
              </a:extLst>
            </p:cNvPr>
            <p:cNvSpPr txBox="1"/>
            <p:nvPr/>
          </p:nvSpPr>
          <p:spPr>
            <a:xfrm>
              <a:off x="6952451" y="1750689"/>
              <a:ext cx="1198467" cy="861774"/>
            </a:xfrm>
            <a:prstGeom prst="rect">
              <a:avLst/>
            </a:prstGeom>
            <a:noFill/>
          </p:spPr>
          <p:txBody>
            <a:bodyPr wrap="square" rtlCol="0">
              <a:spAutoFit/>
            </a:bodyPr>
            <a:lstStyle/>
            <a:p>
              <a:r>
                <a:rPr lang="en-US" sz="1000" dirty="0"/>
                <a:t>1989: Universal approximation theorem for artificial neural networks</a:t>
              </a:r>
            </a:p>
          </p:txBody>
        </p:sp>
      </p:grpSp>
      <p:cxnSp>
        <p:nvCxnSpPr>
          <p:cNvPr id="33" name="Straight Arrow Connector 32">
            <a:extLst>
              <a:ext uri="{FF2B5EF4-FFF2-40B4-BE49-F238E27FC236}">
                <a16:creationId xmlns:a16="http://schemas.microsoft.com/office/drawing/2014/main" id="{72B95BAA-817C-75D3-6C06-BFE7F40A696E}"/>
              </a:ext>
              <a:ext uri="{C183D7F6-B498-43B3-948B-1728B52AA6E4}">
                <adec:decorative xmlns:adec="http://schemas.microsoft.com/office/drawing/2017/decorative" val="1"/>
              </a:ext>
            </a:extLst>
          </p:cNvPr>
          <p:cNvCxnSpPr>
            <a:cxnSpLocks/>
          </p:cNvCxnSpPr>
          <p:nvPr/>
        </p:nvCxnSpPr>
        <p:spPr>
          <a:xfrm flipH="1">
            <a:off x="5959199" y="2033264"/>
            <a:ext cx="11214" cy="760925"/>
          </a:xfrm>
          <a:prstGeom prst="straightConnector1">
            <a:avLst/>
          </a:prstGeom>
          <a:ln w="38100">
            <a:solidFill>
              <a:srgbClr val="5CC0D4"/>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38" name="Rectangle 37">
            <a:extLst>
              <a:ext uri="{FF2B5EF4-FFF2-40B4-BE49-F238E27FC236}">
                <a16:creationId xmlns:a16="http://schemas.microsoft.com/office/drawing/2014/main" id="{237DB29E-4030-168B-3C23-8F7B8F009255}"/>
              </a:ext>
              <a:ext uri="{C183D7F6-B498-43B3-948B-1728B52AA6E4}">
                <adec:decorative xmlns:adec="http://schemas.microsoft.com/office/drawing/2017/decorative" val="1"/>
              </a:ext>
            </a:extLst>
          </p:cNvPr>
          <p:cNvSpPr/>
          <p:nvPr/>
        </p:nvSpPr>
        <p:spPr>
          <a:xfrm>
            <a:off x="6248400" y="3039348"/>
            <a:ext cx="490362" cy="33708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26" name="Group 25">
            <a:extLst>
              <a:ext uri="{FF2B5EF4-FFF2-40B4-BE49-F238E27FC236}">
                <a16:creationId xmlns:a16="http://schemas.microsoft.com/office/drawing/2014/main" id="{DC1F8F4E-D65F-BD91-FB94-C9F98D54F91C}"/>
              </a:ext>
            </a:extLst>
          </p:cNvPr>
          <p:cNvGrpSpPr/>
          <p:nvPr/>
        </p:nvGrpSpPr>
        <p:grpSpPr>
          <a:xfrm>
            <a:off x="4392762" y="102447"/>
            <a:ext cx="4632019" cy="3864592"/>
            <a:chOff x="4392762" y="102447"/>
            <a:chExt cx="4632019" cy="3416592"/>
          </a:xfrm>
        </p:grpSpPr>
        <p:sp>
          <p:nvSpPr>
            <p:cNvPr id="24" name="Rectangle 23">
              <a:extLst>
                <a:ext uri="{FF2B5EF4-FFF2-40B4-BE49-F238E27FC236}">
                  <a16:creationId xmlns:a16="http://schemas.microsoft.com/office/drawing/2014/main" id="{77DDBDD0-9AC7-574A-977A-2931F473B366}"/>
                </a:ext>
              </a:extLst>
            </p:cNvPr>
            <p:cNvSpPr/>
            <p:nvPr/>
          </p:nvSpPr>
          <p:spPr>
            <a:xfrm>
              <a:off x="4392762" y="102447"/>
              <a:ext cx="4632019" cy="341659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5" name="TextBox 24">
              <a:extLst>
                <a:ext uri="{FF2B5EF4-FFF2-40B4-BE49-F238E27FC236}">
                  <a16:creationId xmlns:a16="http://schemas.microsoft.com/office/drawing/2014/main" id="{D7C6793B-0E38-A86A-0E14-FFE931A44124}"/>
                </a:ext>
              </a:extLst>
            </p:cNvPr>
            <p:cNvSpPr txBox="1"/>
            <p:nvPr/>
          </p:nvSpPr>
          <p:spPr>
            <a:xfrm>
              <a:off x="7609169" y="154312"/>
              <a:ext cx="1360922" cy="73866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dirty="0">
                  <a:solidFill>
                    <a:schemeClr val="tx1"/>
                  </a:solidFill>
                </a:rPr>
                <a:t>Symbolic AI</a:t>
              </a:r>
            </a:p>
            <a:p>
              <a:pPr algn="r"/>
              <a:r>
                <a:rPr lang="en-US" sz="1200" dirty="0">
                  <a:solidFill>
                    <a:schemeClr val="tx1"/>
                  </a:solidFill>
                </a:rPr>
                <a:t>Logic, rules, needs no or little data</a:t>
              </a:r>
            </a:p>
          </p:txBody>
        </p:sp>
      </p:grpSp>
      <p:grpSp>
        <p:nvGrpSpPr>
          <p:cNvPr id="31" name="Group 30">
            <a:extLst>
              <a:ext uri="{FF2B5EF4-FFF2-40B4-BE49-F238E27FC236}">
                <a16:creationId xmlns:a16="http://schemas.microsoft.com/office/drawing/2014/main" id="{4C06E32D-3DFD-3826-09F0-32584F7F8487}"/>
              </a:ext>
            </a:extLst>
          </p:cNvPr>
          <p:cNvGrpSpPr/>
          <p:nvPr/>
        </p:nvGrpSpPr>
        <p:grpSpPr>
          <a:xfrm>
            <a:off x="1924019" y="4334022"/>
            <a:ext cx="7100759" cy="2252946"/>
            <a:chOff x="4392762" y="102447"/>
            <a:chExt cx="4632019" cy="3416592"/>
          </a:xfrm>
        </p:grpSpPr>
        <p:sp>
          <p:nvSpPr>
            <p:cNvPr id="32" name="Rectangle 31">
              <a:extLst>
                <a:ext uri="{FF2B5EF4-FFF2-40B4-BE49-F238E27FC236}">
                  <a16:creationId xmlns:a16="http://schemas.microsoft.com/office/drawing/2014/main" id="{75FC4322-D3DB-59C9-AF12-0D6AE1FFC248}"/>
                </a:ext>
              </a:extLst>
            </p:cNvPr>
            <p:cNvSpPr/>
            <p:nvPr/>
          </p:nvSpPr>
          <p:spPr>
            <a:xfrm>
              <a:off x="4392762" y="102447"/>
              <a:ext cx="4632019" cy="341659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6" name="TextBox 35">
              <a:extLst>
                <a:ext uri="{FF2B5EF4-FFF2-40B4-BE49-F238E27FC236}">
                  <a16:creationId xmlns:a16="http://schemas.microsoft.com/office/drawing/2014/main" id="{2841202B-81BA-4DD9-377A-C8E075923F27}"/>
                </a:ext>
              </a:extLst>
            </p:cNvPr>
            <p:cNvSpPr txBox="1"/>
            <p:nvPr/>
          </p:nvSpPr>
          <p:spPr>
            <a:xfrm>
              <a:off x="6769198" y="2623986"/>
              <a:ext cx="2210469" cy="840138"/>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r"/>
              <a:r>
                <a:rPr lang="en-US" b="1" dirty="0" err="1">
                  <a:solidFill>
                    <a:schemeClr val="tx1"/>
                  </a:solidFill>
                </a:rPr>
                <a:t>Subsymbolic</a:t>
              </a:r>
              <a:r>
                <a:rPr lang="en-US" b="1" dirty="0">
                  <a:solidFill>
                    <a:schemeClr val="tx1"/>
                  </a:solidFill>
                </a:rPr>
                <a:t> (neural) AI</a:t>
              </a:r>
            </a:p>
            <a:p>
              <a:pPr algn="r"/>
              <a:r>
                <a:rPr lang="en-US" sz="1200" dirty="0">
                  <a:solidFill>
                    <a:schemeClr val="tx1"/>
                  </a:solidFill>
                </a:rPr>
                <a:t>Weights, probabilities, needs massive training data</a:t>
              </a:r>
            </a:p>
          </p:txBody>
        </p:sp>
      </p:grpSp>
    </p:spTree>
    <p:extLst>
      <p:ext uri="{BB962C8B-B14F-4D97-AF65-F5344CB8AC3E}">
        <p14:creationId xmlns:p14="http://schemas.microsoft.com/office/powerpoint/2010/main" val="123797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5" grpId="0" animBg="1"/>
      <p:bldP spid="54" grpId="0" animBg="1"/>
      <p:bldP spid="2" grpId="0" animBg="1"/>
      <p:bldP spid="6"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1F1272BB-CDE8-BD1E-CF97-51B038D73959}"/>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61" t="3876" r="2139" b="-1"/>
          <a:stretch/>
        </p:blipFill>
        <p:spPr bwMode="auto">
          <a:xfrm>
            <a:off x="20" y="10"/>
            <a:ext cx="6501364"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826549" y="0"/>
            <a:ext cx="731745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96901" y="1161288"/>
            <a:ext cx="2578608" cy="1124712"/>
          </a:xfrm>
        </p:spPr>
        <p:txBody>
          <a:bodyPr anchor="b">
            <a:normAutofit/>
          </a:bodyPr>
          <a:lstStyle/>
          <a:p>
            <a:r>
              <a:rPr lang="en-US" sz="2400" dirty="0">
                <a:solidFill>
                  <a:schemeClr val="bg1"/>
                </a:solidFill>
              </a:rPr>
              <a:t>What accounts for recent successes in AI?</a:t>
            </a:r>
          </a:p>
        </p:txBody>
      </p:sp>
      <p:sp>
        <p:nvSpPr>
          <p:cNvPr id="3083" name="Rectangle 308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506356"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5" name="Rectangle 308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63" y="2443480"/>
            <a:ext cx="2414016"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296901" y="2718054"/>
            <a:ext cx="2579179" cy="3207258"/>
          </a:xfrm>
        </p:spPr>
        <p:txBody>
          <a:bodyPr anchor="t">
            <a:normAutofit/>
          </a:bodyPr>
          <a:lstStyle/>
          <a:p>
            <a:r>
              <a:rPr lang="en-US" sz="1500" dirty="0">
                <a:solidFill>
                  <a:schemeClr val="bg1"/>
                </a:solidFill>
              </a:rPr>
              <a:t>Dominance of machine learning.</a:t>
            </a:r>
          </a:p>
          <a:p>
            <a:pPr>
              <a:buFont typeface="Arial" pitchFamily="34" charset="0"/>
              <a:buChar char="•"/>
            </a:pPr>
            <a:r>
              <a:rPr lang="en-US" sz="1500" dirty="0">
                <a:solidFill>
                  <a:schemeClr val="bg1"/>
                </a:solidFill>
              </a:rPr>
              <a:t>Faster computers and specialized hardware (GPUs).</a:t>
            </a:r>
          </a:p>
          <a:p>
            <a:r>
              <a:rPr lang="en-US" sz="1500" dirty="0">
                <a:solidFill>
                  <a:schemeClr val="bg1"/>
                </a:solidFill>
              </a:rPr>
              <a:t>Lots of data (the Internet, text, sensors) and storage (cloud)</a:t>
            </a:r>
          </a:p>
          <a:p>
            <a:pPr>
              <a:buFont typeface="Arial" pitchFamily="34" charset="0"/>
              <a:buChar char="•"/>
            </a:pPr>
            <a:r>
              <a:rPr lang="en-US" sz="1500" dirty="0">
                <a:solidFill>
                  <a:schemeClr val="bg1"/>
                </a:solidFill>
              </a:rPr>
              <a:t>New optimization methods (deep learning).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2600" y="321736"/>
            <a:ext cx="3852312" cy="1135737"/>
          </a:xfrm>
        </p:spPr>
        <p:txBody>
          <a:bodyPr>
            <a:normAutofit/>
          </a:bodyPr>
          <a:lstStyle/>
          <a:p>
            <a:r>
              <a:rPr lang="en-US" sz="3100"/>
              <a:t>“Moravec’s Paradox”</a:t>
            </a:r>
          </a:p>
        </p:txBody>
      </p:sp>
      <p:sp>
        <p:nvSpPr>
          <p:cNvPr id="3" name="Content Placeholder 2"/>
          <p:cNvSpPr>
            <a:spLocks noGrp="1"/>
          </p:cNvSpPr>
          <p:nvPr>
            <p:ph idx="1"/>
          </p:nvPr>
        </p:nvSpPr>
        <p:spPr>
          <a:xfrm>
            <a:off x="381000" y="1457471"/>
            <a:ext cx="4191000" cy="4719492"/>
          </a:xfrm>
        </p:spPr>
        <p:txBody>
          <a:bodyPr>
            <a:normAutofit/>
          </a:bodyPr>
          <a:lstStyle/>
          <a:p>
            <a:pPr marL="0" indent="0">
              <a:buNone/>
            </a:pPr>
            <a:r>
              <a:rPr lang="en-US" sz="1800" dirty="0"/>
              <a:t>Hans Moravec (1988): </a:t>
            </a:r>
            <a:r>
              <a:rPr lang="en-US" sz="1800" i="1" dirty="0"/>
              <a:t>“It is comparatively easy to make computers exhibit adult level performance on intelligence tests or playing checkers, and </a:t>
            </a:r>
            <a:r>
              <a:rPr lang="en-US" sz="1800" b="1" i="1" dirty="0"/>
              <a:t>difficult or impossible to give them the skills of a one-year-old when it comes to perception and mobility</a:t>
            </a:r>
            <a:r>
              <a:rPr lang="en-US" sz="1800" i="1" dirty="0"/>
              <a:t>.”</a:t>
            </a:r>
          </a:p>
          <a:p>
            <a:pPr marL="0" indent="0">
              <a:buNone/>
            </a:pPr>
            <a:endParaRPr lang="en-US" sz="1800" dirty="0"/>
          </a:p>
          <a:p>
            <a:pPr marL="0" indent="0">
              <a:buNone/>
            </a:pPr>
            <a:r>
              <a:rPr lang="en-US" sz="1800" dirty="0"/>
              <a:t>A teenager can learn how to drive in a few hours with very little input, but we still have no truly self-driving car.</a:t>
            </a:r>
          </a:p>
        </p:txBody>
      </p:sp>
      <p:pic>
        <p:nvPicPr>
          <p:cNvPr id="4" name="Picture 4">
            <a:extLst>
              <a:ext uri="{FF2B5EF4-FFF2-40B4-BE49-F238E27FC236}">
                <a16:creationId xmlns:a16="http://schemas.microsoft.com/office/drawing/2014/main" id="{6DBF3E84-DBBC-4E84-9EC9-66A5DB2E20E3}"/>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154" r="29026" b="-1"/>
          <a:stretch/>
        </p:blipFill>
        <p:spPr bwMode="auto">
          <a:xfrm>
            <a:off x="4809089" y="10"/>
            <a:ext cx="4334913"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CCE2878-CA29-4578-B017-08092CEE3BEE}"/>
              </a:ext>
              <a:ext uri="{C183D7F6-B498-43B3-948B-1728B52AA6E4}">
                <adec:decorative xmlns:adec="http://schemas.microsoft.com/office/drawing/2017/decorative" val="1"/>
              </a:ext>
            </a:extLst>
          </p:cNvPr>
          <p:cNvSpPr/>
          <p:nvPr/>
        </p:nvSpPr>
        <p:spPr>
          <a:xfrm>
            <a:off x="4800602" y="6427115"/>
            <a:ext cx="3877713" cy="430887"/>
          </a:xfrm>
          <a:prstGeom prst="rect">
            <a:avLst/>
          </a:prstGeom>
        </p:spPr>
        <p:txBody>
          <a:bodyPr wrap="square">
            <a:spAutoFit/>
          </a:bodyPr>
          <a:lstStyle/>
          <a:p>
            <a:r>
              <a:rPr lang="en-US" sz="1050" dirty="0">
                <a:solidFill>
                  <a:schemeClr val="bg1"/>
                </a:solidFill>
                <a:hlinkClick r:id="rId4">
                  <a:extLst>
                    <a:ext uri="{A12FA001-AC4F-418D-AE19-62706E023703}">
                      <ahyp:hlinkClr xmlns:ahyp="http://schemas.microsoft.com/office/drawing/2018/hyperlinkcolor" val="tx"/>
                    </a:ext>
                  </a:extLst>
                </a:hlinkClick>
              </a:rPr>
              <a:t>https://www.newsweek.com/googles-new-two-legged-robot-future-warfare-429831</a:t>
            </a:r>
            <a:endParaRPr lang="en-US" sz="105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fontScale="90000"/>
          </a:bodyPr>
          <a:lstStyle/>
          <a:p>
            <a:r>
              <a:rPr lang="en-US" dirty="0"/>
              <a:t>The AI Effect: </a:t>
            </a:r>
            <a:br>
              <a:rPr lang="en-US" dirty="0"/>
            </a:br>
            <a:r>
              <a:rPr lang="en-US" dirty="0"/>
              <a:t>AI gets no respect?</a:t>
            </a:r>
          </a:p>
        </p:txBody>
      </p:sp>
      <p:sp>
        <p:nvSpPr>
          <p:cNvPr id="3" name="Content Placeholder 2"/>
          <p:cNvSpPr>
            <a:spLocks noGrp="1"/>
          </p:cNvSpPr>
          <p:nvPr>
            <p:ph idx="1"/>
          </p:nvPr>
        </p:nvSpPr>
        <p:spPr>
          <a:xfrm>
            <a:off x="3724075" y="2438402"/>
            <a:ext cx="4939867" cy="3785419"/>
          </a:xfrm>
        </p:spPr>
        <p:txBody>
          <a:bodyPr>
            <a:normAutofit/>
          </a:bodyPr>
          <a:lstStyle/>
          <a:p>
            <a:pPr marL="0" indent="0">
              <a:buNone/>
            </a:pPr>
            <a:r>
              <a:rPr lang="en-US" sz="1600" dirty="0"/>
              <a:t>As soon as a machine gets good at performing some task, the task is no longer considered to require much intelligence. </a:t>
            </a:r>
          </a:p>
          <a:p>
            <a:pPr marL="0" indent="0">
              <a:buNone/>
            </a:pPr>
            <a:endParaRPr lang="en-US" sz="1600" dirty="0"/>
          </a:p>
          <a:p>
            <a:pPr>
              <a:buFont typeface="Arial" pitchFamily="34" charset="0"/>
              <a:buChar char="•"/>
            </a:pPr>
            <a:r>
              <a:rPr lang="en-US" sz="1600" b="1" dirty="0"/>
              <a:t>Calculating</a:t>
            </a:r>
            <a:r>
              <a:rPr lang="en-US" sz="1600" dirty="0"/>
              <a:t> ability used to be prized – not anymore.</a:t>
            </a:r>
          </a:p>
          <a:p>
            <a:pPr>
              <a:buFont typeface="Arial" pitchFamily="34" charset="0"/>
              <a:buChar char="•"/>
            </a:pPr>
            <a:r>
              <a:rPr lang="en-US" sz="1600" b="1" dirty="0"/>
              <a:t>Chess</a:t>
            </a:r>
            <a:r>
              <a:rPr lang="en-US" sz="1600" dirty="0"/>
              <a:t> was thought to require high intelligence – now computers play at a super-human level.</a:t>
            </a:r>
          </a:p>
          <a:p>
            <a:pPr>
              <a:buFont typeface="Arial" pitchFamily="34" charset="0"/>
              <a:buChar char="•"/>
            </a:pPr>
            <a:r>
              <a:rPr lang="en-US" sz="1600" b="1" dirty="0"/>
              <a:t>Learning</a:t>
            </a:r>
            <a:r>
              <a:rPr lang="en-US" sz="1600" dirty="0"/>
              <a:t> once thought uniquely human - now machine learning is a well-developed discipline.</a:t>
            </a:r>
          </a:p>
          <a:p>
            <a:pPr>
              <a:buFont typeface="Arial" pitchFamily="34" charset="0"/>
              <a:buChar char="•"/>
            </a:pPr>
            <a:r>
              <a:rPr lang="en-US" sz="1600" b="1" dirty="0"/>
              <a:t>Art</a:t>
            </a:r>
            <a:r>
              <a:rPr lang="en-US" sz="1600" dirty="0"/>
              <a:t>? “Even a monkey can do this!”</a:t>
            </a:r>
          </a:p>
        </p:txBody>
      </p:sp>
      <p:pic>
        <p:nvPicPr>
          <p:cNvPr id="1026" name="Picture 2" descr="Congo, the Late Chimpanzee Painter Whose Works Have Sold for ...">
            <a:extLst>
              <a:ext uri="{FF2B5EF4-FFF2-40B4-BE49-F238E27FC236}">
                <a16:creationId xmlns:a16="http://schemas.microsoft.com/office/drawing/2014/main" id="{A547E43F-7FA1-4385-A80C-22660F717F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023" r="36533" b="-2"/>
          <a:stretch/>
        </p:blipFill>
        <p:spPr bwMode="auto">
          <a:xfrm>
            <a:off x="22" y="10"/>
            <a:ext cx="3476673"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285BE61-9241-0D75-1E62-726116F0BD04}"/>
              </a:ext>
            </a:extLst>
          </p:cNvPr>
          <p:cNvSpPr txBox="1"/>
          <p:nvPr/>
        </p:nvSpPr>
        <p:spPr>
          <a:xfrm>
            <a:off x="4343400" y="5715000"/>
            <a:ext cx="3657600"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What about Large Language Models and Generative 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E741301-A0B1-4515-BEB2-EBBA657D46B3}"/>
              </a:ext>
            </a:extLst>
          </p:cNvPr>
          <p:cNvSpPr>
            <a:spLocks noGrp="1"/>
          </p:cNvSpPr>
          <p:nvPr>
            <p:ph type="title"/>
          </p:nvPr>
        </p:nvSpPr>
        <p:spPr>
          <a:xfrm>
            <a:off x="628649" y="4428000"/>
            <a:ext cx="4607719" cy="1400400"/>
          </a:xfrm>
        </p:spPr>
        <p:txBody>
          <a:bodyPr vert="horz" wrap="square" lIns="91440" tIns="45720" rIns="91440" bIns="45720" rtlCol="0" anchor="b">
            <a:normAutofit/>
          </a:bodyPr>
          <a:lstStyle/>
          <a:p>
            <a:r>
              <a:rPr lang="en-US" sz="4900">
                <a:solidFill>
                  <a:schemeClr val="bg1"/>
                </a:solidFill>
              </a:rPr>
              <a:t>AI Today</a:t>
            </a:r>
          </a:p>
        </p:txBody>
      </p:sp>
      <p:pic>
        <p:nvPicPr>
          <p:cNvPr id="1026" name="Picture 2">
            <a:extLst>
              <a:ext uri="{FF2B5EF4-FFF2-40B4-BE49-F238E27FC236}">
                <a16:creationId xmlns:a16="http://schemas.microsoft.com/office/drawing/2014/main" id="{EF6007DD-FC33-4E3D-8978-BC877C3EF4C2}"/>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57"/>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034" name="Freeform: Shape 1033">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41227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E098381-895F-47D1-AC53-E214FF4AE7EB}"/>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55" r="22790"/>
          <a:stretch/>
        </p:blipFill>
        <p:spPr bwMode="auto">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1CF1003-F955-43C1-860E-56D75CE04415}"/>
              </a:ext>
              <a:ext uri="{C183D7F6-B498-43B3-948B-1728B52AA6E4}">
                <adec:decorative xmlns:adec="http://schemas.microsoft.com/office/drawing/2017/decorative" val="1"/>
              </a:ext>
            </a:extLst>
          </p:cNvPr>
          <p:cNvPicPr>
            <a:picLocks noChangeAspect="1"/>
          </p:cNvPicPr>
          <p:nvPr/>
        </p:nvPicPr>
        <p:blipFill rotWithShape="1">
          <a:blip r:embed="rId4"/>
          <a:srcRect l="38257" t="17240" r="13760" b="7133"/>
          <a:stretch/>
        </p:blipFill>
        <p:spPr>
          <a:xfrm>
            <a:off x="4982468" y="3393630"/>
            <a:ext cx="4197278" cy="3456432"/>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8" name="Picture 4">
            <a:extLst>
              <a:ext uri="{C183D7F6-B498-43B3-948B-1728B52AA6E4}">
                <adec:decorative xmlns:adec="http://schemas.microsoft.com/office/drawing/2017/decorative" val="1"/>
              </a:ext>
            </a:extLst>
          </p:cNvPr>
          <p:cNvPicPr>
            <a:picLocks noChangeAspect="1" noChangeArrowheads="1"/>
          </p:cNvPicPr>
          <p:nvPr/>
        </p:nvPicPr>
        <p:blipFill rotWithShape="1">
          <a:blip r:embed="rId5" cstate="print"/>
          <a:srcRect l="18620" r="25449" b="-3"/>
          <a:stretch/>
        </p:blipFill>
        <p:spPr bwMode="auto">
          <a:xfrm>
            <a:off x="2392073"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p:spPr>
      </p:pic>
      <p:sp>
        <p:nvSpPr>
          <p:cNvPr id="23554" name="Title 1"/>
          <p:cNvSpPr>
            <a:spLocks noGrp="1"/>
          </p:cNvSpPr>
          <p:nvPr>
            <p:ph type="title"/>
          </p:nvPr>
        </p:nvSpPr>
        <p:spPr>
          <a:xfrm>
            <a:off x="336042" y="685800"/>
            <a:ext cx="2353888" cy="1325563"/>
          </a:xfrm>
        </p:spPr>
        <p:txBody>
          <a:bodyPr>
            <a:normAutofit/>
          </a:bodyPr>
          <a:lstStyle/>
          <a:p>
            <a:r>
              <a:rPr lang="en-US" sz="2400" dirty="0"/>
              <a:t>Vision and Image Processing</a:t>
            </a:r>
          </a:p>
        </p:txBody>
      </p:sp>
      <p:sp>
        <p:nvSpPr>
          <p:cNvPr id="3" name="Content Placeholder 2"/>
          <p:cNvSpPr>
            <a:spLocks noGrp="1"/>
          </p:cNvSpPr>
          <p:nvPr>
            <p:ph idx="1"/>
          </p:nvPr>
        </p:nvSpPr>
        <p:spPr>
          <a:xfrm>
            <a:off x="336042" y="2258568"/>
            <a:ext cx="2105406" cy="3922776"/>
          </a:xfrm>
        </p:spPr>
        <p:txBody>
          <a:bodyPr>
            <a:normAutofit/>
          </a:bodyPr>
          <a:lstStyle/>
          <a:p>
            <a:pPr>
              <a:buFontTx/>
              <a:buChar char="•"/>
            </a:pPr>
            <a:r>
              <a:rPr lang="en-US" sz="1300" b="1" dirty="0"/>
              <a:t>OCR</a:t>
            </a:r>
            <a:r>
              <a:rPr lang="en-US" sz="1300" dirty="0"/>
              <a:t>: read license plates, handwriting recognition (e.g., mail sorting).</a:t>
            </a:r>
          </a:p>
          <a:p>
            <a:pPr>
              <a:buFontTx/>
              <a:buChar char="•"/>
            </a:pPr>
            <a:r>
              <a:rPr lang="en-US" sz="1300" b="1" dirty="0"/>
              <a:t>Face detection</a:t>
            </a:r>
            <a:r>
              <a:rPr lang="en-US" sz="1300" dirty="0"/>
              <a:t>: now standard for smart phone cameras.</a:t>
            </a:r>
          </a:p>
          <a:p>
            <a:pPr>
              <a:buFontTx/>
              <a:buChar char="•"/>
            </a:pPr>
            <a:r>
              <a:rPr lang="en-US" sz="1300" b="1" dirty="0"/>
              <a:t>Vehicle safety systems</a:t>
            </a:r>
          </a:p>
          <a:p>
            <a:pPr>
              <a:buFontTx/>
              <a:buChar char="•"/>
            </a:pPr>
            <a:r>
              <a:rPr lang="en-US" sz="1300" b="1" dirty="0"/>
              <a:t>Visual search</a:t>
            </a:r>
          </a:p>
          <a:p>
            <a:pPr>
              <a:buFontTx/>
              <a:buChar char="•"/>
            </a:pPr>
            <a:r>
              <a:rPr lang="en-US" sz="1300" b="1" dirty="0"/>
              <a:t>Image generation</a:t>
            </a:r>
          </a:p>
          <a:p>
            <a:pPr>
              <a:buFontTx/>
              <a:buChar char="•"/>
            </a:pPr>
            <a:endParaRPr lang="en-US" sz="1300" dirty="0"/>
          </a:p>
          <a:p>
            <a:pPr>
              <a:buFontTx/>
              <a:buChar char="•"/>
            </a:pPr>
            <a:endParaRPr lang="en-US" sz="1300" dirty="0"/>
          </a:p>
          <a:p>
            <a:pPr marL="0" indent="0">
              <a:buNone/>
            </a:pPr>
            <a:r>
              <a:rPr lang="en-US" sz="1300" b="1" dirty="0"/>
              <a:t>All these technologies operate now at superhuman performance.</a:t>
            </a:r>
          </a:p>
        </p:txBody>
      </p:sp>
      <p:pic>
        <p:nvPicPr>
          <p:cNvPr id="5124" name="Picture 4">
            <a:extLst>
              <a:ext uri="{FF2B5EF4-FFF2-40B4-BE49-F238E27FC236}">
                <a16:creationId xmlns:a16="http://schemas.microsoft.com/office/drawing/2014/main" id="{4F355B0E-BE0B-9D6D-DF40-04B6870F0933}"/>
              </a:ext>
              <a:ext uri="{C183D7F6-B498-43B3-948B-1728B52AA6E4}">
                <adec:decorative xmlns:adec="http://schemas.microsoft.com/office/drawing/2017/decorative" val="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268" r="2" b="2"/>
          <a:stretch/>
        </p:blipFill>
        <p:spPr bwMode="auto">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F103C0-09B6-1D75-638A-954AC33F19A3}"/>
              </a:ext>
              <a:ext uri="{C183D7F6-B498-43B3-948B-1728B52AA6E4}">
                <adec:decorative xmlns:adec="http://schemas.microsoft.com/office/drawing/2017/decorative" val="1"/>
              </a:ext>
            </a:extLst>
          </p:cNvPr>
          <p:cNvSpPr txBox="1"/>
          <p:nvPr/>
        </p:nvSpPr>
        <p:spPr>
          <a:xfrm>
            <a:off x="8109876" y="3012371"/>
            <a:ext cx="1219200" cy="369332"/>
          </a:xfrm>
          <a:prstGeom prst="rect">
            <a:avLst/>
          </a:prstGeom>
          <a:noFill/>
        </p:spPr>
        <p:txBody>
          <a:bodyPr wrap="square" rtlCol="0">
            <a:spAutoFit/>
          </a:bodyPr>
          <a:lstStyle/>
          <a:p>
            <a:r>
              <a:rPr lang="en-US" b="1" dirty="0">
                <a:solidFill>
                  <a:schemeClr val="bg1"/>
                </a:solidFill>
              </a:rPr>
              <a:t>DALL-E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9486" y="365125"/>
            <a:ext cx="5239511" cy="1776484"/>
          </a:xfrm>
        </p:spPr>
        <p:txBody>
          <a:bodyPr anchor="b">
            <a:normAutofit/>
          </a:bodyPr>
          <a:lstStyle/>
          <a:p>
            <a:r>
              <a:rPr lang="en-US" sz="4700"/>
              <a:t>Natural Language Processing</a:t>
            </a:r>
          </a:p>
        </p:txBody>
      </p:sp>
      <p:sp>
        <p:nvSpPr>
          <p:cNvPr id="3" name="Content Placeholder 2"/>
          <p:cNvSpPr>
            <a:spLocks noGrp="1"/>
          </p:cNvSpPr>
          <p:nvPr>
            <p:ph idx="1"/>
          </p:nvPr>
        </p:nvSpPr>
        <p:spPr>
          <a:xfrm>
            <a:off x="355463" y="2832763"/>
            <a:ext cx="4417314" cy="3672144"/>
          </a:xfrm>
        </p:spPr>
        <p:txBody>
          <a:bodyPr>
            <a:normAutofit fontScale="92500" lnSpcReduction="10000"/>
          </a:bodyPr>
          <a:lstStyle/>
          <a:p>
            <a:pPr lvl="1">
              <a:defRPr/>
            </a:pPr>
            <a:r>
              <a:rPr lang="en-US" sz="1900" dirty="0"/>
              <a:t>Text-to-speech</a:t>
            </a:r>
          </a:p>
          <a:p>
            <a:pPr lvl="1">
              <a:defRPr/>
            </a:pPr>
            <a:r>
              <a:rPr lang="en-US" sz="1900" dirty="0"/>
              <a:t>Speech-to-text to detect voice commands</a:t>
            </a:r>
          </a:p>
          <a:p>
            <a:pPr lvl="1">
              <a:buFont typeface="Arial" pitchFamily="34" charset="0"/>
              <a:buChar char="•"/>
              <a:defRPr/>
            </a:pPr>
            <a:r>
              <a:rPr lang="en-US" sz="1900" dirty="0"/>
              <a:t>Machine translation</a:t>
            </a:r>
          </a:p>
          <a:p>
            <a:pPr lvl="1">
              <a:buFont typeface="Arial" pitchFamily="34" charset="0"/>
              <a:buChar char="•"/>
              <a:defRPr/>
            </a:pPr>
            <a:r>
              <a:rPr lang="en-US" sz="1900" dirty="0"/>
              <a:t>Text generation (Q/A systems) using Large Language Models</a:t>
            </a:r>
          </a:p>
          <a:p>
            <a:pPr marL="0" indent="0">
              <a:buNone/>
              <a:defRPr/>
            </a:pPr>
            <a:endParaRPr lang="en-US" sz="1900" dirty="0"/>
          </a:p>
          <a:p>
            <a:pPr marL="0" indent="0">
              <a:buNone/>
              <a:defRPr/>
            </a:pPr>
            <a:r>
              <a:rPr lang="en-US" sz="1900" b="1" dirty="0"/>
              <a:t>These technologies operate now with close to or even superhuman performance.</a:t>
            </a:r>
            <a:endParaRPr lang="en-US" sz="1900" dirty="0"/>
          </a:p>
          <a:p>
            <a:pPr marL="0" indent="0">
              <a:buNone/>
              <a:defRPr/>
            </a:pPr>
            <a:r>
              <a:rPr lang="en-US" sz="1900" b="1" dirty="0"/>
              <a:t>Humans use language to reason. Does that mean AI that can create high-quality text can reason?</a:t>
            </a:r>
          </a:p>
          <a:p>
            <a:pPr marL="0" indent="0">
              <a:buNone/>
              <a:defRPr/>
            </a:pPr>
            <a:r>
              <a:rPr lang="en-US" sz="1900" b="1" dirty="0"/>
              <a:t>Language understanding is still elusive!</a:t>
            </a:r>
          </a:p>
        </p:txBody>
      </p:sp>
      <p:pic>
        <p:nvPicPr>
          <p:cNvPr id="11" name="Picture 10">
            <a:extLst>
              <a:ext uri="{FF2B5EF4-FFF2-40B4-BE49-F238E27FC236}">
                <a16:creationId xmlns:a16="http://schemas.microsoft.com/office/drawing/2014/main" id="{50B046AB-D3D4-84CC-9143-11B98F40544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59146" y="607759"/>
            <a:ext cx="3774438" cy="1707932"/>
          </a:xfrm>
          <a:prstGeom prst="rect">
            <a:avLst/>
          </a:prstGeom>
        </p:spPr>
      </p:pic>
      <p:pic>
        <p:nvPicPr>
          <p:cNvPr id="2062" name="Picture 14">
            <a:extLst>
              <a:ext uri="{FF2B5EF4-FFF2-40B4-BE49-F238E27FC236}">
                <a16:creationId xmlns:a16="http://schemas.microsoft.com/office/drawing/2014/main" id="{8C3E50C8-9B47-FA13-B971-6A7B8E3C3FDE}"/>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946755" y="2749368"/>
            <a:ext cx="1924865" cy="11356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B32C85B-2B61-F6E2-0C36-02760339F3E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98994" y="4343400"/>
            <a:ext cx="4134589" cy="2325707"/>
          </a:xfrm>
          <a:prstGeom prst="rect">
            <a:avLst/>
          </a:prstGeom>
        </p:spPr>
      </p:pic>
      <p:sp>
        <p:nvSpPr>
          <p:cNvPr id="10" name="AutoShape 12">
            <a:extLst>
              <a:ext uri="{FF2B5EF4-FFF2-40B4-BE49-F238E27FC236}">
                <a16:creationId xmlns:a16="http://schemas.microsoft.com/office/drawing/2014/main" id="{E9313F88-950A-0CDE-92B5-7BA2CEA9EFE8}"/>
              </a:ext>
              <a:ext uri="{C183D7F6-B498-43B3-948B-1728B52AA6E4}">
                <adec:decorative xmlns:adec="http://schemas.microsoft.com/office/drawing/2017/decorative" val="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8" name="Picture 20">
            <a:extLst>
              <a:ext uri="{FF2B5EF4-FFF2-40B4-BE49-F238E27FC236}">
                <a16:creationId xmlns:a16="http://schemas.microsoft.com/office/drawing/2014/main" id="{26F203F0-2D3F-5488-9A14-F21B691497BF}"/>
              </a:ext>
              <a:ext uri="{C183D7F6-B498-43B3-948B-1728B52AA6E4}">
                <adec:decorative xmlns:adec="http://schemas.microsoft.com/office/drawing/2017/decorative" val="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67184" y="2749368"/>
            <a:ext cx="1933614" cy="10606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9987" name="Picture 3">
            <a:extLst>
              <a:ext uri="{C183D7F6-B498-43B3-948B-1728B52AA6E4}">
                <adec:decorative xmlns:adec="http://schemas.microsoft.com/office/drawing/2017/decorative" val="1"/>
              </a:ext>
            </a:extLst>
          </p:cNvPr>
          <p:cNvPicPr>
            <a:picLocks noChangeAspect="1" noChangeArrowheads="1"/>
          </p:cNvPicPr>
          <p:nvPr/>
        </p:nvPicPr>
        <p:blipFill rotWithShape="1">
          <a:blip r:embed="rId3" cstate="print"/>
          <a:srcRect l="13270" r="13273" b="1"/>
          <a:stretch/>
        </p:blipFill>
        <p:spPr bwMode="auto">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p:spPr>
      </p:pic>
      <p:pic>
        <p:nvPicPr>
          <p:cNvPr id="1028" name="Picture 4">
            <a:extLst>
              <a:ext uri="{FF2B5EF4-FFF2-40B4-BE49-F238E27FC236}">
                <a16:creationId xmlns:a16="http://schemas.microsoft.com/office/drawing/2014/main" id="{808B7C8C-7D2C-63C5-CCA5-EADA61E1E739}"/>
              </a:ext>
              <a:ext uri="{C183D7F6-B498-43B3-948B-1728B52AA6E4}">
                <adec:decorative xmlns:adec="http://schemas.microsoft.com/office/drawing/2017/decorative" val="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941" t="2754" r="3708" b="6871"/>
          <a:stretch/>
        </p:blipFill>
        <p:spPr bwMode="auto">
          <a:xfrm>
            <a:off x="5536267" y="3456433"/>
            <a:ext cx="3607733"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a:noFill/>
          <a:extLst>
            <a:ext uri="{909E8E84-426E-40DD-AFC4-6F175D3DCCD1}">
              <a14:hiddenFill xmlns:a14="http://schemas.microsoft.com/office/drawing/2010/main">
                <a:solidFill>
                  <a:srgbClr val="FFFFFF"/>
                </a:solidFill>
              </a14:hiddenFill>
            </a:ext>
          </a:extLst>
        </p:spPr>
      </p:pic>
      <p:pic>
        <p:nvPicPr>
          <p:cNvPr id="169986" name="Picture 2">
            <a:extLst>
              <a:ext uri="{C183D7F6-B498-43B3-948B-1728B52AA6E4}">
                <adec:decorative xmlns:adec="http://schemas.microsoft.com/office/drawing/2017/decorative" val="1"/>
              </a:ext>
            </a:extLst>
          </p:cNvPr>
          <p:cNvPicPr>
            <a:picLocks noChangeAspect="1" noChangeArrowheads="1"/>
          </p:cNvPicPr>
          <p:nvPr/>
        </p:nvPicPr>
        <p:blipFill rotWithShape="1">
          <a:blip r:embed="rId5" cstate="print"/>
          <a:srcRect l="10877" r="16633"/>
          <a:stretch/>
        </p:blipFill>
        <p:spPr bwMode="auto">
          <a:xfrm>
            <a:off x="2392071"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p:spPr>
      </p:pic>
      <p:sp>
        <p:nvSpPr>
          <p:cNvPr id="24578" name="Title 1"/>
          <p:cNvSpPr>
            <a:spLocks noGrp="1"/>
          </p:cNvSpPr>
          <p:nvPr>
            <p:ph type="title"/>
          </p:nvPr>
        </p:nvSpPr>
        <p:spPr>
          <a:xfrm>
            <a:off x="336042" y="685800"/>
            <a:ext cx="2105406" cy="1325563"/>
          </a:xfrm>
        </p:spPr>
        <p:txBody>
          <a:bodyPr>
            <a:normAutofit/>
          </a:bodyPr>
          <a:lstStyle/>
          <a:p>
            <a:r>
              <a:rPr lang="en-US" sz="2400"/>
              <a:t>Robotics</a:t>
            </a:r>
          </a:p>
        </p:txBody>
      </p:sp>
      <p:sp>
        <p:nvSpPr>
          <p:cNvPr id="3" name="Content Placeholder 2"/>
          <p:cNvSpPr>
            <a:spLocks noGrp="1"/>
          </p:cNvSpPr>
          <p:nvPr>
            <p:ph idx="1"/>
          </p:nvPr>
        </p:nvSpPr>
        <p:spPr>
          <a:xfrm>
            <a:off x="336042" y="2258568"/>
            <a:ext cx="2105406" cy="3922776"/>
          </a:xfrm>
        </p:spPr>
        <p:txBody>
          <a:bodyPr>
            <a:normAutofit/>
          </a:bodyPr>
          <a:lstStyle/>
          <a:p>
            <a:pPr>
              <a:buFontTx/>
              <a:buChar char="•"/>
            </a:pPr>
            <a:r>
              <a:rPr lang="en-US" sz="1400" dirty="0"/>
              <a:t>Mars rovers</a:t>
            </a:r>
          </a:p>
          <a:p>
            <a:pPr>
              <a:buFontTx/>
              <a:buChar char="•"/>
            </a:pPr>
            <a:r>
              <a:rPr lang="en-US" sz="1400" dirty="0"/>
              <a:t>Robot soccer</a:t>
            </a:r>
          </a:p>
          <a:p>
            <a:pPr lvl="1"/>
            <a:r>
              <a:rPr lang="en-US" sz="1400" dirty="0">
                <a:hlinkClick r:id="rId6"/>
              </a:rPr>
              <a:t>RoboCup</a:t>
            </a:r>
            <a:endParaRPr lang="en-US" sz="1400" dirty="0"/>
          </a:p>
          <a:p>
            <a:pPr>
              <a:buFontTx/>
              <a:buChar char="•"/>
            </a:pPr>
            <a:r>
              <a:rPr lang="en-US" sz="1400" dirty="0"/>
              <a:t>Autonomous vehicles</a:t>
            </a:r>
          </a:p>
          <a:p>
            <a:pPr lvl="1"/>
            <a:r>
              <a:rPr lang="en-US" sz="1400" dirty="0">
                <a:hlinkClick r:id="rId7"/>
              </a:rPr>
              <a:t>DARPA Grand Challenge</a:t>
            </a:r>
            <a:endParaRPr lang="en-US" sz="1400" dirty="0"/>
          </a:p>
          <a:p>
            <a:pPr lvl="1"/>
            <a:r>
              <a:rPr lang="en-US" sz="1400" dirty="0"/>
              <a:t>Self-driving cars</a:t>
            </a:r>
          </a:p>
          <a:p>
            <a:pPr>
              <a:buFontTx/>
              <a:buChar char="•"/>
            </a:pPr>
            <a:r>
              <a:rPr lang="en-US" sz="1400" dirty="0"/>
              <a:t>Drones</a:t>
            </a:r>
          </a:p>
          <a:p>
            <a:pPr>
              <a:buFontTx/>
              <a:buChar char="•"/>
            </a:pPr>
            <a:r>
              <a:rPr lang="en-US" sz="1400" dirty="0"/>
              <a:t>Personal robotics</a:t>
            </a:r>
          </a:p>
          <a:p>
            <a:pPr lvl="1"/>
            <a:r>
              <a:rPr lang="en-US" sz="1400" dirty="0"/>
              <a:t>Humanoid robots</a:t>
            </a:r>
          </a:p>
          <a:p>
            <a:pPr lvl="1"/>
            <a:r>
              <a:rPr lang="en-US" sz="1400" dirty="0">
                <a:hlinkClick r:id="rId8"/>
              </a:rPr>
              <a:t>Robotic pets</a:t>
            </a:r>
            <a:endParaRPr lang="en-US" sz="1400" dirty="0"/>
          </a:p>
          <a:p>
            <a:pPr lvl="1"/>
            <a:r>
              <a:rPr lang="en-US" sz="1400" dirty="0"/>
              <a:t>Personal assistants?</a:t>
            </a:r>
          </a:p>
        </p:txBody>
      </p:sp>
      <p:pic>
        <p:nvPicPr>
          <p:cNvPr id="169988" name="Picture 4">
            <a:extLst>
              <a:ext uri="{C183D7F6-B498-43B3-948B-1728B52AA6E4}">
                <adec:decorative xmlns:adec="http://schemas.microsoft.com/office/drawing/2017/decorative" val="1"/>
              </a:ext>
            </a:extLst>
          </p:cNvPr>
          <p:cNvPicPr>
            <a:picLocks noChangeAspect="1" noChangeArrowheads="1"/>
          </p:cNvPicPr>
          <p:nvPr/>
        </p:nvPicPr>
        <p:blipFill rotWithShape="1">
          <a:blip r:embed="rId9" cstate="print"/>
          <a:srcRect l="42051" t="388" r="-108" b="-386"/>
          <a:stretch/>
        </p:blipFill>
        <p:spPr bwMode="auto">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C1783E-24C7-4CDB-B25F-C1689BC52829}"/>
              </a:ext>
            </a:extLst>
          </p:cNvPr>
          <p:cNvSpPr>
            <a:spLocks noGrp="1"/>
          </p:cNvSpPr>
          <p:nvPr>
            <p:ph type="title"/>
          </p:nvPr>
        </p:nvSpPr>
        <p:spPr>
          <a:xfrm>
            <a:off x="628649" y="4761748"/>
            <a:ext cx="4607719" cy="1400400"/>
          </a:xfrm>
        </p:spPr>
        <p:txBody>
          <a:bodyPr vert="horz" wrap="square" lIns="91440" tIns="45720" rIns="91440" bIns="45720" rtlCol="0" anchor="b">
            <a:normAutofit fontScale="90000"/>
          </a:bodyPr>
          <a:lstStyle/>
          <a:p>
            <a:r>
              <a:rPr lang="en-US" sz="4900" dirty="0">
                <a:solidFill>
                  <a:schemeClr val="bg1"/>
                </a:solidFill>
              </a:rPr>
              <a:t>AI Governance:</a:t>
            </a:r>
            <a:br>
              <a:rPr lang="en-US" sz="4900" dirty="0">
                <a:solidFill>
                  <a:schemeClr val="bg1"/>
                </a:solidFill>
              </a:rPr>
            </a:br>
            <a:r>
              <a:rPr lang="en-US" sz="4900" dirty="0">
                <a:solidFill>
                  <a:schemeClr val="bg1"/>
                </a:solidFill>
              </a:rPr>
              <a:t>Ethics &amp; Safety</a:t>
            </a:r>
          </a:p>
        </p:txBody>
      </p:sp>
      <p:sp>
        <p:nvSpPr>
          <p:cNvPr id="5" name="Text Placeholder 4">
            <a:extLst>
              <a:ext uri="{FF2B5EF4-FFF2-40B4-BE49-F238E27FC236}">
                <a16:creationId xmlns:a16="http://schemas.microsoft.com/office/drawing/2014/main" id="{A59885EF-C58F-47A5-9F1E-68BBF7F27104}"/>
              </a:ext>
            </a:extLst>
          </p:cNvPr>
          <p:cNvSpPr>
            <a:spLocks noGrp="1"/>
          </p:cNvSpPr>
          <p:nvPr>
            <p:ph type="body" idx="1"/>
          </p:nvPr>
        </p:nvSpPr>
        <p:spPr>
          <a:xfrm>
            <a:off x="5894785" y="4953000"/>
            <a:ext cx="2620566" cy="1017896"/>
          </a:xfrm>
        </p:spPr>
        <p:txBody>
          <a:bodyPr vert="horz" lIns="91440" tIns="45720" rIns="91440" bIns="45720" rtlCol="0" anchor="b">
            <a:normAutofit fontScale="92500" lnSpcReduction="20000"/>
          </a:bodyPr>
          <a:lstStyle/>
          <a:p>
            <a:r>
              <a:rPr lang="en-US" sz="2000" dirty="0">
                <a:solidFill>
                  <a:schemeClr val="bg1"/>
                </a:solidFill>
              </a:rPr>
              <a:t>A new Frontier for Fairness and Freedom</a:t>
            </a:r>
            <a:br>
              <a:rPr lang="en-US" sz="2000" dirty="0">
                <a:solidFill>
                  <a:schemeClr val="bg1"/>
                </a:solidFill>
              </a:rPr>
            </a:br>
            <a:r>
              <a:rPr lang="en-US" sz="2000" dirty="0">
                <a:solidFill>
                  <a:schemeClr val="bg1"/>
                </a:solidFill>
              </a:rPr>
              <a:t>AIMA Chapter 27 + online sources</a:t>
            </a:r>
          </a:p>
        </p:txBody>
      </p:sp>
      <p:pic>
        <p:nvPicPr>
          <p:cNvPr id="1028" name="Picture 4">
            <a:extLst>
              <a:ext uri="{FF2B5EF4-FFF2-40B4-BE49-F238E27FC236}">
                <a16:creationId xmlns:a16="http://schemas.microsoft.com/office/drawing/2014/main" id="{38140775-E6BE-4974-B926-69B3CBA46FC0}"/>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grpSp>
        <p:nvGrpSpPr>
          <p:cNvPr id="1035" name="Group 1034">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9144000" cy="757168"/>
            <a:chOff x="0" y="2959818"/>
            <a:chExt cx="12192000" cy="757168"/>
          </a:xfrm>
        </p:grpSpPr>
        <p:sp>
          <p:nvSpPr>
            <p:cNvPr id="1036" name="Freeform: Shape 1035">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7" name="Freeform: Shape 1036">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011466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143387-9473-C469-B1DE-DAE7A9ECD8A7}"/>
              </a:ext>
            </a:extLst>
          </p:cNvPr>
          <p:cNvSpPr>
            <a:spLocks noGrp="1"/>
          </p:cNvSpPr>
          <p:nvPr>
            <p:ph type="title"/>
          </p:nvPr>
        </p:nvSpPr>
        <p:spPr/>
        <p:txBody>
          <a:bodyPr/>
          <a:lstStyle/>
          <a:p>
            <a:r>
              <a:rPr lang="en-US" dirty="0"/>
              <a:t>AI Governance</a:t>
            </a:r>
          </a:p>
        </p:txBody>
      </p:sp>
      <p:sp>
        <p:nvSpPr>
          <p:cNvPr id="5" name="Content Placeholder 4">
            <a:extLst>
              <a:ext uri="{FF2B5EF4-FFF2-40B4-BE49-F238E27FC236}">
                <a16:creationId xmlns:a16="http://schemas.microsoft.com/office/drawing/2014/main" id="{894DF634-ED6B-6950-21E4-B5F5658E143C}"/>
              </a:ext>
            </a:extLst>
          </p:cNvPr>
          <p:cNvSpPr>
            <a:spLocks noGrp="1"/>
          </p:cNvSpPr>
          <p:nvPr>
            <p:ph idx="1"/>
          </p:nvPr>
        </p:nvSpPr>
        <p:spPr>
          <a:xfrm>
            <a:off x="628650" y="1600201"/>
            <a:ext cx="7886700" cy="838200"/>
          </a:xfrm>
        </p:spPr>
        <p:txBody>
          <a:bodyPr>
            <a:normAutofit fontScale="77500" lnSpcReduction="20000"/>
          </a:bodyPr>
          <a:lstStyle/>
          <a:p>
            <a:pPr marL="0" indent="0">
              <a:buNone/>
            </a:pPr>
            <a:r>
              <a:rPr lang="en-US" dirty="0"/>
              <a:t>Policies, oversight processes, and operational standards guiding the </a:t>
            </a:r>
            <a:r>
              <a:rPr lang="en-US" b="1" dirty="0"/>
              <a:t>ethical, legal, and responsible use of artificial intelligence</a:t>
            </a:r>
            <a:r>
              <a:rPr lang="en-US" dirty="0"/>
              <a:t>.</a:t>
            </a:r>
          </a:p>
        </p:txBody>
      </p:sp>
      <p:grpSp>
        <p:nvGrpSpPr>
          <p:cNvPr id="10" name="Group 9">
            <a:extLst>
              <a:ext uri="{FF2B5EF4-FFF2-40B4-BE49-F238E27FC236}">
                <a16:creationId xmlns:a16="http://schemas.microsoft.com/office/drawing/2014/main" id="{FA67EEF6-9B4B-0384-098E-FC9132BE5057}"/>
              </a:ext>
            </a:extLst>
          </p:cNvPr>
          <p:cNvGrpSpPr/>
          <p:nvPr/>
        </p:nvGrpSpPr>
        <p:grpSpPr>
          <a:xfrm>
            <a:off x="822190" y="2362200"/>
            <a:ext cx="7473365" cy="4648200"/>
            <a:chOff x="822190" y="2362200"/>
            <a:chExt cx="7473365" cy="4648200"/>
          </a:xfrm>
        </p:grpSpPr>
        <p:graphicFrame>
          <p:nvGraphicFramePr>
            <p:cNvPr id="7" name="Diagram 6">
              <a:extLst>
                <a:ext uri="{FF2B5EF4-FFF2-40B4-BE49-F238E27FC236}">
                  <a16:creationId xmlns:a16="http://schemas.microsoft.com/office/drawing/2014/main" id="{1AC62B61-B74E-D428-76BA-32FFC3D21489}"/>
                </a:ext>
              </a:extLst>
            </p:cNvPr>
            <p:cNvGraphicFramePr/>
            <p:nvPr>
              <p:extLst>
                <p:ext uri="{D42A27DB-BD31-4B8C-83A1-F6EECF244321}">
                  <p14:modId xmlns:p14="http://schemas.microsoft.com/office/powerpoint/2010/main" val="3441333787"/>
                </p:ext>
              </p:extLst>
            </p:nvPr>
          </p:nvGraphicFramePr>
          <p:xfrm>
            <a:off x="904155" y="2362200"/>
            <a:ext cx="7391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82D547C0-8E52-F15F-6A03-6448C42DA9CA}"/>
                </a:ext>
              </a:extLst>
            </p:cNvPr>
            <p:cNvSpPr txBox="1"/>
            <p:nvPr/>
          </p:nvSpPr>
          <p:spPr>
            <a:xfrm>
              <a:off x="822190" y="2573336"/>
              <a:ext cx="1768609" cy="400110"/>
            </a:xfrm>
            <a:prstGeom prst="rect">
              <a:avLst/>
            </a:prstGeom>
            <a:noFill/>
          </p:spPr>
          <p:txBody>
            <a:bodyPr wrap="square">
              <a:spAutoFit/>
            </a:bodyPr>
            <a:lstStyle/>
            <a:p>
              <a:r>
                <a:rPr lang="en-US" sz="2000" b="1" dirty="0"/>
                <a:t>Key Pillars</a:t>
              </a:r>
            </a:p>
          </p:txBody>
        </p:sp>
      </p:grpSp>
    </p:spTree>
    <p:extLst>
      <p:ext uri="{BB962C8B-B14F-4D97-AF65-F5344CB8AC3E}">
        <p14:creationId xmlns:p14="http://schemas.microsoft.com/office/powerpoint/2010/main" val="1775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EC2B-3B1E-61E1-A274-566B8B65C1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7AFC05-CB64-5AC3-89EC-AEDF25E04649}"/>
              </a:ext>
            </a:extLst>
          </p:cNvPr>
          <p:cNvSpPr>
            <a:spLocks noGrp="1"/>
          </p:cNvSpPr>
          <p:nvPr>
            <p:ph type="title"/>
          </p:nvPr>
        </p:nvSpPr>
        <p:spPr/>
        <p:txBody>
          <a:bodyPr/>
          <a:lstStyle/>
          <a:p>
            <a:r>
              <a:rPr lang="en-US" dirty="0"/>
              <a:t>Components of AI Governance</a:t>
            </a:r>
          </a:p>
        </p:txBody>
      </p:sp>
      <p:sp>
        <p:nvSpPr>
          <p:cNvPr id="5" name="Content Placeholder 4">
            <a:extLst>
              <a:ext uri="{FF2B5EF4-FFF2-40B4-BE49-F238E27FC236}">
                <a16:creationId xmlns:a16="http://schemas.microsoft.com/office/drawing/2014/main" id="{AF0639FC-2914-2489-FDB2-DB14F93745CE}"/>
              </a:ext>
            </a:extLst>
          </p:cNvPr>
          <p:cNvSpPr>
            <a:spLocks noGrp="1"/>
          </p:cNvSpPr>
          <p:nvPr>
            <p:ph idx="1"/>
          </p:nvPr>
        </p:nvSpPr>
        <p:spPr/>
        <p:txBody>
          <a:bodyPr>
            <a:normAutofit lnSpcReduction="10000"/>
          </a:bodyPr>
          <a:lstStyle/>
          <a:p>
            <a:pPr marL="0" indent="0">
              <a:buNone/>
            </a:pPr>
            <a:r>
              <a:rPr lang="en-US" b="1" dirty="0"/>
              <a:t>Stakeholder trust </a:t>
            </a:r>
            <a:r>
              <a:rPr lang="en-US" dirty="0"/>
              <a:t>is created by demonstrating to employees, customers, and investors that AI tools are safe, secure, and beneficial.</a:t>
            </a:r>
          </a:p>
          <a:p>
            <a:endParaRPr lang="en-US" b="1" dirty="0"/>
          </a:p>
          <a:p>
            <a:r>
              <a:rPr lang="en-US" b="1" dirty="0"/>
              <a:t>Compliance</a:t>
            </a:r>
            <a:r>
              <a:rPr lang="en-US" dirty="0"/>
              <a:t>: Follow legislation/guidelines across various jurisdictions to avoiding massive regulatory penalties.</a:t>
            </a:r>
          </a:p>
          <a:p>
            <a:endParaRPr lang="en-US" b="1" dirty="0"/>
          </a:p>
          <a:p>
            <a:r>
              <a:rPr lang="en-US" b="1" dirty="0"/>
              <a:t>Risk Mitigation</a:t>
            </a:r>
            <a:r>
              <a:rPr lang="en-US" dirty="0"/>
              <a:t>: Plan for how to deal with risks involving transparency, fairness, privacy and safety.</a:t>
            </a:r>
          </a:p>
          <a:p>
            <a:endParaRPr lang="en-US" b="1" dirty="0"/>
          </a:p>
        </p:txBody>
      </p:sp>
    </p:spTree>
    <p:extLst>
      <p:ext uri="{BB962C8B-B14F-4D97-AF65-F5344CB8AC3E}">
        <p14:creationId xmlns:p14="http://schemas.microsoft.com/office/powerpoint/2010/main" val="181726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AE7DE7-642B-03EE-BFAA-CA3EA097D26A}"/>
              </a:ext>
            </a:extLst>
          </p:cNvPr>
          <p:cNvSpPr>
            <a:spLocks noGrp="1"/>
          </p:cNvSpPr>
          <p:nvPr>
            <p:ph type="title"/>
          </p:nvPr>
        </p:nvSpPr>
        <p:spPr/>
        <p:txBody>
          <a:bodyPr/>
          <a:lstStyle/>
          <a:p>
            <a:r>
              <a:rPr lang="en-US" dirty="0"/>
              <a:t>Commonly-Cited Safety and </a:t>
            </a:r>
            <a:br>
              <a:rPr lang="en-US" dirty="0"/>
            </a:br>
            <a:r>
              <a:rPr lang="en-US" dirty="0"/>
              <a:t>Ethics Principles</a:t>
            </a:r>
          </a:p>
        </p:txBody>
      </p:sp>
      <p:sp>
        <p:nvSpPr>
          <p:cNvPr id="5" name="Content Placeholder 4">
            <a:extLst>
              <a:ext uri="{FF2B5EF4-FFF2-40B4-BE49-F238E27FC236}">
                <a16:creationId xmlns:a16="http://schemas.microsoft.com/office/drawing/2014/main" id="{0CDBE55B-080A-A13D-8FCE-DFBDC3B8E6D4}"/>
              </a:ext>
              <a:ext uri="{C183D7F6-B498-43B3-948B-1728B52AA6E4}">
                <adec:decorative xmlns:adec="http://schemas.microsoft.com/office/drawing/2017/decorative" val="1"/>
              </a:ext>
            </a:extLst>
          </p:cNvPr>
          <p:cNvSpPr>
            <a:spLocks noGrp="1"/>
          </p:cNvSpPr>
          <p:nvPr>
            <p:ph idx="1"/>
          </p:nvPr>
        </p:nvSpPr>
        <p:spPr/>
        <p:txBody>
          <a:bodyPr>
            <a:normAutofit/>
          </a:bodyPr>
          <a:lstStyle/>
          <a:p>
            <a:pPr marL="0" indent="0">
              <a:buNone/>
            </a:pPr>
            <a:endParaRPr lang="en-US" dirty="0"/>
          </a:p>
          <a:p>
            <a:endParaRPr lang="en-US" dirty="0"/>
          </a:p>
        </p:txBody>
      </p:sp>
      <p:graphicFrame>
        <p:nvGraphicFramePr>
          <p:cNvPr id="13" name="Diagram 12" descr="A list of AI safety and ethics principles.">
            <a:extLst>
              <a:ext uri="{FF2B5EF4-FFF2-40B4-BE49-F238E27FC236}">
                <a16:creationId xmlns:a16="http://schemas.microsoft.com/office/drawing/2014/main" id="{F9338B6E-BB99-CB8E-9B55-8519F204CC59}"/>
              </a:ext>
            </a:extLst>
          </p:cNvPr>
          <p:cNvGraphicFramePr/>
          <p:nvPr>
            <p:extLst>
              <p:ext uri="{D42A27DB-BD31-4B8C-83A1-F6EECF244321}">
                <p14:modId xmlns:p14="http://schemas.microsoft.com/office/powerpoint/2010/main" val="4225262160"/>
              </p:ext>
            </p:extLst>
          </p:nvPr>
        </p:nvGraphicFramePr>
        <p:xfrm>
          <a:off x="656359" y="1635969"/>
          <a:ext cx="7620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F57DBCE1-0916-C528-7006-5CC0BE68E2F9}"/>
              </a:ext>
            </a:extLst>
          </p:cNvPr>
          <p:cNvSpPr txBox="1"/>
          <p:nvPr/>
        </p:nvSpPr>
        <p:spPr>
          <a:xfrm>
            <a:off x="523009" y="6102588"/>
            <a:ext cx="7886700" cy="369332"/>
          </a:xfrm>
          <a:prstGeom prst="rect">
            <a:avLst/>
          </a:prstGeom>
          <a:noFill/>
        </p:spPr>
        <p:txBody>
          <a:bodyPr wrap="square" rtlCol="0">
            <a:spAutoFit/>
          </a:bodyPr>
          <a:lstStyle/>
          <a:p>
            <a:pPr algn="ctr"/>
            <a:r>
              <a:rPr lang="en-US" dirty="0"/>
              <a:t>Next, we look at the implementation of these principles in different countries.</a:t>
            </a:r>
          </a:p>
        </p:txBody>
      </p:sp>
    </p:spTree>
    <p:extLst>
      <p:ext uri="{BB962C8B-B14F-4D97-AF65-F5344CB8AC3E}">
        <p14:creationId xmlns:p14="http://schemas.microsoft.com/office/powerpoint/2010/main" val="43755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39DA-5EDA-B6F5-AE25-B3BC54A7017A}"/>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9B17E85F-7585-E7B9-F480-D65460C0181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59A0713C-0267-3DAC-AF86-30D7EF9B0EAE}"/>
              </a:ext>
            </a:extLst>
          </p:cNvPr>
          <p:cNvSpPr>
            <a:spLocks noGrp="1"/>
          </p:cNvSpPr>
          <p:nvPr>
            <p:ph type="body" idx="1"/>
          </p:nvPr>
        </p:nvSpPr>
        <p:spPr>
          <a:xfrm>
            <a:off x="533400" y="4648200"/>
            <a:ext cx="7886700" cy="1500187"/>
          </a:xfrm>
        </p:spPr>
        <p:txBody>
          <a:bodyPr>
            <a:normAutofit/>
          </a:bodyPr>
          <a:lstStyle/>
          <a:p>
            <a:r>
              <a:rPr lang="en-US" sz="3600" dirty="0"/>
              <a:t>AI Governance:</a:t>
            </a:r>
            <a:br>
              <a:rPr lang="en-US" sz="3600" dirty="0"/>
            </a:br>
            <a:r>
              <a:rPr lang="en-US" sz="3600" dirty="0"/>
              <a:t>Compliance</a:t>
            </a:r>
          </a:p>
        </p:txBody>
      </p:sp>
    </p:spTree>
    <p:extLst>
      <p:ext uri="{BB962C8B-B14F-4D97-AF65-F5344CB8AC3E}">
        <p14:creationId xmlns:p14="http://schemas.microsoft.com/office/powerpoint/2010/main" val="3946203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6104-CC3F-4F5E-845C-CBFF2EDA8997}"/>
              </a:ext>
            </a:extLst>
          </p:cNvPr>
          <p:cNvSpPr>
            <a:spLocks noGrp="1"/>
          </p:cNvSpPr>
          <p:nvPr>
            <p:ph type="title"/>
          </p:nvPr>
        </p:nvSpPr>
        <p:spPr>
          <a:xfrm>
            <a:off x="1533524" y="0"/>
            <a:ext cx="2724150" cy="1325563"/>
          </a:xfrm>
        </p:spPr>
        <p:txBody>
          <a:bodyPr>
            <a:normAutofit/>
          </a:bodyPr>
          <a:lstStyle/>
          <a:p>
            <a:r>
              <a:rPr lang="en-US" sz="3200" dirty="0"/>
              <a:t>European Union</a:t>
            </a:r>
          </a:p>
        </p:txBody>
      </p:sp>
      <p:sp>
        <p:nvSpPr>
          <p:cNvPr id="10" name="Content Placeholder 9">
            <a:extLst>
              <a:ext uri="{FF2B5EF4-FFF2-40B4-BE49-F238E27FC236}">
                <a16:creationId xmlns:a16="http://schemas.microsoft.com/office/drawing/2014/main" id="{D4610C0E-3B3C-4EFC-957C-EEBFCC79E617}"/>
              </a:ext>
            </a:extLst>
          </p:cNvPr>
          <p:cNvSpPr>
            <a:spLocks noGrp="1"/>
          </p:cNvSpPr>
          <p:nvPr>
            <p:ph idx="1"/>
          </p:nvPr>
        </p:nvSpPr>
        <p:spPr>
          <a:xfrm>
            <a:off x="532743" y="1318715"/>
            <a:ext cx="2419350" cy="3738562"/>
          </a:xfrm>
        </p:spPr>
        <p:txBody>
          <a:bodyPr>
            <a:normAutofit/>
          </a:bodyPr>
          <a:lstStyle/>
          <a:p>
            <a:pPr marL="0" indent="0">
              <a:buNone/>
            </a:pPr>
            <a:r>
              <a:rPr lang="en-US" sz="1600" dirty="0"/>
              <a:t>Has regulations since 2016 included in the General Data Protection Regulation (GDPR)</a:t>
            </a:r>
          </a:p>
        </p:txBody>
      </p:sp>
      <p:cxnSp>
        <p:nvCxnSpPr>
          <p:cNvPr id="6" name="Straight Connector 5">
            <a:extLst>
              <a:ext uri="{FF2B5EF4-FFF2-40B4-BE49-F238E27FC236}">
                <a16:creationId xmlns:a16="http://schemas.microsoft.com/office/drawing/2014/main" id="{5BA1E61B-D45A-4EC0-AF60-4B565271E941}"/>
              </a:ext>
              <a:ext uri="{C183D7F6-B498-43B3-948B-1728B52AA6E4}">
                <adec:decorative xmlns:adec="http://schemas.microsoft.com/office/drawing/2017/decorative" val="1"/>
              </a:ext>
            </a:extLst>
          </p:cNvPr>
          <p:cNvCxnSpPr>
            <a:cxnSpLocks/>
          </p:cNvCxnSpPr>
          <p:nvPr/>
        </p:nvCxnSpPr>
        <p:spPr>
          <a:xfrm>
            <a:off x="3581400" y="5105400"/>
            <a:ext cx="1676400" cy="0"/>
          </a:xfrm>
          <a:prstGeom prst="line">
            <a:avLst/>
          </a:prstGeom>
        </p:spPr>
        <p:style>
          <a:lnRef idx="3">
            <a:schemeClr val="accent2"/>
          </a:lnRef>
          <a:fillRef idx="0">
            <a:schemeClr val="accent2"/>
          </a:fillRef>
          <a:effectRef idx="2">
            <a:schemeClr val="accent2"/>
          </a:effectRef>
          <a:fontRef idx="minor">
            <a:schemeClr val="tx1"/>
          </a:fontRef>
        </p:style>
      </p:cxnSp>
      <p:pic>
        <p:nvPicPr>
          <p:cNvPr id="8" name="Picture 7">
            <a:extLst>
              <a:ext uri="{FF2B5EF4-FFF2-40B4-BE49-F238E27FC236}">
                <a16:creationId xmlns:a16="http://schemas.microsoft.com/office/drawing/2014/main" id="{ED46E874-CDAC-4AD3-9F1A-9B9945AD77A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00400" y="142382"/>
            <a:ext cx="5719321" cy="6736927"/>
          </a:xfrm>
          <a:prstGeom prst="rect">
            <a:avLst/>
          </a:prstGeom>
        </p:spPr>
      </p:pic>
      <p:sp>
        <p:nvSpPr>
          <p:cNvPr id="9" name="Rectangle 8">
            <a:extLst>
              <a:ext uri="{FF2B5EF4-FFF2-40B4-BE49-F238E27FC236}">
                <a16:creationId xmlns:a16="http://schemas.microsoft.com/office/drawing/2014/main" id="{6524E009-E496-4AB2-9F89-407819E77910}"/>
              </a:ext>
            </a:extLst>
          </p:cNvPr>
          <p:cNvSpPr/>
          <p:nvPr/>
        </p:nvSpPr>
        <p:spPr>
          <a:xfrm>
            <a:off x="548785" y="2813890"/>
            <a:ext cx="2387266" cy="738664"/>
          </a:xfrm>
          <a:prstGeom prst="rect">
            <a:avLst/>
          </a:prstGeom>
        </p:spPr>
        <p:txBody>
          <a:bodyPr wrap="square">
            <a:spAutoFit/>
          </a:bodyPr>
          <a:lstStyle/>
          <a:p>
            <a:r>
              <a:rPr lang="en-US" sz="1400" dirty="0">
                <a:hlinkClick r:id="rId3"/>
              </a:rPr>
              <a:t>Art. 22 GDPR – Automated individual decision-making, including</a:t>
            </a:r>
            <a:endParaRPr lang="en-US" sz="1400" dirty="0"/>
          </a:p>
        </p:txBody>
      </p:sp>
      <p:cxnSp>
        <p:nvCxnSpPr>
          <p:cNvPr id="12" name="Straight Connector 11">
            <a:extLst>
              <a:ext uri="{FF2B5EF4-FFF2-40B4-BE49-F238E27FC236}">
                <a16:creationId xmlns:a16="http://schemas.microsoft.com/office/drawing/2014/main" id="{7B944366-95EC-4E26-8C95-09AAF3C21AD0}"/>
              </a:ext>
              <a:ext uri="{C183D7F6-B498-43B3-948B-1728B52AA6E4}">
                <adec:decorative xmlns:adec="http://schemas.microsoft.com/office/drawing/2017/decorative" val="1"/>
              </a:ext>
            </a:extLst>
          </p:cNvPr>
          <p:cNvCxnSpPr>
            <a:cxnSpLocks/>
          </p:cNvCxnSpPr>
          <p:nvPr/>
        </p:nvCxnSpPr>
        <p:spPr>
          <a:xfrm>
            <a:off x="5296513" y="2199780"/>
            <a:ext cx="30480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Straight Connector 13">
            <a:extLst>
              <a:ext uri="{FF2B5EF4-FFF2-40B4-BE49-F238E27FC236}">
                <a16:creationId xmlns:a16="http://schemas.microsoft.com/office/drawing/2014/main" id="{C67ABE88-6E18-4AEA-A22C-E5B11878CBD0}"/>
              </a:ext>
              <a:ext uri="{C183D7F6-B498-43B3-948B-1728B52AA6E4}">
                <adec:decorative xmlns:adec="http://schemas.microsoft.com/office/drawing/2017/decorative" val="1"/>
              </a:ext>
            </a:extLst>
          </p:cNvPr>
          <p:cNvCxnSpPr>
            <a:cxnSpLocks/>
          </p:cNvCxnSpPr>
          <p:nvPr/>
        </p:nvCxnSpPr>
        <p:spPr>
          <a:xfrm>
            <a:off x="3696313" y="2428380"/>
            <a:ext cx="13716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Straight Connector 14">
            <a:extLst>
              <a:ext uri="{FF2B5EF4-FFF2-40B4-BE49-F238E27FC236}">
                <a16:creationId xmlns:a16="http://schemas.microsoft.com/office/drawing/2014/main" id="{1C704ECF-1DD8-44CA-AC47-414B61AC4A45}"/>
              </a:ext>
              <a:ext uri="{C183D7F6-B498-43B3-948B-1728B52AA6E4}">
                <adec:decorative xmlns:adec="http://schemas.microsoft.com/office/drawing/2017/decorative" val="1"/>
              </a:ext>
            </a:extLst>
          </p:cNvPr>
          <p:cNvCxnSpPr>
            <a:cxnSpLocks/>
          </p:cNvCxnSpPr>
          <p:nvPr/>
        </p:nvCxnSpPr>
        <p:spPr>
          <a:xfrm flipH="1">
            <a:off x="6515713" y="5552580"/>
            <a:ext cx="1295400" cy="0"/>
          </a:xfrm>
          <a:prstGeom prst="line">
            <a:avLst/>
          </a:prstGeom>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id="{4E63EF55-DAEB-4734-88E2-DFEB7A8CDDE4}"/>
              </a:ext>
              <a:ext uri="{C183D7F6-B498-43B3-948B-1728B52AA6E4}">
                <adec:decorative xmlns:adec="http://schemas.microsoft.com/office/drawing/2017/decorative" val="1"/>
              </a:ext>
            </a:extLst>
          </p:cNvPr>
          <p:cNvSpPr/>
          <p:nvPr/>
        </p:nvSpPr>
        <p:spPr>
          <a:xfrm>
            <a:off x="3305898" y="142380"/>
            <a:ext cx="5648217" cy="655320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12BED09E-2A7F-99F8-30D7-B69FB04B078F}"/>
              </a:ext>
            </a:extLst>
          </p:cNvPr>
          <p:cNvSpPr txBox="1"/>
          <p:nvPr/>
        </p:nvSpPr>
        <p:spPr>
          <a:xfrm>
            <a:off x="589238" y="5242243"/>
            <a:ext cx="2306361" cy="1061829"/>
          </a:xfrm>
          <a:prstGeom prst="rect">
            <a:avLst/>
          </a:prstGeom>
          <a:noFill/>
        </p:spPr>
        <p:txBody>
          <a:bodyPr wrap="square" rtlCol="0">
            <a:spAutoFit/>
          </a:bodyPr>
          <a:lstStyle/>
          <a:p>
            <a:r>
              <a:rPr lang="en-US" sz="2100" dirty="0"/>
              <a:t>California’s CCPA was not modeled after the GDPR</a:t>
            </a:r>
          </a:p>
        </p:txBody>
      </p:sp>
      <p:pic>
        <p:nvPicPr>
          <p:cNvPr id="2050" name="Picture 2">
            <a:extLst>
              <a:ext uri="{FF2B5EF4-FFF2-40B4-BE49-F238E27FC236}">
                <a16:creationId xmlns:a16="http://schemas.microsoft.com/office/drawing/2014/main" id="{27261243-7CA5-E017-9BF9-7CDAE7AC7109}"/>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964" y="247295"/>
            <a:ext cx="1285875" cy="857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2917728-E842-7D10-D9AB-F1FF7379C33E}"/>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1193" y="4072255"/>
            <a:ext cx="2238914" cy="11699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CC01F68-B570-A278-A24B-81B32D5A679F}"/>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2016</a:t>
            </a:r>
          </a:p>
        </p:txBody>
      </p:sp>
    </p:spTree>
    <p:extLst>
      <p:ext uri="{BB962C8B-B14F-4D97-AF65-F5344CB8AC3E}">
        <p14:creationId xmlns:p14="http://schemas.microsoft.com/office/powerpoint/2010/main" val="915107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1639-67D7-4676-837D-461E3C362B4C}"/>
              </a:ext>
            </a:extLst>
          </p:cNvPr>
          <p:cNvSpPr>
            <a:spLocks noGrp="1"/>
          </p:cNvSpPr>
          <p:nvPr>
            <p:ph type="title"/>
          </p:nvPr>
        </p:nvSpPr>
        <p:spPr/>
        <p:txBody>
          <a:bodyPr/>
          <a:lstStyle/>
          <a:p>
            <a:r>
              <a:rPr lang="en-US" dirty="0"/>
              <a:t>In the United States</a:t>
            </a:r>
          </a:p>
        </p:txBody>
      </p:sp>
      <p:pic>
        <p:nvPicPr>
          <p:cNvPr id="5" name="Picture 4" descr="H.R. 2231: Automatic decision system impact assessment.">
            <a:extLst>
              <a:ext uri="{FF2B5EF4-FFF2-40B4-BE49-F238E27FC236}">
                <a16:creationId xmlns:a16="http://schemas.microsoft.com/office/drawing/2014/main" id="{4D165BF3-A22A-4CB2-A2C0-727773FA2E04}"/>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533400" y="1371526"/>
            <a:ext cx="5372376" cy="1447874"/>
          </a:xfrm>
          <a:prstGeom prst="rect">
            <a:avLst/>
          </a:prstGeom>
        </p:spPr>
      </p:pic>
      <p:pic>
        <p:nvPicPr>
          <p:cNvPr id="6" name="Picture 5">
            <a:extLst>
              <a:ext uri="{FF2B5EF4-FFF2-40B4-BE49-F238E27FC236}">
                <a16:creationId xmlns:a16="http://schemas.microsoft.com/office/drawing/2014/main" id="{03821FE1-96FD-4B61-94BD-139D00DDEE5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8652" y="2911477"/>
            <a:ext cx="6898433" cy="3581399"/>
          </a:xfrm>
          <a:prstGeom prst="rect">
            <a:avLst/>
          </a:prstGeom>
        </p:spPr>
      </p:pic>
      <p:cxnSp>
        <p:nvCxnSpPr>
          <p:cNvPr id="9" name="Straight Connector 8">
            <a:extLst>
              <a:ext uri="{FF2B5EF4-FFF2-40B4-BE49-F238E27FC236}">
                <a16:creationId xmlns:a16="http://schemas.microsoft.com/office/drawing/2014/main" id="{A21D0774-8549-44E0-A45B-652D05891346}"/>
              </a:ext>
              <a:ext uri="{C183D7F6-B498-43B3-948B-1728B52AA6E4}">
                <adec:decorative xmlns:adec="http://schemas.microsoft.com/office/drawing/2017/decorative" val="1"/>
              </a:ext>
            </a:extLst>
          </p:cNvPr>
          <p:cNvCxnSpPr/>
          <p:nvPr/>
        </p:nvCxnSpPr>
        <p:spPr>
          <a:xfrm>
            <a:off x="1066800" y="27432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3" name="TextBox 12">
            <a:extLst>
              <a:ext uri="{FF2B5EF4-FFF2-40B4-BE49-F238E27FC236}">
                <a16:creationId xmlns:a16="http://schemas.microsoft.com/office/drawing/2014/main" id="{72D9008B-EEBD-45E7-A02C-02DE060B4C74}"/>
              </a:ext>
            </a:extLst>
          </p:cNvPr>
          <p:cNvSpPr txBox="1"/>
          <p:nvPr/>
        </p:nvSpPr>
        <p:spPr>
          <a:xfrm rot="2615768">
            <a:off x="4818725" y="1489331"/>
            <a:ext cx="4557210" cy="830997"/>
          </a:xfrm>
          <a:prstGeom prst="rect">
            <a:avLst/>
          </a:prstGeom>
          <a:noFill/>
        </p:spPr>
        <p:txBody>
          <a:bodyPr wrap="none" rtlCol="0">
            <a:spAutoFit/>
          </a:bodyPr>
          <a:lstStyle/>
          <a:p>
            <a:pPr algn="ctr"/>
            <a:r>
              <a:rPr lang="en-US" sz="2400" b="1" dirty="0">
                <a:solidFill>
                  <a:srgbClr val="FF0000"/>
                </a:solidFill>
              </a:rPr>
              <a:t>Bill Introduced was 2019</a:t>
            </a:r>
          </a:p>
          <a:p>
            <a:r>
              <a:rPr lang="en-US" sz="2400" b="1" dirty="0">
                <a:solidFill>
                  <a:srgbClr val="FF0000"/>
                </a:solidFill>
              </a:rPr>
              <a:t>Did not receive a vote in Congress.</a:t>
            </a:r>
          </a:p>
        </p:txBody>
      </p:sp>
      <p:cxnSp>
        <p:nvCxnSpPr>
          <p:cNvPr id="14" name="Straight Connector 13">
            <a:extLst>
              <a:ext uri="{FF2B5EF4-FFF2-40B4-BE49-F238E27FC236}">
                <a16:creationId xmlns:a16="http://schemas.microsoft.com/office/drawing/2014/main" id="{9D759E9C-9474-450F-AEBE-33E29FEDA0BB}"/>
              </a:ext>
              <a:ext uri="{C183D7F6-B498-43B3-948B-1728B52AA6E4}">
                <adec:decorative xmlns:adec="http://schemas.microsoft.com/office/drawing/2017/decorative" val="1"/>
              </a:ext>
            </a:extLst>
          </p:cNvPr>
          <p:cNvCxnSpPr>
            <a:cxnSpLocks/>
          </p:cNvCxnSpPr>
          <p:nvPr/>
        </p:nvCxnSpPr>
        <p:spPr>
          <a:xfrm>
            <a:off x="1295400" y="3962400"/>
            <a:ext cx="2057400" cy="0"/>
          </a:xfrm>
          <a:prstGeom prst="line">
            <a:avLst/>
          </a:prstGeom>
        </p:spPr>
        <p:style>
          <a:lnRef idx="3">
            <a:schemeClr val="accent2"/>
          </a:lnRef>
          <a:fillRef idx="0">
            <a:schemeClr val="accent2"/>
          </a:fillRef>
          <a:effectRef idx="2">
            <a:schemeClr val="accent2"/>
          </a:effectRef>
          <a:fontRef idx="minor">
            <a:schemeClr val="tx1"/>
          </a:fontRef>
        </p:style>
      </p:cxnSp>
      <p:sp>
        <p:nvSpPr>
          <p:cNvPr id="11" name="Rectangle 10">
            <a:extLst>
              <a:ext uri="{FF2B5EF4-FFF2-40B4-BE49-F238E27FC236}">
                <a16:creationId xmlns:a16="http://schemas.microsoft.com/office/drawing/2014/main" id="{55E0FDB3-138F-4913-A1D4-877DDB044BDB}"/>
              </a:ext>
              <a:ext uri="{C183D7F6-B498-43B3-948B-1728B52AA6E4}">
                <adec:decorative xmlns:adec="http://schemas.microsoft.com/office/drawing/2017/decorative" val="1"/>
              </a:ext>
            </a:extLst>
          </p:cNvPr>
          <p:cNvSpPr/>
          <p:nvPr/>
        </p:nvSpPr>
        <p:spPr>
          <a:xfrm>
            <a:off x="533403" y="1371526"/>
            <a:ext cx="7162799" cy="5334074"/>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92929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6104-CC3F-4F5E-845C-CBFF2EDA8997}"/>
              </a:ext>
            </a:extLst>
          </p:cNvPr>
          <p:cNvSpPr>
            <a:spLocks noGrp="1"/>
          </p:cNvSpPr>
          <p:nvPr>
            <p:ph type="title"/>
          </p:nvPr>
        </p:nvSpPr>
        <p:spPr/>
        <p:txBody>
          <a:bodyPr>
            <a:normAutofit/>
          </a:bodyPr>
          <a:lstStyle/>
          <a:p>
            <a:r>
              <a:rPr lang="en-US" sz="3200" dirty="0"/>
              <a:t>European Union Study</a:t>
            </a:r>
          </a:p>
        </p:txBody>
      </p:sp>
      <p:pic>
        <p:nvPicPr>
          <p:cNvPr id="3" name="Picture 2">
            <a:extLst>
              <a:ext uri="{FF2B5EF4-FFF2-40B4-BE49-F238E27FC236}">
                <a16:creationId xmlns:a16="http://schemas.microsoft.com/office/drawing/2014/main" id="{55FABA29-1817-4DF6-A0BD-E91F4762222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19600" y="739813"/>
            <a:ext cx="3862549" cy="2063833"/>
          </a:xfrm>
          <a:prstGeom prst="rect">
            <a:avLst/>
          </a:prstGeom>
        </p:spPr>
      </p:pic>
      <p:pic>
        <p:nvPicPr>
          <p:cNvPr id="4" name="Picture 3" descr="A governance framework for algorithmic accountability and transparency.&#10;&#10;Transparency and accountability are both tools to promote fair algorithmic decisions by providing the foundations for obtaining recourse to meaningful explanation, correction, or ways to ascertain faults that could bring about compensatory processes. The study develops policy options for the governance of algorithmic transparency and accountability, based on an analysis of the social, technical and regulatory challenges posed by algorithmic systems. Based on an extensive review and analysis of existing proposals for governance of algorithmic systems, the authors propose a set of four policy options each of which addresses a different aspect of algorithmic transparency and accountability. 1. Awareness raising: education, watchdogs and whistleblowers. 2. Accountability in public sector use of algorithmic decision-making. 3. Regulatory oversight and Legal liability. 4. Global coordination for algorithmic governance.">
            <a:extLst>
              <a:ext uri="{FF2B5EF4-FFF2-40B4-BE49-F238E27FC236}">
                <a16:creationId xmlns:a16="http://schemas.microsoft.com/office/drawing/2014/main" id="{866A18AD-F2E2-44DC-87B5-A1A8E87785E7}"/>
              </a:ext>
            </a:extLst>
          </p:cNvPr>
          <p:cNvPicPr>
            <a:picLocks noChangeAspect="1"/>
          </p:cNvPicPr>
          <p:nvPr/>
        </p:nvPicPr>
        <p:blipFill>
          <a:blip r:embed="rId3"/>
          <a:stretch>
            <a:fillRect/>
          </a:stretch>
        </p:blipFill>
        <p:spPr>
          <a:xfrm>
            <a:off x="985191" y="3172205"/>
            <a:ext cx="7168211" cy="2063833"/>
          </a:xfrm>
          <a:prstGeom prst="rect">
            <a:avLst/>
          </a:prstGeom>
        </p:spPr>
      </p:pic>
      <p:sp>
        <p:nvSpPr>
          <p:cNvPr id="5" name="Rectangle 4">
            <a:extLst>
              <a:ext uri="{FF2B5EF4-FFF2-40B4-BE49-F238E27FC236}">
                <a16:creationId xmlns:a16="http://schemas.microsoft.com/office/drawing/2014/main" id="{C132F39F-0993-49B3-A2BA-A3A042DBCBDC}"/>
              </a:ext>
              <a:ext uri="{C183D7F6-B498-43B3-948B-1728B52AA6E4}">
                <adec:decorative xmlns:adec="http://schemas.microsoft.com/office/drawing/2017/decorative" val="1"/>
              </a:ext>
            </a:extLst>
          </p:cNvPr>
          <p:cNvSpPr/>
          <p:nvPr/>
        </p:nvSpPr>
        <p:spPr>
          <a:xfrm>
            <a:off x="533402" y="6245425"/>
            <a:ext cx="8305799" cy="307777"/>
          </a:xfrm>
          <a:prstGeom prst="rect">
            <a:avLst/>
          </a:prstGeom>
        </p:spPr>
        <p:txBody>
          <a:bodyPr wrap="square">
            <a:spAutoFit/>
          </a:bodyPr>
          <a:lstStyle/>
          <a:p>
            <a:r>
              <a:rPr lang="en-US" sz="1400" dirty="0">
                <a:hlinkClick r:id="rId4"/>
              </a:rPr>
              <a:t>https://www.europarl.europa.eu/thinktank/en/document.html?reference=EPRS_STU(2019)624262</a:t>
            </a:r>
            <a:r>
              <a:rPr lang="en-US" sz="1400" dirty="0"/>
              <a:t> </a:t>
            </a:r>
          </a:p>
        </p:txBody>
      </p:sp>
      <p:cxnSp>
        <p:nvCxnSpPr>
          <p:cNvPr id="6" name="Straight Connector 5">
            <a:extLst>
              <a:ext uri="{FF2B5EF4-FFF2-40B4-BE49-F238E27FC236}">
                <a16:creationId xmlns:a16="http://schemas.microsoft.com/office/drawing/2014/main" id="{5BA1E61B-D45A-4EC0-AF60-4B565271E941}"/>
              </a:ext>
              <a:ext uri="{C183D7F6-B498-43B3-948B-1728B52AA6E4}">
                <adec:decorative xmlns:adec="http://schemas.microsoft.com/office/drawing/2017/decorative" val="1"/>
              </a:ext>
            </a:extLst>
          </p:cNvPr>
          <p:cNvCxnSpPr>
            <a:cxnSpLocks/>
          </p:cNvCxnSpPr>
          <p:nvPr/>
        </p:nvCxnSpPr>
        <p:spPr>
          <a:xfrm>
            <a:off x="3962400" y="5105400"/>
            <a:ext cx="1676400" cy="0"/>
          </a:xfrm>
          <a:prstGeom prst="line">
            <a:avLst/>
          </a:prstGeom>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FD2CA93A-B896-88D3-ED8F-4AD8BF40C236}"/>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2019</a:t>
            </a:r>
          </a:p>
        </p:txBody>
      </p:sp>
      <p:cxnSp>
        <p:nvCxnSpPr>
          <p:cNvPr id="8" name="Straight Connector 7">
            <a:extLst>
              <a:ext uri="{FF2B5EF4-FFF2-40B4-BE49-F238E27FC236}">
                <a16:creationId xmlns:a16="http://schemas.microsoft.com/office/drawing/2014/main" id="{0595808E-FBBC-6ECC-E75E-78C9024BEE13}"/>
              </a:ext>
              <a:ext uri="{C183D7F6-B498-43B3-948B-1728B52AA6E4}">
                <adec:decorative xmlns:adec="http://schemas.microsoft.com/office/drawing/2017/decorative" val="1"/>
              </a:ext>
            </a:extLst>
          </p:cNvPr>
          <p:cNvCxnSpPr>
            <a:cxnSpLocks/>
          </p:cNvCxnSpPr>
          <p:nvPr/>
        </p:nvCxnSpPr>
        <p:spPr>
          <a:xfrm>
            <a:off x="2895600" y="4648200"/>
            <a:ext cx="914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EF01328B-C803-B865-AA8D-156A7B91F807}"/>
              </a:ext>
              <a:ext uri="{C183D7F6-B498-43B3-948B-1728B52AA6E4}">
                <adec:decorative xmlns:adec="http://schemas.microsoft.com/office/drawing/2017/decorative" val="1"/>
              </a:ext>
            </a:extLst>
          </p:cNvPr>
          <p:cNvCxnSpPr>
            <a:cxnSpLocks/>
          </p:cNvCxnSpPr>
          <p:nvPr/>
        </p:nvCxnSpPr>
        <p:spPr>
          <a:xfrm>
            <a:off x="1371600" y="4876800"/>
            <a:ext cx="2819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Straight Connector 14">
            <a:extLst>
              <a:ext uri="{FF2B5EF4-FFF2-40B4-BE49-F238E27FC236}">
                <a16:creationId xmlns:a16="http://schemas.microsoft.com/office/drawing/2014/main" id="{4DB2F701-D33F-6DEB-5A63-E313DA8B7CF8}"/>
              </a:ext>
              <a:ext uri="{C183D7F6-B498-43B3-948B-1728B52AA6E4}">
                <adec:decorative xmlns:adec="http://schemas.microsoft.com/office/drawing/2017/decorative" val="1"/>
              </a:ext>
            </a:extLst>
          </p:cNvPr>
          <p:cNvCxnSpPr>
            <a:cxnSpLocks/>
          </p:cNvCxnSpPr>
          <p:nvPr/>
        </p:nvCxnSpPr>
        <p:spPr>
          <a:xfrm>
            <a:off x="1227926" y="5105400"/>
            <a:ext cx="2124874" cy="0"/>
          </a:xfrm>
          <a:prstGeom prst="line">
            <a:avLst/>
          </a:prstGeom>
        </p:spPr>
        <p:style>
          <a:lnRef idx="3">
            <a:schemeClr val="accent2"/>
          </a:lnRef>
          <a:fillRef idx="0">
            <a:schemeClr val="accent2"/>
          </a:fillRef>
          <a:effectRef idx="2">
            <a:schemeClr val="accent2"/>
          </a:effectRef>
          <a:fontRef idx="minor">
            <a:schemeClr val="tx1"/>
          </a:fontRef>
        </p:style>
      </p:cxnSp>
      <p:sp>
        <p:nvSpPr>
          <p:cNvPr id="19" name="Rectangle 18">
            <a:extLst>
              <a:ext uri="{FF2B5EF4-FFF2-40B4-BE49-F238E27FC236}">
                <a16:creationId xmlns:a16="http://schemas.microsoft.com/office/drawing/2014/main" id="{46CC76CD-A69A-3342-48BB-CCC6FFF286BA}"/>
              </a:ext>
              <a:ext uri="{C183D7F6-B498-43B3-948B-1728B52AA6E4}">
                <adec:decorative xmlns:adec="http://schemas.microsoft.com/office/drawing/2017/decorative" val="1"/>
              </a:ext>
            </a:extLst>
          </p:cNvPr>
          <p:cNvSpPr/>
          <p:nvPr/>
        </p:nvSpPr>
        <p:spPr>
          <a:xfrm>
            <a:off x="6019801" y="1635595"/>
            <a:ext cx="2133602" cy="95520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883334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69A8ED-4C44-8687-FFB9-163E7338DE6C}"/>
              </a:ext>
            </a:extLst>
          </p:cNvPr>
          <p:cNvSpPr>
            <a:spLocks noGrp="1"/>
          </p:cNvSpPr>
          <p:nvPr>
            <p:ph type="title" idx="4294967295"/>
          </p:nvPr>
        </p:nvSpPr>
        <p:spPr>
          <a:xfrm>
            <a:off x="0" y="-1325563"/>
            <a:ext cx="7886700" cy="1325563"/>
          </a:xfrm>
        </p:spPr>
        <p:txBody>
          <a:bodyPr vert="horz" lIns="91440" tIns="45720" rIns="91440" bIns="45720" rtlCol="0" anchor="b">
            <a:normAutofit/>
          </a:bodyPr>
          <a:lstStyle/>
          <a:p>
            <a:r>
              <a:rPr lang="en-US" dirty="0"/>
              <a:t>Google</a:t>
            </a:r>
          </a:p>
        </p:txBody>
      </p:sp>
      <p:pic>
        <p:nvPicPr>
          <p:cNvPr id="5" name="Content Placeholder 4" descr="Recommendations &#10;for Regulating AI.&#10;&#10; Google has long championed AI. Our research teams are at the forefront of AI development, &#10;and we’ve seen firsthand how AI can enable massive increases in performance and &#10;functionality. AI has the potential to deliver great benefits for economies and society — &#10;from improving energy efficiency and more accurately detecting disease, to increasing &#10;the productivity of businesses of all sizes. Harnessed appropriately, AI can also support &#10;fairer, safer and more inclusive and informed decision-making. We are keen to ensure that &#10;everyone and every business can benefit from the opportunities that AI creates.&#10;&#10;But while self-regulation is vital, it is not enough. Balanced, fact-based guidance from &#10;governments, academia and civil society is also needed to establish boundaries, including &#10;in the form of regulation.">
            <a:extLst>
              <a:ext uri="{FF2B5EF4-FFF2-40B4-BE49-F238E27FC236}">
                <a16:creationId xmlns:a16="http://schemas.microsoft.com/office/drawing/2014/main" id="{F280B1CE-F2E8-EEDD-9C75-D519339C5EF7}"/>
              </a:ext>
            </a:extLst>
          </p:cNvPr>
          <p:cNvPicPr>
            <a:picLocks noGrp="1" noChangeAspect="1"/>
          </p:cNvPicPr>
          <p:nvPr>
            <p:ph sz="half" idx="4294967295"/>
          </p:nvPr>
        </p:nvPicPr>
        <p:blipFill>
          <a:blip r:embed="rId2">
            <a:grayscl/>
            <a:extLst>
              <a:ext uri="{28A0092B-C50C-407E-A947-70E740481C1C}">
                <a14:useLocalDpi xmlns:a14="http://schemas.microsoft.com/office/drawing/2010/main" val="0"/>
              </a:ext>
            </a:extLst>
          </a:blip>
          <a:stretch>
            <a:fillRect/>
          </a:stretch>
        </p:blipFill>
        <p:spPr>
          <a:xfrm>
            <a:off x="378165" y="404921"/>
            <a:ext cx="8342313" cy="5715000"/>
          </a:xfrm>
          <a:ln w="12700">
            <a:solidFill>
              <a:schemeClr val="tx1"/>
            </a:solidFill>
          </a:ln>
        </p:spPr>
      </p:pic>
      <p:sp>
        <p:nvSpPr>
          <p:cNvPr id="7" name="TextBox 6">
            <a:extLst>
              <a:ext uri="{FF2B5EF4-FFF2-40B4-BE49-F238E27FC236}">
                <a16:creationId xmlns:a16="http://schemas.microsoft.com/office/drawing/2014/main" id="{CAD177D9-EC8A-F3B6-75D6-939993B8790D}"/>
              </a:ext>
              <a:ext uri="{C183D7F6-B498-43B3-948B-1728B52AA6E4}">
                <adec:decorative xmlns:adec="http://schemas.microsoft.com/office/drawing/2017/decorative" val="1"/>
              </a:ext>
            </a:extLst>
          </p:cNvPr>
          <p:cNvSpPr txBox="1"/>
          <p:nvPr/>
        </p:nvSpPr>
        <p:spPr>
          <a:xfrm>
            <a:off x="774157" y="6396348"/>
            <a:ext cx="9881686" cy="338554"/>
          </a:xfrm>
          <a:prstGeom prst="rect">
            <a:avLst/>
          </a:prstGeom>
          <a:noFill/>
        </p:spPr>
        <p:txBody>
          <a:bodyPr wrap="square">
            <a:spAutoFit/>
          </a:bodyPr>
          <a:lstStyle/>
          <a:p>
            <a:r>
              <a:rPr lang="en-US" sz="1600" dirty="0"/>
              <a:t>Source: </a:t>
            </a:r>
            <a:r>
              <a:rPr lang="en-US" sz="1600" dirty="0">
                <a:hlinkClick r:id="rId3"/>
              </a:rPr>
              <a:t>https://ai.google/static/documents/recommendations-for-regulating-ai.pdf</a:t>
            </a:r>
            <a:r>
              <a:rPr lang="en-US" sz="1600" dirty="0"/>
              <a:t>, 2021 </a:t>
            </a:r>
          </a:p>
        </p:txBody>
      </p:sp>
      <p:cxnSp>
        <p:nvCxnSpPr>
          <p:cNvPr id="12" name="Straight Connector 11">
            <a:extLst>
              <a:ext uri="{FF2B5EF4-FFF2-40B4-BE49-F238E27FC236}">
                <a16:creationId xmlns:a16="http://schemas.microsoft.com/office/drawing/2014/main" id="{9C0F475D-EFEF-64AE-CF4E-666AECF98C40}"/>
              </a:ext>
              <a:ext uri="{C183D7F6-B498-43B3-948B-1728B52AA6E4}">
                <adec:decorative xmlns:adec="http://schemas.microsoft.com/office/drawing/2017/decorative" val="1"/>
              </a:ext>
            </a:extLst>
          </p:cNvPr>
          <p:cNvCxnSpPr/>
          <p:nvPr/>
        </p:nvCxnSpPr>
        <p:spPr>
          <a:xfrm>
            <a:off x="1371600" y="3505200"/>
            <a:ext cx="4343400" cy="0"/>
          </a:xfrm>
          <a:prstGeom prst="line">
            <a:avLst/>
          </a:prstGeom>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3A9E128A-2EAB-AA99-5B1D-0A148A23CF25}"/>
              </a:ext>
              <a:ext uri="{C183D7F6-B498-43B3-948B-1728B52AA6E4}">
                <adec:decorative xmlns:adec="http://schemas.microsoft.com/office/drawing/2017/decorative" val="1"/>
              </a:ext>
            </a:extLst>
          </p:cNvPr>
          <p:cNvSpPr/>
          <p:nvPr/>
        </p:nvSpPr>
        <p:spPr>
          <a:xfrm>
            <a:off x="1295400" y="5257805"/>
            <a:ext cx="6507844" cy="83790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 name="TextBox 1">
            <a:extLst>
              <a:ext uri="{FF2B5EF4-FFF2-40B4-BE49-F238E27FC236}">
                <a16:creationId xmlns:a16="http://schemas.microsoft.com/office/drawing/2014/main" id="{E6EAB035-CEEB-4CE0-FA29-86351BFD6B8A}"/>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2021</a:t>
            </a:r>
          </a:p>
        </p:txBody>
      </p:sp>
    </p:spTree>
    <p:extLst>
      <p:ext uri="{BB962C8B-B14F-4D97-AF65-F5344CB8AC3E}">
        <p14:creationId xmlns:p14="http://schemas.microsoft.com/office/powerpoint/2010/main" val="2844662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E89D55-5800-7960-D379-4B0DEBDA1F5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0414" y="228600"/>
            <a:ext cx="6361633" cy="6477000"/>
          </a:xfrm>
          <a:prstGeom prst="rect">
            <a:avLst/>
          </a:prstGeom>
        </p:spPr>
      </p:pic>
      <p:sp>
        <p:nvSpPr>
          <p:cNvPr id="10" name="Title 9">
            <a:extLst>
              <a:ext uri="{FF2B5EF4-FFF2-40B4-BE49-F238E27FC236}">
                <a16:creationId xmlns:a16="http://schemas.microsoft.com/office/drawing/2014/main" id="{EAFB1DCF-85DF-7AA7-E029-785992C37E70}"/>
              </a:ext>
            </a:extLst>
          </p:cNvPr>
          <p:cNvSpPr txBox="1">
            <a:spLocks noGrp="1"/>
          </p:cNvSpPr>
          <p:nvPr>
            <p:ph type="title" idx="4294967295"/>
          </p:nvPr>
        </p:nvSpPr>
        <p:spPr>
          <a:xfrm>
            <a:off x="1524000" y="897148"/>
            <a:ext cx="4572000" cy="3698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mn-lt"/>
                <a:ea typeface="+mn-ea"/>
                <a:cs typeface="+mn-cs"/>
              </a:rPr>
              <a:t>US White House Executive Order 14110</a:t>
            </a:r>
          </a:p>
        </p:txBody>
      </p:sp>
      <p:sp>
        <p:nvSpPr>
          <p:cNvPr id="4" name="TextBox 3">
            <a:extLst>
              <a:ext uri="{FF2B5EF4-FFF2-40B4-BE49-F238E27FC236}">
                <a16:creationId xmlns:a16="http://schemas.microsoft.com/office/drawing/2014/main" id="{5D3EBB26-C99C-180B-943D-C62BC8C56CCA}"/>
              </a:ext>
            </a:extLst>
          </p:cNvPr>
          <p:cNvSpPr txBox="1"/>
          <p:nvPr/>
        </p:nvSpPr>
        <p:spPr>
          <a:xfrm>
            <a:off x="7087197" y="1059232"/>
            <a:ext cx="1918869" cy="4524315"/>
          </a:xfrm>
          <a:prstGeom prst="rect">
            <a:avLst/>
          </a:prstGeom>
          <a:noFill/>
        </p:spPr>
        <p:txBody>
          <a:bodyPr wrap="square" rtlCol="0">
            <a:spAutoFit/>
          </a:bodyPr>
          <a:lstStyle/>
          <a:p>
            <a:r>
              <a:rPr lang="en-US" sz="1600" b="0" i="0" dirty="0">
                <a:solidFill>
                  <a:srgbClr val="0A2458"/>
                </a:solidFill>
                <a:effectLst/>
                <a:highlight>
                  <a:srgbClr val="FFFFFF"/>
                </a:highlight>
                <a:latin typeface="Calibri" panose="020F0502020204030204" pitchFamily="34" charset="0"/>
              </a:rPr>
              <a:t>Some important points:</a:t>
            </a:r>
          </a:p>
          <a:p>
            <a:endParaRPr lang="en-US" sz="1600" b="0" i="0" dirty="0">
              <a:solidFill>
                <a:srgbClr val="0A2458"/>
              </a:solidFill>
              <a:effectLst/>
              <a:highlight>
                <a:srgbClr val="FFFFFF"/>
              </a:highlight>
              <a:latin typeface="Calibri" panose="020F0502020204030204" pitchFamily="34" charset="0"/>
            </a:endParaRP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Artificial Intelligence must be </a:t>
            </a:r>
            <a:r>
              <a:rPr lang="en-US" sz="1600" b="1" i="0" dirty="0">
                <a:solidFill>
                  <a:srgbClr val="0A2458"/>
                </a:solidFill>
                <a:effectLst/>
                <a:highlight>
                  <a:srgbClr val="FFFFFF"/>
                </a:highlight>
                <a:latin typeface="Calibri" panose="020F0502020204030204" pitchFamily="34" charset="0"/>
              </a:rPr>
              <a:t>safe and secure</a:t>
            </a:r>
            <a:r>
              <a:rPr lang="en-US" sz="1600" b="0" i="0" dirty="0">
                <a:solidFill>
                  <a:srgbClr val="0A2458"/>
                </a:solidFill>
                <a:effectLst/>
                <a:highlight>
                  <a:srgbClr val="FFFFFF"/>
                </a:highlight>
                <a:latin typeface="Calibri" panose="020F0502020204030204" pitchFamily="34" charset="0"/>
              </a:rPr>
              <a:t>.</a:t>
            </a: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Promoting </a:t>
            </a:r>
            <a:r>
              <a:rPr lang="en-US" sz="1600" b="1" i="0" dirty="0">
                <a:solidFill>
                  <a:srgbClr val="0A2458"/>
                </a:solidFill>
                <a:effectLst/>
                <a:highlight>
                  <a:srgbClr val="FFFFFF"/>
                </a:highlight>
                <a:latin typeface="Calibri" panose="020F0502020204030204" pitchFamily="34" charset="0"/>
              </a:rPr>
              <a:t>responsible innovation, competition, and collaboration</a:t>
            </a:r>
            <a:endParaRPr lang="en-US" sz="1600" b="1" dirty="0">
              <a:solidFill>
                <a:srgbClr val="0A2458"/>
              </a:solidFill>
              <a:highlight>
                <a:srgbClr val="FFFFFF"/>
              </a:highlight>
              <a:latin typeface="Calibri" panose="020F0502020204030204" pitchFamily="34" charset="0"/>
            </a:endParaRPr>
          </a:p>
          <a:p>
            <a:pPr marL="285750" indent="-285750">
              <a:buFont typeface="Arial" panose="020B0604020202020204" pitchFamily="34" charset="0"/>
              <a:buChar char="•"/>
            </a:pPr>
            <a:r>
              <a:rPr lang="en-US" sz="1600" b="0" i="0" dirty="0">
                <a:solidFill>
                  <a:srgbClr val="0A2458"/>
                </a:solidFill>
                <a:effectLst/>
                <a:highlight>
                  <a:srgbClr val="FFFFFF"/>
                </a:highlight>
                <a:latin typeface="Calibri" panose="020F0502020204030204" pitchFamily="34" charset="0"/>
              </a:rPr>
              <a:t>Americans’ </a:t>
            </a:r>
            <a:r>
              <a:rPr lang="en-US" sz="1600" b="1" i="0" dirty="0">
                <a:solidFill>
                  <a:srgbClr val="0A2458"/>
                </a:solidFill>
                <a:effectLst/>
                <a:highlight>
                  <a:srgbClr val="FFFFFF"/>
                </a:highlight>
                <a:latin typeface="Calibri" panose="020F0502020204030204" pitchFamily="34" charset="0"/>
              </a:rPr>
              <a:t>privacy, civil liberties and labor rights </a:t>
            </a:r>
            <a:r>
              <a:rPr lang="en-US" sz="1600" b="0" i="0" dirty="0">
                <a:solidFill>
                  <a:srgbClr val="0A2458"/>
                </a:solidFill>
                <a:effectLst/>
                <a:highlight>
                  <a:srgbClr val="FFFFFF"/>
                </a:highlight>
                <a:latin typeface="Calibri" panose="020F0502020204030204" pitchFamily="34" charset="0"/>
              </a:rPr>
              <a:t>must be protected.</a:t>
            </a:r>
          </a:p>
          <a:p>
            <a:endParaRPr lang="en-US" sz="1600" dirty="0"/>
          </a:p>
        </p:txBody>
      </p:sp>
      <p:sp>
        <p:nvSpPr>
          <p:cNvPr id="5" name="Rectangle 4">
            <a:extLst>
              <a:ext uri="{FF2B5EF4-FFF2-40B4-BE49-F238E27FC236}">
                <a16:creationId xmlns:a16="http://schemas.microsoft.com/office/drawing/2014/main" id="{4C8D0290-83A7-DAD6-D51E-E582E4F1FEE8}"/>
              </a:ext>
              <a:ext uri="{C183D7F6-B498-43B3-948B-1728B52AA6E4}">
                <adec:decorative xmlns:adec="http://schemas.microsoft.com/office/drawing/2017/decorative" val="1"/>
              </a:ext>
            </a:extLst>
          </p:cNvPr>
          <p:cNvSpPr/>
          <p:nvPr/>
        </p:nvSpPr>
        <p:spPr>
          <a:xfrm>
            <a:off x="609600" y="152400"/>
            <a:ext cx="6202447" cy="6477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52A640AA-ADC2-FBC4-05FC-76D9B975B84D}"/>
              </a:ext>
              <a:ext uri="{C183D7F6-B498-43B3-948B-1728B52AA6E4}">
                <adec:decorative xmlns:adec="http://schemas.microsoft.com/office/drawing/2017/decorative" val="1"/>
              </a:ext>
            </a:extLst>
          </p:cNvPr>
          <p:cNvCxnSpPr>
            <a:cxnSpLocks/>
          </p:cNvCxnSpPr>
          <p:nvPr/>
        </p:nvCxnSpPr>
        <p:spPr>
          <a:xfrm>
            <a:off x="2438400" y="4876800"/>
            <a:ext cx="1143000"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0B128D9F-1128-06EF-D300-9D330488054F}"/>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2023</a:t>
            </a:r>
          </a:p>
        </p:txBody>
      </p:sp>
      <p:cxnSp>
        <p:nvCxnSpPr>
          <p:cNvPr id="7" name="Straight Connector 6">
            <a:extLst>
              <a:ext uri="{FF2B5EF4-FFF2-40B4-BE49-F238E27FC236}">
                <a16:creationId xmlns:a16="http://schemas.microsoft.com/office/drawing/2014/main" id="{766E5CAF-894F-6983-2AD5-53D79D1D9976}"/>
              </a:ext>
              <a:ext uri="{C183D7F6-B498-43B3-948B-1728B52AA6E4}">
                <adec:decorative xmlns:adec="http://schemas.microsoft.com/office/drawing/2017/decorative" val="1"/>
              </a:ext>
            </a:extLst>
          </p:cNvPr>
          <p:cNvCxnSpPr>
            <a:cxnSpLocks/>
          </p:cNvCxnSpPr>
          <p:nvPr/>
        </p:nvCxnSpPr>
        <p:spPr>
          <a:xfrm>
            <a:off x="4572000" y="5257800"/>
            <a:ext cx="1066800"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84CB4EB0-D802-A45E-1705-7E64E1C3A0EC}"/>
              </a:ext>
            </a:extLst>
          </p:cNvPr>
          <p:cNvSpPr txBox="1"/>
          <p:nvPr/>
        </p:nvSpPr>
        <p:spPr>
          <a:xfrm>
            <a:off x="6950035" y="5689884"/>
            <a:ext cx="2056031" cy="92333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January 2025: This Executive Order is now revoked.</a:t>
            </a:r>
          </a:p>
        </p:txBody>
      </p:sp>
    </p:spTree>
    <p:extLst>
      <p:ext uri="{BB962C8B-B14F-4D97-AF65-F5344CB8AC3E}">
        <p14:creationId xmlns:p14="http://schemas.microsoft.com/office/powerpoint/2010/main" val="23051412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10C3-F52B-30C5-67B1-27904F38F461}"/>
              </a:ext>
            </a:extLst>
          </p:cNvPr>
          <p:cNvSpPr>
            <a:spLocks noGrp="1"/>
          </p:cNvSpPr>
          <p:nvPr>
            <p:ph type="title"/>
          </p:nvPr>
        </p:nvSpPr>
        <p:spPr/>
        <p:txBody>
          <a:bodyPr/>
          <a:lstStyle/>
          <a:p>
            <a:r>
              <a:rPr lang="en-US" dirty="0"/>
              <a:t>The EU Artificial Intelligence Act</a:t>
            </a:r>
          </a:p>
        </p:txBody>
      </p:sp>
      <p:sp>
        <p:nvSpPr>
          <p:cNvPr id="3" name="Content Placeholder 2">
            <a:extLst>
              <a:ext uri="{FF2B5EF4-FFF2-40B4-BE49-F238E27FC236}">
                <a16:creationId xmlns:a16="http://schemas.microsoft.com/office/drawing/2014/main" id="{17FEA28F-FFF0-2D50-3FBC-3B735236541C}"/>
              </a:ext>
            </a:extLst>
          </p:cNvPr>
          <p:cNvSpPr>
            <a:spLocks noGrp="1"/>
          </p:cNvSpPr>
          <p:nvPr>
            <p:ph idx="1"/>
          </p:nvPr>
        </p:nvSpPr>
        <p:spPr>
          <a:xfrm>
            <a:off x="548822" y="1507330"/>
            <a:ext cx="5380490" cy="4817270"/>
          </a:xfrm>
        </p:spPr>
        <p:txBody>
          <a:bodyPr>
            <a:normAutofit fontScale="70000" lnSpcReduction="20000"/>
          </a:bodyPr>
          <a:lstStyle/>
          <a:p>
            <a:pPr marL="0" indent="0">
              <a:buNone/>
            </a:pPr>
            <a:r>
              <a:rPr lang="en-US" dirty="0"/>
              <a:t>World’s first comprehensive legal framework for artificial intelligence.</a:t>
            </a:r>
          </a:p>
          <a:p>
            <a:endParaRPr lang="en-US" b="1" dirty="0"/>
          </a:p>
          <a:p>
            <a:r>
              <a:rPr lang="en-US" b="1" dirty="0"/>
              <a:t>Risk-based classification of AI system</a:t>
            </a:r>
          </a:p>
          <a:p>
            <a:pPr lvl="1"/>
            <a:r>
              <a:rPr lang="en-US" b="1" dirty="0"/>
              <a:t>Unacceptable Risk </a:t>
            </a:r>
            <a:r>
              <a:rPr lang="en-US" dirty="0"/>
              <a:t>(Banned): Systems that threaten human safety, livelihoods, or fundamental rights. </a:t>
            </a:r>
          </a:p>
          <a:p>
            <a:pPr lvl="1"/>
            <a:r>
              <a:rPr lang="en-US" b="1" dirty="0"/>
              <a:t>High Risk </a:t>
            </a:r>
            <a:r>
              <a:rPr lang="en-US" dirty="0"/>
              <a:t>(Strictly Regulated): Systems used in critical areas such as healthcare, recruitment, law enforcement, and critical infrastructure. Require: Rigorous conformity assessments, ensure human oversight, and guarantee cybersecurity.</a:t>
            </a:r>
          </a:p>
          <a:p>
            <a:pPr lvl="1"/>
            <a:r>
              <a:rPr lang="en-US" b="1" dirty="0"/>
              <a:t>Specific Transparency Risk</a:t>
            </a:r>
            <a:r>
              <a:rPr lang="en-US" dirty="0"/>
              <a:t>: AI systems that interact directly with humans (e.g., chatbots) or generate synthetic media (e.g., deepfakes, manipulated audio). Require: disclosure and watermarking </a:t>
            </a:r>
          </a:p>
          <a:p>
            <a:pPr lvl="1"/>
            <a:r>
              <a:rPr lang="en-US" b="1" dirty="0"/>
              <a:t>Minimal or No Risk</a:t>
            </a:r>
            <a:r>
              <a:rPr lang="en-US" dirty="0"/>
              <a:t>: Majority of AI systems. No binding obligations, though developers can voluntarily adopt codes of conduct.</a:t>
            </a:r>
          </a:p>
        </p:txBody>
      </p:sp>
      <p:graphicFrame>
        <p:nvGraphicFramePr>
          <p:cNvPr id="4" name="Diagram 3">
            <a:extLst>
              <a:ext uri="{FF2B5EF4-FFF2-40B4-BE49-F238E27FC236}">
                <a16:creationId xmlns:a16="http://schemas.microsoft.com/office/drawing/2014/main" id="{D6ED2CBF-786D-407C-6F66-89DA33708CFE}"/>
              </a:ext>
            </a:extLst>
          </p:cNvPr>
          <p:cNvGraphicFramePr/>
          <p:nvPr>
            <p:extLst>
              <p:ext uri="{D42A27DB-BD31-4B8C-83A1-F6EECF244321}">
                <p14:modId xmlns:p14="http://schemas.microsoft.com/office/powerpoint/2010/main" val="2590039400"/>
              </p:ext>
            </p:extLst>
          </p:nvPr>
        </p:nvGraphicFramePr>
        <p:xfrm>
          <a:off x="5989905" y="2745541"/>
          <a:ext cx="2847975" cy="2644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16B7FD4-7A34-759F-F4BE-D06CF3FD7E41}"/>
              </a:ext>
              <a:ext uri="{C183D7F6-B498-43B3-948B-1728B52AA6E4}">
                <adec:decorative xmlns:adec="http://schemas.microsoft.com/office/drawing/2017/decorative" val="1"/>
              </a:ext>
            </a:extLst>
          </p:cNvPr>
          <p:cNvSpPr txBox="1"/>
          <p:nvPr/>
        </p:nvSpPr>
        <p:spPr>
          <a:xfrm rot="2223276">
            <a:off x="7864022" y="396933"/>
            <a:ext cx="1143000" cy="584775"/>
          </a:xfrm>
          <a:prstGeom prst="rect">
            <a:avLst/>
          </a:prstGeom>
          <a:noFill/>
        </p:spPr>
        <p:txBody>
          <a:bodyPr wrap="square" rtlCol="0">
            <a:spAutoFit/>
          </a:bodyPr>
          <a:lstStyle/>
          <a:p>
            <a:r>
              <a:rPr lang="en-US" sz="3200" b="1" dirty="0">
                <a:solidFill>
                  <a:srgbClr val="FF0000"/>
                </a:solidFill>
              </a:rPr>
              <a:t>2025-</a:t>
            </a:r>
          </a:p>
        </p:txBody>
      </p:sp>
      <p:pic>
        <p:nvPicPr>
          <p:cNvPr id="1026" name="Picture 2" descr="EU Artificial Intelligence Act">
            <a:extLst>
              <a:ext uri="{FF2B5EF4-FFF2-40B4-BE49-F238E27FC236}">
                <a16:creationId xmlns:a16="http://schemas.microsoft.com/office/drawing/2014/main" id="{7994BD9C-945E-14CE-09E3-3A738D6642B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57888" y="1468322"/>
            <a:ext cx="2847975" cy="723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93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44DD-07D2-EADD-C6FC-67CE884D80C9}"/>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08A9EE10-97F5-B232-A213-AE47D7E18535}"/>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19" b="13559"/>
          <a:stretch/>
        </p:blipFill>
        <p:spPr bwMode="auto">
          <a:xfrm>
            <a:off x="20" y="-1"/>
            <a:ext cx="9143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E88C7E9D-C527-E066-E2A7-2B3CFC47A46A}"/>
              </a:ext>
            </a:extLst>
          </p:cNvPr>
          <p:cNvSpPr>
            <a:spLocks noGrp="1"/>
          </p:cNvSpPr>
          <p:nvPr>
            <p:ph type="body" idx="1"/>
          </p:nvPr>
        </p:nvSpPr>
        <p:spPr>
          <a:xfrm>
            <a:off x="533400" y="4648200"/>
            <a:ext cx="7886700" cy="1500187"/>
          </a:xfrm>
        </p:spPr>
        <p:txBody>
          <a:bodyPr>
            <a:normAutofit/>
          </a:bodyPr>
          <a:lstStyle/>
          <a:p>
            <a:r>
              <a:rPr lang="en-US" sz="3600" dirty="0"/>
              <a:t>AI Governance:</a:t>
            </a:r>
            <a:br>
              <a:rPr lang="en-US" sz="3600" dirty="0"/>
            </a:br>
            <a:r>
              <a:rPr lang="en-US" sz="3600" dirty="0"/>
              <a:t>Risk Mitigation</a:t>
            </a:r>
          </a:p>
        </p:txBody>
      </p:sp>
    </p:spTree>
    <p:extLst>
      <p:ext uri="{BB962C8B-B14F-4D97-AF65-F5344CB8AC3E}">
        <p14:creationId xmlns:p14="http://schemas.microsoft.com/office/powerpoint/2010/main" val="1330328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7465-4D0E-4522-87CB-90A4A8132B6C}"/>
              </a:ext>
            </a:extLst>
          </p:cNvPr>
          <p:cNvSpPr>
            <a:spLocks noGrp="1"/>
          </p:cNvSpPr>
          <p:nvPr>
            <p:ph type="title"/>
          </p:nvPr>
        </p:nvSpPr>
        <p:spPr>
          <a:xfrm>
            <a:off x="482602" y="321736"/>
            <a:ext cx="8178799" cy="1135737"/>
          </a:xfrm>
        </p:spPr>
        <p:txBody>
          <a:bodyPr>
            <a:normAutofit/>
          </a:bodyPr>
          <a:lstStyle/>
          <a:p>
            <a:r>
              <a:rPr lang="en-US" sz="3100" dirty="0"/>
              <a:t>Fairness: Algorithmic Bias</a:t>
            </a:r>
          </a:p>
        </p:txBody>
      </p:sp>
      <p:sp>
        <p:nvSpPr>
          <p:cNvPr id="3" name="Content Placeholder 2">
            <a:extLst>
              <a:ext uri="{FF2B5EF4-FFF2-40B4-BE49-F238E27FC236}">
                <a16:creationId xmlns:a16="http://schemas.microsoft.com/office/drawing/2014/main" id="{1FF59570-2A67-4C4E-891F-24588C624866}"/>
              </a:ext>
            </a:extLst>
          </p:cNvPr>
          <p:cNvSpPr>
            <a:spLocks noGrp="1"/>
          </p:cNvSpPr>
          <p:nvPr>
            <p:ph idx="1"/>
          </p:nvPr>
        </p:nvSpPr>
        <p:spPr>
          <a:xfrm>
            <a:off x="628649" y="1219200"/>
            <a:ext cx="7886700" cy="4351338"/>
          </a:xfrm>
        </p:spPr>
        <p:txBody>
          <a:bodyPr>
            <a:normAutofit/>
          </a:bodyPr>
          <a:lstStyle/>
          <a:p>
            <a:pPr marL="0" indent="0">
              <a:buNone/>
            </a:pPr>
            <a:r>
              <a:rPr lang="en-US" sz="2000" dirty="0"/>
              <a:t>“</a:t>
            </a:r>
            <a:r>
              <a:rPr lang="en-US" sz="2000" b="1" dirty="0"/>
              <a:t>Algorithmic bias</a:t>
            </a:r>
            <a:r>
              <a:rPr lang="en-US" sz="2000" dirty="0"/>
              <a:t> describes systematic and repeatable errors in a computer system that create unfair outcomes, such as privileging one arbitrary group of users over others.”</a:t>
            </a:r>
            <a:r>
              <a:rPr lang="en-US" sz="2000" dirty="0">
                <a:solidFill>
                  <a:schemeClr val="bg2">
                    <a:lumMod val="75000"/>
                  </a:schemeClr>
                </a:solidFill>
              </a:rPr>
              <a:t> [Wikipedia]</a:t>
            </a:r>
            <a:endParaRPr lang="en-US" sz="2000" dirty="0"/>
          </a:p>
        </p:txBody>
      </p:sp>
      <p:grpSp>
        <p:nvGrpSpPr>
          <p:cNvPr id="16" name="Group 15">
            <a:extLst>
              <a:ext uri="{FF2B5EF4-FFF2-40B4-BE49-F238E27FC236}">
                <a16:creationId xmlns:a16="http://schemas.microsoft.com/office/drawing/2014/main" id="{9EE655CD-ABAB-53F5-F38D-A38BF3F15B00}"/>
              </a:ext>
            </a:extLst>
          </p:cNvPr>
          <p:cNvGrpSpPr/>
          <p:nvPr/>
        </p:nvGrpSpPr>
        <p:grpSpPr>
          <a:xfrm>
            <a:off x="766286" y="2707026"/>
            <a:ext cx="2375156" cy="3016817"/>
            <a:chOff x="766286" y="2707026"/>
            <a:chExt cx="2375156" cy="3016817"/>
          </a:xfrm>
        </p:grpSpPr>
        <p:sp>
          <p:nvSpPr>
            <p:cNvPr id="7" name="Rectangle 6" descr="Office Worker">
              <a:extLst>
                <a:ext uri="{FF2B5EF4-FFF2-40B4-BE49-F238E27FC236}">
                  <a16:creationId xmlns:a16="http://schemas.microsoft.com/office/drawing/2014/main" id="{E5D4234F-3E03-221D-201E-1D13D76B95E8}"/>
                </a:ext>
              </a:extLst>
            </p:cNvPr>
            <p:cNvSpPr/>
            <p:nvPr/>
          </p:nvSpPr>
          <p:spPr>
            <a:xfrm>
              <a:off x="766286"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p:spPr>
          <p:style>
            <a:lnRef idx="3">
              <a:schemeClr val="lt1">
                <a:hueOff val="0"/>
                <a:satOff val="0"/>
                <a:lumOff val="0"/>
                <a:alphaOff val="0"/>
              </a:schemeClr>
            </a:lnRef>
            <a:fillRef idx="1">
              <a:scrgbClr r="0" g="0" b="0"/>
            </a:fillRef>
            <a:effectRef idx="1">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7BB7E052-CC31-1409-F062-77D172B4D792}"/>
                </a:ext>
              </a:extLst>
            </p:cNvPr>
            <p:cNvSpPr/>
            <p:nvPr/>
          </p:nvSpPr>
          <p:spPr>
            <a:xfrm>
              <a:off x="766286"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Pre-existing bias</a:t>
              </a:r>
              <a:endParaRPr lang="en-US" sz="2400" kern="1200" dirty="0"/>
            </a:p>
          </p:txBody>
        </p:sp>
        <p:sp>
          <p:nvSpPr>
            <p:cNvPr id="9" name="Freeform: Shape 8">
              <a:extLst>
                <a:ext uri="{FF2B5EF4-FFF2-40B4-BE49-F238E27FC236}">
                  <a16:creationId xmlns:a16="http://schemas.microsoft.com/office/drawing/2014/main" id="{C803E5B8-CC51-BEBC-A46B-5CF177C23EF0}"/>
                </a:ext>
              </a:extLst>
            </p:cNvPr>
            <p:cNvSpPr/>
            <p:nvPr/>
          </p:nvSpPr>
          <p:spPr>
            <a:xfrm>
              <a:off x="766286"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Social and institutional norms influence design and training data choices. </a:t>
              </a:r>
            </a:p>
            <a:p>
              <a:pPr marL="0" lvl="0" indent="0" algn="l" defTabSz="622300">
                <a:lnSpc>
                  <a:spcPct val="100000"/>
                </a:lnSpc>
                <a:spcBef>
                  <a:spcPct val="0"/>
                </a:spcBef>
                <a:spcAft>
                  <a:spcPct val="35000"/>
                </a:spcAft>
                <a:buNone/>
              </a:pPr>
              <a:r>
                <a:rPr lang="en-US" sz="1400" kern="1200" dirty="0"/>
                <a:t>Example: Evaluate job applicants for a job which is historically almost exclusively held by males.</a:t>
              </a:r>
            </a:p>
          </p:txBody>
        </p:sp>
      </p:grpSp>
      <p:grpSp>
        <p:nvGrpSpPr>
          <p:cNvPr id="18" name="Group 17">
            <a:extLst>
              <a:ext uri="{FF2B5EF4-FFF2-40B4-BE49-F238E27FC236}">
                <a16:creationId xmlns:a16="http://schemas.microsoft.com/office/drawing/2014/main" id="{CB4240C2-9450-FDCF-D810-C825FAAADA2E}"/>
              </a:ext>
            </a:extLst>
          </p:cNvPr>
          <p:cNvGrpSpPr/>
          <p:nvPr/>
        </p:nvGrpSpPr>
        <p:grpSpPr>
          <a:xfrm>
            <a:off x="3557095" y="2707026"/>
            <a:ext cx="2375156" cy="3016817"/>
            <a:chOff x="3557095" y="2707026"/>
            <a:chExt cx="2375156" cy="3016817"/>
          </a:xfrm>
        </p:grpSpPr>
        <p:sp>
          <p:nvSpPr>
            <p:cNvPr id="10" name="Rectangle 9" descr="Programmer">
              <a:extLst>
                <a:ext uri="{FF2B5EF4-FFF2-40B4-BE49-F238E27FC236}">
                  <a16:creationId xmlns:a16="http://schemas.microsoft.com/office/drawing/2014/main" id="{1023158F-73B1-558D-0B03-05BAF7412A04}"/>
                </a:ext>
              </a:extLst>
            </p:cNvPr>
            <p:cNvSpPr/>
            <p:nvPr/>
          </p:nvSpPr>
          <p:spPr>
            <a:xfrm>
              <a:off x="3557095"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p:spPr>
          <p:style>
            <a:lnRef idx="3">
              <a:schemeClr val="lt1">
                <a:hueOff val="0"/>
                <a:satOff val="0"/>
                <a:lumOff val="0"/>
                <a:alphaOff val="0"/>
              </a:schemeClr>
            </a:lnRef>
            <a:fillRef idx="1">
              <a:scrgbClr r="0" g="0" b="0"/>
            </a:fillRef>
            <a:effectRef idx="1">
              <a:schemeClr val="accent2">
                <a:hueOff val="3238005"/>
                <a:satOff val="-9410"/>
                <a:lumOff val="-7648"/>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5126F722-EEDC-D273-1B72-CAD535E52058}"/>
                </a:ext>
              </a:extLst>
            </p:cNvPr>
            <p:cNvSpPr/>
            <p:nvPr/>
          </p:nvSpPr>
          <p:spPr>
            <a:xfrm>
              <a:off x="3557095"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Technical bias</a:t>
              </a:r>
              <a:endParaRPr lang="en-US" sz="2400" kern="1200" dirty="0"/>
            </a:p>
          </p:txBody>
        </p:sp>
        <p:sp>
          <p:nvSpPr>
            <p:cNvPr id="12" name="Freeform: Shape 11">
              <a:extLst>
                <a:ext uri="{FF2B5EF4-FFF2-40B4-BE49-F238E27FC236}">
                  <a16:creationId xmlns:a16="http://schemas.microsoft.com/office/drawing/2014/main" id="{86AEF462-92D4-F487-F7C2-681FFE8ECDD4}"/>
                </a:ext>
              </a:extLst>
            </p:cNvPr>
            <p:cNvSpPr/>
            <p:nvPr/>
          </p:nvSpPr>
          <p:spPr>
            <a:xfrm>
              <a:off x="3557095"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Limitations of a program or computational power. </a:t>
              </a:r>
            </a:p>
            <a:p>
              <a:pPr marL="0" lvl="0" indent="0" algn="l" defTabSz="622300">
                <a:lnSpc>
                  <a:spcPct val="100000"/>
                </a:lnSpc>
                <a:spcBef>
                  <a:spcPct val="0"/>
                </a:spcBef>
                <a:spcAft>
                  <a:spcPct val="35000"/>
                </a:spcAft>
                <a:buNone/>
              </a:pPr>
              <a:endParaRPr lang="en-US" sz="1400" kern="1200" dirty="0"/>
            </a:p>
            <a:p>
              <a:pPr marL="0" lvl="0" indent="0" algn="l" defTabSz="622300">
                <a:lnSpc>
                  <a:spcPct val="100000"/>
                </a:lnSpc>
                <a:spcBef>
                  <a:spcPct val="0"/>
                </a:spcBef>
                <a:spcAft>
                  <a:spcPct val="35000"/>
                </a:spcAft>
                <a:buNone/>
              </a:pPr>
              <a:r>
                <a:rPr lang="en-US" sz="1400" kern="1200" dirty="0"/>
                <a:t>Example: Algorithm uses data that is easy to obtain but biased.</a:t>
              </a:r>
            </a:p>
          </p:txBody>
        </p:sp>
      </p:grpSp>
      <p:grpSp>
        <p:nvGrpSpPr>
          <p:cNvPr id="17" name="Group 16">
            <a:extLst>
              <a:ext uri="{FF2B5EF4-FFF2-40B4-BE49-F238E27FC236}">
                <a16:creationId xmlns:a16="http://schemas.microsoft.com/office/drawing/2014/main" id="{3C466272-864D-8B14-5ABD-28E5D165770A}"/>
              </a:ext>
            </a:extLst>
          </p:cNvPr>
          <p:cNvGrpSpPr/>
          <p:nvPr/>
        </p:nvGrpSpPr>
        <p:grpSpPr>
          <a:xfrm>
            <a:off x="6347903" y="2707026"/>
            <a:ext cx="2375156" cy="3016817"/>
            <a:chOff x="6347903" y="2707026"/>
            <a:chExt cx="2375156" cy="3016817"/>
          </a:xfrm>
        </p:grpSpPr>
        <p:sp>
          <p:nvSpPr>
            <p:cNvPr id="13" name="Rectangle 12" descr="Statistics">
              <a:extLst>
                <a:ext uri="{FF2B5EF4-FFF2-40B4-BE49-F238E27FC236}">
                  <a16:creationId xmlns:a16="http://schemas.microsoft.com/office/drawing/2014/main" id="{B1F00A2B-D22A-1F10-FE7D-8C2000D93EF9}"/>
                </a:ext>
              </a:extLst>
            </p:cNvPr>
            <p:cNvSpPr/>
            <p:nvPr/>
          </p:nvSpPr>
          <p:spPr>
            <a:xfrm>
              <a:off x="6347903" y="2707026"/>
              <a:ext cx="831304" cy="83130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3">
              <a:schemeClr val="lt1">
                <a:hueOff val="0"/>
                <a:satOff val="0"/>
                <a:lumOff val="0"/>
                <a:alphaOff val="0"/>
              </a:schemeClr>
            </a:lnRef>
            <a:fillRef idx="1">
              <a:scrgbClr r="0" g="0" b="0"/>
            </a:fillRef>
            <a:effectRef idx="1">
              <a:schemeClr val="accent2">
                <a:hueOff val="6476011"/>
                <a:satOff val="-18820"/>
                <a:lumOff val="-15296"/>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F33C24E2-4E3B-CF9C-DBAE-12F959A943A0}"/>
                </a:ext>
              </a:extLst>
            </p:cNvPr>
            <p:cNvSpPr/>
            <p:nvPr/>
          </p:nvSpPr>
          <p:spPr>
            <a:xfrm>
              <a:off x="6347903" y="3668054"/>
              <a:ext cx="2375156" cy="378540"/>
            </a:xfrm>
            <a:custGeom>
              <a:avLst/>
              <a:gdLst>
                <a:gd name="connsiteX0" fmla="*/ 0 w 2375156"/>
                <a:gd name="connsiteY0" fmla="*/ 0 h 378540"/>
                <a:gd name="connsiteX1" fmla="*/ 2375156 w 2375156"/>
                <a:gd name="connsiteY1" fmla="*/ 0 h 378540"/>
                <a:gd name="connsiteX2" fmla="*/ 2375156 w 2375156"/>
                <a:gd name="connsiteY2" fmla="*/ 378540 h 378540"/>
                <a:gd name="connsiteX3" fmla="*/ 0 w 2375156"/>
                <a:gd name="connsiteY3" fmla="*/ 378540 h 378540"/>
                <a:gd name="connsiteX4" fmla="*/ 0 w 2375156"/>
                <a:gd name="connsiteY4" fmla="*/ 0 h 37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378540">
                  <a:moveTo>
                    <a:pt x="0" y="0"/>
                  </a:moveTo>
                  <a:lnTo>
                    <a:pt x="2375156" y="0"/>
                  </a:lnTo>
                  <a:lnTo>
                    <a:pt x="2375156" y="378540"/>
                  </a:lnTo>
                  <a:lnTo>
                    <a:pt x="0" y="3785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b="1" kern="1200" dirty="0"/>
                <a:t>Emergent bias</a:t>
              </a:r>
              <a:endParaRPr lang="en-US" sz="2400" kern="1200" dirty="0"/>
            </a:p>
          </p:txBody>
        </p:sp>
        <p:sp>
          <p:nvSpPr>
            <p:cNvPr id="15" name="Freeform: Shape 14">
              <a:extLst>
                <a:ext uri="{FF2B5EF4-FFF2-40B4-BE49-F238E27FC236}">
                  <a16:creationId xmlns:a16="http://schemas.microsoft.com/office/drawing/2014/main" id="{081F9B90-5392-C550-ACD4-52EA8C1609C4}"/>
                </a:ext>
              </a:extLst>
            </p:cNvPr>
            <p:cNvSpPr/>
            <p:nvPr/>
          </p:nvSpPr>
          <p:spPr>
            <a:xfrm>
              <a:off x="6347903" y="4106931"/>
              <a:ext cx="2375156" cy="1616912"/>
            </a:xfrm>
            <a:custGeom>
              <a:avLst/>
              <a:gdLst>
                <a:gd name="connsiteX0" fmla="*/ 0 w 2375156"/>
                <a:gd name="connsiteY0" fmla="*/ 0 h 1616912"/>
                <a:gd name="connsiteX1" fmla="*/ 2375156 w 2375156"/>
                <a:gd name="connsiteY1" fmla="*/ 0 h 1616912"/>
                <a:gd name="connsiteX2" fmla="*/ 2375156 w 2375156"/>
                <a:gd name="connsiteY2" fmla="*/ 1616912 h 1616912"/>
                <a:gd name="connsiteX3" fmla="*/ 0 w 2375156"/>
                <a:gd name="connsiteY3" fmla="*/ 1616912 h 1616912"/>
                <a:gd name="connsiteX4" fmla="*/ 0 w 2375156"/>
                <a:gd name="connsiteY4" fmla="*/ 0 h 161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156" h="1616912">
                  <a:moveTo>
                    <a:pt x="0" y="0"/>
                  </a:moveTo>
                  <a:lnTo>
                    <a:pt x="2375156" y="0"/>
                  </a:lnTo>
                  <a:lnTo>
                    <a:pt x="2375156" y="1616912"/>
                  </a:lnTo>
                  <a:lnTo>
                    <a:pt x="0" y="161691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kern="1200" dirty="0"/>
                <a:t>Use and reliance on algorithms across new or unanticipated contexts.</a:t>
              </a:r>
            </a:p>
            <a:p>
              <a:pPr marL="0" lvl="0" indent="0" algn="l" defTabSz="622300">
                <a:lnSpc>
                  <a:spcPct val="100000"/>
                </a:lnSpc>
                <a:spcBef>
                  <a:spcPct val="0"/>
                </a:spcBef>
                <a:spcAft>
                  <a:spcPct val="35000"/>
                </a:spcAft>
                <a:buNone/>
              </a:pPr>
              <a:r>
                <a:rPr lang="en-US" sz="1400" kern="1200" dirty="0"/>
                <a:t>Example: Use a large language model to support job candidate selection.</a:t>
              </a:r>
            </a:p>
          </p:txBody>
        </p:sp>
      </p:grpSp>
      <p:sp>
        <p:nvSpPr>
          <p:cNvPr id="4" name="TextBox 3">
            <a:extLst>
              <a:ext uri="{FF2B5EF4-FFF2-40B4-BE49-F238E27FC236}">
                <a16:creationId xmlns:a16="http://schemas.microsoft.com/office/drawing/2014/main" id="{D621329A-5150-2856-3EE8-D9C5FA93EC08}"/>
              </a:ext>
            </a:extLst>
          </p:cNvPr>
          <p:cNvSpPr txBox="1"/>
          <p:nvPr/>
        </p:nvSpPr>
        <p:spPr>
          <a:xfrm>
            <a:off x="695323" y="6098670"/>
            <a:ext cx="7753351" cy="369332"/>
          </a:xfrm>
          <a:prstGeom prst="rect">
            <a:avLst/>
          </a:prstGeom>
          <a:noFill/>
        </p:spPr>
        <p:txBody>
          <a:bodyPr wrap="square" rtlCol="0">
            <a:spAutoFit/>
          </a:bodyPr>
          <a:lstStyle/>
          <a:p>
            <a:r>
              <a:rPr lang="en-US" b="1" dirty="0"/>
              <a:t>We need a mitigation plan for this risk!</a:t>
            </a:r>
          </a:p>
        </p:txBody>
      </p:sp>
    </p:spTree>
    <p:extLst>
      <p:ext uri="{BB962C8B-B14F-4D97-AF65-F5344CB8AC3E}">
        <p14:creationId xmlns:p14="http://schemas.microsoft.com/office/powerpoint/2010/main" val="374826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FFE9-6106-099C-4A59-121058D455DB}"/>
              </a:ext>
            </a:extLst>
          </p:cNvPr>
          <p:cNvSpPr>
            <a:spLocks noGrp="1"/>
          </p:cNvSpPr>
          <p:nvPr>
            <p:ph type="title"/>
          </p:nvPr>
        </p:nvSpPr>
        <p:spPr/>
        <p:txBody>
          <a:bodyPr anchor="ctr">
            <a:normAutofit/>
          </a:bodyPr>
          <a:lstStyle/>
          <a:p>
            <a:r>
              <a:rPr lang="en-US" sz="4700" dirty="0"/>
              <a:t>Types of AI Safety</a:t>
            </a:r>
          </a:p>
        </p:txBody>
      </p:sp>
      <p:sp>
        <p:nvSpPr>
          <p:cNvPr id="3" name="Content Placeholder 2">
            <a:extLst>
              <a:ext uri="{FF2B5EF4-FFF2-40B4-BE49-F238E27FC236}">
                <a16:creationId xmlns:a16="http://schemas.microsoft.com/office/drawing/2014/main" id="{684F66F8-536B-6DB4-2048-E5BBE78484C1}"/>
              </a:ext>
            </a:extLst>
          </p:cNvPr>
          <p:cNvSpPr>
            <a:spLocks noGrp="1"/>
          </p:cNvSpPr>
          <p:nvPr>
            <p:ph idx="1"/>
          </p:nvPr>
        </p:nvSpPr>
        <p:spPr>
          <a:xfrm>
            <a:off x="628650" y="1825625"/>
            <a:ext cx="7886700" cy="612775"/>
          </a:xfrm>
        </p:spPr>
        <p:txBody>
          <a:bodyPr>
            <a:normAutofit/>
          </a:bodyPr>
          <a:lstStyle/>
          <a:p>
            <a:pPr marL="0" indent="0" algn="ctr">
              <a:buNone/>
            </a:pPr>
            <a:r>
              <a:rPr lang="en-US" sz="2000" dirty="0"/>
              <a:t>“Prevent accidents, misuse, or other harmful consequences of AI.”</a:t>
            </a:r>
          </a:p>
          <a:p>
            <a:endParaRPr lang="en-US" sz="1900" dirty="0"/>
          </a:p>
        </p:txBody>
      </p:sp>
      <p:grpSp>
        <p:nvGrpSpPr>
          <p:cNvPr id="12" name="Group 11">
            <a:extLst>
              <a:ext uri="{FF2B5EF4-FFF2-40B4-BE49-F238E27FC236}">
                <a16:creationId xmlns:a16="http://schemas.microsoft.com/office/drawing/2014/main" id="{183A50F6-CF0C-ABE4-4309-E1E2A0272293}"/>
              </a:ext>
            </a:extLst>
          </p:cNvPr>
          <p:cNvGrpSpPr/>
          <p:nvPr/>
        </p:nvGrpSpPr>
        <p:grpSpPr>
          <a:xfrm>
            <a:off x="785553" y="2586771"/>
            <a:ext cx="2230294" cy="2364112"/>
            <a:chOff x="785553" y="2586771"/>
            <a:chExt cx="2230294" cy="2364112"/>
          </a:xfrm>
        </p:grpSpPr>
        <p:sp>
          <p:nvSpPr>
            <p:cNvPr id="6" name="Rectangle: Rounded Corners 5" descr="Clipboard Mixed with solid fill">
              <a:extLst>
                <a:ext uri="{FF2B5EF4-FFF2-40B4-BE49-F238E27FC236}">
                  <a16:creationId xmlns:a16="http://schemas.microsoft.com/office/drawing/2014/main" id="{FF9777CF-69D0-D1D0-88FC-1A47FF8C8DB6}"/>
                </a:ext>
              </a:extLst>
            </p:cNvPr>
            <p:cNvSpPr/>
            <p:nvPr/>
          </p:nvSpPr>
          <p:spPr>
            <a:xfrm>
              <a:off x="785553" y="2586771"/>
              <a:ext cx="2230294" cy="1536672"/>
            </a:xfrm>
            <a:prstGeom prst="roundRect">
              <a:avLst/>
            </a:prstGeom>
            <a:blipFill dpi="0" rotWithShape="1">
              <a:blip>
                <a:extLst>
                  <a:ext uri="{96DAC541-7B7A-43D3-8B79-37D633B846F1}">
                    <asvg:svgBlip xmlns:asvg="http://schemas.microsoft.com/office/drawing/2016/SVG/main" r:embed="rId3"/>
                  </a:ext>
                </a:extLst>
              </a:blip>
              <a:srcRect/>
              <a:stretch>
                <a:fillRect l="20000" r="20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CDE457A2-BEFA-0926-1BC6-BB7F7259DE58}"/>
                </a:ext>
              </a:extLst>
            </p:cNvPr>
            <p:cNvSpPr/>
            <p:nvPr/>
          </p:nvSpPr>
          <p:spPr>
            <a:xfrm>
              <a:off x="785553"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dirty="0"/>
                <a:t>AI Testing</a:t>
              </a:r>
            </a:p>
          </p:txBody>
        </p:sp>
      </p:grpSp>
      <p:grpSp>
        <p:nvGrpSpPr>
          <p:cNvPr id="14" name="Group 13">
            <a:extLst>
              <a:ext uri="{FF2B5EF4-FFF2-40B4-BE49-F238E27FC236}">
                <a16:creationId xmlns:a16="http://schemas.microsoft.com/office/drawing/2014/main" id="{A2D2AAA3-7904-2DEC-8A9A-1D00463C3A9C}"/>
              </a:ext>
            </a:extLst>
          </p:cNvPr>
          <p:cNvGrpSpPr/>
          <p:nvPr/>
        </p:nvGrpSpPr>
        <p:grpSpPr>
          <a:xfrm>
            <a:off x="3238970" y="2586771"/>
            <a:ext cx="2230294" cy="2364112"/>
            <a:chOff x="3238970" y="2586771"/>
            <a:chExt cx="2230294" cy="2364112"/>
          </a:xfrm>
        </p:grpSpPr>
        <p:sp>
          <p:nvSpPr>
            <p:cNvPr id="8" name="Rectangle: Rounded Corners 7" descr="Security camera with solid fill">
              <a:extLst>
                <a:ext uri="{FF2B5EF4-FFF2-40B4-BE49-F238E27FC236}">
                  <a16:creationId xmlns:a16="http://schemas.microsoft.com/office/drawing/2014/main" id="{C0925C64-5C59-569B-6565-94771A2CDCEF}"/>
                </a:ext>
              </a:extLst>
            </p:cNvPr>
            <p:cNvSpPr/>
            <p:nvPr/>
          </p:nvSpPr>
          <p:spPr>
            <a:xfrm>
              <a:off x="3238970" y="2586771"/>
              <a:ext cx="2230294" cy="1536672"/>
            </a:xfrm>
            <a:prstGeom prst="roundRect">
              <a:avLst/>
            </a:prstGeom>
            <a:blipFill dpi="0" rotWithShape="1">
              <a:blip>
                <a:extLst>
                  <a:ext uri="{96DAC541-7B7A-43D3-8B79-37D633B846F1}">
                    <asvg:svgBlip xmlns:asvg="http://schemas.microsoft.com/office/drawing/2016/SVG/main" r:embed="rId4"/>
                  </a:ext>
                </a:extLst>
              </a:blip>
              <a:srcRect/>
              <a:stretch>
                <a:fillRect l="20000" r="20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6749E1BE-A4A7-310F-B427-2D85ADF83A02}"/>
                </a:ext>
              </a:extLst>
            </p:cNvPr>
            <p:cNvSpPr/>
            <p:nvPr/>
          </p:nvSpPr>
          <p:spPr>
            <a:xfrm>
              <a:off x="3238970"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a:t>Monitoring AI</a:t>
              </a:r>
              <a:endParaRPr lang="en-US" sz="2300" kern="1200" dirty="0"/>
            </a:p>
          </p:txBody>
        </p:sp>
      </p:grpSp>
      <p:grpSp>
        <p:nvGrpSpPr>
          <p:cNvPr id="13" name="Group 12">
            <a:extLst>
              <a:ext uri="{FF2B5EF4-FFF2-40B4-BE49-F238E27FC236}">
                <a16:creationId xmlns:a16="http://schemas.microsoft.com/office/drawing/2014/main" id="{AB952806-5878-3E7C-CCF5-3EB9321760AC}"/>
              </a:ext>
            </a:extLst>
          </p:cNvPr>
          <p:cNvGrpSpPr/>
          <p:nvPr/>
        </p:nvGrpSpPr>
        <p:grpSpPr>
          <a:xfrm>
            <a:off x="5692388" y="2586771"/>
            <a:ext cx="2230294" cy="2364112"/>
            <a:chOff x="5692388" y="2586771"/>
            <a:chExt cx="2230294" cy="2364112"/>
          </a:xfrm>
        </p:grpSpPr>
        <p:sp>
          <p:nvSpPr>
            <p:cNvPr id="10" name="Rectangle: Rounded Corners 9" descr="Robber with solid fill">
              <a:extLst>
                <a:ext uri="{FF2B5EF4-FFF2-40B4-BE49-F238E27FC236}">
                  <a16:creationId xmlns:a16="http://schemas.microsoft.com/office/drawing/2014/main" id="{298E3D03-B257-1FA6-45E8-19BCA3E9A37F}"/>
                </a:ext>
              </a:extLst>
            </p:cNvPr>
            <p:cNvSpPr/>
            <p:nvPr/>
          </p:nvSpPr>
          <p:spPr>
            <a:xfrm>
              <a:off x="5692388" y="2586771"/>
              <a:ext cx="2230294" cy="1536672"/>
            </a:xfrm>
            <a:prstGeom prst="roundRect">
              <a:avLst/>
            </a:prstGeom>
            <a:blipFill dpi="0" rotWithShape="1">
              <a:blip>
                <a:extLst>
                  <a:ext uri="{96DAC541-7B7A-43D3-8B79-37D633B846F1}">
                    <asvg:svgBlip xmlns:asvg="http://schemas.microsoft.com/office/drawing/2016/SVG/main" r:embed="rId5"/>
                  </a:ext>
                </a:extLst>
              </a:blip>
              <a:srcRect/>
              <a:stretch>
                <a:fillRect l="20000" r="20000"/>
              </a:stretch>
            </a:blip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E417F0D5-F782-7E03-7143-86E915B7F9FB}"/>
                </a:ext>
              </a:extLst>
            </p:cNvPr>
            <p:cNvSpPr/>
            <p:nvPr/>
          </p:nvSpPr>
          <p:spPr>
            <a:xfrm>
              <a:off x="5692388" y="4123444"/>
              <a:ext cx="2230294" cy="827439"/>
            </a:xfrm>
            <a:custGeom>
              <a:avLst/>
              <a:gdLst>
                <a:gd name="connsiteX0" fmla="*/ 0 w 2230294"/>
                <a:gd name="connsiteY0" fmla="*/ 0 h 827439"/>
                <a:gd name="connsiteX1" fmla="*/ 2230294 w 2230294"/>
                <a:gd name="connsiteY1" fmla="*/ 0 h 827439"/>
                <a:gd name="connsiteX2" fmla="*/ 2230294 w 2230294"/>
                <a:gd name="connsiteY2" fmla="*/ 827439 h 827439"/>
                <a:gd name="connsiteX3" fmla="*/ 0 w 2230294"/>
                <a:gd name="connsiteY3" fmla="*/ 827439 h 827439"/>
                <a:gd name="connsiteX4" fmla="*/ 0 w 2230294"/>
                <a:gd name="connsiteY4" fmla="*/ 0 h 82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294" h="827439">
                  <a:moveTo>
                    <a:pt x="0" y="0"/>
                  </a:moveTo>
                  <a:lnTo>
                    <a:pt x="2230294" y="0"/>
                  </a:lnTo>
                  <a:lnTo>
                    <a:pt x="2230294" y="827439"/>
                  </a:lnTo>
                  <a:lnTo>
                    <a:pt x="0" y="82743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3576" tIns="163576" rIns="163576" bIns="0" numCol="1" spcCol="1270" anchor="t" anchorCtr="0">
              <a:noAutofit/>
            </a:bodyPr>
            <a:lstStyle/>
            <a:p>
              <a:pPr marL="0" lvl="0" indent="0" algn="ctr" defTabSz="1022350">
                <a:lnSpc>
                  <a:spcPct val="90000"/>
                </a:lnSpc>
                <a:spcBef>
                  <a:spcPct val="0"/>
                </a:spcBef>
                <a:spcAft>
                  <a:spcPct val="35000"/>
                </a:spcAft>
                <a:buNone/>
              </a:pPr>
              <a:r>
                <a:rPr lang="en-US" sz="2300" kern="1200" dirty="0"/>
                <a:t>Adversarial robustness</a:t>
              </a:r>
            </a:p>
          </p:txBody>
        </p:sp>
      </p:grpSp>
      <p:sp>
        <p:nvSpPr>
          <p:cNvPr id="61" name="Content Placeholder 2">
            <a:extLst>
              <a:ext uri="{FF2B5EF4-FFF2-40B4-BE49-F238E27FC236}">
                <a16:creationId xmlns:a16="http://schemas.microsoft.com/office/drawing/2014/main" id="{6E06575D-D99E-9B39-CE22-93223F05A9ED}"/>
              </a:ext>
            </a:extLst>
          </p:cNvPr>
          <p:cNvSpPr txBox="1">
            <a:spLocks/>
          </p:cNvSpPr>
          <p:nvPr/>
        </p:nvSpPr>
        <p:spPr>
          <a:xfrm>
            <a:off x="785553" y="4989472"/>
            <a:ext cx="3329247" cy="150340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000" dirty="0"/>
              <a:t>How should this be ensured?</a:t>
            </a:r>
          </a:p>
          <a:p>
            <a:pPr lvl="1"/>
            <a:r>
              <a:rPr lang="en-US" sz="1700" dirty="0"/>
              <a:t>Corporate self-regulation</a:t>
            </a:r>
          </a:p>
          <a:p>
            <a:pPr lvl="1"/>
            <a:r>
              <a:rPr lang="en-US" sz="1700" dirty="0"/>
              <a:t>Private watchdogs</a:t>
            </a:r>
          </a:p>
          <a:p>
            <a:pPr lvl="1"/>
            <a:r>
              <a:rPr lang="en-US" sz="1700" dirty="0"/>
              <a:t>Government action</a:t>
            </a:r>
          </a:p>
          <a:p>
            <a:pPr lvl="1"/>
            <a:r>
              <a:rPr lang="en-US" sz="1700" dirty="0"/>
              <a:t>International treaties</a:t>
            </a:r>
            <a:endParaRPr lang="en-US" sz="2000" dirty="0"/>
          </a:p>
          <a:p>
            <a:endParaRPr lang="en-US" sz="1900" dirty="0"/>
          </a:p>
        </p:txBody>
      </p:sp>
      <p:sp>
        <p:nvSpPr>
          <p:cNvPr id="5" name="TextBox 4">
            <a:extLst>
              <a:ext uri="{FF2B5EF4-FFF2-40B4-BE49-F238E27FC236}">
                <a16:creationId xmlns:a16="http://schemas.microsoft.com/office/drawing/2014/main" id="{464C999A-A9DE-BDB3-F5A8-940348634F86}"/>
              </a:ext>
            </a:extLst>
          </p:cNvPr>
          <p:cNvSpPr txBox="1"/>
          <p:nvPr/>
        </p:nvSpPr>
        <p:spPr>
          <a:xfrm>
            <a:off x="4919056" y="5279508"/>
            <a:ext cx="3439391" cy="92333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marL="0" indent="0">
              <a:buFont typeface="Arial" panose="020B0604020202020204" pitchFamily="34" charset="0"/>
              <a:buNone/>
            </a:pPr>
            <a:r>
              <a:rPr lang="en-US" dirty="0"/>
              <a:t>Is it reasonable to assume that a superintelligent AI can get around being tested and monitored?</a:t>
            </a:r>
          </a:p>
        </p:txBody>
      </p:sp>
    </p:spTree>
    <p:extLst>
      <p:ext uri="{BB962C8B-B14F-4D97-AF65-F5344CB8AC3E}">
        <p14:creationId xmlns:p14="http://schemas.microsoft.com/office/powerpoint/2010/main" val="215379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FFE9-6106-099C-4A59-121058D455DB}"/>
              </a:ext>
            </a:extLst>
          </p:cNvPr>
          <p:cNvSpPr>
            <a:spLocks noGrp="1"/>
          </p:cNvSpPr>
          <p:nvPr>
            <p:ph type="title"/>
          </p:nvPr>
        </p:nvSpPr>
        <p:spPr>
          <a:xfrm>
            <a:off x="410261" y="212922"/>
            <a:ext cx="5234940" cy="970031"/>
          </a:xfrm>
        </p:spPr>
        <p:txBody>
          <a:bodyPr anchor="ctr">
            <a:normAutofit/>
          </a:bodyPr>
          <a:lstStyle/>
          <a:p>
            <a:r>
              <a:rPr lang="en-US" sz="4000" dirty="0"/>
              <a:t>AI Safety vs Optimizers</a:t>
            </a:r>
          </a:p>
        </p:txBody>
      </p:sp>
      <p:sp>
        <p:nvSpPr>
          <p:cNvPr id="3" name="Content Placeholder 2">
            <a:extLst>
              <a:ext uri="{FF2B5EF4-FFF2-40B4-BE49-F238E27FC236}">
                <a16:creationId xmlns:a16="http://schemas.microsoft.com/office/drawing/2014/main" id="{684F66F8-536B-6DB4-2048-E5BBE78484C1}"/>
              </a:ext>
            </a:extLst>
          </p:cNvPr>
          <p:cNvSpPr>
            <a:spLocks noGrp="1"/>
          </p:cNvSpPr>
          <p:nvPr>
            <p:ph idx="1"/>
          </p:nvPr>
        </p:nvSpPr>
        <p:spPr>
          <a:xfrm>
            <a:off x="452461" y="1109327"/>
            <a:ext cx="4531893" cy="2047316"/>
          </a:xfrm>
        </p:spPr>
        <p:txBody>
          <a:bodyPr>
            <a:normAutofit fontScale="47500" lnSpcReduction="20000"/>
          </a:bodyPr>
          <a:lstStyle/>
          <a:p>
            <a:pPr marL="0" indent="0">
              <a:buNone/>
            </a:pPr>
            <a:r>
              <a:rPr lang="en-US" dirty="0"/>
              <a:t>Intelligent Agents are “optimizers!” </a:t>
            </a:r>
          </a:p>
          <a:p>
            <a:r>
              <a:rPr lang="en-US" b="1" dirty="0"/>
              <a:t>Goal/reward alignment</a:t>
            </a:r>
            <a:r>
              <a:rPr lang="en-US" dirty="0"/>
              <a:t>: How do we specify a robust objective function? Whose objectives are used?</a:t>
            </a:r>
          </a:p>
          <a:p>
            <a:r>
              <a:rPr lang="en-US" b="1" dirty="0"/>
              <a:t>Reward hacking:  </a:t>
            </a:r>
            <a:r>
              <a:rPr lang="en-US" dirty="0"/>
              <a:t>The AI learns to exploit unintended side effects to get a high “score” without solving the objective. AI needs to follow social norms.</a:t>
            </a:r>
          </a:p>
          <a:p>
            <a:r>
              <a:rPr lang="en-US" b="1" dirty="0"/>
              <a:t>Instrumental convergence</a:t>
            </a:r>
            <a:r>
              <a:rPr lang="en-US" dirty="0"/>
              <a:t>: All intelligent agents will pursue</a:t>
            </a:r>
            <a:r>
              <a:rPr lang="en-US" b="1" dirty="0"/>
              <a:t> </a:t>
            </a:r>
            <a:r>
              <a:rPr lang="en-US" dirty="0"/>
              <a:t>common subgoals like the need for more power to get better at reaching its objectives. How will this need be balanced with human’s needs?</a:t>
            </a:r>
          </a:p>
        </p:txBody>
      </p:sp>
      <p:pic>
        <p:nvPicPr>
          <p:cNvPr id="1026" name="Picture 2">
            <a:extLst>
              <a:ext uri="{FF2B5EF4-FFF2-40B4-BE49-F238E27FC236}">
                <a16:creationId xmlns:a16="http://schemas.microsoft.com/office/drawing/2014/main" id="{4F4F0D65-13DB-45F0-EEA1-6EED9D807C62}"/>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68" r="31129"/>
          <a:stretch/>
        </p:blipFill>
        <p:spPr bwMode="auto">
          <a:xfrm>
            <a:off x="5038495" y="10"/>
            <a:ext cx="44825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6467FEC-2B8B-FAEB-B8C4-86F695AB9DAE}"/>
              </a:ext>
              <a:ext uri="{C183D7F6-B498-43B3-948B-1728B52AA6E4}">
                <adec:decorative xmlns:adec="http://schemas.microsoft.com/office/drawing/2017/decorative" val="1"/>
              </a:ext>
            </a:extLst>
          </p:cNvPr>
          <p:cNvSpPr txBox="1"/>
          <p:nvPr/>
        </p:nvSpPr>
        <p:spPr>
          <a:xfrm>
            <a:off x="5486400" y="6581001"/>
            <a:ext cx="3790653" cy="276999"/>
          </a:xfrm>
          <a:prstGeom prst="rect">
            <a:avLst/>
          </a:prstGeom>
          <a:noFill/>
        </p:spPr>
        <p:txBody>
          <a:bodyPr wrap="none" rtlCol="0">
            <a:spAutoFit/>
          </a:bodyPr>
          <a:lstStyle/>
          <a:p>
            <a:r>
              <a:rPr lang="en-US" sz="1200" dirty="0">
                <a:solidFill>
                  <a:schemeClr val="bg1"/>
                </a:solidFill>
              </a:rPr>
              <a:t>Credit: Terminator 3: Rise of the Machines. Warner Bros.</a:t>
            </a:r>
          </a:p>
        </p:txBody>
      </p:sp>
      <p:grpSp>
        <p:nvGrpSpPr>
          <p:cNvPr id="5" name="Group 4">
            <a:extLst>
              <a:ext uri="{FF2B5EF4-FFF2-40B4-BE49-F238E27FC236}">
                <a16:creationId xmlns:a16="http://schemas.microsoft.com/office/drawing/2014/main" id="{593AD3FD-5A6F-6732-7C91-B1204BC0D035}"/>
              </a:ext>
              <a:ext uri="{C183D7F6-B498-43B3-948B-1728B52AA6E4}">
                <adec:decorative xmlns:adec="http://schemas.microsoft.com/office/drawing/2017/decorative" val="1"/>
              </a:ext>
            </a:extLst>
          </p:cNvPr>
          <p:cNvGrpSpPr/>
          <p:nvPr/>
        </p:nvGrpSpPr>
        <p:grpSpPr>
          <a:xfrm>
            <a:off x="861286" y="3261510"/>
            <a:ext cx="3978073" cy="3108441"/>
            <a:chOff x="982142" y="615149"/>
            <a:chExt cx="7733476" cy="6102683"/>
          </a:xfrm>
        </p:grpSpPr>
        <p:sp>
          <p:nvSpPr>
            <p:cNvPr id="6" name="Rectangle 5">
              <a:extLst>
                <a:ext uri="{FF2B5EF4-FFF2-40B4-BE49-F238E27FC236}">
                  <a16:creationId xmlns:a16="http://schemas.microsoft.com/office/drawing/2014/main" id="{C550D55D-9F32-D75C-433F-6FD2CCBE6AC8}"/>
                </a:ext>
              </a:extLst>
            </p:cNvPr>
            <p:cNvSpPr/>
            <p:nvPr/>
          </p:nvSpPr>
          <p:spPr>
            <a:xfrm>
              <a:off x="2895598" y="1524000"/>
              <a:ext cx="2617045" cy="1828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a:t>Intelligent</a:t>
              </a:r>
              <a:r>
                <a:rPr lang="en-US" dirty="0"/>
                <a:t> </a:t>
              </a:r>
              <a:r>
                <a:rPr lang="en-US" b="1" dirty="0"/>
                <a:t>Agent</a:t>
              </a:r>
              <a:endParaRPr lang="en-US" sz="500" b="1" dirty="0"/>
            </a:p>
          </p:txBody>
        </p:sp>
        <p:pic>
          <p:nvPicPr>
            <p:cNvPr id="7" name="Graphic 6" descr="Group with solid fill">
              <a:extLst>
                <a:ext uri="{FF2B5EF4-FFF2-40B4-BE49-F238E27FC236}">
                  <a16:creationId xmlns:a16="http://schemas.microsoft.com/office/drawing/2014/main" id="{5389ADA1-C740-215D-A420-2283491FF9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34484" y="5239409"/>
              <a:ext cx="1313791" cy="1313791"/>
            </a:xfrm>
            <a:prstGeom prst="rect">
              <a:avLst/>
            </a:prstGeom>
          </p:spPr>
        </p:pic>
        <p:pic>
          <p:nvPicPr>
            <p:cNvPr id="8" name="Graphic 7" descr="Woman Shrugging with solid fill">
              <a:extLst>
                <a:ext uri="{FF2B5EF4-FFF2-40B4-BE49-F238E27FC236}">
                  <a16:creationId xmlns:a16="http://schemas.microsoft.com/office/drawing/2014/main" id="{86D582CC-4605-7113-9E4C-175A7E6992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344097"/>
              <a:ext cx="914400" cy="914400"/>
            </a:xfrm>
            <a:prstGeom prst="rect">
              <a:avLst/>
            </a:prstGeom>
          </p:spPr>
        </p:pic>
        <p:sp>
          <p:nvSpPr>
            <p:cNvPr id="9" name="Arrow: Right 8">
              <a:extLst>
                <a:ext uri="{FF2B5EF4-FFF2-40B4-BE49-F238E27FC236}">
                  <a16:creationId xmlns:a16="http://schemas.microsoft.com/office/drawing/2014/main" id="{281FB642-A55C-67D8-C7D9-7F44D049FB3D}"/>
                </a:ext>
              </a:extLst>
            </p:cNvPr>
            <p:cNvSpPr/>
            <p:nvPr/>
          </p:nvSpPr>
          <p:spPr>
            <a:xfrm rot="1606142">
              <a:off x="5122675" y="2638809"/>
              <a:ext cx="989109" cy="487499"/>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00"/>
            </a:p>
          </p:txBody>
        </p:sp>
        <p:sp>
          <p:nvSpPr>
            <p:cNvPr id="10" name="Arrow: Right 9">
              <a:extLst>
                <a:ext uri="{FF2B5EF4-FFF2-40B4-BE49-F238E27FC236}">
                  <a16:creationId xmlns:a16="http://schemas.microsoft.com/office/drawing/2014/main" id="{A4CA3A75-9214-7EE3-BD2C-E829EE0579DE}"/>
                </a:ext>
              </a:extLst>
            </p:cNvPr>
            <p:cNvSpPr/>
            <p:nvPr/>
          </p:nvSpPr>
          <p:spPr>
            <a:xfrm rot="10060878">
              <a:off x="5210594" y="1654724"/>
              <a:ext cx="941037" cy="470488"/>
            </a:xfrm>
            <a:prstGeom prst="rightArrow">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00"/>
            </a:p>
          </p:txBody>
        </p:sp>
        <p:sp>
          <p:nvSpPr>
            <p:cNvPr id="11" name="TextBox 10">
              <a:extLst>
                <a:ext uri="{FF2B5EF4-FFF2-40B4-BE49-F238E27FC236}">
                  <a16:creationId xmlns:a16="http://schemas.microsoft.com/office/drawing/2014/main" id="{6B4CE341-C122-42D6-80D0-CEB1451506A8}"/>
                </a:ext>
              </a:extLst>
            </p:cNvPr>
            <p:cNvSpPr txBox="1"/>
            <p:nvPr/>
          </p:nvSpPr>
          <p:spPr>
            <a:xfrm>
              <a:off x="6151761" y="2146045"/>
              <a:ext cx="851367" cy="498504"/>
            </a:xfrm>
            <a:prstGeom prst="rect">
              <a:avLst/>
            </a:prstGeom>
            <a:noFill/>
          </p:spPr>
          <p:txBody>
            <a:bodyPr wrap="none" rtlCol="0">
              <a:spAutoFit/>
            </a:bodyPr>
            <a:lstStyle/>
            <a:p>
              <a:r>
                <a:rPr lang="en-US" sz="1000" dirty="0">
                  <a:solidFill>
                    <a:schemeClr val="accent6"/>
                  </a:solidFill>
                </a:rPr>
                <a:t>User</a:t>
              </a:r>
            </a:p>
          </p:txBody>
        </p:sp>
        <p:sp>
          <p:nvSpPr>
            <p:cNvPr id="12" name="Thought Bubble: Cloud 11">
              <a:extLst>
                <a:ext uri="{FF2B5EF4-FFF2-40B4-BE49-F238E27FC236}">
                  <a16:creationId xmlns:a16="http://schemas.microsoft.com/office/drawing/2014/main" id="{ECB88D9B-06B8-AEE4-5446-A34AE175FF13}"/>
                </a:ext>
              </a:extLst>
            </p:cNvPr>
            <p:cNvSpPr/>
            <p:nvPr/>
          </p:nvSpPr>
          <p:spPr>
            <a:xfrm>
              <a:off x="982142" y="4771877"/>
              <a:ext cx="1922354" cy="685791"/>
            </a:xfrm>
            <a:prstGeom prst="cloudCallout">
              <a:avLst>
                <a:gd name="adj1" fmla="val 38185"/>
                <a:gd name="adj2" fmla="val 649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Goals</a:t>
              </a:r>
            </a:p>
          </p:txBody>
        </p:sp>
        <p:sp>
          <p:nvSpPr>
            <p:cNvPr id="13" name="Arrow: Right 12">
              <a:extLst>
                <a:ext uri="{FF2B5EF4-FFF2-40B4-BE49-F238E27FC236}">
                  <a16:creationId xmlns:a16="http://schemas.microsoft.com/office/drawing/2014/main" id="{665C4A83-53D1-A166-C215-B418750632E5}"/>
                </a:ext>
              </a:extLst>
            </p:cNvPr>
            <p:cNvSpPr/>
            <p:nvPr/>
          </p:nvSpPr>
          <p:spPr>
            <a:xfrm rot="17007124">
              <a:off x="2542930" y="4154810"/>
              <a:ext cx="1897008" cy="56203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sp>
          <p:nvSpPr>
            <p:cNvPr id="15" name="Arrow: Right 14">
              <a:extLst>
                <a:ext uri="{FF2B5EF4-FFF2-40B4-BE49-F238E27FC236}">
                  <a16:creationId xmlns:a16="http://schemas.microsoft.com/office/drawing/2014/main" id="{9DD3CB4A-9A77-6873-649A-AE9D009B1C74}"/>
                </a:ext>
              </a:extLst>
            </p:cNvPr>
            <p:cNvSpPr/>
            <p:nvPr/>
          </p:nvSpPr>
          <p:spPr>
            <a:xfrm rot="14238213">
              <a:off x="3682967" y="3999328"/>
              <a:ext cx="1840786" cy="58517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sp>
          <p:nvSpPr>
            <p:cNvPr id="16" name="Arrow: Right 15">
              <a:extLst>
                <a:ext uri="{FF2B5EF4-FFF2-40B4-BE49-F238E27FC236}">
                  <a16:creationId xmlns:a16="http://schemas.microsoft.com/office/drawing/2014/main" id="{C6FEB165-0BEA-1E73-3397-68E13FB8582F}"/>
                </a:ext>
              </a:extLst>
            </p:cNvPr>
            <p:cNvSpPr/>
            <p:nvPr/>
          </p:nvSpPr>
          <p:spPr>
            <a:xfrm>
              <a:off x="3848274" y="5705967"/>
              <a:ext cx="725217" cy="380609"/>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1000"/>
            </a:p>
          </p:txBody>
        </p:sp>
        <p:sp>
          <p:nvSpPr>
            <p:cNvPr id="17" name="TextBox 16">
              <a:extLst>
                <a:ext uri="{FF2B5EF4-FFF2-40B4-BE49-F238E27FC236}">
                  <a16:creationId xmlns:a16="http://schemas.microsoft.com/office/drawing/2014/main" id="{6EF93A49-024A-3F04-1071-78B79FEC0F2D}"/>
                </a:ext>
              </a:extLst>
            </p:cNvPr>
            <p:cNvSpPr txBox="1"/>
            <p:nvPr/>
          </p:nvSpPr>
          <p:spPr>
            <a:xfrm>
              <a:off x="3758318" y="5372658"/>
              <a:ext cx="982252" cy="498504"/>
            </a:xfrm>
            <a:prstGeom prst="rect">
              <a:avLst/>
            </a:prstGeom>
            <a:noFill/>
          </p:spPr>
          <p:txBody>
            <a:bodyPr wrap="none" rtlCol="0">
              <a:spAutoFit/>
            </a:bodyPr>
            <a:lstStyle/>
            <a:p>
              <a:r>
                <a:rPr lang="en-US" sz="1000" dirty="0">
                  <a:solidFill>
                    <a:schemeClr val="accent2"/>
                  </a:solidFill>
                </a:rPr>
                <a:t>select</a:t>
              </a:r>
            </a:p>
          </p:txBody>
        </p:sp>
        <p:sp>
          <p:nvSpPr>
            <p:cNvPr id="18" name="TextBox 17">
              <a:extLst>
                <a:ext uri="{FF2B5EF4-FFF2-40B4-BE49-F238E27FC236}">
                  <a16:creationId xmlns:a16="http://schemas.microsoft.com/office/drawing/2014/main" id="{5760F0DF-320F-F25C-8687-ABFD7EE1EA03}"/>
                </a:ext>
              </a:extLst>
            </p:cNvPr>
            <p:cNvSpPr txBox="1"/>
            <p:nvPr/>
          </p:nvSpPr>
          <p:spPr>
            <a:xfrm rot="3553702">
              <a:off x="4555472" y="3918896"/>
              <a:ext cx="866085" cy="493619"/>
            </a:xfrm>
            <a:prstGeom prst="rect">
              <a:avLst/>
            </a:prstGeom>
            <a:noFill/>
          </p:spPr>
          <p:txBody>
            <a:bodyPr wrap="square" rtlCol="0">
              <a:spAutoFit/>
            </a:bodyPr>
            <a:lstStyle/>
            <a:p>
              <a:r>
                <a:rPr lang="en-US" sz="1000" dirty="0">
                  <a:solidFill>
                    <a:schemeClr val="accent2"/>
                  </a:solidFill>
                </a:rPr>
                <a:t>train</a:t>
              </a:r>
            </a:p>
          </p:txBody>
        </p:sp>
        <p:sp>
          <p:nvSpPr>
            <p:cNvPr id="19" name="Scroll: Vertical 18">
              <a:extLst>
                <a:ext uri="{FF2B5EF4-FFF2-40B4-BE49-F238E27FC236}">
                  <a16:creationId xmlns:a16="http://schemas.microsoft.com/office/drawing/2014/main" id="{58ABD6A5-148D-9B36-C6B0-577BFD2134DA}"/>
                </a:ext>
              </a:extLst>
            </p:cNvPr>
            <p:cNvSpPr/>
            <p:nvPr/>
          </p:nvSpPr>
          <p:spPr>
            <a:xfrm>
              <a:off x="1511734" y="990599"/>
              <a:ext cx="1864715" cy="1478224"/>
            </a:xfrm>
            <a:prstGeom prst="verticalScroll">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050" dirty="0">
                  <a:solidFill>
                    <a:schemeClr val="bg1"/>
                  </a:solidFill>
                </a:rPr>
                <a:t>Objectives and</a:t>
              </a:r>
              <a:br>
                <a:rPr lang="en-US" sz="1050" dirty="0">
                  <a:solidFill>
                    <a:schemeClr val="bg1"/>
                  </a:solidFill>
                </a:rPr>
              </a:br>
              <a:r>
                <a:rPr lang="en-US" sz="1050" dirty="0">
                  <a:solidFill>
                    <a:schemeClr val="bg1"/>
                  </a:solidFill>
                </a:rPr>
                <a:t>Rules</a:t>
              </a:r>
            </a:p>
          </p:txBody>
        </p:sp>
        <p:sp>
          <p:nvSpPr>
            <p:cNvPr id="20" name="TextBox 19">
              <a:extLst>
                <a:ext uri="{FF2B5EF4-FFF2-40B4-BE49-F238E27FC236}">
                  <a16:creationId xmlns:a16="http://schemas.microsoft.com/office/drawing/2014/main" id="{3EC60E39-63F9-3415-A4FC-05E16ECFEA0C}"/>
                </a:ext>
              </a:extLst>
            </p:cNvPr>
            <p:cNvSpPr txBox="1"/>
            <p:nvPr/>
          </p:nvSpPr>
          <p:spPr>
            <a:xfrm>
              <a:off x="1713590" y="6234436"/>
              <a:ext cx="2490530" cy="483396"/>
            </a:xfrm>
            <a:prstGeom prst="rect">
              <a:avLst/>
            </a:prstGeom>
            <a:noFill/>
          </p:spPr>
          <p:txBody>
            <a:bodyPr wrap="none" rtlCol="0">
              <a:spAutoFit/>
            </a:bodyPr>
            <a:lstStyle/>
            <a:p>
              <a:r>
                <a:rPr lang="en-US" sz="1000" dirty="0">
                  <a:solidFill>
                    <a:schemeClr val="accent2"/>
                  </a:solidFill>
                </a:rPr>
                <a:t>Developers / Owners</a:t>
              </a:r>
            </a:p>
          </p:txBody>
        </p:sp>
        <p:sp>
          <p:nvSpPr>
            <p:cNvPr id="21" name="Thought Bubble: Cloud 20">
              <a:extLst>
                <a:ext uri="{FF2B5EF4-FFF2-40B4-BE49-F238E27FC236}">
                  <a16:creationId xmlns:a16="http://schemas.microsoft.com/office/drawing/2014/main" id="{12AB4813-7874-5DF2-0105-8AE8073AFD28}"/>
                </a:ext>
              </a:extLst>
            </p:cNvPr>
            <p:cNvSpPr/>
            <p:nvPr/>
          </p:nvSpPr>
          <p:spPr>
            <a:xfrm>
              <a:off x="6780486" y="615149"/>
              <a:ext cx="1935132" cy="685791"/>
            </a:xfrm>
            <a:prstGeom prst="cloudCallout">
              <a:avLst>
                <a:gd name="adj1" fmla="val -53096"/>
                <a:gd name="adj2" fmla="val 6594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b="1" dirty="0"/>
                <a:t>Goals</a:t>
              </a:r>
            </a:p>
          </p:txBody>
        </p:sp>
      </p:grpSp>
      <p:sp>
        <p:nvSpPr>
          <p:cNvPr id="26" name="Explosion: 14 Points 25">
            <a:extLst>
              <a:ext uri="{FF2B5EF4-FFF2-40B4-BE49-F238E27FC236}">
                <a16:creationId xmlns:a16="http://schemas.microsoft.com/office/drawing/2014/main" id="{407FDD98-5879-C1FA-9418-4CEB791392FA}"/>
              </a:ext>
              <a:ext uri="{C183D7F6-B498-43B3-948B-1728B52AA6E4}">
                <adec:decorative xmlns:adec="http://schemas.microsoft.com/office/drawing/2017/decorative" val="1"/>
              </a:ext>
            </a:extLst>
          </p:cNvPr>
          <p:cNvSpPr/>
          <p:nvPr/>
        </p:nvSpPr>
        <p:spPr>
          <a:xfrm>
            <a:off x="3189426" y="4436119"/>
            <a:ext cx="1522857" cy="728938"/>
          </a:xfrm>
          <a:prstGeom prst="irregularSeal2">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400" dirty="0"/>
              <a:t>Action</a:t>
            </a:r>
          </a:p>
        </p:txBody>
      </p:sp>
      <p:sp>
        <p:nvSpPr>
          <p:cNvPr id="34" name="TextBox 33">
            <a:extLst>
              <a:ext uri="{FF2B5EF4-FFF2-40B4-BE49-F238E27FC236}">
                <a16:creationId xmlns:a16="http://schemas.microsoft.com/office/drawing/2014/main" id="{FEEFA7D2-4980-A89D-7113-860B5CE87DBF}"/>
              </a:ext>
              <a:ext uri="{C183D7F6-B498-43B3-948B-1728B52AA6E4}">
                <adec:decorative xmlns:adec="http://schemas.microsoft.com/office/drawing/2017/decorative" val="1"/>
              </a:ext>
            </a:extLst>
          </p:cNvPr>
          <p:cNvSpPr txBox="1"/>
          <p:nvPr/>
        </p:nvSpPr>
        <p:spPr>
          <a:xfrm rot="17090661">
            <a:off x="1650860" y="5055104"/>
            <a:ext cx="629536" cy="246221"/>
          </a:xfrm>
          <a:prstGeom prst="rect">
            <a:avLst/>
          </a:prstGeom>
          <a:noFill/>
        </p:spPr>
        <p:txBody>
          <a:bodyPr wrap="square" rtlCol="0">
            <a:spAutoFit/>
          </a:bodyPr>
          <a:lstStyle/>
          <a:p>
            <a:r>
              <a:rPr lang="en-US" sz="1000" dirty="0">
                <a:solidFill>
                  <a:schemeClr val="accent2"/>
                </a:solidFill>
              </a:rPr>
              <a:t>program</a:t>
            </a:r>
          </a:p>
        </p:txBody>
      </p:sp>
      <p:sp>
        <p:nvSpPr>
          <p:cNvPr id="22" name="Rectangle 21" descr="A diagram showing how the AI's owner selects the data to train the AI and program's the AI's Objectives and rules. The user employs the agent.">
            <a:extLst>
              <a:ext uri="{FF2B5EF4-FFF2-40B4-BE49-F238E27FC236}">
                <a16:creationId xmlns:a16="http://schemas.microsoft.com/office/drawing/2014/main" id="{70091104-142C-9CA5-2617-EF35430AF080}"/>
              </a:ext>
              <a:ext uri="{C183D7F6-B498-43B3-948B-1728B52AA6E4}">
                <adec:decorative xmlns:adec="http://schemas.microsoft.com/office/drawing/2017/decorative" val="0"/>
              </a:ext>
            </a:extLst>
          </p:cNvPr>
          <p:cNvSpPr/>
          <p:nvPr/>
        </p:nvSpPr>
        <p:spPr>
          <a:xfrm>
            <a:off x="470456" y="3124200"/>
            <a:ext cx="4482544" cy="33044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lowchart: Magnetic Disk 26">
            <a:extLst>
              <a:ext uri="{FF2B5EF4-FFF2-40B4-BE49-F238E27FC236}">
                <a16:creationId xmlns:a16="http://schemas.microsoft.com/office/drawing/2014/main" id="{328C1C3B-9ED6-FCD5-4BC3-F397DC21D609}"/>
              </a:ext>
            </a:extLst>
          </p:cNvPr>
          <p:cNvSpPr/>
          <p:nvPr/>
        </p:nvSpPr>
        <p:spPr>
          <a:xfrm>
            <a:off x="2802850" y="5630584"/>
            <a:ext cx="705126" cy="629798"/>
          </a:xfrm>
          <a:prstGeom prst="flowChartMagneticDisk">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Data</a:t>
            </a:r>
          </a:p>
        </p:txBody>
      </p:sp>
      <p:sp>
        <p:nvSpPr>
          <p:cNvPr id="28" name="Cloud 27" descr="Reward hacking is possible if the objectives are not perfectly specified and have loopholes that can be exploited.">
            <a:extLst>
              <a:ext uri="{FF2B5EF4-FFF2-40B4-BE49-F238E27FC236}">
                <a16:creationId xmlns:a16="http://schemas.microsoft.com/office/drawing/2014/main" id="{29B2F128-C03D-94A3-871C-E6E37259A20B}"/>
              </a:ext>
              <a:ext uri="{C183D7F6-B498-43B3-948B-1728B52AA6E4}">
                <adec:decorative xmlns:adec="http://schemas.microsoft.com/office/drawing/2017/decorative" val="0"/>
              </a:ext>
            </a:extLst>
          </p:cNvPr>
          <p:cNvSpPr/>
          <p:nvPr/>
        </p:nvSpPr>
        <p:spPr>
          <a:xfrm>
            <a:off x="490030" y="3772346"/>
            <a:ext cx="925683" cy="4499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Reward hacking</a:t>
            </a:r>
          </a:p>
        </p:txBody>
      </p:sp>
      <p:sp>
        <p:nvSpPr>
          <p:cNvPr id="29" name="Cloud 28" descr="Instrumental convergence affects the AI agent's objectives and rules.">
            <a:extLst>
              <a:ext uri="{FF2B5EF4-FFF2-40B4-BE49-F238E27FC236}">
                <a16:creationId xmlns:a16="http://schemas.microsoft.com/office/drawing/2014/main" id="{9F8D2FCC-C082-D3CC-E229-A56B5860C260}"/>
              </a:ext>
              <a:ext uri="{C183D7F6-B498-43B3-948B-1728B52AA6E4}">
                <adec:decorative xmlns:adec="http://schemas.microsoft.com/office/drawing/2017/decorative" val="0"/>
              </a:ext>
            </a:extLst>
          </p:cNvPr>
          <p:cNvSpPr/>
          <p:nvPr/>
        </p:nvSpPr>
        <p:spPr>
          <a:xfrm>
            <a:off x="533400" y="3200400"/>
            <a:ext cx="1346198" cy="386909"/>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Instrumental convergence</a:t>
            </a:r>
          </a:p>
        </p:txBody>
      </p:sp>
      <p:grpSp>
        <p:nvGrpSpPr>
          <p:cNvPr id="35" name="Group 34" descr="Arrows showing the needed allignment between the AI owner's goals, the objectives of the AI agent and the user's goals.">
            <a:extLst>
              <a:ext uri="{FF2B5EF4-FFF2-40B4-BE49-F238E27FC236}">
                <a16:creationId xmlns:a16="http://schemas.microsoft.com/office/drawing/2014/main" id="{3139914C-40D2-A1FB-CB0D-2D58B145CCC8}"/>
              </a:ext>
            </a:extLst>
          </p:cNvPr>
          <p:cNvGrpSpPr/>
          <p:nvPr/>
        </p:nvGrpSpPr>
        <p:grpSpPr>
          <a:xfrm>
            <a:off x="1049487" y="3257427"/>
            <a:ext cx="3857535" cy="2188084"/>
            <a:chOff x="1049487" y="3257427"/>
            <a:chExt cx="3857535" cy="2188084"/>
          </a:xfrm>
        </p:grpSpPr>
        <p:cxnSp>
          <p:nvCxnSpPr>
            <p:cNvPr id="24" name="Straight Connector 23">
              <a:extLst>
                <a:ext uri="{FF2B5EF4-FFF2-40B4-BE49-F238E27FC236}">
                  <a16:creationId xmlns:a16="http://schemas.microsoft.com/office/drawing/2014/main" id="{94566AF4-60EB-F8EF-3B84-66C3F67BCC40}"/>
                </a:ext>
                <a:ext uri="{C183D7F6-B498-43B3-948B-1728B52AA6E4}">
                  <adec:decorative xmlns:adec="http://schemas.microsoft.com/office/drawing/2017/decorative" val="1"/>
                </a:ext>
              </a:extLst>
            </p:cNvPr>
            <p:cNvCxnSpPr>
              <a:cxnSpLocks/>
            </p:cNvCxnSpPr>
            <p:nvPr/>
          </p:nvCxnSpPr>
          <p:spPr>
            <a:xfrm flipV="1">
              <a:off x="1272944" y="4216821"/>
              <a:ext cx="153113" cy="1228690"/>
            </a:xfrm>
            <a:prstGeom prst="line">
              <a:avLst/>
            </a:prstGeom>
            <a:ln>
              <a:headEnd type="arrow"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0B05EC02-0490-D691-CA0E-7067963BE1AB}"/>
                </a:ext>
                <a:ext uri="{C183D7F6-B498-43B3-948B-1728B52AA6E4}">
                  <adec:decorative xmlns:adec="http://schemas.microsoft.com/office/drawing/2017/decorative" val="1"/>
                </a:ext>
              </a:extLst>
            </p:cNvPr>
            <p:cNvCxnSpPr>
              <a:cxnSpLocks/>
              <a:endCxn id="21" idx="0"/>
            </p:cNvCxnSpPr>
            <p:nvPr/>
          </p:nvCxnSpPr>
          <p:spPr>
            <a:xfrm flipV="1">
              <a:off x="1997710" y="3436166"/>
              <a:ext cx="1849312" cy="199044"/>
            </a:xfrm>
            <a:prstGeom prst="line">
              <a:avLst/>
            </a:prstGeom>
            <a:ln>
              <a:headEnd type="arrow" w="med" len="med"/>
              <a:tailEnd type="arrow" w="med" len="med"/>
            </a:ln>
          </p:spPr>
          <p:style>
            <a:lnRef idx="3">
              <a:schemeClr val="accent1"/>
            </a:lnRef>
            <a:fillRef idx="0">
              <a:schemeClr val="accent1"/>
            </a:fillRef>
            <a:effectRef idx="2">
              <a:schemeClr val="accent1"/>
            </a:effectRef>
            <a:fontRef idx="minor">
              <a:schemeClr val="tx1"/>
            </a:fontRef>
          </p:style>
        </p:cxnSp>
        <p:sp>
          <p:nvSpPr>
            <p:cNvPr id="31" name="TextBox 30">
              <a:extLst>
                <a:ext uri="{FF2B5EF4-FFF2-40B4-BE49-F238E27FC236}">
                  <a16:creationId xmlns:a16="http://schemas.microsoft.com/office/drawing/2014/main" id="{7F04D843-9E70-9738-DF18-C678715897D3}"/>
                </a:ext>
                <a:ext uri="{C183D7F6-B498-43B3-948B-1728B52AA6E4}">
                  <adec:decorative xmlns:adec="http://schemas.microsoft.com/office/drawing/2017/decorative" val="1"/>
                </a:ext>
              </a:extLst>
            </p:cNvPr>
            <p:cNvSpPr txBox="1"/>
            <p:nvPr/>
          </p:nvSpPr>
          <p:spPr>
            <a:xfrm rot="16652417">
              <a:off x="702472" y="4635927"/>
              <a:ext cx="971029" cy="276999"/>
            </a:xfrm>
            <a:prstGeom prst="rect">
              <a:avLst/>
            </a:prstGeom>
            <a:noFill/>
          </p:spPr>
          <p:txBody>
            <a:bodyPr wrap="square" rtlCol="0">
              <a:spAutoFit/>
            </a:bodyPr>
            <a:lstStyle/>
            <a:p>
              <a:r>
                <a:rPr lang="en-US" sz="1200" dirty="0">
                  <a:solidFill>
                    <a:schemeClr val="accent1"/>
                  </a:solidFill>
                </a:rPr>
                <a:t>Alignment?</a:t>
              </a:r>
            </a:p>
          </p:txBody>
        </p:sp>
        <p:sp>
          <p:nvSpPr>
            <p:cNvPr id="32" name="TextBox 31">
              <a:extLst>
                <a:ext uri="{FF2B5EF4-FFF2-40B4-BE49-F238E27FC236}">
                  <a16:creationId xmlns:a16="http://schemas.microsoft.com/office/drawing/2014/main" id="{F9B57C0F-D4EC-297D-B837-A6C1BA97C563}"/>
                </a:ext>
                <a:ext uri="{C183D7F6-B498-43B3-948B-1728B52AA6E4}">
                  <adec:decorative xmlns:adec="http://schemas.microsoft.com/office/drawing/2017/decorative" val="1"/>
                </a:ext>
              </a:extLst>
            </p:cNvPr>
            <p:cNvSpPr txBox="1"/>
            <p:nvPr/>
          </p:nvSpPr>
          <p:spPr>
            <a:xfrm rot="21224789">
              <a:off x="2297919" y="3257427"/>
              <a:ext cx="971029" cy="276999"/>
            </a:xfrm>
            <a:prstGeom prst="rect">
              <a:avLst/>
            </a:prstGeom>
            <a:noFill/>
          </p:spPr>
          <p:txBody>
            <a:bodyPr wrap="square" rtlCol="0">
              <a:spAutoFit/>
            </a:bodyPr>
            <a:lstStyle/>
            <a:p>
              <a:r>
                <a:rPr lang="en-US" sz="1200" dirty="0">
                  <a:solidFill>
                    <a:schemeClr val="accent1"/>
                  </a:solidFill>
                </a:rPr>
                <a:t>Alignment?</a:t>
              </a:r>
            </a:p>
          </p:txBody>
        </p:sp>
        <p:sp>
          <p:nvSpPr>
            <p:cNvPr id="30" name="Explosion: 14 Points 29">
              <a:extLst>
                <a:ext uri="{FF2B5EF4-FFF2-40B4-BE49-F238E27FC236}">
                  <a16:creationId xmlns:a16="http://schemas.microsoft.com/office/drawing/2014/main" id="{9223B8BD-19FE-2366-2FC5-51E643C62D90}"/>
                </a:ext>
              </a:extLst>
            </p:cNvPr>
            <p:cNvSpPr/>
            <p:nvPr/>
          </p:nvSpPr>
          <p:spPr>
            <a:xfrm>
              <a:off x="3828855" y="4256842"/>
              <a:ext cx="1078167" cy="495579"/>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Side effect</a:t>
              </a:r>
            </a:p>
          </p:txBody>
        </p:sp>
      </p:grpSp>
    </p:spTree>
    <p:extLst>
      <p:ext uri="{BB962C8B-B14F-4D97-AF65-F5344CB8AC3E}">
        <p14:creationId xmlns:p14="http://schemas.microsoft.com/office/powerpoint/2010/main" val="426744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P spid="2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6675C-B611-E4FB-5BE5-1E925D5E05BC}"/>
              </a:ext>
            </a:extLst>
          </p:cNvPr>
          <p:cNvSpPr>
            <a:spLocks noGrp="1"/>
          </p:cNvSpPr>
          <p:nvPr>
            <p:ph type="title"/>
          </p:nvPr>
        </p:nvSpPr>
        <p:spPr>
          <a:xfrm>
            <a:off x="628649" y="365126"/>
            <a:ext cx="3856567" cy="1325563"/>
          </a:xfrm>
        </p:spPr>
        <p:txBody>
          <a:bodyPr>
            <a:normAutofit fontScale="90000"/>
          </a:bodyPr>
          <a:lstStyle/>
          <a:p>
            <a:r>
              <a:rPr lang="en-US" dirty="0"/>
              <a:t>Risks of Cognitive Offloading</a:t>
            </a:r>
          </a:p>
        </p:txBody>
      </p:sp>
      <p:sp>
        <p:nvSpPr>
          <p:cNvPr id="3" name="Content Placeholder 2">
            <a:extLst>
              <a:ext uri="{FF2B5EF4-FFF2-40B4-BE49-F238E27FC236}">
                <a16:creationId xmlns:a16="http://schemas.microsoft.com/office/drawing/2014/main" id="{1080680C-BB31-FF7A-11A1-08357D1CB743}"/>
              </a:ext>
            </a:extLst>
          </p:cNvPr>
          <p:cNvSpPr>
            <a:spLocks noGrp="1"/>
          </p:cNvSpPr>
          <p:nvPr>
            <p:ph idx="1"/>
          </p:nvPr>
        </p:nvSpPr>
        <p:spPr>
          <a:xfrm>
            <a:off x="628650" y="2642321"/>
            <a:ext cx="7886700" cy="4054474"/>
          </a:xfrm>
        </p:spPr>
        <p:txBody>
          <a:bodyPr>
            <a:normAutofit fontScale="70000" lnSpcReduction="20000"/>
          </a:bodyPr>
          <a:lstStyle/>
          <a:p>
            <a:pPr marL="0" indent="0">
              <a:lnSpc>
                <a:spcPct val="120000"/>
              </a:lnSpc>
              <a:buNone/>
            </a:pPr>
            <a:r>
              <a:rPr lang="en-US" dirty="0"/>
              <a:t>Overuse of Generative AI for </a:t>
            </a:r>
            <a:r>
              <a:rPr lang="en-US" b="1" dirty="0"/>
              <a:t>cognitive offloading</a:t>
            </a:r>
            <a:r>
              <a:rPr lang="en-US" dirty="0"/>
              <a:t> erodes fundamental critical thinking, problem-solving, and domain-specific expertise. </a:t>
            </a:r>
          </a:p>
          <a:p>
            <a:pPr marL="0" indent="0">
              <a:lnSpc>
                <a:spcPct val="120000"/>
              </a:lnSpc>
              <a:buNone/>
            </a:pPr>
            <a:r>
              <a:rPr lang="en-US" dirty="0"/>
              <a:t>It poses potential risks to humans:</a:t>
            </a:r>
          </a:p>
          <a:p>
            <a:pPr lvl="1">
              <a:lnSpc>
                <a:spcPct val="120000"/>
              </a:lnSpc>
            </a:pPr>
            <a:r>
              <a:rPr lang="en-US" b="1" dirty="0"/>
              <a:t>Deskilling</a:t>
            </a:r>
            <a:r>
              <a:rPr lang="en-US" dirty="0"/>
              <a:t>: Asking (current) AI for decisions leads to lower-quality decisions and erosion of skills.</a:t>
            </a:r>
          </a:p>
          <a:p>
            <a:pPr lvl="1">
              <a:lnSpc>
                <a:spcPct val="120000"/>
              </a:lnSpc>
            </a:pPr>
            <a:r>
              <a:rPr lang="en-US" b="1" dirty="0"/>
              <a:t>Never-skilling</a:t>
            </a:r>
            <a:r>
              <a:rPr lang="en-US" dirty="0"/>
              <a:t>: Students use AI to by-pass learning how to research, build an argument, or develop deep subject knowledge.</a:t>
            </a:r>
          </a:p>
          <a:p>
            <a:pPr lvl="1">
              <a:lnSpc>
                <a:spcPct val="120000"/>
              </a:lnSpc>
            </a:pPr>
            <a:endParaRPr lang="en-US" dirty="0"/>
          </a:p>
          <a:p>
            <a:pPr marL="0" indent="0">
              <a:lnSpc>
                <a:spcPct val="120000"/>
              </a:lnSpc>
              <a:buNone/>
            </a:pPr>
            <a:r>
              <a:rPr lang="en-US" b="1" dirty="0"/>
              <a:t>Directed Co-creation*: </a:t>
            </a:r>
            <a:r>
              <a:rPr lang="en-US" dirty="0"/>
              <a:t>Using AI selectively as a tool where the human structures and controls the interaction with AI can lead to </a:t>
            </a:r>
            <a:r>
              <a:rPr lang="en-US" b="1" dirty="0"/>
              <a:t>upskilling</a:t>
            </a:r>
            <a:r>
              <a:rPr lang="en-US" dirty="0"/>
              <a:t>!</a:t>
            </a:r>
            <a:br>
              <a:rPr lang="en-US" dirty="0"/>
            </a:br>
            <a:endParaRPr lang="en-US" dirty="0"/>
          </a:p>
          <a:p>
            <a:pPr marL="0" indent="0">
              <a:buNone/>
            </a:pPr>
            <a:r>
              <a:rPr lang="en-US" sz="1600" dirty="0"/>
              <a:t>* Randazzo et al, </a:t>
            </a:r>
            <a:r>
              <a:rPr lang="en-US" sz="1600" dirty="0">
                <a:hlinkClick r:id="rId2"/>
              </a:rPr>
              <a:t>Cyborgs, Centaurs and Self-</a:t>
            </a:r>
            <a:r>
              <a:rPr lang="en-US" sz="1600" dirty="0" err="1">
                <a:hlinkClick r:id="rId2"/>
              </a:rPr>
              <a:t>Automators</a:t>
            </a:r>
            <a:r>
              <a:rPr lang="en-US" sz="1600" dirty="0">
                <a:hlinkClick r:id="rId2"/>
              </a:rPr>
              <a:t>: The Three Modes of Human-GenAI Knowledge Work and Their Implications for Skilling and the Future of Expertise</a:t>
            </a:r>
            <a:r>
              <a:rPr lang="en-US" sz="1600" dirty="0"/>
              <a:t>. The Wharton School Research Paper, Harvard Business School Working Paper No. 26-036</a:t>
            </a:r>
          </a:p>
        </p:txBody>
      </p:sp>
      <p:grpSp>
        <p:nvGrpSpPr>
          <p:cNvPr id="6" name="Group 5">
            <a:extLst>
              <a:ext uri="{FF2B5EF4-FFF2-40B4-BE49-F238E27FC236}">
                <a16:creationId xmlns:a16="http://schemas.microsoft.com/office/drawing/2014/main" id="{51B081DA-9A12-2D38-2815-13B860EB6A92}"/>
              </a:ext>
            </a:extLst>
          </p:cNvPr>
          <p:cNvGrpSpPr/>
          <p:nvPr/>
        </p:nvGrpSpPr>
        <p:grpSpPr>
          <a:xfrm>
            <a:off x="4485217" y="141995"/>
            <a:ext cx="4734983" cy="2266950"/>
            <a:chOff x="4485217" y="141995"/>
            <a:chExt cx="4734983" cy="2266950"/>
          </a:xfrm>
        </p:grpSpPr>
        <p:pic>
          <p:nvPicPr>
            <p:cNvPr id="5" name="Picture 4">
              <a:extLst>
                <a:ext uri="{FF2B5EF4-FFF2-40B4-BE49-F238E27FC236}">
                  <a16:creationId xmlns:a16="http://schemas.microsoft.com/office/drawing/2014/main" id="{228F55A0-5B1F-67D9-9DA9-B2FC8B542099}"/>
                </a:ext>
              </a:extLst>
            </p:cNvPr>
            <p:cNvPicPr>
              <a:picLocks noChangeAspect="1"/>
            </p:cNvPicPr>
            <p:nvPr/>
          </p:nvPicPr>
          <p:blipFill>
            <a:blip r:embed="rId3"/>
            <a:stretch>
              <a:fillRect/>
            </a:stretch>
          </p:blipFill>
          <p:spPr>
            <a:xfrm>
              <a:off x="4485217" y="141995"/>
              <a:ext cx="4030133" cy="2266950"/>
            </a:xfrm>
            <a:prstGeom prst="rect">
              <a:avLst/>
            </a:prstGeom>
            <a:ln>
              <a:noFill/>
            </a:ln>
            <a:effectLst>
              <a:softEdge rad="112500"/>
            </a:effectLst>
          </p:spPr>
        </p:pic>
        <p:sp>
          <p:nvSpPr>
            <p:cNvPr id="4" name="TextBox 3">
              <a:extLst>
                <a:ext uri="{FF2B5EF4-FFF2-40B4-BE49-F238E27FC236}">
                  <a16:creationId xmlns:a16="http://schemas.microsoft.com/office/drawing/2014/main" id="{5BB8E86C-9A97-A864-5253-B4EE956DF42D}"/>
                </a:ext>
              </a:extLst>
            </p:cNvPr>
            <p:cNvSpPr txBox="1"/>
            <p:nvPr/>
          </p:nvSpPr>
          <p:spPr>
            <a:xfrm>
              <a:off x="6934200" y="2057400"/>
              <a:ext cx="2286000" cy="261610"/>
            </a:xfrm>
            <a:prstGeom prst="rect">
              <a:avLst/>
            </a:prstGeom>
            <a:noFill/>
          </p:spPr>
          <p:txBody>
            <a:bodyPr wrap="square" rtlCol="0">
              <a:spAutoFit/>
            </a:bodyPr>
            <a:lstStyle/>
            <a:p>
              <a:r>
                <a:rPr lang="en-US" sz="1100" b="1" dirty="0">
                  <a:solidFill>
                    <a:schemeClr val="bg1"/>
                  </a:solidFill>
                </a:rPr>
                <a:t>Ian Handley/ChatGPT</a:t>
              </a:r>
            </a:p>
          </p:txBody>
        </p:sp>
      </p:grpSp>
    </p:spTree>
    <p:extLst>
      <p:ext uri="{BB962C8B-B14F-4D97-AF65-F5344CB8AC3E}">
        <p14:creationId xmlns:p14="http://schemas.microsoft.com/office/powerpoint/2010/main" val="18979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05730-6F5B-FAA0-6001-3900E454E7AA}"/>
              </a:ext>
            </a:extLst>
          </p:cNvPr>
          <p:cNvSpPr>
            <a:spLocks noGrp="1"/>
          </p:cNvSpPr>
          <p:nvPr>
            <p:ph type="title"/>
          </p:nvPr>
        </p:nvSpPr>
        <p:spPr>
          <a:xfrm>
            <a:off x="5867400" y="990600"/>
            <a:ext cx="2526926" cy="630209"/>
          </a:xfrm>
        </p:spPr>
        <p:txBody>
          <a:bodyPr anchor="b">
            <a:normAutofit/>
          </a:bodyPr>
          <a:lstStyle/>
          <a:p>
            <a:r>
              <a:rPr lang="en-US" sz="2800" dirty="0"/>
              <a:t>Outlook</a:t>
            </a:r>
          </a:p>
        </p:txBody>
      </p:sp>
      <p:pic>
        <p:nvPicPr>
          <p:cNvPr id="5" name="Picture 4">
            <a:extLst>
              <a:ext uri="{FF2B5EF4-FFF2-40B4-BE49-F238E27FC236}">
                <a16:creationId xmlns:a16="http://schemas.microsoft.com/office/drawing/2014/main" id="{4F225A14-A0D1-596B-4268-00E52D31AD90}"/>
              </a:ext>
              <a:ext uri="{C183D7F6-B498-43B3-948B-1728B52AA6E4}">
                <adec:decorative xmlns:adec="http://schemas.microsoft.com/office/drawing/2017/decorative" val="1"/>
              </a:ext>
            </a:extLst>
          </p:cNvPr>
          <p:cNvPicPr>
            <a:picLocks noChangeAspect="1"/>
          </p:cNvPicPr>
          <p:nvPr/>
        </p:nvPicPr>
        <p:blipFill rotWithShape="1">
          <a:blip r:embed="rId2"/>
          <a:srcRect l="19946" r="18025" b="1"/>
          <a:stretch>
            <a:fillRect/>
          </a:stretch>
        </p:blipFill>
        <p:spPr>
          <a:xfrm>
            <a:off x="20" y="10"/>
            <a:ext cx="5542677" cy="6857990"/>
          </a:xfrm>
          <a:prstGeom prst="rect">
            <a:avLst/>
          </a:prstGeom>
        </p:spPr>
      </p:pic>
      <p:sp>
        <p:nvSpPr>
          <p:cNvPr id="10" name="Rectangle 9">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B74BA019-F6C7-1975-DC38-524C9A731B36}"/>
              </a:ext>
            </a:extLst>
          </p:cNvPr>
          <p:cNvSpPr>
            <a:spLocks noGrp="1"/>
          </p:cNvSpPr>
          <p:nvPr>
            <p:ph idx="1"/>
          </p:nvPr>
        </p:nvSpPr>
        <p:spPr>
          <a:xfrm>
            <a:off x="5943600" y="2057400"/>
            <a:ext cx="2643309" cy="4457308"/>
          </a:xfrm>
        </p:spPr>
        <p:txBody>
          <a:bodyPr anchor="t">
            <a:normAutofit lnSpcReduction="10000"/>
          </a:bodyPr>
          <a:lstStyle/>
          <a:p>
            <a:pPr marL="0" indent="0">
              <a:buNone/>
            </a:pPr>
            <a:r>
              <a:rPr lang="en-US" sz="1400" dirty="0"/>
              <a:t>AI is a technology that is on the verge of significant leaps…</a:t>
            </a:r>
          </a:p>
          <a:p>
            <a:endParaRPr lang="en-US" sz="1400" dirty="0"/>
          </a:p>
          <a:p>
            <a:r>
              <a:rPr lang="en-US" sz="1400" dirty="0"/>
              <a:t>New technologies have always had a profound impact on the way we live and work (e.g., electricity, the internet, mobile communication). </a:t>
            </a:r>
          </a:p>
          <a:p>
            <a:r>
              <a:rPr lang="en-US" sz="1400" dirty="0"/>
              <a:t>We can expect unprecedented gains in productivity from better </a:t>
            </a:r>
            <a:r>
              <a:rPr lang="en-US" sz="1400" b="1" dirty="0"/>
              <a:t>narrow AI</a:t>
            </a:r>
            <a:r>
              <a:rPr lang="en-US" sz="1400" dirty="0"/>
              <a:t>.</a:t>
            </a:r>
          </a:p>
          <a:p>
            <a:r>
              <a:rPr lang="en-US" sz="1400" dirty="0"/>
              <a:t>New technologies always also present </a:t>
            </a:r>
            <a:r>
              <a:rPr lang="en-US" sz="1400" b="1" dirty="0"/>
              <a:t>dangers</a:t>
            </a:r>
            <a:r>
              <a:rPr lang="en-US" sz="1400" dirty="0"/>
              <a:t> and require governance and regulation.</a:t>
            </a:r>
          </a:p>
          <a:p>
            <a:endParaRPr lang="en-US" sz="1400" dirty="0"/>
          </a:p>
          <a:p>
            <a:pPr marL="0" indent="0">
              <a:buNone/>
            </a:pPr>
            <a:r>
              <a:rPr lang="en-US" sz="1400" b="1" dirty="0"/>
              <a:t>This course will introduce the main techniques to create intelligent agents that act rationally.</a:t>
            </a:r>
          </a:p>
        </p:txBody>
      </p:sp>
    </p:spTree>
    <p:extLst>
      <p:ext uri="{BB962C8B-B14F-4D97-AF65-F5344CB8AC3E}">
        <p14:creationId xmlns:p14="http://schemas.microsoft.com/office/powerpoint/2010/main" val="1101342216"/>
      </p:ext>
    </p:extLst>
  </p:cSld>
  <p:clrMapOvr>
    <a:masterClrMapping/>
  </p:clrMapOvr>
</p:sld>
</file>

<file path=ppt/theme/theme1.xml><?xml version="1.0" encoding="utf-8"?>
<a:theme xmlns:a="http://schemas.openxmlformats.org/drawingml/2006/main" name="Office 2013 - 2022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14295</TotalTime>
  <Words>2918</Words>
  <Application>Microsoft Office PowerPoint</Application>
  <PresentationFormat>On-screen Show (4:3)</PresentationFormat>
  <Paragraphs>405</Paragraphs>
  <Slides>43</Slides>
  <Notes>20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Cambria Math</vt:lpstr>
      <vt:lpstr>Office 2013 - 2022 Theme</vt:lpstr>
      <vt:lpstr>CS 5/7320  Artificial Intelligence  Introduction to AI  AIMA Chapters 1 + 27</vt:lpstr>
      <vt:lpstr>Agenda</vt:lpstr>
      <vt:lpstr>What is Artificial Intelligence?</vt:lpstr>
      <vt:lpstr>What is Intelligence?</vt:lpstr>
      <vt:lpstr>The Goal of AI</vt:lpstr>
      <vt:lpstr>Cognitive Sciences</vt:lpstr>
      <vt:lpstr>Alan Turing (1950) “Computing machinery and intelligence”</vt:lpstr>
      <vt:lpstr>Turing Test: Criticism</vt:lpstr>
      <vt:lpstr>Thinking Rationally?</vt:lpstr>
      <vt:lpstr>Acting Rationally</vt:lpstr>
      <vt:lpstr>The Type of AI is Covered in this Course</vt:lpstr>
      <vt:lpstr>Intelligent Agents</vt:lpstr>
      <vt:lpstr>Components of an Intelligent Agent</vt:lpstr>
      <vt:lpstr>Example: Self-Driving Car</vt:lpstr>
      <vt:lpstr>Example: Homework and LLMs</vt:lpstr>
      <vt:lpstr>Artificial Intelligence  vs. Machine Learning</vt:lpstr>
      <vt:lpstr>Categories of AI with ML</vt:lpstr>
      <vt:lpstr>The History of AI</vt:lpstr>
      <vt:lpstr>The Timeline of AI Development</vt:lpstr>
      <vt:lpstr>What accounts for recent successes in AI?</vt:lpstr>
      <vt:lpstr>“Moravec’s Paradox”</vt:lpstr>
      <vt:lpstr>The AI Effect:  AI gets no respect?</vt:lpstr>
      <vt:lpstr>AI Today</vt:lpstr>
      <vt:lpstr>Vision and Image Processing</vt:lpstr>
      <vt:lpstr>Natural Language Processing</vt:lpstr>
      <vt:lpstr>Robotics</vt:lpstr>
      <vt:lpstr>AI Governance: Ethics &amp; Safety</vt:lpstr>
      <vt:lpstr>AI Governance</vt:lpstr>
      <vt:lpstr>Components of AI Governance</vt:lpstr>
      <vt:lpstr>Commonly-Cited Safety and  Ethics Principles</vt:lpstr>
      <vt:lpstr>PowerPoint Presentation</vt:lpstr>
      <vt:lpstr>European Union</vt:lpstr>
      <vt:lpstr>In the United States</vt:lpstr>
      <vt:lpstr>European Union Study</vt:lpstr>
      <vt:lpstr>Google</vt:lpstr>
      <vt:lpstr>US White House Executive Order 14110</vt:lpstr>
      <vt:lpstr>The EU Artificial Intelligence Act</vt:lpstr>
      <vt:lpstr>PowerPoint Presentation</vt:lpstr>
      <vt:lpstr>Fairness: Algorithmic Bias</vt:lpstr>
      <vt:lpstr>Types of AI Safety</vt:lpstr>
      <vt:lpstr>AI Safety vs Optimizers</vt:lpstr>
      <vt:lpstr>Risks of Cognitive Offloading</vt:lpstr>
      <vt:lpstr>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Introduction</dc:title>
  <dc:creator>michael</dc:creator>
  <cp:lastModifiedBy>Hahsler, Michael</cp:lastModifiedBy>
  <cp:revision>116</cp:revision>
  <dcterms:created xsi:type="dcterms:W3CDTF">2021-01-29T15:10:36Z</dcterms:created>
  <dcterms:modified xsi:type="dcterms:W3CDTF">2026-08-28T15:29:09Z</dcterms:modified>
</cp:coreProperties>
</file>