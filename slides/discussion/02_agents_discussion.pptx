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sldIdLst>
    <p:sldId id="257" r:id="rId2"/>
    <p:sldId id="258" r:id="rId3"/>
    <p:sldId id="307" r:id="rId4"/>
    <p:sldId id="259" r:id="rId5"/>
    <p:sldId id="260" r:id="rId6"/>
    <p:sldId id="288" r:id="rId7"/>
    <p:sldId id="308" r:id="rId8"/>
    <p:sldId id="264" r:id="rId9"/>
    <p:sldId id="318" r:id="rId10"/>
    <p:sldId id="292" r:id="rId11"/>
    <p:sldId id="309" r:id="rId12"/>
    <p:sldId id="266" r:id="rId13"/>
    <p:sldId id="293" r:id="rId14"/>
    <p:sldId id="286" r:id="rId15"/>
    <p:sldId id="310" r:id="rId16"/>
    <p:sldId id="322" r:id="rId17"/>
    <p:sldId id="813" r:id="rId18"/>
    <p:sldId id="817" r:id="rId19"/>
    <p:sldId id="818" r:id="rId20"/>
    <p:sldId id="816" r:id="rId21"/>
    <p:sldId id="272" r:id="rId22"/>
    <p:sldId id="819" r:id="rId23"/>
    <p:sldId id="311" r:id="rId24"/>
    <p:sldId id="305" r:id="rId25"/>
    <p:sldId id="277" r:id="rId26"/>
    <p:sldId id="820" r:id="rId27"/>
    <p:sldId id="821" r:id="rId28"/>
    <p:sldId id="295" r:id="rId29"/>
    <p:sldId id="320" r:id="rId30"/>
    <p:sldId id="300" r:id="rId31"/>
    <p:sldId id="822" r:id="rId32"/>
    <p:sldId id="823" r:id="rId33"/>
    <p:sldId id="824" r:id="rId34"/>
    <p:sldId id="825" r:id="rId35"/>
    <p:sldId id="811" r:id="rId36"/>
    <p:sldId id="303" r:id="rId37"/>
    <p:sldId id="294" r:id="rId38"/>
    <p:sldId id="296" r:id="rId39"/>
    <p:sldId id="826" r:id="rId40"/>
    <p:sldId id="298" r:id="rId41"/>
    <p:sldId id="314" r:id="rId42"/>
    <p:sldId id="317" r:id="rId43"/>
    <p:sldId id="316" r:id="rId44"/>
    <p:sldId id="313" r:id="rId45"/>
    <p:sldId id="812" r:id="rId46"/>
    <p:sldId id="827" r:id="rId47"/>
    <p:sldId id="299" r:id="rId48"/>
    <p:sldId id="321"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5D81881-7925-4AF7-AAA7-759021C6C0AD}">
          <p14:sldIdLst>
            <p14:sldId id="257"/>
            <p14:sldId id="258"/>
            <p14:sldId id="307"/>
            <p14:sldId id="259"/>
            <p14:sldId id="260"/>
            <p14:sldId id="288"/>
          </p14:sldIdLst>
        </p14:section>
        <p14:section name="Rationality" id="{2F4E4769-BDA0-435E-8FD2-6C2A003C491D}">
          <p14:sldIdLst>
            <p14:sldId id="308"/>
            <p14:sldId id="264"/>
            <p14:sldId id="318"/>
            <p14:sldId id="292"/>
          </p14:sldIdLst>
        </p14:section>
        <p14:section name="AI Problem Specification" id="{3060007E-1CF1-4D3A-99C7-7609C388D3E9}">
          <p14:sldIdLst>
            <p14:sldId id="309"/>
            <p14:sldId id="266"/>
            <p14:sldId id="293"/>
            <p14:sldId id="286"/>
          </p14:sldIdLst>
        </p14:section>
        <p14:section name="Environment Types" id="{D2096DEC-697C-4F17-BEF0-4E1C91A8DF21}">
          <p14:sldIdLst>
            <p14:sldId id="310"/>
            <p14:sldId id="322"/>
            <p14:sldId id="813"/>
            <p14:sldId id="817"/>
            <p14:sldId id="818"/>
            <p14:sldId id="816"/>
            <p14:sldId id="272"/>
            <p14:sldId id="819"/>
          </p14:sldIdLst>
        </p14:section>
        <p14:section name="Agent Types" id="{77487F24-4270-44D9-9177-8A545245C157}">
          <p14:sldIdLst>
            <p14:sldId id="311"/>
            <p14:sldId id="305"/>
            <p14:sldId id="277"/>
            <p14:sldId id="820"/>
            <p14:sldId id="821"/>
            <p14:sldId id="295"/>
            <p14:sldId id="320"/>
            <p14:sldId id="300"/>
            <p14:sldId id="822"/>
            <p14:sldId id="823"/>
            <p14:sldId id="824"/>
            <p14:sldId id="825"/>
          </p14:sldIdLst>
        </p14:section>
        <p14:section name="Examples" id="{3C5F33BC-762A-4D1A-9518-A38969664405}">
          <p14:sldIdLst>
            <p14:sldId id="811"/>
            <p14:sldId id="303"/>
            <p14:sldId id="294"/>
            <p14:sldId id="296"/>
            <p14:sldId id="826"/>
            <p14:sldId id="298"/>
            <p14:sldId id="314"/>
            <p14:sldId id="317"/>
            <p14:sldId id="316"/>
            <p14:sldId id="313"/>
          </p14:sldIdLst>
        </p14:section>
        <p14:section name="Wrapup" id="{D7D39CBE-DF66-4D44-88D1-878372BF094C}">
          <p14:sldIdLst>
            <p14:sldId id="812"/>
            <p14:sldId id="827"/>
            <p14:sldId id="299"/>
            <p14:sldId id="32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8CBF"/>
    <a:srgbClr val="ED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7" autoAdjust="0"/>
  </p:normalViewPr>
  <p:slideViewPr>
    <p:cSldViewPr>
      <p:cViewPr varScale="1">
        <p:scale>
          <a:sx n="90" d="100"/>
          <a:sy n="90" d="100"/>
        </p:scale>
        <p:origin x="1680" y="7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1" qsCatId="simple" csTypeId="urn:microsoft.com/office/officeart/2005/8/colors/accent1_2#1" csCatId="accent1" phldr="1"/>
      <dgm:spPr/>
      <dgm:t>
        <a:bodyPr/>
        <a:lstStyle/>
        <a:p>
          <a:endParaRPr lang="en-US"/>
        </a:p>
      </dgm:t>
    </dgm:pt>
    <dgm:pt modelId="{F72E82F1-EDB6-4F61-BD1A-9F3562850782}">
      <dgm:prSet/>
      <dgm:spPr/>
      <dgm:t>
        <a:bodyPr/>
        <a:lstStyle/>
        <a:p>
          <a:r>
            <a:rPr lang="en-US" dirty="0"/>
            <a:t>Rationality</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2" qsCatId="simple" csTypeId="urn:microsoft.com/office/officeart/2005/8/colors/accent1_2#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3" qsCatId="simple" csTypeId="urn:microsoft.com/office/officeart/2005/8/colors/accent1_2#3" csCatId="accent1" phldr="1"/>
      <dgm:spPr/>
      <dgm:t>
        <a:bodyPr/>
        <a:lstStyle/>
        <a:p>
          <a:endParaRPr lang="en-US"/>
        </a:p>
      </dgm:t>
    </dgm:pt>
    <dgm:pt modelId="{F72E82F1-EDB6-4F61-BD1A-9F3562850782}">
      <dgm:prSet/>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4" qsCatId="simple" csTypeId="urn:microsoft.com/office/officeart/2005/8/colors/accent1_2#4"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5" qsCatId="simple" csTypeId="urn:microsoft.com/office/officeart/2005/8/colors/accent1_2#5" csCatId="accent1" phldr="1"/>
      <dgm:spPr/>
      <dgm:t>
        <a:bodyPr/>
        <a:lstStyle/>
        <a:p>
          <a:endParaRPr lang="en-US"/>
        </a:p>
      </dgm:t>
    </dgm:pt>
    <dgm:pt modelId="{68943606-CA28-4782-8232-95AB8616BAD2}">
      <dgm:prSet/>
      <dgm:spPr/>
      <dgm:t>
        <a:bodyPr/>
        <a:lstStyle/>
        <a:p>
          <a:r>
            <a:rPr lang="en-US" b="1" dirty="0"/>
            <a:t>Performance measure</a:t>
          </a:r>
          <a:endParaRPr lang="en-US" dirty="0"/>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endParaRPr lang="en-US" dirty="0"/>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endParaRPr lang="en-US" dirty="0"/>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endParaRPr lang="en-US" dirty="0"/>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endParaRPr lang="en-US" dirty="0"/>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34F7950D-0038-442E-B60E-69971E8B40AC}" type="presOf" srcId="{58A56870-94C5-474F-A11F-B059F85D051B}" destId="{5AAEAC57-C5CF-4BF7-B78E-013E1F7A0946}" srcOrd="0" destOrd="0" presId="urn:microsoft.com/office/officeart/2005/8/layout/hList1"/>
    <dgm:cxn modelId="{8EDF021A-0EDD-4FB5-9107-0D2E7B05FC2D}" srcId="{B591CF20-E38B-470F-ADB9-0E408539A816}" destId="{7D8F34D2-ACF5-4A51-B24D-609C41730628}" srcOrd="2" destOrd="0" parTransId="{538793FA-12F5-487C-A939-B1DC05160418}" sibTransId="{73ABE292-2B32-41AF-ADF7-3E2FAF127215}"/>
    <dgm:cxn modelId="{04BD272A-78AE-46A0-BC4A-995E602572B7}" type="presOf" srcId="{F0F72F2C-A2DF-4546-B5A6-BD3771EF4984}" destId="{ED723AC5-A2E2-4B16-BEA7-A94A2BECAD1C}"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CEF9423A-8323-4FA6-9433-09CDA70E8829}" srcId="{58A56870-94C5-474F-A11F-B059F85D051B}" destId="{99690A0C-B363-44CA-B8D2-E1E8D3F4850C}" srcOrd="0" destOrd="0" parTransId="{4129AA71-9DFC-4B1A-9E74-FAE90BAD1635}" sibTransId="{22B365A6-AF06-4542-A330-D109C89F66BB}"/>
    <dgm:cxn modelId="{80F1BD65-2EB1-4266-B0F6-0B71997C03C7}" type="presOf" srcId="{99690A0C-B363-44CA-B8D2-E1E8D3F4850C}" destId="{DD58FCCA-5A53-48EF-830C-01A1BC2DEC5F}" srcOrd="0" destOrd="0" presId="urn:microsoft.com/office/officeart/2005/8/layout/hList1"/>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9C466089-A44C-4CD1-A827-54C3F5A0F7F2}" type="presOf" srcId="{B8F46C62-824E-4968-9874-EAE0BD4DEC06}" destId="{AE9246A3-3980-441E-8C93-893085D8CE26}" srcOrd="0" destOrd="0"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EB86B799-A5DE-434C-B5EA-D422811ACDCA}" type="presOf" srcId="{E64BC63D-3F14-4150-9DA0-E7EC0FD6EA76}" destId="{C7F39890-5C8D-48FD-9A3D-71E6A4C3F357}" srcOrd="0" destOrd="0" presId="urn:microsoft.com/office/officeart/2005/8/layout/hList1"/>
    <dgm:cxn modelId="{35A2ED99-0F87-403A-BB22-400B56925B24}" srcId="{7D8F34D2-ACF5-4A51-B24D-609C41730628}" destId="{E64BC63D-3F14-4150-9DA0-E7EC0FD6EA76}" srcOrd="0" destOrd="0" parTransId="{D507EDFD-DDCC-4F7A-8C9A-BB646694064C}" sibTransId="{1E441C76-492B-41CE-8558-DC1206CC67E0}"/>
    <dgm:cxn modelId="{61513BA5-83DE-423F-AC70-DD4FEAADB516}" type="presOf" srcId="{DD1E0D02-53B6-4AD7-9E54-A7D0795D9AC8}" destId="{C961A285-B32F-4EA0-A7A2-A0725D9D4CB3}" srcOrd="0" destOrd="0"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C49E96B9-6082-4869-BC9C-F094F52923B2}" srcId="{68943606-CA28-4782-8232-95AB8616BAD2}" destId="{B8F46C62-824E-4968-9874-EAE0BD4DEC06}" srcOrd="0" destOrd="0" parTransId="{2CB3CFE6-48C9-4764-BE98-1DFCB01931D2}" sibTransId="{CC392892-33EB-4DAB-95D8-04EC6A85112E}"/>
    <dgm:cxn modelId="{9DC4D9DE-E4D5-41F9-BE0D-436F3B8081E6}" type="presOf" srcId="{B591CF20-E38B-470F-ADB9-0E408539A816}" destId="{72F092A1-3B55-4AF9-BB8D-2692568648C3}" srcOrd="0" destOrd="0"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6" qsCatId="simple" csTypeId="urn:microsoft.com/office/officeart/2005/8/colors/accent1_2#6"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r>
            <a:rPr lang="en-US" dirty="0"/>
            <a:t>Safe</a:t>
          </a:r>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r>
            <a:rPr lang="en-US" dirty="0"/>
            <a:t>Roads</a:t>
          </a:r>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r>
            <a:rPr lang="en-US" dirty="0"/>
            <a:t>Steering wheel</a:t>
          </a:r>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r>
            <a:rPr lang="en-US" dirty="0"/>
            <a:t>Cameras</a:t>
          </a:r>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DF6124A1-3345-4DD8-BC99-57CC98D42921}">
      <dgm:prSet/>
      <dgm:spPr/>
      <dgm:t>
        <a:bodyPr/>
        <a:lstStyle/>
        <a:p>
          <a:r>
            <a:rPr lang="en-US" dirty="0"/>
            <a:t>other traffic </a:t>
          </a:r>
        </a:p>
      </dgm:t>
    </dgm:pt>
    <dgm:pt modelId="{B2CF88B5-7EDE-493B-BD6B-5AEDE5AD63C3}" type="parTrans" cxnId="{FD61894F-8043-4A82-ACC3-2DFBCBC2A0D4}">
      <dgm:prSet/>
      <dgm:spPr/>
      <dgm:t>
        <a:bodyPr/>
        <a:lstStyle/>
        <a:p>
          <a:endParaRPr lang="en-US"/>
        </a:p>
      </dgm:t>
    </dgm:pt>
    <dgm:pt modelId="{DD8425FA-9779-48FA-B6DE-876CC72153C2}" type="sibTrans" cxnId="{FD61894F-8043-4A82-ACC3-2DFBCBC2A0D4}">
      <dgm:prSet/>
      <dgm:spPr/>
      <dgm:t>
        <a:bodyPr/>
        <a:lstStyle/>
        <a:p>
          <a:endParaRPr lang="en-US"/>
        </a:p>
      </dgm:t>
    </dgm:pt>
    <dgm:pt modelId="{9C367CD2-D072-49AB-867B-391044203855}">
      <dgm:prSet/>
      <dgm:spPr/>
      <dgm:t>
        <a:bodyPr/>
        <a:lstStyle/>
        <a:p>
          <a:r>
            <a:rPr lang="en-US" dirty="0"/>
            <a:t>pedestrians </a:t>
          </a:r>
        </a:p>
      </dgm:t>
    </dgm:pt>
    <dgm:pt modelId="{6C95B9D7-E884-46BD-8470-A1194B51F200}" type="parTrans" cxnId="{C447BAC2-4786-419F-B53F-EFF1E6ADE9AE}">
      <dgm:prSet/>
      <dgm:spPr/>
      <dgm:t>
        <a:bodyPr/>
        <a:lstStyle/>
        <a:p>
          <a:endParaRPr lang="en-US"/>
        </a:p>
      </dgm:t>
    </dgm:pt>
    <dgm:pt modelId="{A08C7584-BAB8-4646-8AFE-FAB8A7E8F7C9}" type="sibTrans" cxnId="{C447BAC2-4786-419F-B53F-EFF1E6ADE9AE}">
      <dgm:prSet/>
      <dgm:spPr/>
      <dgm:t>
        <a:bodyPr/>
        <a:lstStyle/>
        <a:p>
          <a:endParaRPr lang="en-US"/>
        </a:p>
      </dgm:t>
    </dgm:pt>
    <dgm:pt modelId="{DD1BEDFC-A663-4738-AD6F-17B6C957FB47}">
      <dgm:prSet/>
      <dgm:spPr/>
      <dgm:t>
        <a:bodyPr/>
        <a:lstStyle/>
        <a:p>
          <a:r>
            <a:rPr lang="en-US" dirty="0"/>
            <a:t>customers</a:t>
          </a:r>
        </a:p>
      </dgm:t>
    </dgm:pt>
    <dgm:pt modelId="{35D7AF1B-BEAD-46E0-B245-02424470071F}" type="parTrans" cxnId="{48689EAC-A261-40BA-A1A5-CB22F9FE8A8D}">
      <dgm:prSet/>
      <dgm:spPr/>
      <dgm:t>
        <a:bodyPr/>
        <a:lstStyle/>
        <a:p>
          <a:endParaRPr lang="en-US"/>
        </a:p>
      </dgm:t>
    </dgm:pt>
    <dgm:pt modelId="{2F4948BD-94FC-4845-BB51-D445A3BA9467}" type="sibTrans" cxnId="{48689EAC-A261-40BA-A1A5-CB22F9FE8A8D}">
      <dgm:prSet/>
      <dgm:spPr/>
      <dgm:t>
        <a:bodyPr/>
        <a:lstStyle/>
        <a:p>
          <a:endParaRPr lang="en-US"/>
        </a:p>
      </dgm:t>
    </dgm:pt>
    <dgm:pt modelId="{9A11CB0E-7A9F-418B-B52F-5FF51A0720B3}">
      <dgm:prSet/>
      <dgm:spPr/>
      <dgm:t>
        <a:bodyPr/>
        <a:lstStyle/>
        <a:p>
          <a:r>
            <a:rPr lang="en-US" dirty="0"/>
            <a:t> accelerator</a:t>
          </a:r>
        </a:p>
      </dgm:t>
    </dgm:pt>
    <dgm:pt modelId="{D82F122F-2114-4A78-B503-1BCAE13F0CFE}" type="parTrans" cxnId="{54A43A4A-E4A0-41A0-BB5B-DADB5F86B1ED}">
      <dgm:prSet/>
      <dgm:spPr/>
      <dgm:t>
        <a:bodyPr/>
        <a:lstStyle/>
        <a:p>
          <a:endParaRPr lang="en-US"/>
        </a:p>
      </dgm:t>
    </dgm:pt>
    <dgm:pt modelId="{6363FDCA-AD41-4E6F-B7CD-3B5CA6CE6F9E}" type="sibTrans" cxnId="{54A43A4A-E4A0-41A0-BB5B-DADB5F86B1ED}">
      <dgm:prSet/>
      <dgm:spPr/>
      <dgm:t>
        <a:bodyPr/>
        <a:lstStyle/>
        <a:p>
          <a:endParaRPr lang="en-US"/>
        </a:p>
      </dgm:t>
    </dgm:pt>
    <dgm:pt modelId="{5C75ABEB-F4BA-400B-B9F2-F23F97463A7D}">
      <dgm:prSet/>
      <dgm:spPr/>
      <dgm:t>
        <a:bodyPr/>
        <a:lstStyle/>
        <a:p>
          <a:r>
            <a:rPr lang="en-US" dirty="0"/>
            <a:t>brake</a:t>
          </a:r>
        </a:p>
      </dgm:t>
    </dgm:pt>
    <dgm:pt modelId="{1368C5A2-5807-4015-8DBD-5E11DE44C67B}" type="parTrans" cxnId="{BF05AB9A-7570-4D63-ABEA-4404AAD630F8}">
      <dgm:prSet/>
      <dgm:spPr/>
      <dgm:t>
        <a:bodyPr/>
        <a:lstStyle/>
        <a:p>
          <a:endParaRPr lang="en-US"/>
        </a:p>
      </dgm:t>
    </dgm:pt>
    <dgm:pt modelId="{F1B09895-4F3F-4648-8678-0901A19C201C}" type="sibTrans" cxnId="{BF05AB9A-7570-4D63-ABEA-4404AAD630F8}">
      <dgm:prSet/>
      <dgm:spPr/>
      <dgm:t>
        <a:bodyPr/>
        <a:lstStyle/>
        <a:p>
          <a:endParaRPr lang="en-US"/>
        </a:p>
      </dgm:t>
    </dgm:pt>
    <dgm:pt modelId="{6D83297A-5466-4684-943E-3E98C96EF1EE}">
      <dgm:prSet/>
      <dgm:spPr/>
      <dgm:t>
        <a:bodyPr/>
        <a:lstStyle/>
        <a:p>
          <a:r>
            <a:rPr lang="en-US" dirty="0"/>
            <a:t>signal</a:t>
          </a:r>
        </a:p>
      </dgm:t>
    </dgm:pt>
    <dgm:pt modelId="{BC1E25D6-BD75-417A-B2A6-8F1FA60783C2}" type="parTrans" cxnId="{D440DBE2-A604-4C8D-A12C-4A65FE82D34C}">
      <dgm:prSet/>
      <dgm:spPr/>
      <dgm:t>
        <a:bodyPr/>
        <a:lstStyle/>
        <a:p>
          <a:endParaRPr lang="en-US"/>
        </a:p>
      </dgm:t>
    </dgm:pt>
    <dgm:pt modelId="{EBBEC456-5F41-4249-BE51-C1D1B5004384}" type="sibTrans" cxnId="{D440DBE2-A604-4C8D-A12C-4A65FE82D34C}">
      <dgm:prSet/>
      <dgm:spPr/>
      <dgm:t>
        <a:bodyPr/>
        <a:lstStyle/>
        <a:p>
          <a:endParaRPr lang="en-US"/>
        </a:p>
      </dgm:t>
    </dgm:pt>
    <dgm:pt modelId="{7DC30BB8-E413-4267-9B01-D0C398158CB3}">
      <dgm:prSet/>
      <dgm:spPr/>
      <dgm:t>
        <a:bodyPr/>
        <a:lstStyle/>
        <a:p>
          <a:r>
            <a:rPr lang="en-US" dirty="0"/>
            <a:t>horn</a:t>
          </a:r>
        </a:p>
      </dgm:t>
    </dgm:pt>
    <dgm:pt modelId="{D559063E-990A-4AEA-A4CF-1715F0D301DE}" type="parTrans" cxnId="{A2258A4A-D5EA-4DF1-9992-4421E3494DBB}">
      <dgm:prSet/>
      <dgm:spPr/>
      <dgm:t>
        <a:bodyPr/>
        <a:lstStyle/>
        <a:p>
          <a:endParaRPr lang="en-US"/>
        </a:p>
      </dgm:t>
    </dgm:pt>
    <dgm:pt modelId="{C50021D0-A180-4E4B-80B2-135BF7DCB95E}" type="sibTrans" cxnId="{A2258A4A-D5EA-4DF1-9992-4421E3494DBB}">
      <dgm:prSet/>
      <dgm:spPr/>
      <dgm:t>
        <a:bodyPr/>
        <a:lstStyle/>
        <a:p>
          <a:endParaRPr lang="en-US"/>
        </a:p>
      </dgm:t>
    </dgm:pt>
    <dgm:pt modelId="{D864C7AA-F3B5-4FB5-8B92-D746FB5CC396}">
      <dgm:prSet/>
      <dgm:spPr/>
      <dgm:t>
        <a:bodyPr/>
        <a:lstStyle/>
        <a:p>
          <a:r>
            <a:rPr lang="en-US" dirty="0"/>
            <a:t>sonar</a:t>
          </a:r>
        </a:p>
      </dgm:t>
    </dgm:pt>
    <dgm:pt modelId="{09BBFD11-618B-4F3B-99DE-CD19ED65A989}" type="parTrans" cxnId="{75512185-0EA6-4209-A574-E797EFCD5CD1}">
      <dgm:prSet/>
      <dgm:spPr/>
      <dgm:t>
        <a:bodyPr/>
        <a:lstStyle/>
        <a:p>
          <a:endParaRPr lang="en-US"/>
        </a:p>
      </dgm:t>
    </dgm:pt>
    <dgm:pt modelId="{DA9592DB-3C12-4258-86C8-FA80B554B696}" type="sibTrans" cxnId="{75512185-0EA6-4209-A574-E797EFCD5CD1}">
      <dgm:prSet/>
      <dgm:spPr/>
      <dgm:t>
        <a:bodyPr/>
        <a:lstStyle/>
        <a:p>
          <a:endParaRPr lang="en-US"/>
        </a:p>
      </dgm:t>
    </dgm:pt>
    <dgm:pt modelId="{3C0CB938-E1F9-4A85-988C-3B8227DC8B4B}">
      <dgm:prSet/>
      <dgm:spPr/>
      <dgm:t>
        <a:bodyPr/>
        <a:lstStyle/>
        <a:p>
          <a:r>
            <a:rPr lang="en-US" dirty="0"/>
            <a:t>speedometer</a:t>
          </a:r>
        </a:p>
      </dgm:t>
    </dgm:pt>
    <dgm:pt modelId="{A5B266FE-63B3-4277-B6BB-068B18E40705}" type="parTrans" cxnId="{38E5410E-DF0D-42F8-B3CC-C07FC3B042E8}">
      <dgm:prSet/>
      <dgm:spPr/>
      <dgm:t>
        <a:bodyPr/>
        <a:lstStyle/>
        <a:p>
          <a:endParaRPr lang="en-US"/>
        </a:p>
      </dgm:t>
    </dgm:pt>
    <dgm:pt modelId="{E3633988-5154-4E7D-A927-75167A27E844}" type="sibTrans" cxnId="{38E5410E-DF0D-42F8-B3CC-C07FC3B042E8}">
      <dgm:prSet/>
      <dgm:spPr/>
      <dgm:t>
        <a:bodyPr/>
        <a:lstStyle/>
        <a:p>
          <a:endParaRPr lang="en-US"/>
        </a:p>
      </dgm:t>
    </dgm:pt>
    <dgm:pt modelId="{F6530794-3DBF-46C1-88C9-5A35FFF151CC}">
      <dgm:prSet/>
      <dgm:spPr/>
      <dgm:t>
        <a:bodyPr/>
        <a:lstStyle/>
        <a:p>
          <a:r>
            <a:rPr lang="en-US" dirty="0"/>
            <a:t>GPS</a:t>
          </a:r>
        </a:p>
      </dgm:t>
    </dgm:pt>
    <dgm:pt modelId="{11C96B7B-1D95-4292-A36F-3D42FCE18E74}" type="parTrans" cxnId="{E3722183-5FAF-40CE-B1E2-A53CE3A059AD}">
      <dgm:prSet/>
      <dgm:spPr/>
      <dgm:t>
        <a:bodyPr/>
        <a:lstStyle/>
        <a:p>
          <a:endParaRPr lang="en-US"/>
        </a:p>
      </dgm:t>
    </dgm:pt>
    <dgm:pt modelId="{346DD7CA-A3A0-476B-AAE6-A24F60B9D00E}" type="sibTrans" cxnId="{E3722183-5FAF-40CE-B1E2-A53CE3A059AD}">
      <dgm:prSet/>
      <dgm:spPr/>
      <dgm:t>
        <a:bodyPr/>
        <a:lstStyle/>
        <a:p>
          <a:endParaRPr lang="en-US"/>
        </a:p>
      </dgm:t>
    </dgm:pt>
    <dgm:pt modelId="{21162962-6786-44EB-A9D2-2F7790A21F41}">
      <dgm:prSet/>
      <dgm:spPr/>
      <dgm:t>
        <a:bodyPr/>
        <a:lstStyle/>
        <a:p>
          <a:r>
            <a:rPr lang="en-US" dirty="0"/>
            <a:t>Odometer</a:t>
          </a:r>
        </a:p>
      </dgm:t>
    </dgm:pt>
    <dgm:pt modelId="{47233D5B-E9B2-4D60-B376-CF04884B51B9}" type="parTrans" cxnId="{40250FED-1A2F-4AA8-8F2A-0EF8818B3709}">
      <dgm:prSet/>
      <dgm:spPr/>
      <dgm:t>
        <a:bodyPr/>
        <a:lstStyle/>
        <a:p>
          <a:endParaRPr lang="en-US"/>
        </a:p>
      </dgm:t>
    </dgm:pt>
    <dgm:pt modelId="{50D4FACE-998D-4AFD-89CD-B45654BFC73E}" type="sibTrans" cxnId="{40250FED-1A2F-4AA8-8F2A-0EF8818B3709}">
      <dgm:prSet/>
      <dgm:spPr/>
      <dgm:t>
        <a:bodyPr/>
        <a:lstStyle/>
        <a:p>
          <a:endParaRPr lang="en-US"/>
        </a:p>
      </dgm:t>
    </dgm:pt>
    <dgm:pt modelId="{189A2302-4677-49D0-AE47-D22C388BCC37}">
      <dgm:prSet/>
      <dgm:spPr/>
      <dgm:t>
        <a:bodyPr/>
        <a:lstStyle/>
        <a:p>
          <a:r>
            <a:rPr lang="en-US" dirty="0"/>
            <a:t>engine sensors</a:t>
          </a:r>
        </a:p>
      </dgm:t>
    </dgm:pt>
    <dgm:pt modelId="{428254E7-4FD6-4AE4-8293-4E3606176277}" type="parTrans" cxnId="{97729DF5-01F4-465F-8C51-9A008C0EA5E3}">
      <dgm:prSet/>
      <dgm:spPr/>
      <dgm:t>
        <a:bodyPr/>
        <a:lstStyle/>
        <a:p>
          <a:endParaRPr lang="en-US"/>
        </a:p>
      </dgm:t>
    </dgm:pt>
    <dgm:pt modelId="{56608371-3ECA-4DB0-A88B-1A4EAF471740}" type="sibTrans" cxnId="{97729DF5-01F4-465F-8C51-9A008C0EA5E3}">
      <dgm:prSet/>
      <dgm:spPr/>
      <dgm:t>
        <a:bodyPr/>
        <a:lstStyle/>
        <a:p>
          <a:endParaRPr lang="en-US"/>
        </a:p>
      </dgm:t>
    </dgm:pt>
    <dgm:pt modelId="{8F516D2D-FEA4-4674-AF1A-D637805EDA26}">
      <dgm:prSet/>
      <dgm:spPr/>
      <dgm:t>
        <a:bodyPr/>
        <a:lstStyle/>
        <a:p>
          <a:r>
            <a:rPr lang="en-US" dirty="0"/>
            <a:t>keyboard</a:t>
          </a:r>
        </a:p>
      </dgm:t>
    </dgm:pt>
    <dgm:pt modelId="{068BBA74-775E-4CF5-B332-08FFEEEF0A62}" type="parTrans" cxnId="{3E6A58AF-E0EF-493A-8F94-A6D38021D78D}">
      <dgm:prSet/>
      <dgm:spPr/>
      <dgm:t>
        <a:bodyPr/>
        <a:lstStyle/>
        <a:p>
          <a:endParaRPr lang="en-US"/>
        </a:p>
      </dgm:t>
    </dgm:pt>
    <dgm:pt modelId="{2EBF07E9-56E4-4763-8933-E168742C6A90}" type="sibTrans" cxnId="{3E6A58AF-E0EF-493A-8F94-A6D38021D78D}">
      <dgm:prSet/>
      <dgm:spPr/>
      <dgm:t>
        <a:bodyPr/>
        <a:lstStyle/>
        <a:p>
          <a:endParaRPr lang="en-US"/>
        </a:p>
      </dgm:t>
    </dgm:pt>
    <dgm:pt modelId="{45414D11-1BF0-4CF1-8CE9-FBBD0212AC0C}">
      <dgm:prSet/>
      <dgm:spPr/>
      <dgm:t>
        <a:bodyPr/>
        <a:lstStyle/>
        <a:p>
          <a:r>
            <a:rPr lang="en-US" dirty="0"/>
            <a:t>fast</a:t>
          </a:r>
        </a:p>
      </dgm:t>
    </dgm:pt>
    <dgm:pt modelId="{D8C0E80B-773A-420B-A445-F39D40B352B0}" type="parTrans" cxnId="{6B65B0B0-652A-4897-A84A-EAD2A87184B3}">
      <dgm:prSet/>
      <dgm:spPr/>
      <dgm:t>
        <a:bodyPr/>
        <a:lstStyle/>
        <a:p>
          <a:endParaRPr lang="en-US"/>
        </a:p>
      </dgm:t>
    </dgm:pt>
    <dgm:pt modelId="{12CDF185-6A7B-4B6E-8F91-40D1B1E50119}" type="sibTrans" cxnId="{6B65B0B0-652A-4897-A84A-EAD2A87184B3}">
      <dgm:prSet/>
      <dgm:spPr/>
      <dgm:t>
        <a:bodyPr/>
        <a:lstStyle/>
        <a:p>
          <a:endParaRPr lang="en-US"/>
        </a:p>
      </dgm:t>
    </dgm:pt>
    <dgm:pt modelId="{AD432868-1EAB-4C98-962D-445EBBB17DAB}">
      <dgm:prSet/>
      <dgm:spPr/>
      <dgm:t>
        <a:bodyPr/>
        <a:lstStyle/>
        <a:p>
          <a:r>
            <a:rPr lang="en-US" dirty="0"/>
            <a:t>comfortable trip</a:t>
          </a:r>
        </a:p>
      </dgm:t>
    </dgm:pt>
    <dgm:pt modelId="{ED793CCE-CEDB-45C7-A6F9-E33D4573EEB3}" type="parTrans" cxnId="{250D8AAD-7D20-4CCE-987D-E6708FD478F6}">
      <dgm:prSet/>
      <dgm:spPr/>
      <dgm:t>
        <a:bodyPr/>
        <a:lstStyle/>
        <a:p>
          <a:endParaRPr lang="en-US"/>
        </a:p>
      </dgm:t>
    </dgm:pt>
    <dgm:pt modelId="{FEE79E8E-9317-4FE9-B85A-5B22B3F776E4}" type="sibTrans" cxnId="{250D8AAD-7D20-4CCE-987D-E6708FD478F6}">
      <dgm:prSet/>
      <dgm:spPr/>
      <dgm:t>
        <a:bodyPr/>
        <a:lstStyle/>
        <a:p>
          <a:endParaRPr lang="en-US"/>
        </a:p>
      </dgm:t>
    </dgm:pt>
    <dgm:pt modelId="{5DDA9325-C541-4D95-81B3-DD33236F8A32}">
      <dgm:prSet/>
      <dgm:spPr/>
      <dgm:t>
        <a:bodyPr/>
        <a:lstStyle/>
        <a:p>
          <a:r>
            <a:rPr lang="en-US" dirty="0"/>
            <a:t>legal</a:t>
          </a:r>
        </a:p>
      </dgm:t>
    </dgm:pt>
    <dgm:pt modelId="{55E2083E-CFF0-48CE-B1ED-DC3642271197}" type="parTrans" cxnId="{9D6E2248-D5BA-4C1F-B11B-B5CF7585895A}">
      <dgm:prSet/>
      <dgm:spPr/>
      <dgm:t>
        <a:bodyPr/>
        <a:lstStyle/>
        <a:p>
          <a:endParaRPr lang="en-US"/>
        </a:p>
      </dgm:t>
    </dgm:pt>
    <dgm:pt modelId="{99FF603F-12C2-4C14-86AC-A5BC011E2CA2}" type="sibTrans" cxnId="{9D6E2248-D5BA-4C1F-B11B-B5CF7585895A}">
      <dgm:prSet/>
      <dgm:spPr/>
      <dgm:t>
        <a:bodyPr/>
        <a:lstStyle/>
        <a:p>
          <a:endParaRPr lang="en-US"/>
        </a:p>
      </dgm:t>
    </dgm:pt>
    <dgm:pt modelId="{94886888-C8A6-4C56-BBA6-E7CC0F8C0407}">
      <dgm:prSet/>
      <dgm:spPr/>
      <dgm:t>
        <a:bodyPr/>
        <a:lstStyle/>
        <a:p>
          <a:r>
            <a:rPr lang="en-US" dirty="0"/>
            <a:t>maximize profits</a:t>
          </a:r>
        </a:p>
      </dgm:t>
    </dgm:pt>
    <dgm:pt modelId="{9DB34B4A-8C65-437B-A054-138BEFBA812E}" type="parTrans" cxnId="{B14B02AA-CC3E-4859-827C-DDF6AFBE6B4F}">
      <dgm:prSet/>
      <dgm:spPr/>
      <dgm:t>
        <a:bodyPr/>
        <a:lstStyle/>
        <a:p>
          <a:endParaRPr lang="en-US"/>
        </a:p>
      </dgm:t>
    </dgm:pt>
    <dgm:pt modelId="{0FAA5CD6-D920-4EDA-9CA9-60DBB404EACC}" type="sibTrans" cxnId="{B14B02AA-CC3E-4859-827C-DDF6AFBE6B4F}">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B9E97409-F6B4-4950-A7AC-482F093584DD}" type="presOf" srcId="{7DC30BB8-E413-4267-9B01-D0C398158CB3}" destId="{C7F39890-5C8D-48FD-9A3D-71E6A4C3F357}" srcOrd="0" destOrd="4" presId="urn:microsoft.com/office/officeart/2005/8/layout/hList1"/>
    <dgm:cxn modelId="{D706BA09-82AD-4D88-A870-01ECD20FFDC4}" type="presOf" srcId="{5DDA9325-C541-4D95-81B3-DD33236F8A32}" destId="{AE9246A3-3980-441E-8C93-893085D8CE26}" srcOrd="0" destOrd="2" presId="urn:microsoft.com/office/officeart/2005/8/layout/hList1"/>
    <dgm:cxn modelId="{0B6F590C-C015-4853-86A3-1DD6DE4A6A14}" type="presOf" srcId="{F6530794-3DBF-46C1-88C9-5A35FFF151CC}" destId="{C961A285-B32F-4EA0-A7A2-A0725D9D4CB3}" srcOrd="0" destOrd="3" presId="urn:microsoft.com/office/officeart/2005/8/layout/hList1"/>
    <dgm:cxn modelId="{38E5410E-DF0D-42F8-B3CC-C07FC3B042E8}" srcId="{F0F72F2C-A2DF-4546-B5A6-BD3771EF4984}" destId="{3C0CB938-E1F9-4A85-988C-3B8227DC8B4B}" srcOrd="2" destOrd="0" parTransId="{A5B266FE-63B3-4277-B6BB-068B18E40705}" sibTransId="{E3633988-5154-4E7D-A927-75167A27E844}"/>
    <dgm:cxn modelId="{8EDF021A-0EDD-4FB5-9107-0D2E7B05FC2D}" srcId="{B591CF20-E38B-470F-ADB9-0E408539A816}" destId="{7D8F34D2-ACF5-4A51-B24D-609C41730628}" srcOrd="2" destOrd="0" parTransId="{538793FA-12F5-487C-A939-B1DC05160418}" sibTransId="{73ABE292-2B32-41AF-ADF7-3E2FAF127215}"/>
    <dgm:cxn modelId="{6BF34E20-8AF7-42C1-96B4-92680917B7C6}" type="presOf" srcId="{9A11CB0E-7A9F-418B-B52F-5FF51A0720B3}" destId="{C7F39890-5C8D-48FD-9A3D-71E6A4C3F357}" srcOrd="0" destOrd="1" presId="urn:microsoft.com/office/officeart/2005/8/layout/hList1"/>
    <dgm:cxn modelId="{C12B2C21-4E3B-4DB7-8417-DB8E13AB34B4}" type="presOf" srcId="{D864C7AA-F3B5-4FB5-8B92-D746FB5CC396}" destId="{C961A285-B32F-4EA0-A7A2-A0725D9D4CB3}" srcOrd="0" destOrd="1" presId="urn:microsoft.com/office/officeart/2005/8/layout/hList1"/>
    <dgm:cxn modelId="{A3568A25-7CC0-46DA-AA41-FCACAC0C3840}" type="presOf" srcId="{7D8F34D2-ACF5-4A51-B24D-609C41730628}" destId="{2D001E74-0AE6-4A24-B178-617FDC7EFAEB}"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DB190E3A-B7E8-41D8-A549-2EFF30D0262F}" type="presOf" srcId="{E64BC63D-3F14-4150-9DA0-E7EC0FD6EA76}" destId="{C7F39890-5C8D-48FD-9A3D-71E6A4C3F357}" srcOrd="0" destOrd="0" presId="urn:microsoft.com/office/officeart/2005/8/layout/hList1"/>
    <dgm:cxn modelId="{CEF9423A-8323-4FA6-9433-09CDA70E8829}" srcId="{58A56870-94C5-474F-A11F-B059F85D051B}" destId="{99690A0C-B363-44CA-B8D2-E1E8D3F4850C}" srcOrd="0" destOrd="0" parTransId="{4129AA71-9DFC-4B1A-9E74-FAE90BAD1635}" sibTransId="{22B365A6-AF06-4542-A330-D109C89F66BB}"/>
    <dgm:cxn modelId="{2F9D925C-8CE8-4686-97AD-DF95CEBE0121}" type="presOf" srcId="{F0F72F2C-A2DF-4546-B5A6-BD3771EF4984}" destId="{ED723AC5-A2E2-4B16-BEA7-A94A2BECAD1C}" srcOrd="0" destOrd="0" presId="urn:microsoft.com/office/officeart/2005/8/layout/hList1"/>
    <dgm:cxn modelId="{8DD96B64-C426-4F02-B8AA-70C50DD3BA1C}" type="presOf" srcId="{3C0CB938-E1F9-4A85-988C-3B8227DC8B4B}" destId="{C961A285-B32F-4EA0-A7A2-A0725D9D4CB3}" srcOrd="0" destOrd="2" presId="urn:microsoft.com/office/officeart/2005/8/layout/hList1"/>
    <dgm:cxn modelId="{9D6E2248-D5BA-4C1F-B11B-B5CF7585895A}" srcId="{68943606-CA28-4782-8232-95AB8616BAD2}" destId="{5DDA9325-C541-4D95-81B3-DD33236F8A32}" srcOrd="2" destOrd="0" parTransId="{55E2083E-CFF0-48CE-B1ED-DC3642271197}" sibTransId="{99FF603F-12C2-4C14-86AC-A5BC011E2CA2}"/>
    <dgm:cxn modelId="{54A43A4A-E4A0-41A0-BB5B-DADB5F86B1ED}" srcId="{7D8F34D2-ACF5-4A51-B24D-609C41730628}" destId="{9A11CB0E-7A9F-418B-B52F-5FF51A0720B3}" srcOrd="1" destOrd="0" parTransId="{D82F122F-2114-4A78-B503-1BCAE13F0CFE}" sibTransId="{6363FDCA-AD41-4E6F-B7CD-3B5CA6CE6F9E}"/>
    <dgm:cxn modelId="{A2258A4A-D5EA-4DF1-9992-4421E3494DBB}" srcId="{7D8F34D2-ACF5-4A51-B24D-609C41730628}" destId="{7DC30BB8-E413-4267-9B01-D0C398158CB3}" srcOrd="4" destOrd="0" parTransId="{D559063E-990A-4AEA-A4CF-1715F0D301DE}" sibTransId="{C50021D0-A180-4E4B-80B2-135BF7DCB95E}"/>
    <dgm:cxn modelId="{7754F06A-0E62-45E8-8416-589BEEAC5CE0}" type="presOf" srcId="{DF6124A1-3345-4DD8-BC99-57CC98D42921}" destId="{DD58FCCA-5A53-48EF-830C-01A1BC2DEC5F}" srcOrd="0" destOrd="1" presId="urn:microsoft.com/office/officeart/2005/8/layout/hList1"/>
    <dgm:cxn modelId="{1C783D4D-52DC-4942-A906-97B20F8529C9}" type="presOf" srcId="{B591CF20-E38B-470F-ADB9-0E408539A816}" destId="{72F092A1-3B55-4AF9-BB8D-2692568648C3}" srcOrd="0" destOrd="0" presId="urn:microsoft.com/office/officeart/2005/8/layout/hList1"/>
    <dgm:cxn modelId="{5D9E5F6E-9C1E-4C9A-813A-5E429A25D801}" type="presOf" srcId="{5C75ABEB-F4BA-400B-B9F2-F23F97463A7D}" destId="{C7F39890-5C8D-48FD-9A3D-71E6A4C3F357}" srcOrd="0" destOrd="2" presId="urn:microsoft.com/office/officeart/2005/8/layout/hList1"/>
    <dgm:cxn modelId="{FD61894F-8043-4A82-ACC3-2DFBCBC2A0D4}" srcId="{58A56870-94C5-474F-A11F-B059F85D051B}" destId="{DF6124A1-3345-4DD8-BC99-57CC98D42921}" srcOrd="1" destOrd="0" parTransId="{B2CF88B5-7EDE-493B-BD6B-5AEDE5AD63C3}" sibTransId="{DD8425FA-9779-48FA-B6DE-876CC72153C2}"/>
    <dgm:cxn modelId="{14B65A70-0010-450D-9A93-77E8C795EE26}" type="presOf" srcId="{9C367CD2-D072-49AB-867B-391044203855}" destId="{DD58FCCA-5A53-48EF-830C-01A1BC2DEC5F}" srcOrd="0" destOrd="2" presId="urn:microsoft.com/office/officeart/2005/8/layout/hList1"/>
    <dgm:cxn modelId="{B29D3575-8DA3-4818-A7C1-01DEED2529C2}" type="presOf" srcId="{68943606-CA28-4782-8232-95AB8616BAD2}" destId="{60D9E2F1-B549-4EF6-9A39-54153CB848BF}" srcOrd="0" destOrd="0" presId="urn:microsoft.com/office/officeart/2005/8/layout/hList1"/>
    <dgm:cxn modelId="{E3722183-5FAF-40CE-B1E2-A53CE3A059AD}" srcId="{F0F72F2C-A2DF-4546-B5A6-BD3771EF4984}" destId="{F6530794-3DBF-46C1-88C9-5A35FFF151CC}" srcOrd="3" destOrd="0" parTransId="{11C96B7B-1D95-4292-A36F-3D42FCE18E74}" sibTransId="{346DD7CA-A3A0-476B-AAE6-A24F60B9D00E}"/>
    <dgm:cxn modelId="{CE2C7083-61BF-43F9-B05E-40549F90D2CC}" type="presOf" srcId="{45414D11-1BF0-4CF1-8CE9-FBBD0212AC0C}" destId="{AE9246A3-3980-441E-8C93-893085D8CE26}" srcOrd="0" destOrd="1" presId="urn:microsoft.com/office/officeart/2005/8/layout/hList1"/>
    <dgm:cxn modelId="{75512185-0EA6-4209-A574-E797EFCD5CD1}" srcId="{F0F72F2C-A2DF-4546-B5A6-BD3771EF4984}" destId="{D864C7AA-F3B5-4FB5-8B92-D746FB5CC396}" srcOrd="1" destOrd="0" parTransId="{09BBFD11-618B-4F3B-99DE-CD19ED65A989}" sibTransId="{DA9592DB-3C12-4258-86C8-FA80B554B696}"/>
    <dgm:cxn modelId="{58E03485-B8E2-4295-98B0-8005C4B8D99C}" type="presOf" srcId="{DD1E0D02-53B6-4AD7-9E54-A7D0795D9AC8}" destId="{C961A285-B32F-4EA0-A7A2-A0725D9D4CB3}" srcOrd="0" destOrd="0" presId="urn:microsoft.com/office/officeart/2005/8/layout/hList1"/>
    <dgm:cxn modelId="{A2BA158A-E6A7-4D32-9D81-6BF2951E8690}" type="presOf" srcId="{94886888-C8A6-4C56-BBA6-E7CC0F8C0407}" destId="{AE9246A3-3980-441E-8C93-893085D8CE26}" srcOrd="0" destOrd="4"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35A2ED99-0F87-403A-BB22-400B56925B24}" srcId="{7D8F34D2-ACF5-4A51-B24D-609C41730628}" destId="{E64BC63D-3F14-4150-9DA0-E7EC0FD6EA76}" srcOrd="0" destOrd="0" parTransId="{D507EDFD-DDCC-4F7A-8C9A-BB646694064C}" sibTransId="{1E441C76-492B-41CE-8558-DC1206CC67E0}"/>
    <dgm:cxn modelId="{BF05AB9A-7570-4D63-ABEA-4404AAD630F8}" srcId="{7D8F34D2-ACF5-4A51-B24D-609C41730628}" destId="{5C75ABEB-F4BA-400B-B9F2-F23F97463A7D}" srcOrd="2" destOrd="0" parTransId="{1368C5A2-5807-4015-8DBD-5E11DE44C67B}" sibTransId="{F1B09895-4F3F-4648-8678-0901A19C201C}"/>
    <dgm:cxn modelId="{9EC6B59F-CBC9-4B5E-AD1A-6D913EE70336}" type="presOf" srcId="{8F516D2D-FEA4-4674-AF1A-D637805EDA26}" destId="{C961A285-B32F-4EA0-A7A2-A0725D9D4CB3}" srcOrd="0" destOrd="6"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B14B02AA-CC3E-4859-827C-DDF6AFBE6B4F}" srcId="{68943606-CA28-4782-8232-95AB8616BAD2}" destId="{94886888-C8A6-4C56-BBA6-E7CC0F8C0407}" srcOrd="4" destOrd="0" parTransId="{9DB34B4A-8C65-437B-A054-138BEFBA812E}" sibTransId="{0FAA5CD6-D920-4EDA-9CA9-60DBB404EACC}"/>
    <dgm:cxn modelId="{48689EAC-A261-40BA-A1A5-CB22F9FE8A8D}" srcId="{58A56870-94C5-474F-A11F-B059F85D051B}" destId="{DD1BEDFC-A663-4738-AD6F-17B6C957FB47}" srcOrd="3" destOrd="0" parTransId="{35D7AF1B-BEAD-46E0-B245-02424470071F}" sibTransId="{2F4948BD-94FC-4845-BB51-D445A3BA9467}"/>
    <dgm:cxn modelId="{250D8AAD-7D20-4CCE-987D-E6708FD478F6}" srcId="{68943606-CA28-4782-8232-95AB8616BAD2}" destId="{AD432868-1EAB-4C98-962D-445EBBB17DAB}" srcOrd="3" destOrd="0" parTransId="{ED793CCE-CEDB-45C7-A6F9-E33D4573EEB3}" sibTransId="{FEE79E8E-9317-4FE9-B85A-5B22B3F776E4}"/>
    <dgm:cxn modelId="{3E6A58AF-E0EF-493A-8F94-A6D38021D78D}" srcId="{F0F72F2C-A2DF-4546-B5A6-BD3771EF4984}" destId="{8F516D2D-FEA4-4674-AF1A-D637805EDA26}" srcOrd="6" destOrd="0" parTransId="{068BBA74-775E-4CF5-B332-08FFEEEF0A62}" sibTransId="{2EBF07E9-56E4-4763-8933-E168742C6A90}"/>
    <dgm:cxn modelId="{6B65B0B0-652A-4897-A84A-EAD2A87184B3}" srcId="{68943606-CA28-4782-8232-95AB8616BAD2}" destId="{45414D11-1BF0-4CF1-8CE9-FBBD0212AC0C}" srcOrd="1" destOrd="0" parTransId="{D8C0E80B-773A-420B-A445-F39D40B352B0}" sibTransId="{12CDF185-6A7B-4B6E-8F91-40D1B1E50119}"/>
    <dgm:cxn modelId="{C49E96B9-6082-4869-BC9C-F094F52923B2}" srcId="{68943606-CA28-4782-8232-95AB8616BAD2}" destId="{B8F46C62-824E-4968-9874-EAE0BD4DEC06}" srcOrd="0" destOrd="0" parTransId="{2CB3CFE6-48C9-4764-BE98-1DFCB01931D2}" sibTransId="{CC392892-33EB-4DAB-95D8-04EC6A85112E}"/>
    <dgm:cxn modelId="{083E5DC0-50D4-468C-9894-D27A102FBB23}" type="presOf" srcId="{189A2302-4677-49D0-AE47-D22C388BCC37}" destId="{C961A285-B32F-4EA0-A7A2-A0725D9D4CB3}" srcOrd="0" destOrd="5" presId="urn:microsoft.com/office/officeart/2005/8/layout/hList1"/>
    <dgm:cxn modelId="{C447BAC2-4786-419F-B53F-EFF1E6ADE9AE}" srcId="{58A56870-94C5-474F-A11F-B059F85D051B}" destId="{9C367CD2-D072-49AB-867B-391044203855}" srcOrd="2" destOrd="0" parTransId="{6C95B9D7-E884-46BD-8470-A1194B51F200}" sibTransId="{A08C7584-BAB8-4646-8AFE-FAB8A7E8F7C9}"/>
    <dgm:cxn modelId="{8ED994C8-D4D7-4A61-9B30-C5491D25A385}" type="presOf" srcId="{58A56870-94C5-474F-A11F-B059F85D051B}" destId="{5AAEAC57-C5CF-4BF7-B78E-013E1F7A0946}" srcOrd="0" destOrd="0" presId="urn:microsoft.com/office/officeart/2005/8/layout/hList1"/>
    <dgm:cxn modelId="{8CE5FED1-62BD-4794-A2E5-16A21637A630}" type="presOf" srcId="{21162962-6786-44EB-A9D2-2F7790A21F41}" destId="{C961A285-B32F-4EA0-A7A2-A0725D9D4CB3}" srcOrd="0" destOrd="4" presId="urn:microsoft.com/office/officeart/2005/8/layout/hList1"/>
    <dgm:cxn modelId="{10DA63D4-5F0B-46D0-B1CF-5E4BE2796DF8}" type="presOf" srcId="{AD432868-1EAB-4C98-962D-445EBBB17DAB}" destId="{AE9246A3-3980-441E-8C93-893085D8CE26}" srcOrd="0" destOrd="3" presId="urn:microsoft.com/office/officeart/2005/8/layout/hList1"/>
    <dgm:cxn modelId="{1FDB05D8-040B-4195-A8E7-D686A7A35D7C}" type="presOf" srcId="{6D83297A-5466-4684-943E-3E98C96EF1EE}" destId="{C7F39890-5C8D-48FD-9A3D-71E6A4C3F357}" srcOrd="0" destOrd="3" presId="urn:microsoft.com/office/officeart/2005/8/layout/hList1"/>
    <dgm:cxn modelId="{8C930BDC-27AD-4ED8-80AB-612A639A6541}" type="presOf" srcId="{DD1BEDFC-A663-4738-AD6F-17B6C957FB47}" destId="{DD58FCCA-5A53-48EF-830C-01A1BC2DEC5F}" srcOrd="0" destOrd="3" presId="urn:microsoft.com/office/officeart/2005/8/layout/hList1"/>
    <dgm:cxn modelId="{D440DBE2-A604-4C8D-A12C-4A65FE82D34C}" srcId="{7D8F34D2-ACF5-4A51-B24D-609C41730628}" destId="{6D83297A-5466-4684-943E-3E98C96EF1EE}" srcOrd="3" destOrd="0" parTransId="{BC1E25D6-BD75-417A-B2A6-8F1FA60783C2}" sibTransId="{EBBEC456-5F41-4249-BE51-C1D1B5004384}"/>
    <dgm:cxn modelId="{0CD5A2E6-7F92-4843-9C07-A46FA109575F}" type="presOf" srcId="{B8F46C62-824E-4968-9874-EAE0BD4DEC06}" destId="{AE9246A3-3980-441E-8C93-893085D8CE26}" srcOrd="0" destOrd="0" presId="urn:microsoft.com/office/officeart/2005/8/layout/hList1"/>
    <dgm:cxn modelId="{40250FED-1A2F-4AA8-8F2A-0EF8818B3709}" srcId="{F0F72F2C-A2DF-4546-B5A6-BD3771EF4984}" destId="{21162962-6786-44EB-A9D2-2F7790A21F41}" srcOrd="4" destOrd="0" parTransId="{47233D5B-E9B2-4D60-B376-CF04884B51B9}" sibTransId="{50D4FACE-998D-4AFD-89CD-B45654BFC73E}"/>
    <dgm:cxn modelId="{97729DF5-01F4-465F-8C51-9A008C0EA5E3}" srcId="{F0F72F2C-A2DF-4546-B5A6-BD3771EF4984}" destId="{189A2302-4677-49D0-AE47-D22C388BCC37}" srcOrd="5" destOrd="0" parTransId="{428254E7-4FD6-4AE4-8293-4E3606176277}" sibTransId="{56608371-3ECA-4DB0-A88B-1A4EAF471740}"/>
    <dgm:cxn modelId="{05169EF6-F3CC-49A4-B3B7-43C562A8DAAF}" type="presOf" srcId="{99690A0C-B363-44CA-B8D2-E1E8D3F4850C}" destId="{DD58FCCA-5A53-48EF-830C-01A1BC2DEC5F}" srcOrd="0" destOrd="0" presId="urn:microsoft.com/office/officeart/2005/8/layout/hList1"/>
    <dgm:cxn modelId="{95BD295E-A9F6-466B-BA87-17C156C684A8}" type="presParOf" srcId="{72F092A1-3B55-4AF9-BB8D-2692568648C3}" destId="{07C34D83-3094-4FD8-AF53-7B4F0466A48D}" srcOrd="0" destOrd="0" presId="urn:microsoft.com/office/officeart/2005/8/layout/hList1"/>
    <dgm:cxn modelId="{39124E4D-991B-48AD-9D43-800FE2E95280}" type="presParOf" srcId="{07C34D83-3094-4FD8-AF53-7B4F0466A48D}" destId="{60D9E2F1-B549-4EF6-9A39-54153CB848BF}" srcOrd="0" destOrd="0" presId="urn:microsoft.com/office/officeart/2005/8/layout/hList1"/>
    <dgm:cxn modelId="{060EC04F-96E5-42BB-A1D3-47416D001379}" type="presParOf" srcId="{07C34D83-3094-4FD8-AF53-7B4F0466A48D}" destId="{AE9246A3-3980-441E-8C93-893085D8CE26}" srcOrd="1" destOrd="0" presId="urn:microsoft.com/office/officeart/2005/8/layout/hList1"/>
    <dgm:cxn modelId="{23D43B5E-FD6A-48DE-9172-8B409E54F52F}" type="presParOf" srcId="{72F092A1-3B55-4AF9-BB8D-2692568648C3}" destId="{A4E5F21F-8483-482A-B577-134ACFDB9B9E}" srcOrd="1" destOrd="0" presId="urn:microsoft.com/office/officeart/2005/8/layout/hList1"/>
    <dgm:cxn modelId="{039A9078-21F2-474D-99AB-DBEA5CCAEDCF}" type="presParOf" srcId="{72F092A1-3B55-4AF9-BB8D-2692568648C3}" destId="{7288A2BB-75A7-4488-8F75-4BC6D89E9768}" srcOrd="2" destOrd="0" presId="urn:microsoft.com/office/officeart/2005/8/layout/hList1"/>
    <dgm:cxn modelId="{F40448F3-24E0-4A57-BECA-2536A88F9490}" type="presParOf" srcId="{7288A2BB-75A7-4488-8F75-4BC6D89E9768}" destId="{5AAEAC57-C5CF-4BF7-B78E-013E1F7A0946}" srcOrd="0" destOrd="0" presId="urn:microsoft.com/office/officeart/2005/8/layout/hList1"/>
    <dgm:cxn modelId="{4CF875B8-E54F-4CE2-828F-1E9652E48DDD}" type="presParOf" srcId="{7288A2BB-75A7-4488-8F75-4BC6D89E9768}" destId="{DD58FCCA-5A53-48EF-830C-01A1BC2DEC5F}" srcOrd="1" destOrd="0" presId="urn:microsoft.com/office/officeart/2005/8/layout/hList1"/>
    <dgm:cxn modelId="{BB34AD1C-3258-41CA-91F9-9EB9065ED1A4}" type="presParOf" srcId="{72F092A1-3B55-4AF9-BB8D-2692568648C3}" destId="{18DB903B-07DD-486D-A4B9-BC4325B28247}" srcOrd="3" destOrd="0" presId="urn:microsoft.com/office/officeart/2005/8/layout/hList1"/>
    <dgm:cxn modelId="{962DA3F5-BEF3-4B69-925A-3008AB7E3388}" type="presParOf" srcId="{72F092A1-3B55-4AF9-BB8D-2692568648C3}" destId="{3E978AA7-ADC8-41B0-8320-DE84F788EBE3}" srcOrd="4" destOrd="0" presId="urn:microsoft.com/office/officeart/2005/8/layout/hList1"/>
    <dgm:cxn modelId="{306EA367-9481-4D9D-A5CB-AA0C68C2793A}" type="presParOf" srcId="{3E978AA7-ADC8-41B0-8320-DE84F788EBE3}" destId="{2D001E74-0AE6-4A24-B178-617FDC7EFAEB}" srcOrd="0" destOrd="0" presId="urn:microsoft.com/office/officeart/2005/8/layout/hList1"/>
    <dgm:cxn modelId="{DA74BB6D-2162-4AC2-91FE-F9D4EFCEE76C}" type="presParOf" srcId="{3E978AA7-ADC8-41B0-8320-DE84F788EBE3}" destId="{C7F39890-5C8D-48FD-9A3D-71E6A4C3F357}" srcOrd="1" destOrd="0" presId="urn:microsoft.com/office/officeart/2005/8/layout/hList1"/>
    <dgm:cxn modelId="{B5069C55-94FD-4EB1-8259-50B3B9C2F89B}" type="presParOf" srcId="{72F092A1-3B55-4AF9-BB8D-2692568648C3}" destId="{5F376750-33CC-45A6-93BB-8929160531C0}" srcOrd="5" destOrd="0" presId="urn:microsoft.com/office/officeart/2005/8/layout/hList1"/>
    <dgm:cxn modelId="{5D6841DA-03A2-4C0F-886F-836A4E5BC923}" type="presParOf" srcId="{72F092A1-3B55-4AF9-BB8D-2692568648C3}" destId="{E6C8BDA2-4ADF-4F7E-A8ED-69DD98127150}" srcOrd="6" destOrd="0" presId="urn:microsoft.com/office/officeart/2005/8/layout/hList1"/>
    <dgm:cxn modelId="{24F46604-49E6-41F6-A88C-9A56AF657262}" type="presParOf" srcId="{E6C8BDA2-4ADF-4F7E-A8ED-69DD98127150}" destId="{ED723AC5-A2E2-4B16-BEA7-A94A2BECAD1C}" srcOrd="0" destOrd="0" presId="urn:microsoft.com/office/officeart/2005/8/layout/hList1"/>
    <dgm:cxn modelId="{958CE51C-3395-4421-B46E-894501ADEF0E}"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4A1B9F-C8C0-4738-983F-1A3FBFA26E0C}" type="doc">
      <dgm:prSet loTypeId="urn:microsoft.com/office/officeart/2005/8/layout/hList1" loCatId="list" qsTypeId="urn:microsoft.com/office/officeart/2005/8/quickstyle/simple1#7" qsCatId="simple" csTypeId="urn:microsoft.com/office/officeart/2005/8/colors/accent1_2#7" csCatId="accent1" phldr="1"/>
      <dgm:spPr/>
      <dgm:t>
        <a:bodyPr/>
        <a:lstStyle/>
        <a:p>
          <a:endParaRPr lang="en-US"/>
        </a:p>
      </dgm:t>
    </dgm:pt>
    <dgm:pt modelId="{BD9E94AB-1EA9-4FE4-8DD8-C3A9DF8E9978}">
      <dgm:prSet/>
      <dgm:spPr/>
      <dgm:t>
        <a:bodyPr/>
        <a:lstStyle/>
        <a:p>
          <a:r>
            <a:rPr lang="en-US" b="1"/>
            <a:t>Performance measure</a:t>
          </a:r>
          <a:endParaRPr lang="en-US"/>
        </a:p>
      </dgm:t>
    </dgm:pt>
    <dgm:pt modelId="{BFD915F0-C0FD-4CAF-8516-C218216EE993}" type="parTrans" cxnId="{85A478FB-9F9E-4A2A-B16C-DF60FDF918BE}">
      <dgm:prSet/>
      <dgm:spPr/>
      <dgm:t>
        <a:bodyPr/>
        <a:lstStyle/>
        <a:p>
          <a:endParaRPr lang="en-US"/>
        </a:p>
      </dgm:t>
    </dgm:pt>
    <dgm:pt modelId="{D9175244-BB87-48FA-850F-A7C5B2A3D2C9}" type="sibTrans" cxnId="{85A478FB-9F9E-4A2A-B16C-DF60FDF918BE}">
      <dgm:prSet/>
      <dgm:spPr/>
      <dgm:t>
        <a:bodyPr/>
        <a:lstStyle/>
        <a:p>
          <a:endParaRPr lang="en-US"/>
        </a:p>
      </dgm:t>
    </dgm:pt>
    <dgm:pt modelId="{8FB7AE19-B586-4A4C-8094-FDE2EB139843}">
      <dgm:prSet/>
      <dgm:spPr/>
      <dgm:t>
        <a:bodyPr/>
        <a:lstStyle/>
        <a:p>
          <a:r>
            <a:rPr lang="en-US" dirty="0"/>
            <a:t>Accuracy: Minimizing false positives, false negatives</a:t>
          </a:r>
        </a:p>
      </dgm:t>
    </dgm:pt>
    <dgm:pt modelId="{BD72B08A-FDAC-43BD-ABDD-0764DE321490}" type="parTrans" cxnId="{E23391D9-9043-4422-94F6-2CB7170BA6DE}">
      <dgm:prSet/>
      <dgm:spPr/>
      <dgm:t>
        <a:bodyPr/>
        <a:lstStyle/>
        <a:p>
          <a:endParaRPr lang="en-US"/>
        </a:p>
      </dgm:t>
    </dgm:pt>
    <dgm:pt modelId="{7323867A-B311-4E60-B14B-9CFFB22CEFFE}" type="sibTrans" cxnId="{E23391D9-9043-4422-94F6-2CB7170BA6DE}">
      <dgm:prSet/>
      <dgm:spPr/>
      <dgm:t>
        <a:bodyPr/>
        <a:lstStyle/>
        <a:p>
          <a:endParaRPr lang="en-US"/>
        </a:p>
      </dgm:t>
    </dgm:pt>
    <dgm:pt modelId="{8C174D8C-23F7-42A9-B9CF-B00186EC3257}">
      <dgm:prSet/>
      <dgm:spPr/>
      <dgm:t>
        <a:bodyPr/>
        <a:lstStyle/>
        <a:p>
          <a:r>
            <a:rPr lang="en-US" b="1"/>
            <a:t>Environment</a:t>
          </a:r>
          <a:endParaRPr lang="en-US"/>
        </a:p>
      </dgm:t>
    </dgm:pt>
    <dgm:pt modelId="{293FFFFC-46D8-494C-8159-2F1B3BB8ECF1}" type="parTrans" cxnId="{BFF648FA-E632-400D-9E97-032546393FB8}">
      <dgm:prSet/>
      <dgm:spPr/>
      <dgm:t>
        <a:bodyPr/>
        <a:lstStyle/>
        <a:p>
          <a:endParaRPr lang="en-US"/>
        </a:p>
      </dgm:t>
    </dgm:pt>
    <dgm:pt modelId="{A565E1AE-1C9B-46AB-B247-49510C803854}" type="sibTrans" cxnId="{BFF648FA-E632-400D-9E97-032546393FB8}">
      <dgm:prSet/>
      <dgm:spPr/>
      <dgm:t>
        <a:bodyPr/>
        <a:lstStyle/>
        <a:p>
          <a:endParaRPr lang="en-US"/>
        </a:p>
      </dgm:t>
    </dgm:pt>
    <dgm:pt modelId="{A2581FA3-A862-4EF2-9961-4E5176D12CA6}">
      <dgm:prSet/>
      <dgm:spPr/>
      <dgm:t>
        <a:bodyPr/>
        <a:lstStyle/>
        <a:p>
          <a:r>
            <a:rPr lang="en-US" dirty="0"/>
            <a:t>A user’s email account</a:t>
          </a:r>
        </a:p>
      </dgm:t>
    </dgm:pt>
    <dgm:pt modelId="{F454F389-B920-411E-A078-C872AD347DEB}" type="parTrans" cxnId="{E5D9596C-C72D-4212-ABE0-4B44BE3C494B}">
      <dgm:prSet/>
      <dgm:spPr/>
      <dgm:t>
        <a:bodyPr/>
        <a:lstStyle/>
        <a:p>
          <a:endParaRPr lang="en-US"/>
        </a:p>
      </dgm:t>
    </dgm:pt>
    <dgm:pt modelId="{566EA440-694F-4292-84A0-4D9C70783CF4}" type="sibTrans" cxnId="{E5D9596C-C72D-4212-ABE0-4B44BE3C494B}">
      <dgm:prSet/>
      <dgm:spPr/>
      <dgm:t>
        <a:bodyPr/>
        <a:lstStyle/>
        <a:p>
          <a:endParaRPr lang="en-US"/>
        </a:p>
      </dgm:t>
    </dgm:pt>
    <dgm:pt modelId="{0CE115AE-E8FF-4FBA-8734-E973D6F8830F}">
      <dgm:prSet/>
      <dgm:spPr/>
      <dgm:t>
        <a:bodyPr/>
        <a:lstStyle/>
        <a:p>
          <a:r>
            <a:rPr lang="en-US" b="1"/>
            <a:t>Actuators</a:t>
          </a:r>
          <a:endParaRPr lang="en-US"/>
        </a:p>
      </dgm:t>
    </dgm:pt>
    <dgm:pt modelId="{5147C656-C76B-4F61-AE8A-9B19A8B19732}" type="parTrans" cxnId="{0C7465DF-DBE5-4D0B-BCD0-8A376107CF41}">
      <dgm:prSet/>
      <dgm:spPr/>
      <dgm:t>
        <a:bodyPr/>
        <a:lstStyle/>
        <a:p>
          <a:endParaRPr lang="en-US"/>
        </a:p>
      </dgm:t>
    </dgm:pt>
    <dgm:pt modelId="{E5B39D5E-9CC5-4564-B5BC-52965092A6B6}" type="sibTrans" cxnId="{0C7465DF-DBE5-4D0B-BCD0-8A376107CF41}">
      <dgm:prSet/>
      <dgm:spPr/>
      <dgm:t>
        <a:bodyPr/>
        <a:lstStyle/>
        <a:p>
          <a:endParaRPr lang="en-US"/>
        </a:p>
      </dgm:t>
    </dgm:pt>
    <dgm:pt modelId="{278D71FA-B669-4BD7-9F4B-2D6298B938CA}">
      <dgm:prSet/>
      <dgm:spPr/>
      <dgm:t>
        <a:bodyPr/>
        <a:lstStyle/>
        <a:p>
          <a:r>
            <a:rPr lang="en-US" dirty="0"/>
            <a:t>Mark as spam</a:t>
          </a:r>
        </a:p>
      </dgm:t>
    </dgm:pt>
    <dgm:pt modelId="{45FE954E-C4C9-4C50-A38E-C175D5A053C8}" type="parTrans" cxnId="{49D6344A-5963-46BA-8360-81516D96A859}">
      <dgm:prSet/>
      <dgm:spPr/>
      <dgm:t>
        <a:bodyPr/>
        <a:lstStyle/>
        <a:p>
          <a:endParaRPr lang="en-US"/>
        </a:p>
      </dgm:t>
    </dgm:pt>
    <dgm:pt modelId="{C0F26B8F-E75D-42CC-AC9A-579EE1798496}" type="sibTrans" cxnId="{49D6344A-5963-46BA-8360-81516D96A859}">
      <dgm:prSet/>
      <dgm:spPr/>
      <dgm:t>
        <a:bodyPr/>
        <a:lstStyle/>
        <a:p>
          <a:endParaRPr lang="en-US"/>
        </a:p>
      </dgm:t>
    </dgm:pt>
    <dgm:pt modelId="{C155130E-9A98-466A-ABA0-35B37F12F267}">
      <dgm:prSet/>
      <dgm:spPr/>
      <dgm:t>
        <a:bodyPr/>
        <a:lstStyle/>
        <a:p>
          <a:r>
            <a:rPr lang="en-US" b="1"/>
            <a:t>Sensors</a:t>
          </a:r>
          <a:endParaRPr lang="en-US"/>
        </a:p>
      </dgm:t>
    </dgm:pt>
    <dgm:pt modelId="{33E3D795-1F8F-4B0B-8F2E-C643CC9D87A7}" type="parTrans" cxnId="{B6BEDA9C-F8E2-455E-827D-F6F633A584F3}">
      <dgm:prSet/>
      <dgm:spPr/>
      <dgm:t>
        <a:bodyPr/>
        <a:lstStyle/>
        <a:p>
          <a:endParaRPr lang="en-US"/>
        </a:p>
      </dgm:t>
    </dgm:pt>
    <dgm:pt modelId="{FA0D7942-D49A-4D25-98D6-66F8423C11D5}" type="sibTrans" cxnId="{B6BEDA9C-F8E2-455E-827D-F6F633A584F3}">
      <dgm:prSet/>
      <dgm:spPr/>
      <dgm:t>
        <a:bodyPr/>
        <a:lstStyle/>
        <a:p>
          <a:endParaRPr lang="en-US"/>
        </a:p>
      </dgm:t>
    </dgm:pt>
    <dgm:pt modelId="{BE481DDF-2456-4F10-ABFE-CB06F27BA0FA}">
      <dgm:prSet/>
      <dgm:spPr/>
      <dgm:t>
        <a:bodyPr/>
        <a:lstStyle/>
        <a:p>
          <a:r>
            <a:rPr lang="en-US" dirty="0"/>
            <a:t>Incoming messages</a:t>
          </a:r>
        </a:p>
      </dgm:t>
    </dgm:pt>
    <dgm:pt modelId="{26AA374E-C6BE-48EB-A78F-7456C4AC714F}" type="parTrans" cxnId="{DB288288-3D9D-432F-BC23-0C015A8AA2A6}">
      <dgm:prSet/>
      <dgm:spPr/>
      <dgm:t>
        <a:bodyPr/>
        <a:lstStyle/>
        <a:p>
          <a:endParaRPr lang="en-US"/>
        </a:p>
      </dgm:t>
    </dgm:pt>
    <dgm:pt modelId="{CC30C378-D948-4A72-883F-26D0508D3858}" type="sibTrans" cxnId="{DB288288-3D9D-432F-BC23-0C015A8AA2A6}">
      <dgm:prSet/>
      <dgm:spPr/>
      <dgm:t>
        <a:bodyPr/>
        <a:lstStyle/>
        <a:p>
          <a:endParaRPr lang="en-US"/>
        </a:p>
      </dgm:t>
    </dgm:pt>
    <dgm:pt modelId="{882DAA35-20E7-4805-8431-D252B212E1E8}">
      <dgm:prSet/>
      <dgm:spPr/>
      <dgm:t>
        <a:bodyPr/>
        <a:lstStyle/>
        <a:p>
          <a:r>
            <a:rPr lang="en-US" dirty="0"/>
            <a:t>email server</a:t>
          </a:r>
        </a:p>
      </dgm:t>
    </dgm:pt>
    <dgm:pt modelId="{D670BEBB-7131-449D-8304-89D237D7BBE2}" type="parTrans" cxnId="{9E7F836F-875B-44B5-AA24-06E85C2FE740}">
      <dgm:prSet/>
      <dgm:spPr/>
      <dgm:t>
        <a:bodyPr/>
        <a:lstStyle/>
        <a:p>
          <a:endParaRPr lang="en-US"/>
        </a:p>
      </dgm:t>
    </dgm:pt>
    <dgm:pt modelId="{379A14A8-CAFE-4C06-B977-B98E5F1ECB95}" type="sibTrans" cxnId="{9E7F836F-875B-44B5-AA24-06E85C2FE740}">
      <dgm:prSet/>
      <dgm:spPr/>
      <dgm:t>
        <a:bodyPr/>
        <a:lstStyle/>
        <a:p>
          <a:endParaRPr lang="en-US"/>
        </a:p>
      </dgm:t>
    </dgm:pt>
    <dgm:pt modelId="{C88DB8C9-AD9D-420A-ACA4-8CAE9184DB90}">
      <dgm:prSet/>
      <dgm:spPr/>
      <dgm:t>
        <a:bodyPr/>
        <a:lstStyle/>
        <a:p>
          <a:r>
            <a:rPr lang="en-US" dirty="0"/>
            <a:t>delete</a:t>
          </a:r>
        </a:p>
      </dgm:t>
    </dgm:pt>
    <dgm:pt modelId="{1DBD118C-D812-452F-8D3A-C092102379B0}" type="parTrans" cxnId="{EBCE1C6F-EF43-4576-8CB6-470AA8A6597A}">
      <dgm:prSet/>
      <dgm:spPr/>
      <dgm:t>
        <a:bodyPr/>
        <a:lstStyle/>
        <a:p>
          <a:endParaRPr lang="en-US"/>
        </a:p>
      </dgm:t>
    </dgm:pt>
    <dgm:pt modelId="{2731A3E6-D2EC-4322-B385-C5686053E09C}" type="sibTrans" cxnId="{EBCE1C6F-EF43-4576-8CB6-470AA8A6597A}">
      <dgm:prSet/>
      <dgm:spPr/>
      <dgm:t>
        <a:bodyPr/>
        <a:lstStyle/>
        <a:p>
          <a:endParaRPr lang="en-US"/>
        </a:p>
      </dgm:t>
    </dgm:pt>
    <dgm:pt modelId="{F3A765DC-070D-4EB8-A87C-4D47BFB88456}">
      <dgm:prSet/>
      <dgm:spPr/>
      <dgm:t>
        <a:bodyPr/>
        <a:lstStyle/>
        <a:p>
          <a:r>
            <a:rPr lang="en-US" dirty="0"/>
            <a:t>etc.</a:t>
          </a:r>
        </a:p>
      </dgm:t>
    </dgm:pt>
    <dgm:pt modelId="{1E794AD7-0ED8-4DF1-8977-BD1D3484FABD}" type="parTrans" cxnId="{3B922BBB-B6F6-4944-899F-65A5304E9E7B}">
      <dgm:prSet/>
      <dgm:spPr/>
      <dgm:t>
        <a:bodyPr/>
        <a:lstStyle/>
        <a:p>
          <a:endParaRPr lang="en-US"/>
        </a:p>
      </dgm:t>
    </dgm:pt>
    <dgm:pt modelId="{801B5BAD-ECB3-4238-9AAC-8253341C62DA}" type="sibTrans" cxnId="{3B922BBB-B6F6-4944-899F-65A5304E9E7B}">
      <dgm:prSet/>
      <dgm:spPr/>
      <dgm:t>
        <a:bodyPr/>
        <a:lstStyle/>
        <a:p>
          <a:endParaRPr lang="en-US"/>
        </a:p>
      </dgm:t>
    </dgm:pt>
    <dgm:pt modelId="{C698DB85-643F-419E-AD98-53DA73AC6810}">
      <dgm:prSet/>
      <dgm:spPr/>
      <dgm:t>
        <a:bodyPr/>
        <a:lstStyle/>
        <a:p>
          <a:r>
            <a:rPr lang="en-US" dirty="0"/>
            <a:t>other information about user’s account</a:t>
          </a:r>
        </a:p>
      </dgm:t>
    </dgm:pt>
    <dgm:pt modelId="{452C9A9C-A6AE-4514-BE4B-05C9754B2043}" type="parTrans" cxnId="{F4BDDF41-8CF0-4C50-98CD-10B2AB835681}">
      <dgm:prSet/>
      <dgm:spPr/>
      <dgm:t>
        <a:bodyPr/>
        <a:lstStyle/>
        <a:p>
          <a:endParaRPr lang="en-US"/>
        </a:p>
      </dgm:t>
    </dgm:pt>
    <dgm:pt modelId="{4BFBFB65-7D94-4EF6-A3F8-E365CA39E74A}" type="sibTrans" cxnId="{F4BDDF41-8CF0-4C50-98CD-10B2AB835681}">
      <dgm:prSet/>
      <dgm:spPr/>
      <dgm:t>
        <a:bodyPr/>
        <a:lstStyle/>
        <a:p>
          <a:endParaRPr lang="en-US"/>
        </a:p>
      </dgm:t>
    </dgm:pt>
    <dgm:pt modelId="{6F51068F-BE09-49F9-98FF-6704716400F4}" type="pres">
      <dgm:prSet presAssocID="{E44A1B9F-C8C0-4738-983F-1A3FBFA26E0C}" presName="Name0" presStyleCnt="0">
        <dgm:presLayoutVars>
          <dgm:dir/>
          <dgm:animLvl val="lvl"/>
          <dgm:resizeHandles val="exact"/>
        </dgm:presLayoutVars>
      </dgm:prSet>
      <dgm:spPr/>
    </dgm:pt>
    <dgm:pt modelId="{A90FCE58-F050-4014-A507-E252CE23B3C5}" type="pres">
      <dgm:prSet presAssocID="{BD9E94AB-1EA9-4FE4-8DD8-C3A9DF8E9978}" presName="composite" presStyleCnt="0"/>
      <dgm:spPr/>
    </dgm:pt>
    <dgm:pt modelId="{722370EC-9B34-4074-A6FF-9E951D4A8D35}" type="pres">
      <dgm:prSet presAssocID="{BD9E94AB-1EA9-4FE4-8DD8-C3A9DF8E9978}" presName="parTx" presStyleLbl="alignNode1" presStyleIdx="0" presStyleCnt="4">
        <dgm:presLayoutVars>
          <dgm:chMax val="0"/>
          <dgm:chPref val="0"/>
          <dgm:bulletEnabled val="1"/>
        </dgm:presLayoutVars>
      </dgm:prSet>
      <dgm:spPr/>
    </dgm:pt>
    <dgm:pt modelId="{C27D3391-2FBE-4615-B844-7696BACA8391}" type="pres">
      <dgm:prSet presAssocID="{BD9E94AB-1EA9-4FE4-8DD8-C3A9DF8E9978}" presName="desTx" presStyleLbl="alignAccFollowNode1" presStyleIdx="0" presStyleCnt="4">
        <dgm:presLayoutVars>
          <dgm:bulletEnabled val="1"/>
        </dgm:presLayoutVars>
      </dgm:prSet>
      <dgm:spPr/>
    </dgm:pt>
    <dgm:pt modelId="{F2965AE5-9537-4F5C-8247-3160F5E92CB7}" type="pres">
      <dgm:prSet presAssocID="{D9175244-BB87-48FA-850F-A7C5B2A3D2C9}" presName="space" presStyleCnt="0"/>
      <dgm:spPr/>
    </dgm:pt>
    <dgm:pt modelId="{FA3AC9A3-12E9-4CD1-AB69-5AA55E272D69}" type="pres">
      <dgm:prSet presAssocID="{8C174D8C-23F7-42A9-B9CF-B00186EC3257}" presName="composite" presStyleCnt="0"/>
      <dgm:spPr/>
    </dgm:pt>
    <dgm:pt modelId="{1CE12965-16C6-43DA-AB5D-964CBCC28C20}" type="pres">
      <dgm:prSet presAssocID="{8C174D8C-23F7-42A9-B9CF-B00186EC3257}" presName="parTx" presStyleLbl="alignNode1" presStyleIdx="1" presStyleCnt="4">
        <dgm:presLayoutVars>
          <dgm:chMax val="0"/>
          <dgm:chPref val="0"/>
          <dgm:bulletEnabled val="1"/>
        </dgm:presLayoutVars>
      </dgm:prSet>
      <dgm:spPr/>
    </dgm:pt>
    <dgm:pt modelId="{3BEA13E0-A2EB-41AA-B23F-7B88E4F96848}" type="pres">
      <dgm:prSet presAssocID="{8C174D8C-23F7-42A9-B9CF-B00186EC3257}" presName="desTx" presStyleLbl="alignAccFollowNode1" presStyleIdx="1" presStyleCnt="4">
        <dgm:presLayoutVars>
          <dgm:bulletEnabled val="1"/>
        </dgm:presLayoutVars>
      </dgm:prSet>
      <dgm:spPr/>
    </dgm:pt>
    <dgm:pt modelId="{97DDE1A3-0C47-4E3B-9D8E-2601513876E3}" type="pres">
      <dgm:prSet presAssocID="{A565E1AE-1C9B-46AB-B247-49510C803854}" presName="space" presStyleCnt="0"/>
      <dgm:spPr/>
    </dgm:pt>
    <dgm:pt modelId="{A9802057-D642-4BC6-8A2F-369BBE66AC4E}" type="pres">
      <dgm:prSet presAssocID="{0CE115AE-E8FF-4FBA-8734-E973D6F8830F}" presName="composite" presStyleCnt="0"/>
      <dgm:spPr/>
    </dgm:pt>
    <dgm:pt modelId="{6A40C1E3-E00B-475B-892F-AA048524E374}" type="pres">
      <dgm:prSet presAssocID="{0CE115AE-E8FF-4FBA-8734-E973D6F8830F}" presName="parTx" presStyleLbl="alignNode1" presStyleIdx="2" presStyleCnt="4">
        <dgm:presLayoutVars>
          <dgm:chMax val="0"/>
          <dgm:chPref val="0"/>
          <dgm:bulletEnabled val="1"/>
        </dgm:presLayoutVars>
      </dgm:prSet>
      <dgm:spPr/>
    </dgm:pt>
    <dgm:pt modelId="{C7A4C710-7F8F-4E1A-88EF-0C92C41661E2}" type="pres">
      <dgm:prSet presAssocID="{0CE115AE-E8FF-4FBA-8734-E973D6F8830F}" presName="desTx" presStyleLbl="alignAccFollowNode1" presStyleIdx="2" presStyleCnt="4">
        <dgm:presLayoutVars>
          <dgm:bulletEnabled val="1"/>
        </dgm:presLayoutVars>
      </dgm:prSet>
      <dgm:spPr/>
    </dgm:pt>
    <dgm:pt modelId="{2C66590B-4B1F-4989-965F-E57DEC556B6B}" type="pres">
      <dgm:prSet presAssocID="{E5B39D5E-9CC5-4564-B5BC-52965092A6B6}" presName="space" presStyleCnt="0"/>
      <dgm:spPr/>
    </dgm:pt>
    <dgm:pt modelId="{03CB0B49-ADDF-4743-A0A8-54DF62CB2E57}" type="pres">
      <dgm:prSet presAssocID="{C155130E-9A98-466A-ABA0-35B37F12F267}" presName="composite" presStyleCnt="0"/>
      <dgm:spPr/>
    </dgm:pt>
    <dgm:pt modelId="{705F129A-026D-48FD-A157-FCF440F1C7AC}" type="pres">
      <dgm:prSet presAssocID="{C155130E-9A98-466A-ABA0-35B37F12F267}" presName="parTx" presStyleLbl="alignNode1" presStyleIdx="3" presStyleCnt="4">
        <dgm:presLayoutVars>
          <dgm:chMax val="0"/>
          <dgm:chPref val="0"/>
          <dgm:bulletEnabled val="1"/>
        </dgm:presLayoutVars>
      </dgm:prSet>
      <dgm:spPr/>
    </dgm:pt>
    <dgm:pt modelId="{B6A813B1-6668-4F28-BE57-375B2AD7D2A5}" type="pres">
      <dgm:prSet presAssocID="{C155130E-9A98-466A-ABA0-35B37F12F267}" presName="desTx" presStyleLbl="alignAccFollowNode1" presStyleIdx="3" presStyleCnt="4">
        <dgm:presLayoutVars>
          <dgm:bulletEnabled val="1"/>
        </dgm:presLayoutVars>
      </dgm:prSet>
      <dgm:spPr/>
    </dgm:pt>
  </dgm:ptLst>
  <dgm:cxnLst>
    <dgm:cxn modelId="{EF619D00-69F5-482C-9572-025C14DCE8AE}" type="presOf" srcId="{A2581FA3-A862-4EF2-9961-4E5176D12CA6}" destId="{3BEA13E0-A2EB-41AA-B23F-7B88E4F96848}" srcOrd="0" destOrd="0" presId="urn:microsoft.com/office/officeart/2005/8/layout/hList1"/>
    <dgm:cxn modelId="{02A22803-946F-4B34-A4D7-8032EDE080B9}" type="presOf" srcId="{8C174D8C-23F7-42A9-B9CF-B00186EC3257}" destId="{1CE12965-16C6-43DA-AB5D-964CBCC28C20}" srcOrd="0" destOrd="0" presId="urn:microsoft.com/office/officeart/2005/8/layout/hList1"/>
    <dgm:cxn modelId="{BE6D6A17-E05C-4F78-A4A8-D387A6E77059}" type="presOf" srcId="{8FB7AE19-B586-4A4C-8094-FDE2EB139843}" destId="{C27D3391-2FBE-4615-B844-7696BACA8391}" srcOrd="0" destOrd="0" presId="urn:microsoft.com/office/officeart/2005/8/layout/hList1"/>
    <dgm:cxn modelId="{BBBB8926-81FF-4B16-9F98-501B6396E0E1}" type="presOf" srcId="{C88DB8C9-AD9D-420A-ACA4-8CAE9184DB90}" destId="{C7A4C710-7F8F-4E1A-88EF-0C92C41661E2}" srcOrd="0" destOrd="1" presId="urn:microsoft.com/office/officeart/2005/8/layout/hList1"/>
    <dgm:cxn modelId="{F4BDDF41-8CF0-4C50-98CD-10B2AB835681}" srcId="{C155130E-9A98-466A-ABA0-35B37F12F267}" destId="{C698DB85-643F-419E-AD98-53DA73AC6810}" srcOrd="1" destOrd="0" parTransId="{452C9A9C-A6AE-4514-BE4B-05C9754B2043}" sibTransId="{4BFBFB65-7D94-4EF6-A3F8-E365CA39E74A}"/>
    <dgm:cxn modelId="{FE2C6A65-4ED2-4961-84BD-BAD678B6AE70}" type="presOf" srcId="{0CE115AE-E8FF-4FBA-8734-E973D6F8830F}" destId="{6A40C1E3-E00B-475B-892F-AA048524E374}" srcOrd="0" destOrd="0" presId="urn:microsoft.com/office/officeart/2005/8/layout/hList1"/>
    <dgm:cxn modelId="{6EE4D368-454B-4143-9618-576B0C072215}" type="presOf" srcId="{BD9E94AB-1EA9-4FE4-8DD8-C3A9DF8E9978}" destId="{722370EC-9B34-4074-A6FF-9E951D4A8D35}" srcOrd="0" destOrd="0" presId="urn:microsoft.com/office/officeart/2005/8/layout/hList1"/>
    <dgm:cxn modelId="{49D6344A-5963-46BA-8360-81516D96A859}" srcId="{0CE115AE-E8FF-4FBA-8734-E973D6F8830F}" destId="{278D71FA-B669-4BD7-9F4B-2D6298B938CA}" srcOrd="0" destOrd="0" parTransId="{45FE954E-C4C9-4C50-A38E-C175D5A053C8}" sibTransId="{C0F26B8F-E75D-42CC-AC9A-579EE1798496}"/>
    <dgm:cxn modelId="{E5D9596C-C72D-4212-ABE0-4B44BE3C494B}" srcId="{8C174D8C-23F7-42A9-B9CF-B00186EC3257}" destId="{A2581FA3-A862-4EF2-9961-4E5176D12CA6}" srcOrd="0" destOrd="0" parTransId="{F454F389-B920-411E-A078-C872AD347DEB}" sibTransId="{566EA440-694F-4292-84A0-4D9C70783CF4}"/>
    <dgm:cxn modelId="{EBCE1C6F-EF43-4576-8CB6-470AA8A6597A}" srcId="{0CE115AE-E8FF-4FBA-8734-E973D6F8830F}" destId="{C88DB8C9-AD9D-420A-ACA4-8CAE9184DB90}" srcOrd="1" destOrd="0" parTransId="{1DBD118C-D812-452F-8D3A-C092102379B0}" sibTransId="{2731A3E6-D2EC-4322-B385-C5686053E09C}"/>
    <dgm:cxn modelId="{9E7F836F-875B-44B5-AA24-06E85C2FE740}" srcId="{8C174D8C-23F7-42A9-B9CF-B00186EC3257}" destId="{882DAA35-20E7-4805-8431-D252B212E1E8}" srcOrd="1" destOrd="0" parTransId="{D670BEBB-7131-449D-8304-89D237D7BBE2}" sibTransId="{379A14A8-CAFE-4C06-B977-B98E5F1ECB95}"/>
    <dgm:cxn modelId="{1E185F51-72B4-40A7-883B-92FD64BB5216}" type="presOf" srcId="{F3A765DC-070D-4EB8-A87C-4D47BFB88456}" destId="{C7A4C710-7F8F-4E1A-88EF-0C92C41661E2}" srcOrd="0" destOrd="2" presId="urn:microsoft.com/office/officeart/2005/8/layout/hList1"/>
    <dgm:cxn modelId="{DB288288-3D9D-432F-BC23-0C015A8AA2A6}" srcId="{C155130E-9A98-466A-ABA0-35B37F12F267}" destId="{BE481DDF-2456-4F10-ABFE-CB06F27BA0FA}" srcOrd="0" destOrd="0" parTransId="{26AA374E-C6BE-48EB-A78F-7456C4AC714F}" sibTransId="{CC30C378-D948-4A72-883F-26D0508D3858}"/>
    <dgm:cxn modelId="{46D2CD8D-145E-4508-AF7C-9622FD414AE8}" type="presOf" srcId="{C698DB85-643F-419E-AD98-53DA73AC6810}" destId="{B6A813B1-6668-4F28-BE57-375B2AD7D2A5}" srcOrd="0" destOrd="1" presId="urn:microsoft.com/office/officeart/2005/8/layout/hList1"/>
    <dgm:cxn modelId="{B6BEDA9C-F8E2-455E-827D-F6F633A584F3}" srcId="{E44A1B9F-C8C0-4738-983F-1A3FBFA26E0C}" destId="{C155130E-9A98-466A-ABA0-35B37F12F267}" srcOrd="3" destOrd="0" parTransId="{33E3D795-1F8F-4B0B-8F2E-C643CC9D87A7}" sibTransId="{FA0D7942-D49A-4D25-98D6-66F8423C11D5}"/>
    <dgm:cxn modelId="{E9862EAA-5D74-4BDB-97D5-EFDC2D9062E2}" type="presOf" srcId="{BE481DDF-2456-4F10-ABFE-CB06F27BA0FA}" destId="{B6A813B1-6668-4F28-BE57-375B2AD7D2A5}" srcOrd="0" destOrd="0" presId="urn:microsoft.com/office/officeart/2005/8/layout/hList1"/>
    <dgm:cxn modelId="{3B922BBB-B6F6-4944-899F-65A5304E9E7B}" srcId="{0CE115AE-E8FF-4FBA-8734-E973D6F8830F}" destId="{F3A765DC-070D-4EB8-A87C-4D47BFB88456}" srcOrd="2" destOrd="0" parTransId="{1E794AD7-0ED8-4DF1-8977-BD1D3484FABD}" sibTransId="{801B5BAD-ECB3-4238-9AAC-8253341C62DA}"/>
    <dgm:cxn modelId="{E747A8BB-9EDD-4159-A0E3-5C080AC658C6}" type="presOf" srcId="{882DAA35-20E7-4805-8431-D252B212E1E8}" destId="{3BEA13E0-A2EB-41AA-B23F-7B88E4F96848}" srcOrd="0" destOrd="1" presId="urn:microsoft.com/office/officeart/2005/8/layout/hList1"/>
    <dgm:cxn modelId="{E23391D9-9043-4422-94F6-2CB7170BA6DE}" srcId="{BD9E94AB-1EA9-4FE4-8DD8-C3A9DF8E9978}" destId="{8FB7AE19-B586-4A4C-8094-FDE2EB139843}" srcOrd="0" destOrd="0" parTransId="{BD72B08A-FDAC-43BD-ABDD-0764DE321490}" sibTransId="{7323867A-B311-4E60-B14B-9CFFB22CEFFE}"/>
    <dgm:cxn modelId="{7A5221DE-93E9-4100-A683-1166F1C91170}" type="presOf" srcId="{278D71FA-B669-4BD7-9F4B-2D6298B938CA}" destId="{C7A4C710-7F8F-4E1A-88EF-0C92C41661E2}" srcOrd="0" destOrd="0" presId="urn:microsoft.com/office/officeart/2005/8/layout/hList1"/>
    <dgm:cxn modelId="{0C7465DF-DBE5-4D0B-BCD0-8A376107CF41}" srcId="{E44A1B9F-C8C0-4738-983F-1A3FBFA26E0C}" destId="{0CE115AE-E8FF-4FBA-8734-E973D6F8830F}" srcOrd="2" destOrd="0" parTransId="{5147C656-C76B-4F61-AE8A-9B19A8B19732}" sibTransId="{E5B39D5E-9CC5-4564-B5BC-52965092A6B6}"/>
    <dgm:cxn modelId="{4905A6E7-67D8-4B86-AD7C-2EDC2C1F2A6F}" type="presOf" srcId="{E44A1B9F-C8C0-4738-983F-1A3FBFA26E0C}" destId="{6F51068F-BE09-49F9-98FF-6704716400F4}" srcOrd="0" destOrd="0" presId="urn:microsoft.com/office/officeart/2005/8/layout/hList1"/>
    <dgm:cxn modelId="{DDC145E8-DEB5-4505-95AC-AE2621FB5710}" type="presOf" srcId="{C155130E-9A98-466A-ABA0-35B37F12F267}" destId="{705F129A-026D-48FD-A157-FCF440F1C7AC}" srcOrd="0" destOrd="0" presId="urn:microsoft.com/office/officeart/2005/8/layout/hList1"/>
    <dgm:cxn modelId="{BFF648FA-E632-400D-9E97-032546393FB8}" srcId="{E44A1B9F-C8C0-4738-983F-1A3FBFA26E0C}" destId="{8C174D8C-23F7-42A9-B9CF-B00186EC3257}" srcOrd="1" destOrd="0" parTransId="{293FFFFC-46D8-494C-8159-2F1B3BB8ECF1}" sibTransId="{A565E1AE-1C9B-46AB-B247-49510C803854}"/>
    <dgm:cxn modelId="{85A478FB-9F9E-4A2A-B16C-DF60FDF918BE}" srcId="{E44A1B9F-C8C0-4738-983F-1A3FBFA26E0C}" destId="{BD9E94AB-1EA9-4FE4-8DD8-C3A9DF8E9978}" srcOrd="0" destOrd="0" parTransId="{BFD915F0-C0FD-4CAF-8516-C218216EE993}" sibTransId="{D9175244-BB87-48FA-850F-A7C5B2A3D2C9}"/>
    <dgm:cxn modelId="{B0BF6828-493D-4D67-BB4F-D7380C5CEAB1}" type="presParOf" srcId="{6F51068F-BE09-49F9-98FF-6704716400F4}" destId="{A90FCE58-F050-4014-A507-E252CE23B3C5}" srcOrd="0" destOrd="0" presId="urn:microsoft.com/office/officeart/2005/8/layout/hList1"/>
    <dgm:cxn modelId="{72074D0F-67A8-44E5-A064-5DA0EE0DEA8B}" type="presParOf" srcId="{A90FCE58-F050-4014-A507-E252CE23B3C5}" destId="{722370EC-9B34-4074-A6FF-9E951D4A8D35}" srcOrd="0" destOrd="0" presId="urn:microsoft.com/office/officeart/2005/8/layout/hList1"/>
    <dgm:cxn modelId="{8D0353B3-8DF8-4678-A9FC-CE3955DF2275}" type="presParOf" srcId="{A90FCE58-F050-4014-A507-E252CE23B3C5}" destId="{C27D3391-2FBE-4615-B844-7696BACA8391}" srcOrd="1" destOrd="0" presId="urn:microsoft.com/office/officeart/2005/8/layout/hList1"/>
    <dgm:cxn modelId="{9849187F-90EB-4BE0-AD32-465557A452CE}" type="presParOf" srcId="{6F51068F-BE09-49F9-98FF-6704716400F4}" destId="{F2965AE5-9537-4F5C-8247-3160F5E92CB7}" srcOrd="1" destOrd="0" presId="urn:microsoft.com/office/officeart/2005/8/layout/hList1"/>
    <dgm:cxn modelId="{1C8E3032-B3AF-41D9-A020-EDEF91F03B5D}" type="presParOf" srcId="{6F51068F-BE09-49F9-98FF-6704716400F4}" destId="{FA3AC9A3-12E9-4CD1-AB69-5AA55E272D69}" srcOrd="2" destOrd="0" presId="urn:microsoft.com/office/officeart/2005/8/layout/hList1"/>
    <dgm:cxn modelId="{7DBCA21A-D72A-4657-BEC0-07713E095E49}" type="presParOf" srcId="{FA3AC9A3-12E9-4CD1-AB69-5AA55E272D69}" destId="{1CE12965-16C6-43DA-AB5D-964CBCC28C20}" srcOrd="0" destOrd="0" presId="urn:microsoft.com/office/officeart/2005/8/layout/hList1"/>
    <dgm:cxn modelId="{65518E3A-09D4-44AC-881B-81D76EBFD3A8}" type="presParOf" srcId="{FA3AC9A3-12E9-4CD1-AB69-5AA55E272D69}" destId="{3BEA13E0-A2EB-41AA-B23F-7B88E4F96848}" srcOrd="1" destOrd="0" presId="urn:microsoft.com/office/officeart/2005/8/layout/hList1"/>
    <dgm:cxn modelId="{45A0B3C8-690E-4FE0-8509-D3E5E98F21AC}" type="presParOf" srcId="{6F51068F-BE09-49F9-98FF-6704716400F4}" destId="{97DDE1A3-0C47-4E3B-9D8E-2601513876E3}" srcOrd="3" destOrd="0" presId="urn:microsoft.com/office/officeart/2005/8/layout/hList1"/>
    <dgm:cxn modelId="{BF984097-03A3-470F-A4C6-E1EAA74C42EB}" type="presParOf" srcId="{6F51068F-BE09-49F9-98FF-6704716400F4}" destId="{A9802057-D642-4BC6-8A2F-369BBE66AC4E}" srcOrd="4" destOrd="0" presId="urn:microsoft.com/office/officeart/2005/8/layout/hList1"/>
    <dgm:cxn modelId="{83051659-1941-4CC1-AD27-574BF5EA5D06}" type="presParOf" srcId="{A9802057-D642-4BC6-8A2F-369BBE66AC4E}" destId="{6A40C1E3-E00B-475B-892F-AA048524E374}" srcOrd="0" destOrd="0" presId="urn:microsoft.com/office/officeart/2005/8/layout/hList1"/>
    <dgm:cxn modelId="{9D23BDFE-5B51-4779-A4C8-0BE020832AA9}" type="presParOf" srcId="{A9802057-D642-4BC6-8A2F-369BBE66AC4E}" destId="{C7A4C710-7F8F-4E1A-88EF-0C92C41661E2}" srcOrd="1" destOrd="0" presId="urn:microsoft.com/office/officeart/2005/8/layout/hList1"/>
    <dgm:cxn modelId="{5669FF30-F7A1-46AA-B778-1029BA4DD494}" type="presParOf" srcId="{6F51068F-BE09-49F9-98FF-6704716400F4}" destId="{2C66590B-4B1F-4989-965F-E57DEC556B6B}" srcOrd="5" destOrd="0" presId="urn:microsoft.com/office/officeart/2005/8/layout/hList1"/>
    <dgm:cxn modelId="{A94985BF-8613-4F6C-A165-6FA48999597A}" type="presParOf" srcId="{6F51068F-BE09-49F9-98FF-6704716400F4}" destId="{03CB0B49-ADDF-4743-A0A8-54DF62CB2E57}" srcOrd="6" destOrd="0" presId="urn:microsoft.com/office/officeart/2005/8/layout/hList1"/>
    <dgm:cxn modelId="{94655475-A6F4-4F67-BD9C-1384C0E9CB3E}" type="presParOf" srcId="{03CB0B49-ADDF-4743-A0A8-54DF62CB2E57}" destId="{705F129A-026D-48FD-A157-FCF440F1C7AC}" srcOrd="0" destOrd="0" presId="urn:microsoft.com/office/officeart/2005/8/layout/hList1"/>
    <dgm:cxn modelId="{33CEE552-170A-478D-A690-45C7EE86EBFA}" type="presParOf" srcId="{03CB0B49-ADDF-4743-A0A8-54DF62CB2E57}" destId="{B6A813B1-6668-4F28-BE57-375B2AD7D2A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8" qsCatId="simple" csTypeId="urn:microsoft.com/office/officeart/2005/8/colors/accent1_2#8"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9" qsCatId="simple" csTypeId="urn:microsoft.com/office/officeart/2005/8/colors/accent1_2#9"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1" qsCatId="simple" csTypeId="urn:microsoft.com/office/officeart/2005/8/colors/accent1_2#10"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a:t>Simple reflex agents</a:t>
          </a:r>
          <a:endParaRPr lang="en-US" dirty="0"/>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10" qsCatId="simple" csTypeId="urn:microsoft.com/office/officeart/2005/8/colors/accent1_2#11"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2" qsCatId="simple" csTypeId="urn:microsoft.com/office/officeart/2005/8/colors/accent1_2#1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11" qsCatId="simple" csTypeId="urn:microsoft.com/office/officeart/2005/8/colors/accent1_2#13"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3" qsCatId="simple" csTypeId="urn:microsoft.com/office/officeart/2005/8/colors/accent1_2#14"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4" qsCatId="simple" csTypeId="urn:microsoft.com/office/officeart/2005/8/colors/accent1_2#15"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55E5EE3-B363-4D6C-88F1-916B33266448}" type="doc">
      <dgm:prSet loTypeId="urn:microsoft.com/office/officeart/2005/8/layout/default" loCatId="list" qsTypeId="urn:microsoft.com/office/officeart/2005/8/quickstyle/simple1#12" qsCatId="simple" csTypeId="urn:microsoft.com/office/officeart/2005/8/colors/colorful5#1" csCatId="colorful" phldr="1"/>
      <dgm:spPr/>
      <dgm:t>
        <a:bodyPr/>
        <a:lstStyle/>
        <a:p>
          <a:endParaRPr lang="en-US"/>
        </a:p>
      </dgm:t>
    </dgm:pt>
    <dgm:pt modelId="{D80069BB-8E35-400D-8CA5-1215F8940D34}">
      <dgm:prSet/>
      <dgm:spPr/>
      <dgm:t>
        <a:bodyPr/>
        <a:lstStyle/>
        <a:p>
          <a:r>
            <a:rPr lang="en-US" b="1" dirty="0"/>
            <a:t>Search for a goal </a:t>
          </a:r>
          <a:br>
            <a:rPr lang="en-US" dirty="0"/>
          </a:br>
          <a:r>
            <a:rPr lang="en-US" dirty="0"/>
            <a:t>(e.g., navigation). </a:t>
          </a:r>
        </a:p>
      </dgm:t>
      <dgm:extLst>
        <a:ext uri="{E40237B7-FDA0-4F09-8148-C483321AD2D9}">
          <dgm14:cNvPr xmlns:dgm14="http://schemas.microsoft.com/office/drawing/2010/diagram" id="0" name="" descr="A figure showing 6 research areas of AI."/>
        </a:ext>
      </dgm:extLst>
    </dgm:pt>
    <dgm:pt modelId="{BA9AA648-163F-4C8E-BAAE-8E434035E850}" type="parTrans" cxnId="{07F26D98-98C7-42A9-A50F-F90461FE633F}">
      <dgm:prSet/>
      <dgm:spPr/>
      <dgm:t>
        <a:bodyPr/>
        <a:lstStyle/>
        <a:p>
          <a:endParaRPr lang="en-US"/>
        </a:p>
      </dgm:t>
    </dgm:pt>
    <dgm:pt modelId="{F5633BB9-CEDC-4907-A004-109D55124B9A}" type="sibTrans" cxnId="{07F26D98-98C7-42A9-A50F-F90461FE633F}">
      <dgm:prSet/>
      <dgm:spPr/>
      <dgm:t>
        <a:bodyPr/>
        <a:lstStyle/>
        <a:p>
          <a:endParaRPr lang="en-US"/>
        </a:p>
      </dgm:t>
    </dgm:pt>
    <dgm:pt modelId="{0FB824FF-CBB3-458B-9285-B531FF5E5860}">
      <dgm:prSet/>
      <dgm:spPr/>
      <dgm:t>
        <a:bodyPr/>
        <a:lstStyle/>
        <a:p>
          <a:r>
            <a:rPr lang="en-US" b="1" dirty="0"/>
            <a:t>Optimize functions</a:t>
          </a:r>
          <a:br>
            <a:rPr lang="en-US" dirty="0"/>
          </a:br>
          <a:r>
            <a:rPr lang="en-US" dirty="0"/>
            <a:t>(e.g., utility).</a:t>
          </a:r>
        </a:p>
      </dgm:t>
      <dgm:extLst>
        <a:ext uri="{E40237B7-FDA0-4F09-8148-C483321AD2D9}">
          <dgm14:cNvPr xmlns:dgm14="http://schemas.microsoft.com/office/drawing/2010/diagram" id="0" name="" descr="A figure showing 6 research areas of AI."/>
        </a:ext>
      </dgm:extLst>
    </dgm:pt>
    <dgm:pt modelId="{FC996115-56CA-4728-85E4-FDD41ED8AEB7}" type="parTrans" cxnId="{B6782E81-CFC7-434B-952C-33939ED020E1}">
      <dgm:prSet/>
      <dgm:spPr/>
      <dgm:t>
        <a:bodyPr/>
        <a:lstStyle/>
        <a:p>
          <a:endParaRPr lang="en-US"/>
        </a:p>
      </dgm:t>
    </dgm:pt>
    <dgm:pt modelId="{08AF88B2-A07F-42EB-B5DD-3233FEEB4D22}" type="sibTrans" cxnId="{B6782E81-CFC7-434B-952C-33939ED020E1}">
      <dgm:prSet/>
      <dgm:spPr/>
      <dgm:t>
        <a:bodyPr/>
        <a:lstStyle/>
        <a:p>
          <a:endParaRPr lang="en-US"/>
        </a:p>
      </dgm:t>
    </dgm:pt>
    <dgm:pt modelId="{E44F2C67-68DD-4E26-BCF4-2AA071F94FC1}">
      <dgm:prSet/>
      <dgm:spPr/>
      <dgm:t>
        <a:bodyPr/>
        <a:lstStyle/>
        <a:p>
          <a:r>
            <a:rPr lang="en-US" b="1" dirty="0"/>
            <a:t>Stay within given constraints </a:t>
          </a:r>
          <a:r>
            <a:rPr lang="en-US" dirty="0"/>
            <a:t>(constraint satisfaction problem; e.g., reach the goal without running out of power)</a:t>
          </a:r>
        </a:p>
      </dgm:t>
      <dgm:extLst>
        <a:ext uri="{E40237B7-FDA0-4F09-8148-C483321AD2D9}">
          <dgm14:cNvPr xmlns:dgm14="http://schemas.microsoft.com/office/drawing/2010/diagram" id="0" name="" descr="A figure showing 6 research areas of AI."/>
        </a:ext>
      </dgm:extLst>
    </dgm:pt>
    <dgm:pt modelId="{EDCB9C4E-28A5-4408-A787-42CBD25EF44C}" type="parTrans" cxnId="{FA00120F-C80E-4DF9-90D8-3C49B5B8786E}">
      <dgm:prSet/>
      <dgm:spPr/>
      <dgm:t>
        <a:bodyPr/>
        <a:lstStyle/>
        <a:p>
          <a:endParaRPr lang="en-US"/>
        </a:p>
      </dgm:t>
    </dgm:pt>
    <dgm:pt modelId="{C84560EF-23AC-4161-839A-E47DF5B8CB53}" type="sibTrans" cxnId="{FA00120F-C80E-4DF9-90D8-3C49B5B8786E}">
      <dgm:prSet/>
      <dgm:spPr/>
      <dgm:t>
        <a:bodyPr/>
        <a:lstStyle/>
        <a:p>
          <a:endParaRPr lang="en-US"/>
        </a:p>
      </dgm:t>
    </dgm:pt>
    <dgm:pt modelId="{2A4FA44A-FD45-401B-892D-60887C1C16B1}">
      <dgm:prSet/>
      <dgm:spPr/>
      <dgm:t>
        <a:bodyPr/>
        <a:lstStyle/>
        <a:p>
          <a:r>
            <a:rPr lang="en-US" b="1" dirty="0"/>
            <a:t>Deal with uncertainty</a:t>
          </a:r>
          <a:br>
            <a:rPr lang="en-US" dirty="0"/>
          </a:br>
          <a:r>
            <a:rPr lang="en-US" dirty="0"/>
            <a:t> (e.g., current traffic on the road).</a:t>
          </a:r>
        </a:p>
      </dgm:t>
      <dgm:extLst>
        <a:ext uri="{E40237B7-FDA0-4F09-8148-C483321AD2D9}">
          <dgm14:cNvPr xmlns:dgm14="http://schemas.microsoft.com/office/drawing/2010/diagram" id="0" name="" descr="A figure showing 6 research areas of AI."/>
        </a:ext>
      </dgm:extLst>
    </dgm:pt>
    <dgm:pt modelId="{41D96D54-7EE2-47A3-89DF-07228DE8D8E6}" type="parTrans" cxnId="{BAAC3D45-4FDD-4725-BC7E-695BE2008C05}">
      <dgm:prSet/>
      <dgm:spPr/>
      <dgm:t>
        <a:bodyPr/>
        <a:lstStyle/>
        <a:p>
          <a:endParaRPr lang="en-US"/>
        </a:p>
      </dgm:t>
    </dgm:pt>
    <dgm:pt modelId="{7C0BE788-FF3F-4FC2-91CD-4E0B1C1FD818}" type="sibTrans" cxnId="{BAAC3D45-4FDD-4725-BC7E-695BE2008C05}">
      <dgm:prSet/>
      <dgm:spPr/>
      <dgm:t>
        <a:bodyPr/>
        <a:lstStyle/>
        <a:p>
          <a:endParaRPr lang="en-US"/>
        </a:p>
      </dgm:t>
    </dgm:pt>
    <dgm:pt modelId="{B879ECD9-B59C-42DD-A853-FC01EC7A3F60}">
      <dgm:prSet/>
      <dgm:spPr/>
      <dgm:t>
        <a:bodyPr/>
        <a:lstStyle/>
        <a:p>
          <a:r>
            <a:rPr lang="en-US" b="1" dirty="0"/>
            <a:t>Learn a good agent program from data and improve over time </a:t>
          </a:r>
          <a:br>
            <a:rPr lang="en-US" dirty="0"/>
          </a:br>
          <a:r>
            <a:rPr lang="en-US" dirty="0"/>
            <a:t>(machine learning).</a:t>
          </a:r>
        </a:p>
      </dgm:t>
      <dgm:extLst>
        <a:ext uri="{E40237B7-FDA0-4F09-8148-C483321AD2D9}">
          <dgm14:cNvPr xmlns:dgm14="http://schemas.microsoft.com/office/drawing/2010/diagram" id="0" name="" descr="A figure showing 6 research areas of AI."/>
        </a:ext>
      </dgm:extLst>
    </dgm:pt>
    <dgm:pt modelId="{9F24A3E2-3998-4EF3-85AD-8886F983E049}" type="parTrans" cxnId="{378AE25A-F44C-4E4F-914E-87DC83F7CD9A}">
      <dgm:prSet/>
      <dgm:spPr/>
      <dgm:t>
        <a:bodyPr/>
        <a:lstStyle/>
        <a:p>
          <a:endParaRPr lang="en-US"/>
        </a:p>
      </dgm:t>
    </dgm:pt>
    <dgm:pt modelId="{74194639-D3BD-4A9D-B0E5-FE1747321193}" type="sibTrans" cxnId="{378AE25A-F44C-4E4F-914E-87DC83F7CD9A}">
      <dgm:prSet/>
      <dgm:spPr/>
      <dgm:t>
        <a:bodyPr/>
        <a:lstStyle/>
        <a:p>
          <a:endParaRPr lang="en-US"/>
        </a:p>
      </dgm:t>
    </dgm:pt>
    <dgm:pt modelId="{4D19892B-1D99-4BD3-994E-239C692FB82D}">
      <dgm:prSet/>
      <dgm:spPr/>
      <dgm:t>
        <a:bodyPr/>
        <a:lstStyle/>
        <a:p>
          <a:r>
            <a:rPr lang="en-US" b="1" dirty="0"/>
            <a:t>Sensing</a:t>
          </a:r>
          <a:br>
            <a:rPr lang="en-US" dirty="0"/>
          </a:br>
          <a:r>
            <a:rPr lang="en-US" dirty="0"/>
            <a:t>(e.g., natural language processing, vision)</a:t>
          </a:r>
        </a:p>
      </dgm:t>
      <dgm:extLst>
        <a:ext uri="{E40237B7-FDA0-4F09-8148-C483321AD2D9}">
          <dgm14:cNvPr xmlns:dgm14="http://schemas.microsoft.com/office/drawing/2010/diagram" id="0" name="" descr="A figure showing 6 research areas of AI."/>
        </a:ext>
      </dgm:extLst>
    </dgm:pt>
    <dgm:pt modelId="{E99BA468-5DBE-4EAC-81FB-4DB3C4006A7A}" type="parTrans" cxnId="{4B81AE71-1489-4135-880D-AB4ED703BC63}">
      <dgm:prSet/>
      <dgm:spPr/>
      <dgm:t>
        <a:bodyPr/>
        <a:lstStyle/>
        <a:p>
          <a:endParaRPr lang="en-US"/>
        </a:p>
      </dgm:t>
    </dgm:pt>
    <dgm:pt modelId="{3E594377-B054-4B0B-8B15-FD61727B23D3}" type="sibTrans" cxnId="{4B81AE71-1489-4135-880D-AB4ED703BC63}">
      <dgm:prSet/>
      <dgm:spPr/>
      <dgm:t>
        <a:bodyPr/>
        <a:lstStyle/>
        <a:p>
          <a:endParaRPr lang="en-US"/>
        </a:p>
      </dgm:t>
    </dgm:pt>
    <dgm:pt modelId="{2B7CDCB7-ED70-4F22-8357-E6E5B237203A}" type="pres">
      <dgm:prSet presAssocID="{555E5EE3-B363-4D6C-88F1-916B33266448}" presName="diagram" presStyleCnt="0">
        <dgm:presLayoutVars>
          <dgm:dir/>
          <dgm:resizeHandles val="exact"/>
        </dgm:presLayoutVars>
      </dgm:prSet>
      <dgm:spPr/>
    </dgm:pt>
    <dgm:pt modelId="{26123794-7DC3-4213-9409-4DAC10BB4149}" type="pres">
      <dgm:prSet presAssocID="{D80069BB-8E35-400D-8CA5-1215F8940D34}" presName="node" presStyleLbl="node1" presStyleIdx="0" presStyleCnt="6">
        <dgm:presLayoutVars>
          <dgm:bulletEnabled val="1"/>
        </dgm:presLayoutVars>
      </dgm:prSet>
      <dgm:spPr/>
    </dgm:pt>
    <dgm:pt modelId="{B57AA989-367B-42D1-8E34-0B19A160FB82}" type="pres">
      <dgm:prSet presAssocID="{F5633BB9-CEDC-4907-A004-109D55124B9A}" presName="sibTrans" presStyleCnt="0"/>
      <dgm:spPr/>
    </dgm:pt>
    <dgm:pt modelId="{86913D6A-C88D-470A-938E-C5F24ACEC7D0}" type="pres">
      <dgm:prSet presAssocID="{0FB824FF-CBB3-458B-9285-B531FF5E5860}" presName="node" presStyleLbl="node1" presStyleIdx="1" presStyleCnt="6">
        <dgm:presLayoutVars>
          <dgm:bulletEnabled val="1"/>
        </dgm:presLayoutVars>
      </dgm:prSet>
      <dgm:spPr/>
    </dgm:pt>
    <dgm:pt modelId="{D74C3E90-A6A8-48C8-A551-E157E3554967}" type="pres">
      <dgm:prSet presAssocID="{08AF88B2-A07F-42EB-B5DD-3233FEEB4D22}" presName="sibTrans" presStyleCnt="0"/>
      <dgm:spPr/>
    </dgm:pt>
    <dgm:pt modelId="{B5EEA2DA-E7B2-4E5E-A1D6-0E4998FC5BF9}" type="pres">
      <dgm:prSet presAssocID="{E44F2C67-68DD-4E26-BCF4-2AA071F94FC1}" presName="node" presStyleLbl="node1" presStyleIdx="2" presStyleCnt="6">
        <dgm:presLayoutVars>
          <dgm:bulletEnabled val="1"/>
        </dgm:presLayoutVars>
      </dgm:prSet>
      <dgm:spPr/>
    </dgm:pt>
    <dgm:pt modelId="{2968275B-7410-4996-A67D-5A115EC04324}" type="pres">
      <dgm:prSet presAssocID="{C84560EF-23AC-4161-839A-E47DF5B8CB53}" presName="sibTrans" presStyleCnt="0"/>
      <dgm:spPr/>
    </dgm:pt>
    <dgm:pt modelId="{3D48CA99-0D49-4A06-8AD2-7577D894C005}" type="pres">
      <dgm:prSet presAssocID="{2A4FA44A-FD45-401B-892D-60887C1C16B1}" presName="node" presStyleLbl="node1" presStyleIdx="3" presStyleCnt="6">
        <dgm:presLayoutVars>
          <dgm:bulletEnabled val="1"/>
        </dgm:presLayoutVars>
      </dgm:prSet>
      <dgm:spPr/>
    </dgm:pt>
    <dgm:pt modelId="{5A03EF82-8A1A-4116-A2AB-76F43F5AAE1B}" type="pres">
      <dgm:prSet presAssocID="{7C0BE788-FF3F-4FC2-91CD-4E0B1C1FD818}" presName="sibTrans" presStyleCnt="0"/>
      <dgm:spPr/>
    </dgm:pt>
    <dgm:pt modelId="{1552D5B5-F5AD-4E06-939D-78DE82F19BE3}" type="pres">
      <dgm:prSet presAssocID="{B879ECD9-B59C-42DD-A853-FC01EC7A3F60}" presName="node" presStyleLbl="node1" presStyleIdx="4" presStyleCnt="6">
        <dgm:presLayoutVars>
          <dgm:bulletEnabled val="1"/>
        </dgm:presLayoutVars>
      </dgm:prSet>
      <dgm:spPr/>
    </dgm:pt>
    <dgm:pt modelId="{A4C68940-BF1F-48B2-BD28-78691BE3AD93}" type="pres">
      <dgm:prSet presAssocID="{74194639-D3BD-4A9D-B0E5-FE1747321193}" presName="sibTrans" presStyleCnt="0"/>
      <dgm:spPr/>
    </dgm:pt>
    <dgm:pt modelId="{6227B7C4-618D-44BD-819F-7F186E653162}" type="pres">
      <dgm:prSet presAssocID="{4D19892B-1D99-4BD3-994E-239C692FB82D}" presName="node" presStyleLbl="node1" presStyleIdx="5" presStyleCnt="6">
        <dgm:presLayoutVars>
          <dgm:bulletEnabled val="1"/>
        </dgm:presLayoutVars>
      </dgm:prSet>
      <dgm:spPr/>
    </dgm:pt>
  </dgm:ptLst>
  <dgm:cxnLst>
    <dgm:cxn modelId="{FA00120F-C80E-4DF9-90D8-3C49B5B8786E}" srcId="{555E5EE3-B363-4D6C-88F1-916B33266448}" destId="{E44F2C67-68DD-4E26-BCF4-2AA071F94FC1}" srcOrd="2" destOrd="0" parTransId="{EDCB9C4E-28A5-4408-A787-42CBD25EF44C}" sibTransId="{C84560EF-23AC-4161-839A-E47DF5B8CB53}"/>
    <dgm:cxn modelId="{25F88313-33C0-4D53-9310-46B4B553D9E1}" type="presOf" srcId="{D80069BB-8E35-400D-8CA5-1215F8940D34}" destId="{26123794-7DC3-4213-9409-4DAC10BB4149}" srcOrd="0" destOrd="0" presId="urn:microsoft.com/office/officeart/2005/8/layout/default"/>
    <dgm:cxn modelId="{7E17AD3C-4339-42D7-8A20-9347FEBC6F3A}" type="presOf" srcId="{E44F2C67-68DD-4E26-BCF4-2AA071F94FC1}" destId="{B5EEA2DA-E7B2-4E5E-A1D6-0E4998FC5BF9}" srcOrd="0" destOrd="0" presId="urn:microsoft.com/office/officeart/2005/8/layout/default"/>
    <dgm:cxn modelId="{EB954361-A156-4490-8320-C103DBF6DCB8}" type="presOf" srcId="{4D19892B-1D99-4BD3-994E-239C692FB82D}" destId="{6227B7C4-618D-44BD-819F-7F186E653162}" srcOrd="0" destOrd="0" presId="urn:microsoft.com/office/officeart/2005/8/layout/default"/>
    <dgm:cxn modelId="{BAAC3D45-4FDD-4725-BC7E-695BE2008C05}" srcId="{555E5EE3-B363-4D6C-88F1-916B33266448}" destId="{2A4FA44A-FD45-401B-892D-60887C1C16B1}" srcOrd="3" destOrd="0" parTransId="{41D96D54-7EE2-47A3-89DF-07228DE8D8E6}" sibTransId="{7C0BE788-FF3F-4FC2-91CD-4E0B1C1FD818}"/>
    <dgm:cxn modelId="{4B81AE71-1489-4135-880D-AB4ED703BC63}" srcId="{555E5EE3-B363-4D6C-88F1-916B33266448}" destId="{4D19892B-1D99-4BD3-994E-239C692FB82D}" srcOrd="5" destOrd="0" parTransId="{E99BA468-5DBE-4EAC-81FB-4DB3C4006A7A}" sibTransId="{3E594377-B054-4B0B-8B15-FD61727B23D3}"/>
    <dgm:cxn modelId="{378AE25A-F44C-4E4F-914E-87DC83F7CD9A}" srcId="{555E5EE3-B363-4D6C-88F1-916B33266448}" destId="{B879ECD9-B59C-42DD-A853-FC01EC7A3F60}" srcOrd="4" destOrd="0" parTransId="{9F24A3E2-3998-4EF3-85AD-8886F983E049}" sibTransId="{74194639-D3BD-4A9D-B0E5-FE1747321193}"/>
    <dgm:cxn modelId="{0962E65A-630F-4162-822C-D1527A762B3D}" type="presOf" srcId="{B879ECD9-B59C-42DD-A853-FC01EC7A3F60}" destId="{1552D5B5-F5AD-4E06-939D-78DE82F19BE3}" srcOrd="0" destOrd="0" presId="urn:microsoft.com/office/officeart/2005/8/layout/default"/>
    <dgm:cxn modelId="{B6782E81-CFC7-434B-952C-33939ED020E1}" srcId="{555E5EE3-B363-4D6C-88F1-916B33266448}" destId="{0FB824FF-CBB3-458B-9285-B531FF5E5860}" srcOrd="1" destOrd="0" parTransId="{FC996115-56CA-4728-85E4-FDD41ED8AEB7}" sibTransId="{08AF88B2-A07F-42EB-B5DD-3233FEEB4D22}"/>
    <dgm:cxn modelId="{51E13D85-58BF-4FAA-A715-0AEE514E26B9}" type="presOf" srcId="{0FB824FF-CBB3-458B-9285-B531FF5E5860}" destId="{86913D6A-C88D-470A-938E-C5F24ACEC7D0}" srcOrd="0" destOrd="0" presId="urn:microsoft.com/office/officeart/2005/8/layout/default"/>
    <dgm:cxn modelId="{07F26D98-98C7-42A9-A50F-F90461FE633F}" srcId="{555E5EE3-B363-4D6C-88F1-916B33266448}" destId="{D80069BB-8E35-400D-8CA5-1215F8940D34}" srcOrd="0" destOrd="0" parTransId="{BA9AA648-163F-4C8E-BAAE-8E434035E850}" sibTransId="{F5633BB9-CEDC-4907-A004-109D55124B9A}"/>
    <dgm:cxn modelId="{D7F34DB6-8A45-4D13-A94D-66371105E71B}" type="presOf" srcId="{2A4FA44A-FD45-401B-892D-60887C1C16B1}" destId="{3D48CA99-0D49-4A06-8AD2-7577D894C005}" srcOrd="0" destOrd="0" presId="urn:microsoft.com/office/officeart/2005/8/layout/default"/>
    <dgm:cxn modelId="{C7D687FB-2B73-4091-9C7C-32C59CE0EDBF}" type="presOf" srcId="{555E5EE3-B363-4D6C-88F1-916B33266448}" destId="{2B7CDCB7-ED70-4F22-8357-E6E5B237203A}" srcOrd="0" destOrd="0" presId="urn:microsoft.com/office/officeart/2005/8/layout/default"/>
    <dgm:cxn modelId="{DFF56C5F-5442-4B45-B9B0-8201F31B410E}" type="presParOf" srcId="{2B7CDCB7-ED70-4F22-8357-E6E5B237203A}" destId="{26123794-7DC3-4213-9409-4DAC10BB4149}" srcOrd="0" destOrd="0" presId="urn:microsoft.com/office/officeart/2005/8/layout/default"/>
    <dgm:cxn modelId="{6921480E-F436-4DED-965D-5F26A7FD578F}" type="presParOf" srcId="{2B7CDCB7-ED70-4F22-8357-E6E5B237203A}" destId="{B57AA989-367B-42D1-8E34-0B19A160FB82}" srcOrd="1" destOrd="0" presId="urn:microsoft.com/office/officeart/2005/8/layout/default"/>
    <dgm:cxn modelId="{35CBB486-2647-47D3-926F-C52F9788BB97}" type="presParOf" srcId="{2B7CDCB7-ED70-4F22-8357-E6E5B237203A}" destId="{86913D6A-C88D-470A-938E-C5F24ACEC7D0}" srcOrd="2" destOrd="0" presId="urn:microsoft.com/office/officeart/2005/8/layout/default"/>
    <dgm:cxn modelId="{E2E95F28-27C0-4F00-984F-3F11A358E386}" type="presParOf" srcId="{2B7CDCB7-ED70-4F22-8357-E6E5B237203A}" destId="{D74C3E90-A6A8-48C8-A551-E157E3554967}" srcOrd="3" destOrd="0" presId="urn:microsoft.com/office/officeart/2005/8/layout/default"/>
    <dgm:cxn modelId="{F2A2D102-32AF-4C97-8BC3-C4AD44BBE7B5}" type="presParOf" srcId="{2B7CDCB7-ED70-4F22-8357-E6E5B237203A}" destId="{B5EEA2DA-E7B2-4E5E-A1D6-0E4998FC5BF9}" srcOrd="4" destOrd="0" presId="urn:microsoft.com/office/officeart/2005/8/layout/default"/>
    <dgm:cxn modelId="{C19225BD-6E15-4FA5-91DA-F764849547AE}" type="presParOf" srcId="{2B7CDCB7-ED70-4F22-8357-E6E5B237203A}" destId="{2968275B-7410-4996-A67D-5A115EC04324}" srcOrd="5" destOrd="0" presId="urn:microsoft.com/office/officeart/2005/8/layout/default"/>
    <dgm:cxn modelId="{6F8A990F-4A69-4208-8B72-8D6B72DF61AE}" type="presParOf" srcId="{2B7CDCB7-ED70-4F22-8357-E6E5B237203A}" destId="{3D48CA99-0D49-4A06-8AD2-7577D894C005}" srcOrd="6" destOrd="0" presId="urn:microsoft.com/office/officeart/2005/8/layout/default"/>
    <dgm:cxn modelId="{43C0B1C4-18B7-42ED-80F3-DC1F5CFCED4C}" type="presParOf" srcId="{2B7CDCB7-ED70-4F22-8357-E6E5B237203A}" destId="{5A03EF82-8A1A-4116-A2AB-76F43F5AAE1B}" srcOrd="7" destOrd="0" presId="urn:microsoft.com/office/officeart/2005/8/layout/default"/>
    <dgm:cxn modelId="{2AC39BBC-3134-4A74-B5CA-BE55369A448D}" type="presParOf" srcId="{2B7CDCB7-ED70-4F22-8357-E6E5B237203A}" destId="{1552D5B5-F5AD-4E06-939D-78DE82F19BE3}" srcOrd="8" destOrd="0" presId="urn:microsoft.com/office/officeart/2005/8/layout/default"/>
    <dgm:cxn modelId="{D5A07459-7FDB-4ACD-A7BF-7D0B3A2EFC54}" type="presParOf" srcId="{2B7CDCB7-ED70-4F22-8357-E6E5B237203A}" destId="{A4C68940-BF1F-48B2-BD28-78691BE3AD93}" srcOrd="9" destOrd="0" presId="urn:microsoft.com/office/officeart/2005/8/layout/default"/>
    <dgm:cxn modelId="{3DD86CD2-E780-409F-BF50-9EDEA6D6863D}" type="presParOf" srcId="{2B7CDCB7-ED70-4F22-8357-E6E5B237203A}" destId="{6227B7C4-618D-44BD-819F-7F186E65316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Performance measure</a:t>
          </a:r>
          <a:endParaRPr lang="en-US" sz="1900" kern="1200" dirty="0"/>
        </a:p>
      </dsp:txBody>
      <dsp:txXfrm>
        <a:off x="2965" y="413967"/>
        <a:ext cx="1782979" cy="687255"/>
      </dsp:txXfrm>
    </dsp:sp>
    <dsp:sp modelId="{AE9246A3-3980-441E-8C93-893085D8CE26}">
      <dsp:nvSpPr>
        <dsp:cNvPr id="0" name=""/>
        <dsp:cNvSpPr/>
      </dsp:nvSpPr>
      <dsp:spPr>
        <a:xfrm>
          <a:off x="296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965" y="1101222"/>
        <a:ext cx="1782979" cy="834480"/>
      </dsp:txXfrm>
    </dsp:sp>
    <dsp:sp modelId="{5AAEAC57-C5CF-4BF7-B78E-013E1F7A0946}">
      <dsp:nvSpPr>
        <dsp:cNvPr id="0" name=""/>
        <dsp:cNvSpPr/>
      </dsp:nvSpPr>
      <dsp:spPr>
        <a:xfrm>
          <a:off x="2035561"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13967"/>
        <a:ext cx="1782979" cy="687255"/>
      </dsp:txXfrm>
    </dsp:sp>
    <dsp:sp modelId="{DD58FCCA-5A53-48EF-830C-01A1BC2DEC5F}">
      <dsp:nvSpPr>
        <dsp:cNvPr id="0" name=""/>
        <dsp:cNvSpPr/>
      </dsp:nvSpPr>
      <dsp:spPr>
        <a:xfrm>
          <a:off x="2035561"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035561" y="1101222"/>
        <a:ext cx="1782979" cy="834480"/>
      </dsp:txXfrm>
    </dsp:sp>
    <dsp:sp modelId="{2D001E74-0AE6-4A24-B178-617FDC7EFAEB}">
      <dsp:nvSpPr>
        <dsp:cNvPr id="0" name=""/>
        <dsp:cNvSpPr/>
      </dsp:nvSpPr>
      <dsp:spPr>
        <a:xfrm>
          <a:off x="4068158"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13967"/>
        <a:ext cx="1782979" cy="687255"/>
      </dsp:txXfrm>
    </dsp:sp>
    <dsp:sp modelId="{C7F39890-5C8D-48FD-9A3D-71E6A4C3F357}">
      <dsp:nvSpPr>
        <dsp:cNvPr id="0" name=""/>
        <dsp:cNvSpPr/>
      </dsp:nvSpPr>
      <dsp:spPr>
        <a:xfrm>
          <a:off x="4068158"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4068158" y="1101222"/>
        <a:ext cx="1782979" cy="834480"/>
      </dsp:txXfrm>
    </dsp:sp>
    <dsp:sp modelId="{ED723AC5-A2E2-4B16-BEA7-A94A2BECAD1C}">
      <dsp:nvSpPr>
        <dsp:cNvPr id="0" name=""/>
        <dsp:cNvSpPr/>
      </dsp:nvSpPr>
      <dsp:spPr>
        <a:xfrm>
          <a:off x="610075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413967"/>
        <a:ext cx="1782979" cy="687255"/>
      </dsp:txXfrm>
    </dsp:sp>
    <dsp:sp modelId="{C961A285-B32F-4EA0-A7A2-A0725D9D4CB3}">
      <dsp:nvSpPr>
        <dsp:cNvPr id="0" name=""/>
        <dsp:cNvSpPr/>
      </dsp:nvSpPr>
      <dsp:spPr>
        <a:xfrm>
          <a:off x="610075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6100755" y="1101222"/>
        <a:ext cx="1782979" cy="834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505348"/>
        <a:ext cx="1782979" cy="687255"/>
      </dsp:txXfrm>
    </dsp:sp>
    <dsp:sp modelId="{AE9246A3-3980-441E-8C93-893085D8CE26}">
      <dsp:nvSpPr>
        <dsp:cNvPr id="0" name=""/>
        <dsp:cNvSpPr/>
      </dsp:nvSpPr>
      <dsp:spPr>
        <a:xfrm>
          <a:off x="296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Safe</a:t>
          </a:r>
        </a:p>
        <a:p>
          <a:pPr marL="171450" lvl="1" indent="-171450" algn="l" defTabSz="844550">
            <a:lnSpc>
              <a:spcPct val="90000"/>
            </a:lnSpc>
            <a:spcBef>
              <a:spcPct val="0"/>
            </a:spcBef>
            <a:spcAft>
              <a:spcPct val="15000"/>
            </a:spcAft>
            <a:buChar char="•"/>
          </a:pPr>
          <a:r>
            <a:rPr lang="en-US" sz="1900" kern="1200" dirty="0"/>
            <a:t>fast</a:t>
          </a:r>
        </a:p>
        <a:p>
          <a:pPr marL="171450" lvl="1" indent="-171450" algn="l" defTabSz="844550">
            <a:lnSpc>
              <a:spcPct val="90000"/>
            </a:lnSpc>
            <a:spcBef>
              <a:spcPct val="0"/>
            </a:spcBef>
            <a:spcAft>
              <a:spcPct val="15000"/>
            </a:spcAft>
            <a:buChar char="•"/>
          </a:pPr>
          <a:r>
            <a:rPr lang="en-US" sz="1900" kern="1200" dirty="0"/>
            <a:t>legal</a:t>
          </a:r>
        </a:p>
        <a:p>
          <a:pPr marL="171450" lvl="1" indent="-171450" algn="l" defTabSz="844550">
            <a:lnSpc>
              <a:spcPct val="90000"/>
            </a:lnSpc>
            <a:spcBef>
              <a:spcPct val="0"/>
            </a:spcBef>
            <a:spcAft>
              <a:spcPct val="15000"/>
            </a:spcAft>
            <a:buChar char="•"/>
          </a:pPr>
          <a:r>
            <a:rPr lang="en-US" sz="1900" kern="1200" dirty="0"/>
            <a:t>comfortable trip</a:t>
          </a:r>
        </a:p>
        <a:p>
          <a:pPr marL="171450" lvl="1" indent="-171450" algn="l" defTabSz="844550">
            <a:lnSpc>
              <a:spcPct val="90000"/>
            </a:lnSpc>
            <a:spcBef>
              <a:spcPct val="0"/>
            </a:spcBef>
            <a:spcAft>
              <a:spcPct val="15000"/>
            </a:spcAft>
            <a:buChar char="•"/>
          </a:pPr>
          <a:r>
            <a:rPr lang="en-US" sz="1900" kern="1200" dirty="0"/>
            <a:t>maximize profits</a:t>
          </a:r>
        </a:p>
      </dsp:txBody>
      <dsp:txXfrm>
        <a:off x="2965" y="1192603"/>
        <a:ext cx="1782979" cy="2653385"/>
      </dsp:txXfrm>
    </dsp:sp>
    <dsp:sp modelId="{5AAEAC57-C5CF-4BF7-B78E-013E1F7A0946}">
      <dsp:nvSpPr>
        <dsp:cNvPr id="0" name=""/>
        <dsp:cNvSpPr/>
      </dsp:nvSpPr>
      <dsp:spPr>
        <a:xfrm>
          <a:off x="2035561"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505348"/>
        <a:ext cx="1782979" cy="687255"/>
      </dsp:txXfrm>
    </dsp:sp>
    <dsp:sp modelId="{DD58FCCA-5A53-48EF-830C-01A1BC2DEC5F}">
      <dsp:nvSpPr>
        <dsp:cNvPr id="0" name=""/>
        <dsp:cNvSpPr/>
      </dsp:nvSpPr>
      <dsp:spPr>
        <a:xfrm>
          <a:off x="2035561"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Roads</a:t>
          </a:r>
        </a:p>
        <a:p>
          <a:pPr marL="171450" lvl="1" indent="-171450" algn="l" defTabSz="844550">
            <a:lnSpc>
              <a:spcPct val="90000"/>
            </a:lnSpc>
            <a:spcBef>
              <a:spcPct val="0"/>
            </a:spcBef>
            <a:spcAft>
              <a:spcPct val="15000"/>
            </a:spcAft>
            <a:buChar char="•"/>
          </a:pPr>
          <a:r>
            <a:rPr lang="en-US" sz="1900" kern="1200" dirty="0"/>
            <a:t>other traffic </a:t>
          </a:r>
        </a:p>
        <a:p>
          <a:pPr marL="171450" lvl="1" indent="-171450" algn="l" defTabSz="844550">
            <a:lnSpc>
              <a:spcPct val="90000"/>
            </a:lnSpc>
            <a:spcBef>
              <a:spcPct val="0"/>
            </a:spcBef>
            <a:spcAft>
              <a:spcPct val="15000"/>
            </a:spcAft>
            <a:buChar char="•"/>
          </a:pPr>
          <a:r>
            <a:rPr lang="en-US" sz="1900" kern="1200" dirty="0"/>
            <a:t>pedestrians </a:t>
          </a:r>
        </a:p>
        <a:p>
          <a:pPr marL="171450" lvl="1" indent="-171450" algn="l" defTabSz="844550">
            <a:lnSpc>
              <a:spcPct val="90000"/>
            </a:lnSpc>
            <a:spcBef>
              <a:spcPct val="0"/>
            </a:spcBef>
            <a:spcAft>
              <a:spcPct val="15000"/>
            </a:spcAft>
            <a:buChar char="•"/>
          </a:pPr>
          <a:r>
            <a:rPr lang="en-US" sz="1900" kern="1200" dirty="0"/>
            <a:t>customers</a:t>
          </a:r>
        </a:p>
      </dsp:txBody>
      <dsp:txXfrm>
        <a:off x="2035561" y="1192603"/>
        <a:ext cx="1782979" cy="2653385"/>
      </dsp:txXfrm>
    </dsp:sp>
    <dsp:sp modelId="{2D001E74-0AE6-4A24-B178-617FDC7EFAEB}">
      <dsp:nvSpPr>
        <dsp:cNvPr id="0" name=""/>
        <dsp:cNvSpPr/>
      </dsp:nvSpPr>
      <dsp:spPr>
        <a:xfrm>
          <a:off x="4068158"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505348"/>
        <a:ext cx="1782979" cy="687255"/>
      </dsp:txXfrm>
    </dsp:sp>
    <dsp:sp modelId="{C7F39890-5C8D-48FD-9A3D-71E6A4C3F357}">
      <dsp:nvSpPr>
        <dsp:cNvPr id="0" name=""/>
        <dsp:cNvSpPr/>
      </dsp:nvSpPr>
      <dsp:spPr>
        <a:xfrm>
          <a:off x="4068158"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Steering wheel</a:t>
          </a:r>
        </a:p>
        <a:p>
          <a:pPr marL="171450" lvl="1" indent="-171450" algn="l" defTabSz="844550">
            <a:lnSpc>
              <a:spcPct val="90000"/>
            </a:lnSpc>
            <a:spcBef>
              <a:spcPct val="0"/>
            </a:spcBef>
            <a:spcAft>
              <a:spcPct val="15000"/>
            </a:spcAft>
            <a:buChar char="•"/>
          </a:pPr>
          <a:r>
            <a:rPr lang="en-US" sz="1900" kern="1200" dirty="0"/>
            <a:t> accelerator</a:t>
          </a:r>
        </a:p>
        <a:p>
          <a:pPr marL="171450" lvl="1" indent="-171450" algn="l" defTabSz="844550">
            <a:lnSpc>
              <a:spcPct val="90000"/>
            </a:lnSpc>
            <a:spcBef>
              <a:spcPct val="0"/>
            </a:spcBef>
            <a:spcAft>
              <a:spcPct val="15000"/>
            </a:spcAft>
            <a:buChar char="•"/>
          </a:pPr>
          <a:r>
            <a:rPr lang="en-US" sz="1900" kern="1200" dirty="0"/>
            <a:t>brake</a:t>
          </a:r>
        </a:p>
        <a:p>
          <a:pPr marL="171450" lvl="1" indent="-171450" algn="l" defTabSz="844550">
            <a:lnSpc>
              <a:spcPct val="90000"/>
            </a:lnSpc>
            <a:spcBef>
              <a:spcPct val="0"/>
            </a:spcBef>
            <a:spcAft>
              <a:spcPct val="15000"/>
            </a:spcAft>
            <a:buChar char="•"/>
          </a:pPr>
          <a:r>
            <a:rPr lang="en-US" sz="1900" kern="1200" dirty="0"/>
            <a:t>signal</a:t>
          </a:r>
        </a:p>
        <a:p>
          <a:pPr marL="171450" lvl="1" indent="-171450" algn="l" defTabSz="844550">
            <a:lnSpc>
              <a:spcPct val="90000"/>
            </a:lnSpc>
            <a:spcBef>
              <a:spcPct val="0"/>
            </a:spcBef>
            <a:spcAft>
              <a:spcPct val="15000"/>
            </a:spcAft>
            <a:buChar char="•"/>
          </a:pPr>
          <a:r>
            <a:rPr lang="en-US" sz="1900" kern="1200" dirty="0"/>
            <a:t>horn</a:t>
          </a:r>
        </a:p>
      </dsp:txBody>
      <dsp:txXfrm>
        <a:off x="4068158" y="1192603"/>
        <a:ext cx="1782979" cy="2653385"/>
      </dsp:txXfrm>
    </dsp:sp>
    <dsp:sp modelId="{ED723AC5-A2E2-4B16-BEA7-A94A2BECAD1C}">
      <dsp:nvSpPr>
        <dsp:cNvPr id="0" name=""/>
        <dsp:cNvSpPr/>
      </dsp:nvSpPr>
      <dsp:spPr>
        <a:xfrm>
          <a:off x="610075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505348"/>
        <a:ext cx="1782979" cy="687255"/>
      </dsp:txXfrm>
    </dsp:sp>
    <dsp:sp modelId="{C961A285-B32F-4EA0-A7A2-A0725D9D4CB3}">
      <dsp:nvSpPr>
        <dsp:cNvPr id="0" name=""/>
        <dsp:cNvSpPr/>
      </dsp:nvSpPr>
      <dsp:spPr>
        <a:xfrm>
          <a:off x="610075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Cameras</a:t>
          </a:r>
        </a:p>
        <a:p>
          <a:pPr marL="171450" lvl="1" indent="-171450" algn="l" defTabSz="844550">
            <a:lnSpc>
              <a:spcPct val="90000"/>
            </a:lnSpc>
            <a:spcBef>
              <a:spcPct val="0"/>
            </a:spcBef>
            <a:spcAft>
              <a:spcPct val="15000"/>
            </a:spcAft>
            <a:buChar char="•"/>
          </a:pPr>
          <a:r>
            <a:rPr lang="en-US" sz="1900" kern="1200" dirty="0"/>
            <a:t>sonar</a:t>
          </a:r>
        </a:p>
        <a:p>
          <a:pPr marL="171450" lvl="1" indent="-171450" algn="l" defTabSz="844550">
            <a:lnSpc>
              <a:spcPct val="90000"/>
            </a:lnSpc>
            <a:spcBef>
              <a:spcPct val="0"/>
            </a:spcBef>
            <a:spcAft>
              <a:spcPct val="15000"/>
            </a:spcAft>
            <a:buChar char="•"/>
          </a:pPr>
          <a:r>
            <a:rPr lang="en-US" sz="1900" kern="1200" dirty="0"/>
            <a:t>speedometer</a:t>
          </a:r>
        </a:p>
        <a:p>
          <a:pPr marL="171450" lvl="1" indent="-171450" algn="l" defTabSz="844550">
            <a:lnSpc>
              <a:spcPct val="90000"/>
            </a:lnSpc>
            <a:spcBef>
              <a:spcPct val="0"/>
            </a:spcBef>
            <a:spcAft>
              <a:spcPct val="15000"/>
            </a:spcAft>
            <a:buChar char="•"/>
          </a:pPr>
          <a:r>
            <a:rPr lang="en-US" sz="1900" kern="1200" dirty="0"/>
            <a:t>GPS</a:t>
          </a:r>
        </a:p>
        <a:p>
          <a:pPr marL="171450" lvl="1" indent="-171450" algn="l" defTabSz="844550">
            <a:lnSpc>
              <a:spcPct val="90000"/>
            </a:lnSpc>
            <a:spcBef>
              <a:spcPct val="0"/>
            </a:spcBef>
            <a:spcAft>
              <a:spcPct val="15000"/>
            </a:spcAft>
            <a:buChar char="•"/>
          </a:pPr>
          <a:r>
            <a:rPr lang="en-US" sz="1900" kern="1200" dirty="0"/>
            <a:t>Odometer</a:t>
          </a:r>
        </a:p>
        <a:p>
          <a:pPr marL="171450" lvl="1" indent="-171450" algn="l" defTabSz="844550">
            <a:lnSpc>
              <a:spcPct val="90000"/>
            </a:lnSpc>
            <a:spcBef>
              <a:spcPct val="0"/>
            </a:spcBef>
            <a:spcAft>
              <a:spcPct val="15000"/>
            </a:spcAft>
            <a:buChar char="•"/>
          </a:pPr>
          <a:r>
            <a:rPr lang="en-US" sz="1900" kern="1200" dirty="0"/>
            <a:t>engine sensors</a:t>
          </a:r>
        </a:p>
        <a:p>
          <a:pPr marL="171450" lvl="1" indent="-171450" algn="l" defTabSz="844550">
            <a:lnSpc>
              <a:spcPct val="90000"/>
            </a:lnSpc>
            <a:spcBef>
              <a:spcPct val="0"/>
            </a:spcBef>
            <a:spcAft>
              <a:spcPct val="15000"/>
            </a:spcAft>
            <a:buChar char="•"/>
          </a:pPr>
          <a:r>
            <a:rPr lang="en-US" sz="1900" kern="1200" dirty="0"/>
            <a:t>keyboard</a:t>
          </a:r>
        </a:p>
      </dsp:txBody>
      <dsp:txXfrm>
        <a:off x="6100755" y="1192603"/>
        <a:ext cx="1782979" cy="26533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70EC-9B34-4074-A6FF-9E951D4A8D35}">
      <dsp:nvSpPr>
        <dsp:cNvPr id="0" name=""/>
        <dsp:cNvSpPr/>
      </dsp:nvSpPr>
      <dsp:spPr>
        <a:xfrm>
          <a:off x="296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863914"/>
        <a:ext cx="1782979" cy="687255"/>
      </dsp:txXfrm>
    </dsp:sp>
    <dsp:sp modelId="{C27D3391-2FBE-4615-B844-7696BACA8391}">
      <dsp:nvSpPr>
        <dsp:cNvPr id="0" name=""/>
        <dsp:cNvSpPr/>
      </dsp:nvSpPr>
      <dsp:spPr>
        <a:xfrm>
          <a:off x="296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Accuracy: Minimizing false positives, false negatives</a:t>
          </a:r>
        </a:p>
      </dsp:txBody>
      <dsp:txXfrm>
        <a:off x="2965" y="1551169"/>
        <a:ext cx="1782979" cy="1936254"/>
      </dsp:txXfrm>
    </dsp:sp>
    <dsp:sp modelId="{1CE12965-16C6-43DA-AB5D-964CBCC28C20}">
      <dsp:nvSpPr>
        <dsp:cNvPr id="0" name=""/>
        <dsp:cNvSpPr/>
      </dsp:nvSpPr>
      <dsp:spPr>
        <a:xfrm>
          <a:off x="2035561"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863914"/>
        <a:ext cx="1782979" cy="687255"/>
      </dsp:txXfrm>
    </dsp:sp>
    <dsp:sp modelId="{3BEA13E0-A2EB-41AA-B23F-7B88E4F96848}">
      <dsp:nvSpPr>
        <dsp:cNvPr id="0" name=""/>
        <dsp:cNvSpPr/>
      </dsp:nvSpPr>
      <dsp:spPr>
        <a:xfrm>
          <a:off x="2035561"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user’s email account</a:t>
          </a:r>
        </a:p>
        <a:p>
          <a:pPr marL="171450" lvl="1" indent="-171450" algn="l" defTabSz="844550">
            <a:lnSpc>
              <a:spcPct val="90000"/>
            </a:lnSpc>
            <a:spcBef>
              <a:spcPct val="0"/>
            </a:spcBef>
            <a:spcAft>
              <a:spcPct val="15000"/>
            </a:spcAft>
            <a:buChar char="•"/>
          </a:pPr>
          <a:r>
            <a:rPr lang="en-US" sz="1900" kern="1200" dirty="0"/>
            <a:t>email server</a:t>
          </a:r>
        </a:p>
      </dsp:txBody>
      <dsp:txXfrm>
        <a:off x="2035561" y="1551169"/>
        <a:ext cx="1782979" cy="1936254"/>
      </dsp:txXfrm>
    </dsp:sp>
    <dsp:sp modelId="{6A40C1E3-E00B-475B-892F-AA048524E374}">
      <dsp:nvSpPr>
        <dsp:cNvPr id="0" name=""/>
        <dsp:cNvSpPr/>
      </dsp:nvSpPr>
      <dsp:spPr>
        <a:xfrm>
          <a:off x="4068158"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863914"/>
        <a:ext cx="1782979" cy="687255"/>
      </dsp:txXfrm>
    </dsp:sp>
    <dsp:sp modelId="{C7A4C710-7F8F-4E1A-88EF-0C92C41661E2}">
      <dsp:nvSpPr>
        <dsp:cNvPr id="0" name=""/>
        <dsp:cNvSpPr/>
      </dsp:nvSpPr>
      <dsp:spPr>
        <a:xfrm>
          <a:off x="4068158"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Mark as spam</a:t>
          </a:r>
        </a:p>
        <a:p>
          <a:pPr marL="171450" lvl="1" indent="-171450" algn="l" defTabSz="844550">
            <a:lnSpc>
              <a:spcPct val="90000"/>
            </a:lnSpc>
            <a:spcBef>
              <a:spcPct val="0"/>
            </a:spcBef>
            <a:spcAft>
              <a:spcPct val="15000"/>
            </a:spcAft>
            <a:buChar char="•"/>
          </a:pPr>
          <a:r>
            <a:rPr lang="en-US" sz="1900" kern="1200" dirty="0"/>
            <a:t>delete</a:t>
          </a:r>
        </a:p>
        <a:p>
          <a:pPr marL="171450" lvl="1" indent="-171450" algn="l" defTabSz="844550">
            <a:lnSpc>
              <a:spcPct val="90000"/>
            </a:lnSpc>
            <a:spcBef>
              <a:spcPct val="0"/>
            </a:spcBef>
            <a:spcAft>
              <a:spcPct val="15000"/>
            </a:spcAft>
            <a:buChar char="•"/>
          </a:pPr>
          <a:r>
            <a:rPr lang="en-US" sz="1900" kern="1200" dirty="0"/>
            <a:t>etc.</a:t>
          </a:r>
        </a:p>
      </dsp:txBody>
      <dsp:txXfrm>
        <a:off x="4068158" y="1551169"/>
        <a:ext cx="1782979" cy="1936254"/>
      </dsp:txXfrm>
    </dsp:sp>
    <dsp:sp modelId="{705F129A-026D-48FD-A157-FCF440F1C7AC}">
      <dsp:nvSpPr>
        <dsp:cNvPr id="0" name=""/>
        <dsp:cNvSpPr/>
      </dsp:nvSpPr>
      <dsp:spPr>
        <a:xfrm>
          <a:off x="610075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863914"/>
        <a:ext cx="1782979" cy="687255"/>
      </dsp:txXfrm>
    </dsp:sp>
    <dsp:sp modelId="{B6A813B1-6668-4F28-BE57-375B2AD7D2A5}">
      <dsp:nvSpPr>
        <dsp:cNvPr id="0" name=""/>
        <dsp:cNvSpPr/>
      </dsp:nvSpPr>
      <dsp:spPr>
        <a:xfrm>
          <a:off x="610075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Incoming messages</a:t>
          </a:r>
        </a:p>
        <a:p>
          <a:pPr marL="171450" lvl="1" indent="-171450" algn="l" defTabSz="844550">
            <a:lnSpc>
              <a:spcPct val="90000"/>
            </a:lnSpc>
            <a:spcBef>
              <a:spcPct val="0"/>
            </a:spcBef>
            <a:spcAft>
              <a:spcPct val="15000"/>
            </a:spcAft>
            <a:buChar char="•"/>
          </a:pPr>
          <a:r>
            <a:rPr lang="en-US" sz="1900" kern="1200" dirty="0"/>
            <a:t>other information about user’s account</a:t>
          </a:r>
        </a:p>
      </dsp:txBody>
      <dsp:txXfrm>
        <a:off x="6100755" y="1551169"/>
        <a:ext cx="1782979" cy="19362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144133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3616999"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3654752" y="473311"/>
        <a:ext cx="2752863" cy="697876"/>
      </dsp:txXfrm>
    </dsp:sp>
    <dsp:sp modelId="{E9E54B10-0E80-4EC7-BDC9-1B1E1CD3F5FC}">
      <dsp:nvSpPr>
        <dsp:cNvPr id="0" name=""/>
        <dsp:cNvSpPr/>
      </dsp:nvSpPr>
      <dsp:spPr>
        <a:xfrm>
          <a:off x="3616999"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3654752" y="1343366"/>
        <a:ext cx="2752863" cy="697876"/>
      </dsp:txXfrm>
    </dsp:sp>
    <dsp:sp modelId="{B5BCA4F7-7F6F-43C2-84D5-1C28E4BBCA24}">
      <dsp:nvSpPr>
        <dsp:cNvPr id="0" name=""/>
        <dsp:cNvSpPr/>
      </dsp:nvSpPr>
      <dsp:spPr>
        <a:xfrm>
          <a:off x="3616999"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3654752" y="2213422"/>
        <a:ext cx="2752863" cy="697876"/>
      </dsp:txXfrm>
    </dsp:sp>
    <dsp:sp modelId="{54EC23F3-F115-4CD3-9500-0768D2AE6E17}">
      <dsp:nvSpPr>
        <dsp:cNvPr id="0" name=""/>
        <dsp:cNvSpPr/>
      </dsp:nvSpPr>
      <dsp:spPr>
        <a:xfrm>
          <a:off x="3616999"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Simple reflex agents</a:t>
          </a:r>
          <a:endParaRPr lang="en-US" sz="1900" kern="1200" dirty="0"/>
        </a:p>
      </dsp:txBody>
      <dsp:txXfrm>
        <a:off x="3654752" y="3083477"/>
        <a:ext cx="2752863" cy="6978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3513138" cy="35131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199162" y="351656"/>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Utility-based agents</a:t>
          </a:r>
        </a:p>
      </dsp:txBody>
      <dsp:txXfrm>
        <a:off x="1229643" y="382137"/>
        <a:ext cx="2222577" cy="563443"/>
      </dsp:txXfrm>
    </dsp:sp>
    <dsp:sp modelId="{E9E54B10-0E80-4EC7-BDC9-1B1E1CD3F5FC}">
      <dsp:nvSpPr>
        <dsp:cNvPr id="0" name=""/>
        <dsp:cNvSpPr/>
      </dsp:nvSpPr>
      <dsp:spPr>
        <a:xfrm>
          <a:off x="1199162" y="1054112"/>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Goal-based agents</a:t>
          </a:r>
        </a:p>
      </dsp:txBody>
      <dsp:txXfrm>
        <a:off x="1229643" y="1084593"/>
        <a:ext cx="2222577" cy="563443"/>
      </dsp:txXfrm>
    </dsp:sp>
    <dsp:sp modelId="{B5BCA4F7-7F6F-43C2-84D5-1C28E4BBCA24}">
      <dsp:nvSpPr>
        <dsp:cNvPr id="0" name=""/>
        <dsp:cNvSpPr/>
      </dsp:nvSpPr>
      <dsp:spPr>
        <a:xfrm>
          <a:off x="1199162" y="1756569"/>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Model-based reflex agents</a:t>
          </a:r>
          <a:endParaRPr lang="en-US" sz="1500" kern="1200" dirty="0"/>
        </a:p>
      </dsp:txBody>
      <dsp:txXfrm>
        <a:off x="1229643" y="1787050"/>
        <a:ext cx="2222577" cy="563443"/>
      </dsp:txXfrm>
    </dsp:sp>
    <dsp:sp modelId="{54EC23F3-F115-4CD3-9500-0768D2AE6E17}">
      <dsp:nvSpPr>
        <dsp:cNvPr id="0" name=""/>
        <dsp:cNvSpPr/>
      </dsp:nvSpPr>
      <dsp:spPr>
        <a:xfrm>
          <a:off x="1199162" y="2459025"/>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Simple reflex agents</a:t>
          </a:r>
        </a:p>
      </dsp:txBody>
      <dsp:txXfrm>
        <a:off x="1229643" y="2489506"/>
        <a:ext cx="2222577" cy="56344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3794-7DC3-4213-9409-4DAC10BB4149}">
      <dsp:nvSpPr>
        <dsp:cNvPr id="0" name=""/>
        <dsp:cNvSpPr/>
      </dsp:nvSpPr>
      <dsp:spPr>
        <a:xfrm>
          <a:off x="0" y="725487"/>
          <a:ext cx="2524125" cy="15144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Search for a goal </a:t>
          </a:r>
          <a:br>
            <a:rPr lang="en-US" sz="1700" kern="1200" dirty="0"/>
          </a:br>
          <a:r>
            <a:rPr lang="en-US" sz="1700" kern="1200" dirty="0"/>
            <a:t>(e.g., navigation). </a:t>
          </a:r>
        </a:p>
      </dsp:txBody>
      <dsp:txXfrm>
        <a:off x="0" y="725487"/>
        <a:ext cx="2524125" cy="1514475"/>
      </dsp:txXfrm>
    </dsp:sp>
    <dsp:sp modelId="{86913D6A-C88D-470A-938E-C5F24ACEC7D0}">
      <dsp:nvSpPr>
        <dsp:cNvPr id="0" name=""/>
        <dsp:cNvSpPr/>
      </dsp:nvSpPr>
      <dsp:spPr>
        <a:xfrm>
          <a:off x="2776537" y="725487"/>
          <a:ext cx="2524125" cy="1514475"/>
        </a:xfrm>
        <a:prstGeom prst="rect">
          <a:avLst/>
        </a:prstGeom>
        <a:solidFill>
          <a:schemeClr val="accent5">
            <a:hueOff val="-2432564"/>
            <a:satOff val="-59"/>
            <a:lumOff val="-2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Optimize functions</a:t>
          </a:r>
          <a:br>
            <a:rPr lang="en-US" sz="1700" kern="1200" dirty="0"/>
          </a:br>
          <a:r>
            <a:rPr lang="en-US" sz="1700" kern="1200" dirty="0"/>
            <a:t>(e.g., utility).</a:t>
          </a:r>
        </a:p>
      </dsp:txBody>
      <dsp:txXfrm>
        <a:off x="2776537" y="725487"/>
        <a:ext cx="2524125" cy="1514475"/>
      </dsp:txXfrm>
    </dsp:sp>
    <dsp:sp modelId="{B5EEA2DA-E7B2-4E5E-A1D6-0E4998FC5BF9}">
      <dsp:nvSpPr>
        <dsp:cNvPr id="0" name=""/>
        <dsp:cNvSpPr/>
      </dsp:nvSpPr>
      <dsp:spPr>
        <a:xfrm>
          <a:off x="5553075" y="725487"/>
          <a:ext cx="2524125" cy="1514475"/>
        </a:xfrm>
        <a:prstGeom prst="rect">
          <a:avLst/>
        </a:prstGeom>
        <a:solidFill>
          <a:schemeClr val="accent5">
            <a:hueOff val="-4865128"/>
            <a:satOff val="-118"/>
            <a:lumOff val="-4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Stay within given constraints </a:t>
          </a:r>
          <a:r>
            <a:rPr lang="en-US" sz="1700" kern="1200" dirty="0"/>
            <a:t>(constraint satisfaction problem; e.g., reach the goal without running out of power)</a:t>
          </a:r>
        </a:p>
      </dsp:txBody>
      <dsp:txXfrm>
        <a:off x="5553075" y="725487"/>
        <a:ext cx="2524125" cy="1514475"/>
      </dsp:txXfrm>
    </dsp:sp>
    <dsp:sp modelId="{3D48CA99-0D49-4A06-8AD2-7577D894C005}">
      <dsp:nvSpPr>
        <dsp:cNvPr id="0" name=""/>
        <dsp:cNvSpPr/>
      </dsp:nvSpPr>
      <dsp:spPr>
        <a:xfrm>
          <a:off x="0" y="2492375"/>
          <a:ext cx="2524125" cy="1514475"/>
        </a:xfrm>
        <a:prstGeom prst="rect">
          <a:avLst/>
        </a:prstGeom>
        <a:solidFill>
          <a:schemeClr val="accent5">
            <a:hueOff val="-7297693"/>
            <a:satOff val="-178"/>
            <a:lumOff val="-62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Deal with uncertainty</a:t>
          </a:r>
          <a:br>
            <a:rPr lang="en-US" sz="1700" kern="1200" dirty="0"/>
          </a:br>
          <a:r>
            <a:rPr lang="en-US" sz="1700" kern="1200" dirty="0"/>
            <a:t> (e.g., current traffic on the road).</a:t>
          </a:r>
        </a:p>
      </dsp:txBody>
      <dsp:txXfrm>
        <a:off x="0" y="2492375"/>
        <a:ext cx="2524125" cy="1514475"/>
      </dsp:txXfrm>
    </dsp:sp>
    <dsp:sp modelId="{1552D5B5-F5AD-4E06-939D-78DE82F19BE3}">
      <dsp:nvSpPr>
        <dsp:cNvPr id="0" name=""/>
        <dsp:cNvSpPr/>
      </dsp:nvSpPr>
      <dsp:spPr>
        <a:xfrm>
          <a:off x="2776537" y="2492375"/>
          <a:ext cx="2524125" cy="1514475"/>
        </a:xfrm>
        <a:prstGeom prst="rect">
          <a:avLst/>
        </a:prstGeom>
        <a:solidFill>
          <a:schemeClr val="accent5">
            <a:hueOff val="-9730257"/>
            <a:satOff val="-237"/>
            <a:lumOff val="-8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Learn a good agent program from data and improve over time </a:t>
          </a:r>
          <a:br>
            <a:rPr lang="en-US" sz="1700" kern="1200" dirty="0"/>
          </a:br>
          <a:r>
            <a:rPr lang="en-US" sz="1700" kern="1200" dirty="0"/>
            <a:t>(machine learning).</a:t>
          </a:r>
        </a:p>
      </dsp:txBody>
      <dsp:txXfrm>
        <a:off x="2776537" y="2492375"/>
        <a:ext cx="2524125" cy="1514475"/>
      </dsp:txXfrm>
    </dsp:sp>
    <dsp:sp modelId="{6227B7C4-618D-44BD-819F-7F186E653162}">
      <dsp:nvSpPr>
        <dsp:cNvPr id="0" name=""/>
        <dsp:cNvSpPr/>
      </dsp:nvSpPr>
      <dsp:spPr>
        <a:xfrm>
          <a:off x="5553075" y="2492375"/>
          <a:ext cx="2524125" cy="1514475"/>
        </a:xfrm>
        <a:prstGeom prst="rect">
          <a:avLst/>
        </a:prstGeom>
        <a:solidFill>
          <a:schemeClr val="accent5">
            <a:hueOff val="-12162821"/>
            <a:satOff val="-296"/>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Sensing</a:t>
          </a:r>
          <a:br>
            <a:rPr lang="en-US" sz="1700" kern="1200" dirty="0"/>
          </a:br>
          <a:r>
            <a:rPr lang="en-US" sz="1700" kern="1200" dirty="0"/>
            <a:t>(e.g., natural language processing, vision)</a:t>
          </a:r>
        </a:p>
      </dsp:txBody>
      <dsp:txXfrm>
        <a:off x="5553075" y="2492375"/>
        <a:ext cx="2524125" cy="151447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4">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590261E-DED2-4ECB-93F0-6041BFF84361}" type="datetimeFigureOut">
              <a:rPr lang="en-US" smtClean="0"/>
              <a:pPr/>
              <a:t>9/3/2026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754576A-F041-465B-B05C-90CC0BF4FA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a:t>
            </a:fld>
            <a:endParaRPr lang="en-US"/>
          </a:p>
        </p:txBody>
      </p:sp>
    </p:spTree>
    <p:extLst>
      <p:ext uri="{BB962C8B-B14F-4D97-AF65-F5344CB8AC3E}">
        <p14:creationId xmlns:p14="http://schemas.microsoft.com/office/powerpoint/2010/main" val="379771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7</a:t>
            </a:fld>
            <a:endParaRPr lang="en-US"/>
          </a:p>
        </p:txBody>
      </p:sp>
    </p:spTree>
    <p:extLst>
      <p:ext uri="{BB962C8B-B14F-4D97-AF65-F5344CB8AC3E}">
        <p14:creationId xmlns:p14="http://schemas.microsoft.com/office/powerpoint/2010/main" val="784175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9</a:t>
            </a:fld>
            <a:endParaRPr lang="en-US"/>
          </a:p>
        </p:txBody>
      </p:sp>
    </p:spTree>
    <p:extLst>
      <p:ext uri="{BB962C8B-B14F-4D97-AF65-F5344CB8AC3E}">
        <p14:creationId xmlns:p14="http://schemas.microsoft.com/office/powerpoint/2010/main" val="3964242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10</a:t>
            </a:fld>
            <a:endParaRPr lang="en-US"/>
          </a:p>
        </p:txBody>
      </p:sp>
    </p:spTree>
    <p:extLst>
      <p:ext uri="{BB962C8B-B14F-4D97-AF65-F5344CB8AC3E}">
        <p14:creationId xmlns:p14="http://schemas.microsoft.com/office/powerpoint/2010/main" val="3389140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11</a:t>
            </a:fld>
            <a:endParaRPr lang="en-US"/>
          </a:p>
        </p:txBody>
      </p:sp>
    </p:spTree>
    <p:extLst>
      <p:ext uri="{BB962C8B-B14F-4D97-AF65-F5344CB8AC3E}">
        <p14:creationId xmlns:p14="http://schemas.microsoft.com/office/powerpoint/2010/main" val="156083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15</a:t>
            </a:fld>
            <a:endParaRPr lang="en-US"/>
          </a:p>
        </p:txBody>
      </p:sp>
    </p:spTree>
    <p:extLst>
      <p:ext uri="{BB962C8B-B14F-4D97-AF65-F5344CB8AC3E}">
        <p14:creationId xmlns:p14="http://schemas.microsoft.com/office/powerpoint/2010/main" val="2323311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7389A-3918-3C41-4920-588DB7E37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0ACE2-F481-518C-B9E7-DDE65A700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2636E-08DA-74CD-5B0B-EDDB3AEF2E7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714D026-1CAE-49B0-35BA-61226F2EA2B4}"/>
              </a:ext>
            </a:extLst>
          </p:cNvPr>
          <p:cNvSpPr>
            <a:spLocks noGrp="1"/>
          </p:cNvSpPr>
          <p:nvPr>
            <p:ph type="sldNum" sz="quarter" idx="10"/>
          </p:nvPr>
        </p:nvSpPr>
        <p:spPr/>
        <p:txBody>
          <a:bodyPr/>
          <a:lstStyle/>
          <a:p>
            <a:fld id="{2754576A-F041-465B-B05C-90CC0BF4FA50}" type="slidenum">
              <a:rPr lang="en-US" smtClean="0"/>
              <a:pPr/>
              <a:t>18</a:t>
            </a:fld>
            <a:endParaRPr lang="en-US"/>
          </a:p>
        </p:txBody>
      </p:sp>
    </p:spTree>
    <p:extLst>
      <p:ext uri="{BB962C8B-B14F-4D97-AF65-F5344CB8AC3E}">
        <p14:creationId xmlns:p14="http://schemas.microsoft.com/office/powerpoint/2010/main" val="1983502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0FB7-A66D-273C-69B2-30CFF4AD4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0DEEB-E667-06C7-3405-D2CE9EB6C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B7481-2568-A1F6-093C-D911487599C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927C02F3-3292-2A52-2C37-3E9543FCCB52}"/>
              </a:ext>
            </a:extLst>
          </p:cNvPr>
          <p:cNvSpPr>
            <a:spLocks noGrp="1"/>
          </p:cNvSpPr>
          <p:nvPr>
            <p:ph type="sldNum" sz="quarter" idx="10"/>
          </p:nvPr>
        </p:nvSpPr>
        <p:spPr/>
        <p:txBody>
          <a:bodyPr/>
          <a:lstStyle/>
          <a:p>
            <a:fld id="{2754576A-F041-465B-B05C-90CC0BF4FA50}" type="slidenum">
              <a:rPr lang="en-US" smtClean="0"/>
              <a:pPr/>
              <a:t>19</a:t>
            </a:fld>
            <a:endParaRPr lang="en-US"/>
          </a:p>
        </p:txBody>
      </p:sp>
    </p:spTree>
    <p:extLst>
      <p:ext uri="{BB962C8B-B14F-4D97-AF65-F5344CB8AC3E}">
        <p14:creationId xmlns:p14="http://schemas.microsoft.com/office/powerpoint/2010/main" val="1845951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FF82C-88FD-7643-0C8D-B6665F82D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F4857-557F-4C97-CE8A-772D0E0AB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B3BD2-0CFF-5B21-6911-20BCADE2A80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5EC2FA18-B9F4-CE6E-8891-A477B2C0A450}"/>
              </a:ext>
            </a:extLst>
          </p:cNvPr>
          <p:cNvSpPr>
            <a:spLocks noGrp="1"/>
          </p:cNvSpPr>
          <p:nvPr>
            <p:ph type="sldNum" sz="quarter" idx="10"/>
          </p:nvPr>
        </p:nvSpPr>
        <p:spPr/>
        <p:txBody>
          <a:bodyPr/>
          <a:lstStyle/>
          <a:p>
            <a:fld id="{2754576A-F041-465B-B05C-90CC0BF4FA50}" type="slidenum">
              <a:rPr lang="en-US" smtClean="0"/>
              <a:pPr/>
              <a:t>20</a:t>
            </a:fld>
            <a:endParaRPr lang="en-US"/>
          </a:p>
        </p:txBody>
      </p:sp>
    </p:spTree>
    <p:extLst>
      <p:ext uri="{BB962C8B-B14F-4D97-AF65-F5344CB8AC3E}">
        <p14:creationId xmlns:p14="http://schemas.microsoft.com/office/powerpoint/2010/main" val="3548635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23</a:t>
            </a:fld>
            <a:endParaRPr lang="en-US"/>
          </a:p>
        </p:txBody>
      </p:sp>
    </p:spTree>
    <p:extLst>
      <p:ext uri="{BB962C8B-B14F-4D97-AF65-F5344CB8AC3E}">
        <p14:creationId xmlns:p14="http://schemas.microsoft.com/office/powerpoint/2010/main" val="2713662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24</a:t>
            </a:fld>
            <a:endParaRPr lang="en-US"/>
          </a:p>
        </p:txBody>
      </p:sp>
    </p:spTree>
    <p:extLst>
      <p:ext uri="{BB962C8B-B14F-4D97-AF65-F5344CB8AC3E}">
        <p14:creationId xmlns:p14="http://schemas.microsoft.com/office/powerpoint/2010/main" val="1793264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28</a:t>
            </a:fld>
            <a:endParaRPr lang="en-US"/>
          </a:p>
        </p:txBody>
      </p:sp>
    </p:spTree>
    <p:extLst>
      <p:ext uri="{BB962C8B-B14F-4D97-AF65-F5344CB8AC3E}">
        <p14:creationId xmlns:p14="http://schemas.microsoft.com/office/powerpoint/2010/main" val="3007257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29</a:t>
            </a:fld>
            <a:endParaRPr lang="en-US"/>
          </a:p>
        </p:txBody>
      </p:sp>
    </p:spTree>
    <p:extLst>
      <p:ext uri="{BB962C8B-B14F-4D97-AF65-F5344CB8AC3E}">
        <p14:creationId xmlns:p14="http://schemas.microsoft.com/office/powerpoint/2010/main" val="2970235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34</a:t>
            </a:fld>
            <a:endParaRPr lang="en-US"/>
          </a:p>
        </p:txBody>
      </p:sp>
    </p:spTree>
    <p:extLst>
      <p:ext uri="{BB962C8B-B14F-4D97-AF65-F5344CB8AC3E}">
        <p14:creationId xmlns:p14="http://schemas.microsoft.com/office/powerpoint/2010/main" val="1237259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40</a:t>
            </a:fld>
            <a:endParaRPr lang="en-US"/>
          </a:p>
        </p:txBody>
      </p:sp>
    </p:spTree>
    <p:extLst>
      <p:ext uri="{BB962C8B-B14F-4D97-AF65-F5344CB8AC3E}">
        <p14:creationId xmlns:p14="http://schemas.microsoft.com/office/powerpoint/2010/main" val="2447243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43</a:t>
            </a:fld>
            <a:endParaRPr lang="en-US"/>
          </a:p>
        </p:txBody>
      </p:sp>
    </p:spTree>
    <p:extLst>
      <p:ext uri="{BB962C8B-B14F-4D97-AF65-F5344CB8AC3E}">
        <p14:creationId xmlns:p14="http://schemas.microsoft.com/office/powerpoint/2010/main" val="2573296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44</a:t>
            </a:fld>
            <a:endParaRPr lang="en-US"/>
          </a:p>
        </p:txBody>
      </p:sp>
    </p:spTree>
    <p:extLst>
      <p:ext uri="{BB962C8B-B14F-4D97-AF65-F5344CB8AC3E}">
        <p14:creationId xmlns:p14="http://schemas.microsoft.com/office/powerpoint/2010/main" val="1633096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6778-3054-78D5-57A0-73256BE6D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843D-D88A-5F90-1AD3-B55393302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E7DC6-987E-8539-96C2-4020344BFF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42496BA-6FAC-3D6C-2ACA-3AD73A41737A}"/>
              </a:ext>
            </a:extLst>
          </p:cNvPr>
          <p:cNvSpPr>
            <a:spLocks noGrp="1"/>
          </p:cNvSpPr>
          <p:nvPr>
            <p:ph type="sldNum" sz="quarter" idx="10"/>
          </p:nvPr>
        </p:nvSpPr>
        <p:spPr/>
        <p:txBody>
          <a:bodyPr/>
          <a:lstStyle/>
          <a:p>
            <a:fld id="{2754576A-F041-465B-B05C-90CC0BF4FA50}" type="slidenum">
              <a:rPr lang="en-US" smtClean="0"/>
              <a:pPr/>
              <a:t>46</a:t>
            </a:fld>
            <a:endParaRPr lang="en-US"/>
          </a:p>
        </p:txBody>
      </p:sp>
    </p:spTree>
    <p:extLst>
      <p:ext uri="{BB962C8B-B14F-4D97-AF65-F5344CB8AC3E}">
        <p14:creationId xmlns:p14="http://schemas.microsoft.com/office/powerpoint/2010/main" val="1181888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47</a:t>
            </a:fld>
            <a:endParaRPr lang="en-US"/>
          </a:p>
        </p:txBody>
      </p:sp>
    </p:spTree>
    <p:extLst>
      <p:ext uri="{BB962C8B-B14F-4D97-AF65-F5344CB8AC3E}">
        <p14:creationId xmlns:p14="http://schemas.microsoft.com/office/powerpoint/2010/main" val="2765691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74041002-DB11-4CB5-8D08-702C16F0A10E}" type="slidenum">
              <a:rPr lang="en-US" smtClean="0"/>
              <a:pPr/>
              <a:t>‹#›</a:t>
            </a:fld>
            <a:endParaRPr lang="en-US"/>
          </a:p>
        </p:txBody>
      </p:sp>
    </p:spTree>
    <p:extLst>
      <p:ext uri="{BB962C8B-B14F-4D97-AF65-F5344CB8AC3E}">
        <p14:creationId xmlns:p14="http://schemas.microsoft.com/office/powerpoint/2010/main" val="277014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F4D38-A032-4754-A488-4CD20CEBC8D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8D13E9-ECF5-4999-AEC3-C0A8301B4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ABB79-3EF9-4AAE-BBF6-6AA392DABFEB}"/>
              </a:ext>
            </a:extLst>
          </p:cNvPr>
          <p:cNvSpPr>
            <a:spLocks noGrp="1"/>
          </p:cNvSpPr>
          <p:nvPr>
            <p:ph type="sldNum" sz="quarter" idx="12"/>
          </p:nvPr>
        </p:nvSpPr>
        <p:spPr/>
        <p:txBody>
          <a:bodyPr/>
          <a:lstStyle/>
          <a:p>
            <a:fld id="{6F5C59D9-7B0B-4A47-B130-1CDBC65A3C5C}" type="slidenum">
              <a:rPr lang="en-US" smtClean="0"/>
              <a:pPr/>
              <a:t>‹#›</a:t>
            </a:fld>
            <a:endParaRPr lang="en-US"/>
          </a:p>
        </p:txBody>
      </p:sp>
    </p:spTree>
    <p:extLst>
      <p:ext uri="{BB962C8B-B14F-4D97-AF65-F5344CB8AC3E}">
        <p14:creationId xmlns:p14="http://schemas.microsoft.com/office/powerpoint/2010/main" val="228028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29E0-AEC0-4E60-A102-F17F3531786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6ADECA-9481-4613-821B-D1554DA9C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56AD3-074F-4112-901E-6AC9E271A2F1}"/>
              </a:ext>
            </a:extLst>
          </p:cNvPr>
          <p:cNvSpPr>
            <a:spLocks noGrp="1"/>
          </p:cNvSpPr>
          <p:nvPr>
            <p:ph type="sldNum" sz="quarter" idx="12"/>
          </p:nvPr>
        </p:nvSpPr>
        <p:spPr/>
        <p:txBody>
          <a:bodyPr/>
          <a:lstStyle/>
          <a:p>
            <a:fld id="{E3362B86-7F7E-4139-B376-4AD4B8D85F65}" type="slidenum">
              <a:rPr lang="en-US" smtClean="0"/>
              <a:pPr/>
              <a:t>‹#›</a:t>
            </a:fld>
            <a:endParaRPr lang="en-US"/>
          </a:p>
        </p:txBody>
      </p:sp>
    </p:spTree>
    <p:extLst>
      <p:ext uri="{BB962C8B-B14F-4D97-AF65-F5344CB8AC3E}">
        <p14:creationId xmlns:p14="http://schemas.microsoft.com/office/powerpoint/2010/main" val="176476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48A80-B2A6-4D5F-AFE2-7EC14D5B39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4885392-3AD1-4B9F-BDE7-E811EE4B8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53B12-6FF9-461B-B662-2E287CEE3061}"/>
              </a:ext>
            </a:extLst>
          </p:cNvPr>
          <p:cNvSpPr>
            <a:spLocks noGrp="1"/>
          </p:cNvSpPr>
          <p:nvPr>
            <p:ph type="sldNum" sz="quarter" idx="12"/>
          </p:nvPr>
        </p:nvSpPr>
        <p:spPr/>
        <p:txBody>
          <a:bodyPr/>
          <a:lstStyle/>
          <a:p>
            <a:fld id="{63CE097A-0202-40AA-A458-179EE75DF308}" type="slidenum">
              <a:rPr lang="en-US" smtClean="0"/>
              <a:pPr/>
              <a:t>‹#›</a:t>
            </a:fld>
            <a:endParaRPr lang="en-US"/>
          </a:p>
        </p:txBody>
      </p:sp>
    </p:spTree>
    <p:extLst>
      <p:ext uri="{BB962C8B-B14F-4D97-AF65-F5344CB8AC3E}">
        <p14:creationId xmlns:p14="http://schemas.microsoft.com/office/powerpoint/2010/main" val="164781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893AB-4DA9-4155-BA7D-0DA93AAAC2D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7EE904F-BEB5-427E-91C5-C887D1E522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F287E9-DB2B-46C3-9DB2-0902398D45B4}"/>
              </a:ext>
            </a:extLst>
          </p:cNvPr>
          <p:cNvSpPr>
            <a:spLocks noGrp="1"/>
          </p:cNvSpPr>
          <p:nvPr>
            <p:ph type="sldNum" sz="quarter" idx="12"/>
          </p:nvPr>
        </p:nvSpPr>
        <p:spPr/>
        <p:txBody>
          <a:bodyPr/>
          <a:lstStyle/>
          <a:p>
            <a:fld id="{ED15B2DA-E7BB-48C3-84E0-E007D0828B96}" type="slidenum">
              <a:rPr lang="en-US" smtClean="0"/>
              <a:pPr/>
              <a:t>‹#›</a:t>
            </a:fld>
            <a:endParaRPr lang="en-US"/>
          </a:p>
        </p:txBody>
      </p:sp>
    </p:spTree>
    <p:extLst>
      <p:ext uri="{BB962C8B-B14F-4D97-AF65-F5344CB8AC3E}">
        <p14:creationId xmlns:p14="http://schemas.microsoft.com/office/powerpoint/2010/main" val="250260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07777-7DFE-488E-8FF0-AF885700A5D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42283B2-F1D4-4B18-BA20-EDC8744145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1D0810-F107-4148-B946-E0FB8D886496}"/>
              </a:ext>
            </a:extLst>
          </p:cNvPr>
          <p:cNvSpPr>
            <a:spLocks noGrp="1"/>
          </p:cNvSpPr>
          <p:nvPr>
            <p:ph type="sldNum" sz="quarter" idx="12"/>
          </p:nvPr>
        </p:nvSpPr>
        <p:spPr/>
        <p:txBody>
          <a:bodyPr/>
          <a:lstStyle/>
          <a:p>
            <a:fld id="{583E5F97-0747-4E28-9EC3-9A00DB5D1CC0}" type="slidenum">
              <a:rPr lang="en-US" smtClean="0"/>
              <a:pPr/>
              <a:t>‹#›</a:t>
            </a:fld>
            <a:endParaRPr lang="en-US"/>
          </a:p>
        </p:txBody>
      </p:sp>
    </p:spTree>
    <p:extLst>
      <p:ext uri="{BB962C8B-B14F-4D97-AF65-F5344CB8AC3E}">
        <p14:creationId xmlns:p14="http://schemas.microsoft.com/office/powerpoint/2010/main" val="71637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60C90-643E-4B39-97AA-545987962D7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0E9D3B7-E3D2-4F0F-8BEB-D0F893F1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A60A5-4025-415E-8277-A6F9F70B50CF}"/>
              </a:ext>
            </a:extLst>
          </p:cNvPr>
          <p:cNvSpPr>
            <a:spLocks noGrp="1"/>
          </p:cNvSpPr>
          <p:nvPr>
            <p:ph type="sldNum" sz="quarter" idx="12"/>
          </p:nvPr>
        </p:nvSpPr>
        <p:spPr/>
        <p:txBody>
          <a:bodyPr/>
          <a:lstStyle/>
          <a:p>
            <a:fld id="{01594F5C-90A9-4417-807B-514F8236606C}" type="slidenum">
              <a:rPr lang="en-US" smtClean="0"/>
              <a:pPr/>
              <a:t>‹#›</a:t>
            </a:fld>
            <a:endParaRPr lang="en-US"/>
          </a:p>
        </p:txBody>
      </p:sp>
    </p:spTree>
    <p:extLst>
      <p:ext uri="{BB962C8B-B14F-4D97-AF65-F5344CB8AC3E}">
        <p14:creationId xmlns:p14="http://schemas.microsoft.com/office/powerpoint/2010/main" val="215440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70F72F9-138A-4D27-94F5-B2810AD7A96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07353E-3E74-4855-8A3A-D4B22FCAF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3FEAA-5B95-4BF6-9ABB-74AAB8A9BB14}"/>
              </a:ext>
            </a:extLst>
          </p:cNvPr>
          <p:cNvSpPr>
            <a:spLocks noGrp="1"/>
          </p:cNvSpPr>
          <p:nvPr>
            <p:ph type="sldNum" sz="quarter" idx="12"/>
          </p:nvPr>
        </p:nvSpPr>
        <p:spPr/>
        <p:txBody>
          <a:bodyPr/>
          <a:lstStyle/>
          <a:p>
            <a:fld id="{71FBFBB7-A63E-4184-8C27-28D5A1B90F77}" type="slidenum">
              <a:rPr lang="en-US" smtClean="0"/>
              <a:pPr/>
              <a:t>‹#›</a:t>
            </a:fld>
            <a:endParaRPr lang="en-US"/>
          </a:p>
        </p:txBody>
      </p:sp>
    </p:spTree>
    <p:extLst>
      <p:ext uri="{BB962C8B-B14F-4D97-AF65-F5344CB8AC3E}">
        <p14:creationId xmlns:p14="http://schemas.microsoft.com/office/powerpoint/2010/main" val="370582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93C1D6-5D11-4968-B679-3E1CC6CFCF8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8A93109-6D71-4EA2-B07F-91E5CB629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AD4A7-BF84-4397-B385-2AD7820F1432}"/>
              </a:ext>
            </a:extLst>
          </p:cNvPr>
          <p:cNvSpPr>
            <a:spLocks noGrp="1"/>
          </p:cNvSpPr>
          <p:nvPr>
            <p:ph type="sldNum" sz="quarter" idx="12"/>
          </p:nvPr>
        </p:nvSpPr>
        <p:spPr/>
        <p:txBody>
          <a:bodyPr/>
          <a:lstStyle/>
          <a:p>
            <a:fld id="{47486196-CF52-4FC7-AF29-4DD7E56B5403}" type="slidenum">
              <a:rPr lang="en-US" smtClean="0"/>
              <a:pPr/>
              <a:t>‹#›</a:t>
            </a:fld>
            <a:endParaRPr lang="en-US"/>
          </a:p>
        </p:txBody>
      </p:sp>
    </p:spTree>
    <p:extLst>
      <p:ext uri="{BB962C8B-B14F-4D97-AF65-F5344CB8AC3E}">
        <p14:creationId xmlns:p14="http://schemas.microsoft.com/office/powerpoint/2010/main" val="308884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629D5-90EF-4646-954E-2A913ABEC5F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7DDEB13-434B-4FB2-BAAF-89B2739E8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EAE48-842D-41AF-92E2-D30DB1BA2963}"/>
              </a:ext>
            </a:extLst>
          </p:cNvPr>
          <p:cNvSpPr>
            <a:spLocks noGrp="1"/>
          </p:cNvSpPr>
          <p:nvPr>
            <p:ph type="sldNum" sz="quarter" idx="12"/>
          </p:nvPr>
        </p:nvSpPr>
        <p:spPr/>
        <p:txBody>
          <a:bodyPr/>
          <a:lstStyle/>
          <a:p>
            <a:fld id="{811DA4DA-FE51-4727-A448-71DB39333978}" type="slidenum">
              <a:rPr lang="en-US" smtClean="0"/>
              <a:pPr/>
              <a:t>‹#›</a:t>
            </a:fld>
            <a:endParaRPr lang="en-US"/>
          </a:p>
        </p:txBody>
      </p:sp>
    </p:spTree>
    <p:extLst>
      <p:ext uri="{BB962C8B-B14F-4D97-AF65-F5344CB8AC3E}">
        <p14:creationId xmlns:p14="http://schemas.microsoft.com/office/powerpoint/2010/main" val="247320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76FEB-CDB4-462A-9F79-6A20CF7C08A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69DC8-76D3-4204-B2AE-EFC9BD3D08C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D1055-F71C-4DEB-9AFB-08AF80DE13A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2A486D-6FB9-4790-90A1-36404733D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8E9DA-F14C-4A2F-9EEE-9AE2AC984261}"/>
              </a:ext>
            </a:extLst>
          </p:cNvPr>
          <p:cNvSpPr>
            <a:spLocks noGrp="1"/>
          </p:cNvSpPr>
          <p:nvPr>
            <p:ph type="sldNum" sz="quarter" idx="12"/>
          </p:nvPr>
        </p:nvSpPr>
        <p:spPr/>
        <p:txBody>
          <a:bodyPr/>
          <a:lstStyle/>
          <a:p>
            <a:fld id="{FD447C27-FF74-4852-9465-57F11B88EDD0}" type="slidenum">
              <a:rPr lang="en-US" smtClean="0"/>
              <a:pPr/>
              <a:t>‹#›</a:t>
            </a:fld>
            <a:endParaRPr lang="en-US"/>
          </a:p>
        </p:txBody>
      </p:sp>
    </p:spTree>
    <p:extLst>
      <p:ext uri="{BB962C8B-B14F-4D97-AF65-F5344CB8AC3E}">
        <p14:creationId xmlns:p14="http://schemas.microsoft.com/office/powerpoint/2010/main" val="170054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B2B9E-65CF-4896-9D56-89B32732092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BDB68C1-3BE1-44E6-8C91-A93FE8D361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64D00B-BD52-414C-8F65-9176DEBFB48D}" type="slidenum">
              <a:rPr lang="en-US" smtClean="0"/>
              <a:pPr/>
              <a:t>‹#›</a:t>
            </a:fld>
            <a:endParaRPr lang="en-US"/>
          </a:p>
        </p:txBody>
      </p:sp>
    </p:spTree>
    <p:extLst>
      <p:ext uri="{BB962C8B-B14F-4D97-AF65-F5344CB8AC3E}">
        <p14:creationId xmlns:p14="http://schemas.microsoft.com/office/powerpoint/2010/main" val="31420098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50.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1.sv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5.jpe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60.pn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6.xml.rels><?xml version="1.0" encoding="UTF-8" standalone="yes"?>
<Relationships xmlns="http://schemas.openxmlformats.org/package/2006/relationships"><Relationship Id="rId8" Type="http://schemas.openxmlformats.org/officeDocument/2006/relationships/image" Target="../media/image28.png"/><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8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31.png"/><Relationship Id="rId10" Type="http://schemas.openxmlformats.org/officeDocument/2006/relationships/image" Target="../media/image210.png"/><Relationship Id="rId9" Type="http://schemas.openxmlformats.org/officeDocument/2006/relationships/image" Target="../media/image25.png"/><Relationship Id="rId4" Type="http://schemas.openxmlformats.org/officeDocument/2006/relationships/image" Target="../media/image220.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2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90.png"/><Relationship Id="rId4" Type="http://schemas.openxmlformats.org/officeDocument/2006/relationships/image" Target="../media/image280.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techhive.com/article/3269782/best-robot-vacuum-cleaners.html"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43.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47.jpe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3.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 Id="rId9" Type="http://schemas.openxmlformats.org/officeDocument/2006/relationships/image" Target="../media/image47.jpeg"/></Relationships>
</file>

<file path=ppt/slides/_rels/slide44.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5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1" name="Rectangle 20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E5B7659-5440-4C5D-BF12-8650731C1C16}"/>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97" r="20801" b="3654"/>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3" name="Rectangle 20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900" dirty="0"/>
              <a:t>Artificial Intelligence</a:t>
            </a:r>
            <a:br>
              <a:rPr lang="en-US" sz="2900" dirty="0"/>
            </a:br>
            <a:br>
              <a:rPr lang="en-US" sz="2900" dirty="0"/>
            </a:br>
            <a:r>
              <a:rPr lang="en-US" sz="2900" dirty="0"/>
              <a:t>Intelligent Agents</a:t>
            </a:r>
            <a:br>
              <a:rPr lang="en-US" sz="2900" dirty="0"/>
            </a:br>
            <a:r>
              <a:rPr lang="en-US" sz="2900" dirty="0"/>
              <a:t>AIMA Chapter 2</a:t>
            </a:r>
          </a:p>
        </p:txBody>
      </p:sp>
      <p:sp>
        <p:nvSpPr>
          <p:cNvPr id="8" name="Subtitle 1">
            <a:extLst>
              <a:ext uri="{FF2B5EF4-FFF2-40B4-BE49-F238E27FC236}">
                <a16:creationId xmlns:a16="http://schemas.microsoft.com/office/drawing/2014/main" id="{C67622BC-4AA0-4D26-8187-CF6FAE699224}"/>
              </a:ext>
            </a:extLst>
          </p:cNvPr>
          <p:cNvSpPr>
            <a:spLocks noGrp="1"/>
          </p:cNvSpPr>
          <p:nvPr>
            <p:ph type="subTitle" idx="1"/>
          </p:nvPr>
        </p:nvSpPr>
        <p:spPr>
          <a:xfrm>
            <a:off x="304800" y="4872922"/>
            <a:ext cx="3352800" cy="1208141"/>
          </a:xfrm>
        </p:spPr>
        <p:txBody>
          <a:bodyPr>
            <a:normAutofit/>
          </a:bodyPr>
          <a:lstStyle/>
          <a:p>
            <a:pPr algn="l"/>
            <a:r>
              <a:rPr lang="en-US" dirty="0"/>
              <a:t>Slides by Michael Hahsler</a:t>
            </a:r>
            <a:br>
              <a:rPr lang="en-US" sz="1700" dirty="0"/>
            </a:br>
            <a:r>
              <a:rPr lang="en-US" sz="1600" dirty="0"/>
              <a:t>based on slides by Svetlana </a:t>
            </a:r>
            <a:r>
              <a:rPr lang="en-US" sz="1600" dirty="0" err="1"/>
              <a:t>Lazepnik</a:t>
            </a:r>
            <a:r>
              <a:rPr lang="en-US" sz="1600" dirty="0"/>
              <a:t> with figures from the AIMA textbook. </a:t>
            </a:r>
            <a:r>
              <a:rPr lang="en-US" sz="1400" dirty="0"/>
              <a:t>	</a:t>
            </a:r>
            <a:r>
              <a:rPr lang="en-US" sz="1700" dirty="0"/>
              <a:t>	</a:t>
            </a:r>
          </a:p>
        </p:txBody>
      </p:sp>
      <p:sp>
        <p:nvSpPr>
          <p:cNvPr id="205" name="Rectangle 20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7" name="Rectangle 20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4C3C116D-ED66-40ED-AFB0-7D0CA9A0182C}"/>
              </a:ext>
              <a:ext uri="{C183D7F6-B498-43B3-948B-1728B52AA6E4}">
                <adec:decorative xmlns:adec="http://schemas.microsoft.com/office/drawing/2017/decorative" val="1"/>
              </a:ext>
            </a:extLst>
          </p:cNvPr>
          <p:cNvSpPr txBox="1"/>
          <p:nvPr/>
        </p:nvSpPr>
        <p:spPr>
          <a:xfrm>
            <a:off x="4648200" y="6324600"/>
            <a:ext cx="2977562" cy="461665"/>
          </a:xfrm>
          <a:prstGeom prst="rect">
            <a:avLst/>
          </a:prstGeom>
          <a:noFill/>
        </p:spPr>
        <p:txBody>
          <a:bodyPr wrap="square">
            <a:spAutoFit/>
          </a:bodyPr>
          <a:lstStyle/>
          <a:p>
            <a:r>
              <a:rPr lang="en-US" sz="1200" dirty="0"/>
              <a:t>Image: "Robot at the British Library Science Fiction Exhibition" by </a:t>
            </a:r>
            <a:r>
              <a:rPr lang="en-US" sz="1200" dirty="0" err="1"/>
              <a:t>BadgerGravling</a:t>
            </a:r>
            <a:endParaRPr lang="en-US" sz="1200" dirty="0"/>
          </a:p>
        </p:txBody>
      </p:sp>
      <p:grpSp>
        <p:nvGrpSpPr>
          <p:cNvPr id="6" name="Group 5">
            <a:extLst>
              <a:ext uri="{FF2B5EF4-FFF2-40B4-BE49-F238E27FC236}">
                <a16:creationId xmlns:a16="http://schemas.microsoft.com/office/drawing/2014/main" id="{F50AE103-1DF3-98A1-A49A-D1C1A6A34D86}"/>
              </a:ext>
              <a:ext uri="{C183D7F6-B498-43B3-948B-1728B52AA6E4}">
                <adec:decorative xmlns:adec="http://schemas.microsoft.com/office/drawing/2017/decorative" val="1"/>
              </a:ext>
            </a:extLst>
          </p:cNvPr>
          <p:cNvGrpSpPr/>
          <p:nvPr/>
        </p:nvGrpSpPr>
        <p:grpSpPr>
          <a:xfrm>
            <a:off x="7725359" y="5294361"/>
            <a:ext cx="1319044" cy="1467323"/>
            <a:chOff x="7291556" y="4743923"/>
            <a:chExt cx="1676400" cy="1981200"/>
          </a:xfrm>
        </p:grpSpPr>
        <p:sp>
          <p:nvSpPr>
            <p:cNvPr id="3" name="Rectangle 2">
              <a:extLst>
                <a:ext uri="{FF2B5EF4-FFF2-40B4-BE49-F238E27FC236}">
                  <a16:creationId xmlns:a16="http://schemas.microsoft.com/office/drawing/2014/main" id="{8A05982F-3CCD-BB2F-62A8-4D54DFC97224}"/>
                </a:ext>
              </a:extLst>
            </p:cNvPr>
            <p:cNvSpPr/>
            <p:nvPr/>
          </p:nvSpPr>
          <p:spPr>
            <a:xfrm>
              <a:off x="7291556" y="4743923"/>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pic>
          <p:nvPicPr>
            <p:cNvPr id="4" name="Picture 3" descr="A qr code with black dots&#10;&#10;Description automatically generated">
              <a:extLst>
                <a:ext uri="{FF2B5EF4-FFF2-40B4-BE49-F238E27FC236}">
                  <a16:creationId xmlns:a16="http://schemas.microsoft.com/office/drawing/2014/main" id="{B64B7859-38FB-A640-D68B-1D60CEF0D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9655" y="4780149"/>
              <a:ext cx="1585745" cy="1585745"/>
            </a:xfrm>
            <a:prstGeom prst="rect">
              <a:avLst/>
            </a:prstGeom>
          </p:spPr>
        </p:pic>
        <p:sp>
          <p:nvSpPr>
            <p:cNvPr id="5" name="Rectangle 4">
              <a:extLst>
                <a:ext uri="{FF2B5EF4-FFF2-40B4-BE49-F238E27FC236}">
                  <a16:creationId xmlns:a16="http://schemas.microsoft.com/office/drawing/2014/main" id="{8F36BA28-8B7D-1057-16E5-9B5F02C83DF9}"/>
                </a:ext>
              </a:extLst>
            </p:cNvPr>
            <p:cNvSpPr/>
            <p:nvPr/>
          </p:nvSpPr>
          <p:spPr>
            <a:xfrm>
              <a:off x="7291556" y="6388777"/>
              <a:ext cx="1676400" cy="33634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Online Material</a:t>
              </a:r>
            </a:p>
          </p:txBody>
        </p:sp>
      </p:grpSp>
      <p:grpSp>
        <p:nvGrpSpPr>
          <p:cNvPr id="11" name="Group 10">
            <a:extLst>
              <a:ext uri="{FF2B5EF4-FFF2-40B4-BE49-F238E27FC236}">
                <a16:creationId xmlns:a16="http://schemas.microsoft.com/office/drawing/2014/main" id="{26F3D1C6-FE29-B3F7-4BC3-AD6F3ACC03EF}"/>
              </a:ext>
              <a:ext uri="{C183D7F6-B498-43B3-948B-1728B52AA6E4}">
                <adec:decorative xmlns:adec="http://schemas.microsoft.com/office/drawing/2017/decorative" val="1"/>
              </a:ext>
            </a:extLst>
          </p:cNvPr>
          <p:cNvGrpSpPr/>
          <p:nvPr/>
        </p:nvGrpSpPr>
        <p:grpSpPr>
          <a:xfrm>
            <a:off x="426875" y="6274713"/>
            <a:ext cx="3921385" cy="400110"/>
            <a:chOff x="426875" y="6274713"/>
            <a:chExt cx="3921385" cy="400110"/>
          </a:xfrm>
        </p:grpSpPr>
        <p:sp>
          <p:nvSpPr>
            <p:cNvPr id="7" name="TextBox 6">
              <a:extLst>
                <a:ext uri="{FF2B5EF4-FFF2-40B4-BE49-F238E27FC236}">
                  <a16:creationId xmlns:a16="http://schemas.microsoft.com/office/drawing/2014/main" id="{281EC9AF-FB42-4115-600F-7C019A10059F}"/>
                </a:ext>
              </a:extLst>
            </p:cNvPr>
            <p:cNvSpPr txBox="1"/>
            <p:nvPr/>
          </p:nvSpPr>
          <p:spPr>
            <a:xfrm>
              <a:off x="1330739" y="6274713"/>
              <a:ext cx="3017521" cy="400110"/>
            </a:xfrm>
            <a:prstGeom prst="rect">
              <a:avLst/>
            </a:prstGeom>
            <a:noFill/>
          </p:spPr>
          <p:txBody>
            <a:bodyPr wrap="square">
              <a:spAutoFit/>
            </a:bodyPr>
            <a:lstStyle/>
            <a:p>
              <a:r>
                <a:rPr lang="en-US" sz="1000" b="0" i="0" dirty="0">
                  <a:solidFill>
                    <a:schemeClr val="tx1">
                      <a:lumMod val="50000"/>
                    </a:schemeClr>
                  </a:solidFill>
                  <a:effectLst/>
                  <a:latin typeface="Calibri" panose="020F0502020204030204" pitchFamily="34" charset="0"/>
                </a:rPr>
                <a:t>This work is licensed under a </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0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000" b="0" i="0" dirty="0">
                  <a:solidFill>
                    <a:schemeClr val="tx1">
                      <a:lumMod val="50000"/>
                    </a:schemeClr>
                  </a:solidFill>
                  <a:effectLst/>
                  <a:latin typeface="Calibri" panose="020F0502020204030204" pitchFamily="34" charset="0"/>
                </a:rPr>
                <a:t>.</a:t>
              </a:r>
              <a:endParaRPr lang="en-US" sz="1000" dirty="0">
                <a:solidFill>
                  <a:schemeClr val="tx1">
                    <a:lumMod val="50000"/>
                  </a:schemeClr>
                </a:solidFill>
              </a:endParaRPr>
            </a:p>
          </p:txBody>
        </p:sp>
        <p:pic>
          <p:nvPicPr>
            <p:cNvPr id="10" name="Picture 2">
              <a:extLst>
                <a:ext uri="{FF2B5EF4-FFF2-40B4-BE49-F238E27FC236}">
                  <a16:creationId xmlns:a16="http://schemas.microsoft.com/office/drawing/2014/main" id="{5DE39C11-96E8-E84C-2BBD-6868BF1958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875" y="6326205"/>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Outline</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406008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What is an Intelligent Agent</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924623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792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What is an Agents?</a:t>
            </a:r>
          </a:p>
        </p:txBody>
      </p:sp>
      <p:pic>
        <p:nvPicPr>
          <p:cNvPr id="5124"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1600200" y="2523752"/>
            <a:ext cx="5638800" cy="2429248"/>
          </a:xfrm>
          <a:prstGeom prst="rect">
            <a:avLst/>
          </a:prstGeom>
          <a:noFill/>
          <a:ln w="9525">
            <a:noFill/>
            <a:miter lim="800000"/>
            <a:headEnd/>
            <a:tailEnd/>
          </a:ln>
        </p:spPr>
      </p:pic>
      <p:sp>
        <p:nvSpPr>
          <p:cNvPr id="5123" name="Rectangle 3"/>
          <p:cNvSpPr>
            <a:spLocks noGrp="1" noChangeArrowheads="1"/>
          </p:cNvSpPr>
          <p:nvPr>
            <p:ph idx="1"/>
          </p:nvPr>
        </p:nvSpPr>
        <p:spPr>
          <a:xfrm>
            <a:off x="628650" y="1524000"/>
            <a:ext cx="7886700" cy="5029200"/>
          </a:xfrm>
        </p:spPr>
        <p:txBody>
          <a:bodyPr>
            <a:normAutofit fontScale="92500" lnSpcReduction="10000"/>
          </a:bodyPr>
          <a:lstStyle/>
          <a:p>
            <a:r>
              <a:rPr lang="en-US" sz="2200" dirty="0"/>
              <a:t>An </a:t>
            </a:r>
            <a:r>
              <a:rPr lang="en-US" sz="2200" dirty="0">
                <a:solidFill>
                  <a:srgbClr val="FF0000"/>
                </a:solidFill>
              </a:rPr>
              <a:t>agent</a:t>
            </a:r>
            <a:r>
              <a:rPr lang="en-US" sz="2200" dirty="0"/>
              <a:t> is anything that can be viewed as </a:t>
            </a:r>
            <a:r>
              <a:rPr lang="en-US" sz="2200" dirty="0">
                <a:solidFill>
                  <a:srgbClr val="FF0000"/>
                </a:solidFill>
              </a:rPr>
              <a:t>perceiving</a:t>
            </a:r>
            <a:r>
              <a:rPr lang="en-US" sz="2200" dirty="0"/>
              <a:t> its </a:t>
            </a:r>
            <a:r>
              <a:rPr lang="en-US" sz="2200" dirty="0">
                <a:solidFill>
                  <a:srgbClr val="FF0000"/>
                </a:solidFill>
              </a:rPr>
              <a:t>environment</a:t>
            </a:r>
            <a:r>
              <a:rPr lang="en-US" sz="2200" dirty="0"/>
              <a:t> through </a:t>
            </a:r>
            <a:r>
              <a:rPr lang="en-US" sz="2200" dirty="0">
                <a:solidFill>
                  <a:srgbClr val="FF0000"/>
                </a:solidFill>
              </a:rPr>
              <a:t>sensors</a:t>
            </a:r>
            <a:r>
              <a:rPr lang="en-US" sz="2200" dirty="0"/>
              <a:t> and </a:t>
            </a:r>
            <a:r>
              <a:rPr lang="en-US" sz="2200" dirty="0">
                <a:solidFill>
                  <a:srgbClr val="FF0000"/>
                </a:solidFill>
              </a:rPr>
              <a:t>acting</a:t>
            </a:r>
            <a:r>
              <a:rPr lang="en-US" sz="2200" dirty="0"/>
              <a:t> upon that environment through </a:t>
            </a:r>
            <a:r>
              <a:rPr lang="en-US" sz="2200" dirty="0">
                <a:solidFill>
                  <a:srgbClr val="FF0000"/>
                </a:solidFill>
              </a:rPr>
              <a:t>actuators.</a:t>
            </a: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b="1" dirty="0"/>
              <a:t>Control theory</a:t>
            </a:r>
            <a:r>
              <a:rPr lang="en-US" dirty="0"/>
              <a:t>: A </a:t>
            </a:r>
            <a:r>
              <a:rPr lang="en-US" b="1" dirty="0"/>
              <a:t>closed-loop control system </a:t>
            </a:r>
            <a:r>
              <a:rPr lang="en-US" dirty="0"/>
              <a:t>(= feedback control system) is a set of mechanical or electronic devices that automatically regulate a process variable to a desired state or set point without human interaction. The agent is called a controller.</a:t>
            </a:r>
            <a:endParaRPr lang="en-US" dirty="0">
              <a:solidFill>
                <a:srgbClr val="FF0000"/>
              </a:solidFill>
            </a:endParaRPr>
          </a:p>
          <a:p>
            <a:r>
              <a:rPr lang="en-US" b="1" dirty="0"/>
              <a:t>Softbot</a:t>
            </a:r>
            <a:r>
              <a:rPr lang="en-US" dirty="0"/>
              <a:t>: Agent is a software program that runs on a host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CFE71-9CDB-A319-F442-B9F489FF5A63}"/>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048000" y="2133401"/>
            <a:ext cx="4953000" cy="2133799"/>
          </a:xfrm>
          <a:prstGeom prst="rect">
            <a:avLst/>
          </a:prstGeom>
          <a:noFill/>
          <a:ln w="9525">
            <a:noFill/>
            <a:miter lim="800000"/>
            <a:headEnd/>
            <a:tailEnd/>
          </a:ln>
        </p:spPr>
      </p:pic>
      <p:sp>
        <p:nvSpPr>
          <p:cNvPr id="6146" name="Rectangle 2"/>
          <p:cNvSpPr>
            <a:spLocks noGrp="1" noChangeArrowheads="1"/>
          </p:cNvSpPr>
          <p:nvPr>
            <p:ph type="title"/>
          </p:nvPr>
        </p:nvSpPr>
        <p:spPr/>
        <p:txBody>
          <a:bodyPr/>
          <a:lstStyle/>
          <a:p>
            <a:r>
              <a:rPr lang="en-US" dirty="0"/>
              <a:t>Agent Function and Agent Program</a:t>
            </a:r>
          </a:p>
        </p:txBody>
      </p:sp>
      <mc:AlternateContent xmlns:mc="http://schemas.openxmlformats.org/markup-compatibility/2006" xmlns:a14="http://schemas.microsoft.com/office/drawing/2010/main">
        <mc:Choice Requires="a14">
          <p:sp>
            <p:nvSpPr>
              <p:cNvPr id="6147" name="Rectangle 3"/>
              <p:cNvSpPr>
                <a:spLocks noGrp="1" noChangeArrowheads="1"/>
              </p:cNvSpPr>
              <p:nvPr>
                <p:ph idx="1"/>
              </p:nvPr>
            </p:nvSpPr>
            <p:spPr>
              <a:xfrm>
                <a:off x="628650" y="1524001"/>
                <a:ext cx="7753350" cy="3962399"/>
              </a:xfrm>
            </p:spPr>
            <p:txBody>
              <a:bodyPr>
                <a:normAutofit fontScale="62500" lnSpcReduction="20000"/>
              </a:bodyPr>
              <a:lstStyle/>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function</a:t>
                </a:r>
                <a14:m>
                  <m:oMath xmlns:m="http://schemas.openxmlformats.org/officeDocument/2006/math">
                    <m:r>
                      <a:rPr lang="en-US" sz="2800" i="1">
                        <a:latin typeface="Cambria Math" panose="02040503050406030204" pitchFamily="18" charset="0"/>
                      </a:rPr>
                      <m:t> </m:t>
                    </m:r>
                  </m:oMath>
                </a14:m>
                <a:r>
                  <a:rPr lang="en-US" sz="2800" dirty="0"/>
                  <a:t>maps from the set of all possible </a:t>
                </a:r>
                <a:r>
                  <a:rPr lang="en-US" sz="2800" i="1" dirty="0"/>
                  <a:t>percept sequences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𝑃</m:t>
                        </m:r>
                      </m:e>
                      <m:sup>
                        <m:r>
                          <a:rPr lang="en-US" sz="2800" i="1">
                            <a:latin typeface="Cambria Math" panose="02040503050406030204" pitchFamily="18" charset="0"/>
                          </a:rPr>
                          <m:t>∗</m:t>
                        </m:r>
                      </m:sup>
                    </m:sSup>
                    <m:r>
                      <a:rPr lang="en-US" sz="2800" i="1">
                        <a:latin typeface="Cambria Math" panose="02040503050406030204" pitchFamily="18" charset="0"/>
                      </a:rPr>
                      <m:t> </m:t>
                    </m:r>
                  </m:oMath>
                </a14:m>
                <a:r>
                  <a:rPr lang="en-US" sz="2800" dirty="0"/>
                  <a:t>to the</a:t>
                </a:r>
                <a:r>
                  <a:rPr lang="en-US" sz="2800" i="1" dirty="0"/>
                  <a:t> set of actions </a:t>
                </a: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 </m:t>
                    </m:r>
                  </m:oMath>
                </a14:m>
                <a:r>
                  <a:rPr lang="en-US" sz="2800" dirty="0"/>
                  <a:t>formulated as an abstract mathematical function. </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342900" lvl="1" indent="0">
                  <a:buNone/>
                </a:pP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 : </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𝑃</m:t>
                        </m:r>
                      </m:e>
                      <m:sup>
                        <m:r>
                          <a:rPr lang="en-US" sz="3400" b="0" i="1" smtClean="0">
                            <a:latin typeface="Cambria Math" panose="02040503050406030204" pitchFamily="18" charset="0"/>
                          </a:rPr>
                          <m:t>∗</m:t>
                        </m:r>
                      </m:sup>
                    </m:sSup>
                    <m:r>
                      <a:rPr lang="en-US" sz="3400" b="0" i="1" smtClean="0">
                        <a:latin typeface="Cambria Math" panose="02040503050406030204" pitchFamily="18" charset="0"/>
                      </a:rPr>
                      <m:t> →</m:t>
                    </m:r>
                    <m:r>
                      <a:rPr lang="en-US" sz="3400" b="0" i="1" smtClean="0">
                        <a:latin typeface="Cambria Math" panose="02040503050406030204" pitchFamily="18" charset="0"/>
                      </a:rPr>
                      <m:t>𝐴</m:t>
                    </m:r>
                  </m:oMath>
                </a14:m>
                <a:r>
                  <a:rPr lang="en-US" sz="2500" dirty="0"/>
                  <a:t>           </a:t>
                </a:r>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program</a:t>
                </a:r>
                <a:r>
                  <a:rPr lang="en-US" sz="2800" dirty="0"/>
                  <a:t> is a concrete implementation of this function for a given physical system.</a:t>
                </a:r>
              </a:p>
              <a:p>
                <a:pPr marL="0" indent="0">
                  <a:buNone/>
                </a:pPr>
                <a:endParaRPr lang="en-US" sz="2800" dirty="0"/>
              </a:p>
              <a:p>
                <a:pPr marL="0" indent="0">
                  <a:buNone/>
                </a:pPr>
                <a:r>
                  <a:rPr lang="en-US" sz="2800" dirty="0"/>
                  <a:t>Agent = architecture (hardware) + agent program (implementation of </a:t>
                </a:r>
                <a14:m>
                  <m:oMath xmlns:m="http://schemas.openxmlformats.org/officeDocument/2006/math">
                    <m:r>
                      <a:rPr lang="en-US" sz="2800" i="1">
                        <a:latin typeface="Cambria Math" panose="02040503050406030204" pitchFamily="18" charset="0"/>
                      </a:rPr>
                      <m:t>𝑓</m:t>
                    </m:r>
                  </m:oMath>
                </a14:m>
                <a:r>
                  <a:rPr lang="en-US" sz="2800" dirty="0"/>
                  <a:t>)</a:t>
                </a:r>
              </a:p>
            </p:txBody>
          </p:sp>
        </mc:Choice>
        <mc:Fallback xmlns="">
          <p:sp>
            <p:nvSpPr>
              <p:cNvPr id="6147" name="Rectangle 3"/>
              <p:cNvSpPr>
                <a:spLocks noGrp="1" noRot="1" noChangeAspect="1" noMove="1" noResize="1" noEditPoints="1" noAdjustHandles="1" noChangeArrowheads="1" noChangeShapeType="1" noTextEdit="1"/>
              </p:cNvSpPr>
              <p:nvPr>
                <p:ph idx="1"/>
              </p:nvPr>
            </p:nvSpPr>
            <p:spPr>
              <a:xfrm>
                <a:off x="628650" y="1524001"/>
                <a:ext cx="7753350" cy="3962399"/>
              </a:xfrm>
              <a:blipFill>
                <a:blip r:embed="rId4"/>
                <a:stretch>
                  <a:fillRect l="-629" t="-2462" b="-6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2EA5988-3EF3-423E-9255-6C4428FE792D}"/>
              </a:ext>
            </a:extLst>
          </p:cNvPr>
          <p:cNvSpPr txBox="1"/>
          <p:nvPr/>
        </p:nvSpPr>
        <p:spPr>
          <a:xfrm>
            <a:off x="1328057" y="5721945"/>
            <a:ext cx="252037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marL="285750" indent="-285750">
              <a:buFont typeface="Arial" panose="020B0604020202020204" pitchFamily="34" charset="0"/>
              <a:buChar char="•"/>
            </a:pPr>
            <a:r>
              <a:rPr lang="en-US" dirty="0"/>
              <a:t>Sensors</a:t>
            </a:r>
          </a:p>
          <a:p>
            <a:pPr marL="285750" indent="-285750">
              <a:buFont typeface="Arial" panose="020B0604020202020204" pitchFamily="34" charset="0"/>
              <a:buChar char="•"/>
            </a:pPr>
            <a:r>
              <a:rPr lang="en-US" dirty="0"/>
              <a:t>Memory</a:t>
            </a:r>
          </a:p>
          <a:p>
            <a:pPr marL="285750" indent="-285750">
              <a:buFont typeface="Arial" panose="020B0604020202020204" pitchFamily="34" charset="0"/>
              <a:buChar char="•"/>
            </a:pPr>
            <a:r>
              <a:rPr lang="en-US" dirty="0"/>
              <a:t>Computational power</a:t>
            </a:r>
          </a:p>
        </p:txBody>
      </p:sp>
      <p:sp>
        <p:nvSpPr>
          <p:cNvPr id="4" name="Arrow: Down 3">
            <a:extLst>
              <a:ext uri="{FF2B5EF4-FFF2-40B4-BE49-F238E27FC236}">
                <a16:creationId xmlns:a16="http://schemas.microsoft.com/office/drawing/2014/main" id="{C78490AF-4FEA-47BC-83F2-FBCDACE93FDE}"/>
              </a:ext>
              <a:ext uri="{C183D7F6-B498-43B3-948B-1728B52AA6E4}">
                <adec:decorative xmlns:adec="http://schemas.microsoft.com/office/drawing/2017/decorative" val="1"/>
              </a:ext>
            </a:extLst>
          </p:cNvPr>
          <p:cNvSpPr/>
          <p:nvPr/>
        </p:nvSpPr>
        <p:spPr>
          <a:xfrm>
            <a:off x="2435842" y="5388428"/>
            <a:ext cx="304800" cy="3050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87470C2-4341-7CA5-300A-0259AEE9A1CF}"/>
              </a:ext>
              <a:ext uri="{C183D7F6-B498-43B3-948B-1728B52AA6E4}">
                <adec:decorative xmlns:adec="http://schemas.microsoft.com/office/drawing/2017/decorative" val="1"/>
              </a:ext>
            </a:extLst>
          </p:cNvPr>
          <p:cNvSpPr/>
          <p:nvPr/>
        </p:nvSpPr>
        <p:spPr>
          <a:xfrm>
            <a:off x="6496566" y="2802596"/>
            <a:ext cx="858611" cy="3667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p:nvPr/>
            </p:nvSpPr>
            <p:spPr>
              <a:xfrm>
                <a:off x="6420366" y="2828539"/>
                <a:ext cx="1047234" cy="307777"/>
              </a:xfrm>
              <a:prstGeom prst="rect">
                <a:avLst/>
              </a:prstGeom>
              <a:noFill/>
            </p:spPr>
            <p:txBody>
              <a:bodyPr wrap="square">
                <a:spAutoFit/>
              </a:bodyPr>
              <a:lstStyle/>
              <a:p>
                <a:pPr marL="0" indent="0" algn="ctr">
                  <a:buNone/>
                </a:pPr>
                <a14:m>
                  <m:oMathPara xmlns:m="http://schemas.openxmlformats.org/officeDocument/2006/math">
                    <m:oMathParaPr>
                      <m:jc m:val="left"/>
                    </m:oMathParaPr>
                    <m:oMath>
                      <m:r>
                        <a:rPr lang="en-US" sz="1400" b="1" i="1" dirty="0" smtClean="0">
                          <a:solidFill>
                            <a:srgbClr val="FF0000"/>
                          </a:solidFill>
                          <a:latin typeface="Cambria Math" panose="02040503050406030204" pitchFamily="18" charset="0"/>
                        </a:rPr>
                        <m:t>𝒂</m:t>
                      </m:r>
                      <m:r>
                        <a:rPr lang="en-US" sz="1400" b="1" i="1" dirty="0" smtClean="0">
                          <a:solidFill>
                            <a:srgbClr val="FF0000"/>
                          </a:solidFill>
                          <a:latin typeface="Cambria Math" panose="02040503050406030204" pitchFamily="18" charset="0"/>
                        </a:rPr>
                        <m:t> = </m:t>
                      </m:r>
                      <m:r>
                        <a:rPr lang="en-US" sz="1400" b="1" i="1" dirty="0" smtClean="0">
                          <a:solidFill>
                            <a:srgbClr val="FF0000"/>
                          </a:solidFill>
                          <a:latin typeface="Cambria Math" panose="02040503050406030204" pitchFamily="18" charset="0"/>
                        </a:rPr>
                        <m:t>𝒇</m:t>
                      </m:r>
                      <m:r>
                        <a:rPr lang="en-US" sz="1400" b="1" i="1" dirty="0" smtClean="0">
                          <a:solidFill>
                            <a:srgbClr val="FF0000"/>
                          </a:solidFill>
                          <a:latin typeface="Cambria Math" panose="02040503050406030204" pitchFamily="18" charset="0"/>
                        </a:rPr>
                        <m:t>(</m:t>
                      </m:r>
                      <m:r>
                        <a:rPr lang="en-US" sz="1400" b="1" i="1" dirty="0" smtClean="0">
                          <a:solidFill>
                            <a:srgbClr val="FF0000"/>
                          </a:solidFill>
                          <a:latin typeface="Cambria Math" panose="02040503050406030204" pitchFamily="18" charset="0"/>
                        </a:rPr>
                        <m:t>𝒑</m:t>
                      </m:r>
                      <m:r>
                        <a:rPr lang="en-US" sz="1400" b="1" i="1" dirty="0" smtClean="0">
                          <a:solidFill>
                            <a:srgbClr val="FF0000"/>
                          </a:solidFill>
                          <a:latin typeface="Cambria Math" panose="02040503050406030204" pitchFamily="18" charset="0"/>
                        </a:rPr>
                        <m:t>)</m:t>
                      </m:r>
                    </m:oMath>
                  </m:oMathPara>
                </a14:m>
                <a:endParaRPr lang="en-US" sz="1400" b="1" dirty="0">
                  <a:solidFill>
                    <a:srgbClr val="FF0000"/>
                  </a:solidFill>
                </a:endParaRPr>
              </a:p>
            </p:txBody>
          </p:sp>
        </mc:Choice>
        <mc:Fallback xmlns="">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420366" y="2828539"/>
                <a:ext cx="1047234" cy="307777"/>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p:nvPr/>
            </p:nvSpPr>
            <p:spPr>
              <a:xfrm>
                <a:off x="5486400" y="3485670"/>
                <a:ext cx="304800" cy="369332"/>
              </a:xfrm>
              <a:prstGeom prst="rect">
                <a:avLst/>
              </a:prstGeom>
              <a:noFill/>
            </p:spPr>
            <p:txBody>
              <a:bodyPr wrap="square">
                <a:spAutoFit/>
              </a:bodyPr>
              <a:lstStyle/>
              <a:p>
                <a:pPr/>
                <a14:m>
                  <m:oMathPara xmlns:m="http://schemas.openxmlformats.org/officeDocument/2006/math">
                    <m:oMath>
                      <m:r>
                        <a:rPr lang="en-US" sz="1800" b="1" i="1" dirty="0" smtClean="0">
                          <a:solidFill>
                            <a:srgbClr val="FF0000"/>
                          </a:solidFill>
                          <a:latin typeface="Cambria Math" panose="02040503050406030204" pitchFamily="18" charset="0"/>
                        </a:rPr>
                        <m:t>𝒂</m:t>
                      </m:r>
                    </m:oMath>
                  </m:oMathPara>
                </a14:m>
                <a:endParaRPr lang="en-US" dirty="0"/>
              </a:p>
            </p:txBody>
          </p:sp>
        </mc:Choice>
        <mc:Fallback xmlns="">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3485670"/>
                <a:ext cx="3048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p:nvPr/>
            </p:nvSpPr>
            <p:spPr>
              <a:xfrm>
                <a:off x="5486400" y="2256124"/>
                <a:ext cx="304800" cy="369332"/>
              </a:xfrm>
              <a:prstGeom prst="rect">
                <a:avLst/>
              </a:prstGeom>
              <a:noFill/>
            </p:spPr>
            <p:txBody>
              <a:bodyPr wrap="square">
                <a:spAutoFit/>
              </a:bodyPr>
              <a:lstStyle/>
              <a:p>
                <a:pPr/>
                <a14:m>
                  <m:oMathPara xmlns:m="http://schemas.openxmlformats.org/officeDocument/2006/math">
                    <m:oMath>
                      <m:r>
                        <a:rPr lang="en-US" sz="1800" b="1" i="1" dirty="0" smtClean="0">
                          <a:solidFill>
                            <a:srgbClr val="FF0000"/>
                          </a:solidFill>
                          <a:latin typeface="Cambria Math" panose="02040503050406030204" pitchFamily="18" charset="0"/>
                        </a:rPr>
                        <m:t>𝒑</m:t>
                      </m:r>
                    </m:oMath>
                  </m:oMathPara>
                </a14:m>
                <a:endParaRPr lang="en-US" dirty="0"/>
              </a:p>
            </p:txBody>
          </p:sp>
        </mc:Choice>
        <mc:Fallback xmlns="">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2256124"/>
                <a:ext cx="304800" cy="369332"/>
              </a:xfrm>
              <a:prstGeom prst="rect">
                <a:avLst/>
              </a:prstGeom>
              <a:blipFill>
                <a:blip r:embed="rId7"/>
                <a:stretch>
                  <a:fillRect r="-6000" b="-655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a:t>
            </a:r>
            <a:br>
              <a:rPr lang="en-US" dirty="0"/>
            </a:br>
            <a:r>
              <a:rPr lang="en-US" dirty="0"/>
              <a:t>Vacuum-cleaner World</a:t>
            </a:r>
          </a:p>
        </p:txBody>
      </p:sp>
      <p:sp>
        <p:nvSpPr>
          <p:cNvPr id="7171" name="Rectangle 3"/>
          <p:cNvSpPr>
            <a:spLocks noGrp="1" noChangeArrowheads="1"/>
          </p:cNvSpPr>
          <p:nvPr>
            <p:ph idx="1"/>
          </p:nvPr>
        </p:nvSpPr>
        <p:spPr>
          <a:xfrm>
            <a:off x="628650" y="1524000"/>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descr="vacuum2-environment"/>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9854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000" dirty="0"/>
                  <a:t>Implemented agent program:</a:t>
                </a:r>
                <a:br>
                  <a:rPr lang="en-US" sz="2000" dirty="0"/>
                </a:br>
                <a:endParaRPr lang="en-US" sz="2000" dirty="0"/>
              </a:p>
              <a:p>
                <a:pPr>
                  <a:buNone/>
                </a:pPr>
                <a:r>
                  <a:rPr lang="en-US" sz="2000" b="1" dirty="0">
                    <a:solidFill>
                      <a:schemeClr val="tx1"/>
                    </a:solidFill>
                  </a:rPr>
                  <a:t>function Vacuum-Agent</a:t>
                </a:r>
                <a:r>
                  <a:rPr lang="en-US" sz="2000" dirty="0">
                    <a:solidFill>
                      <a:schemeClr val="tx1"/>
                    </a:solidFill>
                  </a:rPr>
                  <a:t>( </a:t>
                </a:r>
                <a:r>
                  <a:rPr lang="en-US" sz="2000" dirty="0">
                    <a:solidFill>
                      <a:schemeClr val="accent3"/>
                    </a:solidFill>
                  </a:rPr>
                  <a:t>[location, status] </a:t>
                </a:r>
                <a:r>
                  <a:rPr lang="en-US" sz="2000" dirty="0">
                    <a:solidFill>
                      <a:schemeClr val="tx1"/>
                    </a:solidFill>
                  </a:rPr>
                  <a:t>) </a:t>
                </a:r>
                <a:br>
                  <a:rPr lang="en-US" sz="2000" dirty="0">
                    <a:solidFill>
                      <a:schemeClr val="tx1"/>
                    </a:solidFill>
                  </a:rPr>
                </a:br>
                <a:r>
                  <a:rPr lang="en-US" sz="2000" dirty="0">
                    <a:solidFill>
                      <a:schemeClr val="tx1"/>
                    </a:solidFill>
                  </a:rPr>
                  <a:t>   </a:t>
                </a:r>
                <a:r>
                  <a:rPr lang="en-US" sz="1600" dirty="0">
                    <a:solidFill>
                      <a:schemeClr val="tx1"/>
                    </a:solidFill>
                    <a:ea typeface="+mn-ea"/>
                    <a:cs typeface="+mn-cs"/>
                  </a:rPr>
                  <a:t>returns</a:t>
                </a:r>
                <a:r>
                  <a:rPr lang="en-US" sz="2000" dirty="0">
                    <a:solidFill>
                      <a:schemeClr val="tx1"/>
                    </a:solidFill>
                    <a:ea typeface="+mn-ea"/>
                    <a:cs typeface="+mn-cs"/>
                  </a:rPr>
                  <a:t> an </a:t>
                </a:r>
                <a:r>
                  <a:rPr lang="en-US" sz="2000" dirty="0">
                    <a:solidFill>
                      <a:srgbClr val="FF0000"/>
                    </a:solidFill>
                    <a:ea typeface="+mn-ea"/>
                    <a:cs typeface="+mn-cs"/>
                  </a:rPr>
                  <a:t>action </a:t>
                </a:r>
                <a14:m>
                  <m:oMath xmlns:m="http://schemas.openxmlformats.org/officeDocument/2006/math">
                    <m:r>
                      <a:rPr lang="en-US" sz="2000" i="1" dirty="0" smtClean="0">
                        <a:solidFill>
                          <a:srgbClr val="FF0000"/>
                        </a:solidFill>
                        <a:latin typeface="Cambria Math" panose="02040503050406030204" pitchFamily="18" charset="0"/>
                        <a:ea typeface="+mn-ea"/>
                        <a:cs typeface="+mn-cs"/>
                      </a:rPr>
                      <m:t>𝑎</m:t>
                    </m:r>
                  </m:oMath>
                </a14:m>
                <a:endParaRPr lang="en-US" sz="2000" dirty="0">
                  <a:solidFill>
                    <a:srgbClr val="FF0000"/>
                  </a:solidFill>
                  <a:ea typeface="+mn-ea"/>
                  <a:cs typeface="+mn-cs"/>
                </a:endParaRPr>
              </a:p>
              <a:p>
                <a:pPr>
                  <a:buNone/>
                </a:pPr>
                <a:endParaRPr lang="en-US" i="1" dirty="0">
                  <a:solidFill>
                    <a:schemeClr val="tx1"/>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status = Dirty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Suck</a:t>
                </a: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A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Right</a:t>
                </a:r>
                <a:endParaRPr lang="en-US" i="1" dirty="0">
                  <a:solidFill>
                    <a:srgbClr val="FF0000"/>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B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p>
              <a:p>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Left</a:t>
                </a:r>
                <a:endParaRPr lang="en-US" dirty="0"/>
              </a:p>
            </p:txBody>
          </p:sp>
        </mc:Choice>
        <mc:Fallback xmlns="">
          <p:sp>
            <p:nvSpPr>
              <p:cNvPr id="2" name="Rectangle 1">
                <a:extLst>
                  <a:ext uri="{FF2B5EF4-FFF2-40B4-BE49-F238E27FC236}">
                    <a16:creationId xmlns:a16="http://schemas.microsoft.com/office/drawing/2014/main" id="{9ADB47C7-D44C-4FF8-8772-B83961F5A3A0}"/>
                  </a:ext>
                </a:extLst>
              </p:cNvPr>
              <p:cNvSpPr>
                <a:spLocks noRot="1" noChangeAspect="1" noMove="1" noResize="1" noEditPoints="1" noAdjustHandles="1" noChangeArrowheads="1" noChangeShapeType="1" noTextEdit="1"/>
              </p:cNvSpPr>
              <p:nvPr/>
            </p:nvSpPr>
            <p:spPr>
              <a:xfrm>
                <a:off x="4114800" y="3429000"/>
                <a:ext cx="4876799" cy="2985433"/>
              </a:xfrm>
              <a:prstGeom prst="rect">
                <a:avLst/>
              </a:prstGeom>
              <a:blipFill>
                <a:blip r:embed="rId4"/>
                <a:stretch>
                  <a:fillRect l="-1122" t="-1018" b="-22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t>Agent function: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 →</m:t>
                    </m:r>
                    <m:r>
                      <a:rPr lang="en-US" i="1">
                        <a:latin typeface="Cambria Math" panose="02040503050406030204" pitchFamily="18" charset="0"/>
                      </a:rPr>
                      <m:t>𝐴</m:t>
                    </m:r>
                  </m:oMath>
                </a14:m>
                <a:br>
                  <a:rPr lang="en-US" dirty="0"/>
                </a:br>
                <a:endParaRPr lang="en-US" dirty="0"/>
              </a:p>
              <a:p>
                <a:pPr>
                  <a:buNone/>
                </a:pPr>
                <a:r>
                  <a:rPr lang="en-US" b="1" u="sng" dirty="0"/>
                  <a:t>Percept Sequence</a:t>
                </a:r>
                <a:r>
                  <a:rPr lang="en-US" u="sng" dirty="0"/>
                  <a:t>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a:p>
                <a:pPr>
                  <a:buNone/>
                </a:pPr>
                <a:r>
                  <a:rPr lang="en-US" dirty="0"/>
                  <a:t>[A, Clean], [B, Clean], [A, Dirty] Suck</a:t>
                </a:r>
              </a:p>
              <a:p>
                <a:pPr>
                  <a:buNone/>
                </a:pPr>
                <a:r>
                  <a:rPr lang="en-US" dirty="0"/>
                  <a:t>…</a:t>
                </a:r>
              </a:p>
            </p:txBody>
          </p:sp>
        </mc:Choice>
        <mc:Fallback xmlns="">
          <p:sp>
            <p:nvSpPr>
              <p:cNvPr id="6" name="Rectangle 5">
                <a:extLst>
                  <a:ext uri="{FF2B5EF4-FFF2-40B4-BE49-F238E27FC236}">
                    <a16:creationId xmlns:a16="http://schemas.microsoft.com/office/drawing/2014/main" id="{6F517ADE-3F92-425E-93AD-EB81559C8C54}"/>
                  </a:ext>
                </a:extLst>
              </p:cNvPr>
              <p:cNvSpPr>
                <a:spLocks noRot="1" noChangeAspect="1" noMove="1" noResize="1" noEditPoints="1" noAdjustHandles="1" noChangeArrowheads="1" noChangeShapeType="1" noTextEdit="1"/>
              </p:cNvSpPr>
              <p:nvPr/>
            </p:nvSpPr>
            <p:spPr>
              <a:xfrm>
                <a:off x="381001" y="3429000"/>
                <a:ext cx="3638551" cy="2862322"/>
              </a:xfrm>
              <a:prstGeom prst="rect">
                <a:avLst/>
              </a:prstGeom>
              <a:blipFill>
                <a:blip r:embed="rId5"/>
                <a:stretch>
                  <a:fillRect l="-1338" t="-1062" b="-21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allout: Line 2">
                <a:extLst>
                  <a:ext uri="{FF2B5EF4-FFF2-40B4-BE49-F238E27FC236}">
                    <a16:creationId xmlns:a16="http://schemas.microsoft.com/office/drawing/2014/main" id="{CDE773EB-84A3-4DC9-B16C-C93A1E7351DF}"/>
                  </a:ext>
                </a:extLst>
              </p:cNvPr>
              <p:cNvSpPr/>
              <p:nvPr/>
            </p:nvSpPr>
            <p:spPr>
              <a:xfrm>
                <a:off x="7485497" y="2634567"/>
                <a:ext cx="1416047" cy="685799"/>
              </a:xfrm>
              <a:prstGeom prst="borderCallout1">
                <a:avLst>
                  <a:gd name="adj1" fmla="val 107639"/>
                  <a:gd name="adj2" fmla="val 43139"/>
                  <a:gd name="adj3" fmla="val 208107"/>
                  <a:gd name="adj4" fmla="val -85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Most recent Percept </a:t>
                </a:r>
                <a14:m>
                  <m:oMath xmlns:m="http://schemas.openxmlformats.org/officeDocument/2006/math">
                    <m:r>
                      <a:rPr lang="en-US" i="1" dirty="0" smtClean="0">
                        <a:latin typeface="Cambria Math" panose="02040503050406030204" pitchFamily="18" charset="0"/>
                      </a:rPr>
                      <m:t>𝑝</m:t>
                    </m:r>
                  </m:oMath>
                </a14:m>
                <a:endParaRPr lang="en-US" dirty="0"/>
              </a:p>
            </p:txBody>
          </p:sp>
        </mc:Choice>
        <mc:Fallback xmlns="">
          <p:sp>
            <p:nvSpPr>
              <p:cNvPr id="3" name="Callout: Line 2">
                <a:extLst>
                  <a:ext uri="{FF2B5EF4-FFF2-40B4-BE49-F238E27FC236}">
                    <a16:creationId xmlns:a16="http://schemas.microsoft.com/office/drawing/2014/main" id="{CDE773EB-84A3-4DC9-B16C-C93A1E7351DF}"/>
                  </a:ext>
                </a:extLst>
              </p:cNvPr>
              <p:cNvSpPr>
                <a:spLocks noRot="1" noChangeAspect="1" noMove="1" noResize="1" noEditPoints="1" noAdjustHandles="1" noChangeArrowheads="1" noChangeShapeType="1" noTextEdit="1"/>
              </p:cNvSpPr>
              <p:nvPr/>
            </p:nvSpPr>
            <p:spPr>
              <a:xfrm>
                <a:off x="7485497" y="2634567"/>
                <a:ext cx="1416047" cy="685799"/>
              </a:xfrm>
              <a:prstGeom prst="borderCallout1">
                <a:avLst>
                  <a:gd name="adj1" fmla="val 107639"/>
                  <a:gd name="adj2" fmla="val 43139"/>
                  <a:gd name="adj3" fmla="val 208107"/>
                  <a:gd name="adj4" fmla="val -8564"/>
                </a:avLst>
              </a:prstGeom>
              <a:blipFill>
                <a:blip r:embed="rId6"/>
                <a:stretch>
                  <a:fillRect t="-420" r="-2756"/>
                </a:stretch>
              </a:blipFill>
            </p:spPr>
            <p:txBody>
              <a:bodyPr/>
              <a:lstStyle/>
              <a:p>
                <a:r>
                  <a:rPr lang="en-US">
                    <a:noFill/>
                  </a:rPr>
                  <a:t> </a:t>
                </a:r>
              </a:p>
            </p:txBody>
          </p:sp>
        </mc:Fallback>
      </mc:AlternateContent>
      <p:sp>
        <p:nvSpPr>
          <p:cNvPr id="8" name="Callout: Line 7">
            <a:extLst>
              <a:ext uri="{FF2B5EF4-FFF2-40B4-BE49-F238E27FC236}">
                <a16:creationId xmlns:a16="http://schemas.microsoft.com/office/drawing/2014/main" id="{0575EB97-504D-4C56-8275-A26AAC7BBA25}"/>
              </a:ext>
            </a:extLst>
          </p:cNvPr>
          <p:cNvSpPr/>
          <p:nvPr/>
        </p:nvSpPr>
        <p:spPr>
          <a:xfrm>
            <a:off x="533400" y="6452414"/>
            <a:ext cx="5181600" cy="304800"/>
          </a:xfrm>
          <a:prstGeom prst="borderCallout1">
            <a:avLst>
              <a:gd name="adj1" fmla="val 31794"/>
              <a:gd name="adj2" fmla="val -660"/>
              <a:gd name="adj3" fmla="val -98260"/>
              <a:gd name="adj4" fmla="val 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Problem</a:t>
            </a:r>
            <a:r>
              <a:rPr lang="en-US" dirty="0"/>
              <a:t>: This table can become infinitively large!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Rationality</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75149908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562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 What is Good Behavior?</a:t>
            </a:r>
          </a:p>
        </p:txBody>
      </p:sp>
      <p:sp>
        <p:nvSpPr>
          <p:cNvPr id="10243" name="Rectangle 3"/>
          <p:cNvSpPr>
            <a:spLocks noGrp="1" noChangeArrowheads="1"/>
          </p:cNvSpPr>
          <p:nvPr>
            <p:ph idx="1"/>
          </p:nvPr>
        </p:nvSpPr>
        <p:spPr>
          <a:xfrm>
            <a:off x="628650" y="1600200"/>
            <a:ext cx="7886700" cy="3758863"/>
          </a:xfrm>
        </p:spPr>
        <p:txBody>
          <a:bodyPr>
            <a:normAutofit fontScale="77500" lnSpcReduction="20000"/>
          </a:bodyPr>
          <a:lstStyle/>
          <a:p>
            <a:pPr marL="0" indent="0">
              <a:buNone/>
            </a:pPr>
            <a:r>
              <a:rPr lang="en-US" sz="2800" dirty="0"/>
              <a:t>Foundation from normative moral theory and economics:</a:t>
            </a:r>
          </a:p>
          <a:p>
            <a:pPr lvl="1"/>
            <a:r>
              <a:rPr lang="en-US" sz="2500" b="1" dirty="0"/>
              <a:t>Consequentialism</a:t>
            </a:r>
            <a:r>
              <a:rPr lang="en-US" sz="2500" dirty="0"/>
              <a:t>: Evaluate actions by their consequences.</a:t>
            </a:r>
          </a:p>
          <a:p>
            <a:pPr lvl="1"/>
            <a:r>
              <a:rPr lang="en-US" sz="2500" b="1" dirty="0"/>
              <a:t>Utilitarianism</a:t>
            </a:r>
            <a:r>
              <a:rPr lang="en-US" sz="2500" dirty="0"/>
              <a:t>: Maximize happiness and well-being.</a:t>
            </a:r>
          </a:p>
          <a:p>
            <a:endParaRPr lang="en-US" sz="2800" dirty="0"/>
          </a:p>
          <a:p>
            <a:pPr marL="0" indent="0">
              <a:buNone/>
            </a:pPr>
            <a:r>
              <a:rPr lang="en-US" sz="2800" dirty="0"/>
              <a:t>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 </a:t>
            </a:r>
            <a:r>
              <a:rPr lang="en-US" sz="2500" b="1" i="1" dirty="0">
                <a:solidFill>
                  <a:srgbClr val="FF0000"/>
                </a:solidFill>
              </a:rPr>
              <a:t>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a:p>
            <a:endParaRPr lang="en-US" sz="2800" dirty="0"/>
          </a:p>
          <a:p>
            <a:pPr lvl="1"/>
            <a:r>
              <a:rPr lang="en-US" sz="2500" b="1" dirty="0"/>
              <a:t>Performance measure</a:t>
            </a:r>
            <a:r>
              <a:rPr lang="en-US" sz="2500" dirty="0"/>
              <a:t>: An </a:t>
            </a:r>
            <a:r>
              <a:rPr lang="en-US" sz="2500" i="1" dirty="0"/>
              <a:t>objective</a:t>
            </a:r>
            <a:r>
              <a:rPr lang="en-US" sz="2500" dirty="0"/>
              <a:t> criterion for success of an agent's behavior (often called utility function or reward function).</a:t>
            </a:r>
          </a:p>
          <a:p>
            <a:pPr lvl="1"/>
            <a:r>
              <a:rPr lang="en-US" sz="2500" b="1" dirty="0"/>
              <a:t>Expectation</a:t>
            </a:r>
            <a:r>
              <a:rPr lang="en-US" sz="2500" dirty="0"/>
              <a:t>: Outcome averaged over all possible situations that may arise.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6F11EA-97CC-8628-9BCE-E7E4516526F1}"/>
                  </a:ext>
                </a:extLst>
              </p:cNvPr>
              <p:cNvSpPr txBox="1"/>
              <p:nvPr/>
            </p:nvSpPr>
            <p:spPr>
              <a:xfrm>
                <a:off x="2286000" y="5410200"/>
                <a:ext cx="5181600"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maximizes the expected utility</a:t>
                </a:r>
              </a:p>
              <a:p>
                <a:endParaRPr lang="en-US" sz="1600" dirty="0"/>
              </a:p>
              <a:p>
                <a:pP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0"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i="1">
                          <a:latin typeface="Cambria Math" panose="02040503050406030204" pitchFamily="18" charset="0"/>
                          <a:ea typeface="Cambria Math" panose="02040503050406030204" pitchFamily="18" charset="0"/>
                        </a:rPr>
                        <m:t>𝔼</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2" name="TextBox 1">
                <a:extLst>
                  <a:ext uri="{FF2B5EF4-FFF2-40B4-BE49-F238E27FC236}">
                    <a16:creationId xmlns:a16="http://schemas.microsoft.com/office/drawing/2014/main" id="{246F11EA-97CC-8628-9BCE-E7E4516526F1}"/>
                  </a:ext>
                </a:extLst>
              </p:cNvPr>
              <p:cNvSpPr txBox="1">
                <a:spLocks noRot="1" noChangeAspect="1" noMove="1" noResize="1" noEditPoints="1" noAdjustHandles="1" noChangeArrowheads="1" noChangeShapeType="1" noTextEdit="1"/>
              </p:cNvSpPr>
              <p:nvPr/>
            </p:nvSpPr>
            <p:spPr>
              <a:xfrm>
                <a:off x="2286000" y="5410200"/>
                <a:ext cx="5181600" cy="892552"/>
              </a:xfrm>
              <a:prstGeom prst="rect">
                <a:avLst/>
              </a:prstGeom>
              <a:blipFill>
                <a:blip r:embed="rId3"/>
                <a:stretch>
                  <a:fillRect l="-469" t="-1351" b="-540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a:t>
            </a:r>
          </a:p>
        </p:txBody>
      </p:sp>
      <p:sp>
        <p:nvSpPr>
          <p:cNvPr id="10243" name="Rectangle 3"/>
          <p:cNvSpPr>
            <a:spLocks noGrp="1" noChangeArrowheads="1"/>
          </p:cNvSpPr>
          <p:nvPr>
            <p:ph idx="1"/>
          </p:nvPr>
        </p:nvSpPr>
        <p:spPr>
          <a:xfrm>
            <a:off x="628650" y="2765426"/>
            <a:ext cx="7886700" cy="3368673"/>
          </a:xfrm>
        </p:spPr>
        <p:txBody>
          <a:bodyPr>
            <a:normAutofit fontScale="62500" lnSpcReduction="20000"/>
          </a:bodyPr>
          <a:lstStyle/>
          <a:p>
            <a:pPr marL="0" indent="0">
              <a:buNone/>
            </a:pPr>
            <a:r>
              <a:rPr lang="en-US" sz="2800" dirty="0"/>
              <a:t>This means: </a:t>
            </a:r>
          </a:p>
          <a:p>
            <a:pPr marL="0" indent="0">
              <a:buNone/>
            </a:pPr>
            <a:endParaRPr lang="en-US" sz="2800" dirty="0"/>
          </a:p>
          <a:p>
            <a:pPr lvl="1"/>
            <a:r>
              <a:rPr lang="en-US" sz="2500" b="1" dirty="0"/>
              <a:t>Rationality is an ideal </a:t>
            </a:r>
            <a:r>
              <a:rPr lang="en-US" sz="2500" dirty="0">
                <a:solidFill>
                  <a:schemeClr val="tx1">
                    <a:lumMod val="50000"/>
                    <a:lumOff val="50000"/>
                  </a:schemeClr>
                </a:solidFill>
              </a:rPr>
              <a:t>– it implies that no one can build a better agent</a:t>
            </a:r>
            <a:endParaRPr lang="en-US" sz="2500" b="1" dirty="0"/>
          </a:p>
          <a:p>
            <a:pPr lvl="1"/>
            <a:endParaRPr lang="en-US" sz="2500" b="1" dirty="0"/>
          </a:p>
          <a:p>
            <a:pPr lvl="1"/>
            <a:r>
              <a:rPr lang="en-US" sz="2500" b="1" dirty="0"/>
              <a:t>Rationality ≠ Omniscience </a:t>
            </a:r>
            <a:r>
              <a:rPr lang="en-US" sz="2500" dirty="0">
                <a:solidFill>
                  <a:schemeClr val="tx1">
                    <a:lumMod val="50000"/>
                    <a:lumOff val="50000"/>
                  </a:schemeClr>
                </a:solidFill>
              </a:rPr>
              <a:t>– rational agents can make mistakes if percepts and knowledge do not suffice to make a good decision</a:t>
            </a:r>
          </a:p>
          <a:p>
            <a:pPr lvl="1"/>
            <a:endParaRPr lang="en-US" sz="2500" dirty="0">
              <a:solidFill>
                <a:schemeClr val="tx1">
                  <a:lumMod val="50000"/>
                  <a:lumOff val="50000"/>
                </a:schemeClr>
              </a:solidFill>
            </a:endParaRPr>
          </a:p>
          <a:p>
            <a:pPr lvl="1"/>
            <a:r>
              <a:rPr lang="en-US" sz="2500" b="1" dirty="0"/>
              <a:t>Rationality ≠ Perfection</a:t>
            </a:r>
            <a:r>
              <a:rPr lang="en-US" sz="2500" b="1" dirty="0">
                <a:solidFill>
                  <a:schemeClr val="tx1">
                    <a:lumMod val="50000"/>
                    <a:lumOff val="50000"/>
                  </a:schemeClr>
                </a:solidFill>
              </a:rPr>
              <a:t> </a:t>
            </a:r>
            <a:r>
              <a:rPr lang="en-US" sz="2500" dirty="0">
                <a:solidFill>
                  <a:schemeClr val="tx1">
                    <a:lumMod val="50000"/>
                    <a:lumOff val="50000"/>
                  </a:schemeClr>
                </a:solidFill>
              </a:rPr>
              <a:t>– rational agents maximize </a:t>
            </a:r>
            <a:r>
              <a:rPr lang="en-US" sz="2500" b="1" dirty="0">
                <a:solidFill>
                  <a:schemeClr val="tx1">
                    <a:lumMod val="50000"/>
                    <a:lumOff val="50000"/>
                  </a:schemeClr>
                </a:solidFill>
              </a:rPr>
              <a:t>expected</a:t>
            </a:r>
            <a:r>
              <a:rPr lang="en-US" sz="2500" dirty="0">
                <a:solidFill>
                  <a:schemeClr val="tx1">
                    <a:lumMod val="50000"/>
                    <a:lumOff val="50000"/>
                  </a:schemeClr>
                </a:solidFill>
              </a:rPr>
              <a:t> outcomes not actual outcomes</a:t>
            </a:r>
          </a:p>
          <a:p>
            <a:pPr lvl="1"/>
            <a:endParaRPr lang="en-US" sz="2500" dirty="0">
              <a:solidFill>
                <a:schemeClr val="tx1">
                  <a:lumMod val="50000"/>
                  <a:lumOff val="50000"/>
                </a:schemeClr>
              </a:solidFill>
            </a:endParaRPr>
          </a:p>
          <a:p>
            <a:pPr lvl="1"/>
            <a:r>
              <a:rPr lang="en-US" sz="2500" b="1" dirty="0"/>
              <a:t>It is rational to explore and learn</a:t>
            </a:r>
            <a:r>
              <a:rPr lang="en-US" sz="2500" dirty="0"/>
              <a:t> </a:t>
            </a:r>
            <a:r>
              <a:rPr lang="en-US" sz="2500" dirty="0">
                <a:solidFill>
                  <a:schemeClr val="tx1">
                    <a:lumMod val="50000"/>
                    <a:lumOff val="50000"/>
                  </a:schemeClr>
                </a:solidFill>
              </a:rPr>
              <a:t>– I.e., </a:t>
            </a:r>
            <a:r>
              <a:rPr lang="en-US" sz="2500" b="1" dirty="0">
                <a:solidFill>
                  <a:schemeClr val="tx1">
                    <a:lumMod val="50000"/>
                    <a:lumOff val="50000"/>
                  </a:schemeClr>
                </a:solidFill>
              </a:rPr>
              <a:t>use</a:t>
            </a:r>
            <a:r>
              <a:rPr lang="en-US" sz="2500" dirty="0">
                <a:solidFill>
                  <a:schemeClr val="tx1">
                    <a:lumMod val="50000"/>
                    <a:lumOff val="50000"/>
                  </a:schemeClr>
                </a:solidFill>
              </a:rPr>
              <a:t> </a:t>
            </a:r>
            <a:r>
              <a:rPr lang="en-US" sz="2500" b="1" dirty="0">
                <a:solidFill>
                  <a:schemeClr val="tx1">
                    <a:lumMod val="50000"/>
                    <a:lumOff val="50000"/>
                  </a:schemeClr>
                </a:solidFill>
              </a:rPr>
              <a:t>percepts</a:t>
            </a:r>
            <a:r>
              <a:rPr lang="en-US" sz="2500" dirty="0">
                <a:solidFill>
                  <a:schemeClr val="tx1">
                    <a:lumMod val="50000"/>
                    <a:lumOff val="50000"/>
                  </a:schemeClr>
                </a:solidFill>
              </a:rPr>
              <a:t> to supplement prior knowledge and become autonomous</a:t>
            </a:r>
          </a:p>
          <a:p>
            <a:pPr lvl="1"/>
            <a:endParaRPr lang="en-US" sz="2500" dirty="0">
              <a:solidFill>
                <a:schemeClr val="tx1">
                  <a:lumMod val="50000"/>
                  <a:lumOff val="50000"/>
                </a:schemeClr>
              </a:solidFill>
            </a:endParaRPr>
          </a:p>
          <a:p>
            <a:pPr lvl="1"/>
            <a:r>
              <a:rPr lang="en-US" sz="2500" b="1" dirty="0"/>
              <a:t>Rationality is often bounded</a:t>
            </a:r>
            <a:r>
              <a:rPr lang="en-US" sz="2500" dirty="0">
                <a:solidFill>
                  <a:schemeClr val="tx1">
                    <a:lumMod val="50000"/>
                    <a:lumOff val="50000"/>
                  </a:schemeClr>
                </a:solidFill>
              </a:rPr>
              <a:t> by available memory, computational power, available sensors, etc.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F7FD68-7C82-41A2-E1B3-CBC99B34AF37}"/>
                  </a:ext>
                </a:extLst>
              </p:cNvPr>
              <p:cNvSpPr txBox="1"/>
              <p:nvPr/>
            </p:nvSpPr>
            <p:spPr>
              <a:xfrm>
                <a:off x="2057400" y="1447800"/>
                <a:ext cx="4953000"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maximizes the expected utility</a:t>
                </a:r>
              </a:p>
              <a:p>
                <a:endParaRPr lang="en-US" sz="1600" dirty="0"/>
              </a:p>
              <a:p>
                <a:pP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0"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i="1">
                          <a:latin typeface="Cambria Math" panose="02040503050406030204" pitchFamily="18" charset="0"/>
                          <a:ea typeface="Cambria Math" panose="02040503050406030204" pitchFamily="18" charset="0"/>
                        </a:rPr>
                        <m:t>𝔼</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3" name="TextBox 2">
                <a:extLst>
                  <a:ext uri="{FF2B5EF4-FFF2-40B4-BE49-F238E27FC236}">
                    <a16:creationId xmlns:a16="http://schemas.microsoft.com/office/drawing/2014/main" id="{41F7FD68-7C82-41A2-E1B3-CBC99B34AF37}"/>
                  </a:ext>
                </a:extLst>
              </p:cNvPr>
              <p:cNvSpPr txBox="1">
                <a:spLocks noRot="1" noChangeAspect="1" noMove="1" noResize="1" noEditPoints="1" noAdjustHandles="1" noChangeArrowheads="1" noChangeShapeType="1" noTextEdit="1"/>
              </p:cNvSpPr>
              <p:nvPr/>
            </p:nvSpPr>
            <p:spPr>
              <a:xfrm>
                <a:off x="2057400" y="1447800"/>
                <a:ext cx="4953000" cy="892552"/>
              </a:xfrm>
              <a:prstGeom prst="rect">
                <a:avLst/>
              </a:prstGeom>
              <a:blipFill>
                <a:blip r:embed="rId3"/>
                <a:stretch>
                  <a:fillRect l="-614" t="-1351" b="-5405"/>
                </a:stretch>
              </a:blipFill>
            </p:spPr>
            <p:txBody>
              <a:bodyPr/>
              <a:lstStyle/>
              <a:p>
                <a:r>
                  <a:rPr lang="en-US">
                    <a:noFill/>
                  </a:rPr>
                  <a:t> </a:t>
                </a:r>
              </a:p>
            </p:txBody>
          </p:sp>
        </mc:Fallback>
      </mc:AlternateContent>
    </p:spTree>
    <p:extLst>
      <p:ext uri="{BB962C8B-B14F-4D97-AF65-F5344CB8AC3E}">
        <p14:creationId xmlns:p14="http://schemas.microsoft.com/office/powerpoint/2010/main" val="21009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28650" y="365126"/>
            <a:ext cx="4171950" cy="1325563"/>
          </a:xfrm>
        </p:spPr>
        <p:txBody>
          <a:bodyPr>
            <a:noAutofit/>
          </a:bodyPr>
          <a:lstStyle/>
          <a:p>
            <a:r>
              <a:rPr lang="en-US" sz="2800" dirty="0"/>
              <a:t>Example: Performance Measure for the </a:t>
            </a:r>
            <a:br>
              <a:rPr lang="en-US" sz="2800" dirty="0"/>
            </a:br>
            <a:r>
              <a:rPr lang="en-US" sz="2800" dirty="0"/>
              <a:t>Vacuum-cleaner World</a:t>
            </a:r>
          </a:p>
        </p:txBody>
      </p:sp>
      <p:sp>
        <p:nvSpPr>
          <p:cNvPr id="7171" name="Rectangle 3"/>
          <p:cNvSpPr>
            <a:spLocks noGrp="1" noChangeArrowheads="1"/>
          </p:cNvSpPr>
          <p:nvPr>
            <p:ph idx="1"/>
          </p:nvPr>
        </p:nvSpPr>
        <p:spPr>
          <a:xfrm>
            <a:off x="628650" y="1690689"/>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30832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buNone/>
            </a:pPr>
            <a:r>
              <a:rPr lang="en-US" dirty="0"/>
              <a:t>Agent function:</a:t>
            </a:r>
            <a:br>
              <a:rPr lang="en-US" dirty="0"/>
            </a:br>
            <a:endParaRPr lang="en-US" dirty="0"/>
          </a:p>
          <a:p>
            <a:pPr>
              <a:buNone/>
            </a:pPr>
            <a:r>
              <a:rPr lang="en-US" u="sng" dirty="0"/>
              <a:t>Percept Sequence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p:txBody>
      </p:sp>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18521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solidFill>
                  <a:schemeClr val="tx1"/>
                </a:solidFill>
              </a:rPr>
              <a:t>Implemented agent program:</a:t>
            </a:r>
            <a:br>
              <a:rPr lang="en-US" dirty="0">
                <a:solidFill>
                  <a:schemeClr val="tx1"/>
                </a:solidFill>
              </a:rPr>
            </a:br>
            <a:endParaRPr lang="en-US" dirty="0">
              <a:solidFill>
                <a:schemeClr val="tx1"/>
              </a:solidFill>
            </a:endParaRPr>
          </a:p>
          <a:p>
            <a:pPr>
              <a:buNone/>
            </a:pPr>
            <a:r>
              <a:rPr lang="en-US" b="1" dirty="0">
                <a:solidFill>
                  <a:schemeClr val="tx1"/>
                </a:solidFill>
                <a:latin typeface="+mn-lt"/>
                <a:ea typeface="+mn-ea"/>
                <a:cs typeface="+mn-cs"/>
              </a:rPr>
              <a:t>function Vacuum-Agent</a:t>
            </a:r>
            <a:r>
              <a:rPr lang="en-US" dirty="0">
                <a:solidFill>
                  <a:schemeClr val="tx1"/>
                </a:solidFill>
                <a:latin typeface="+mn-lt"/>
                <a:ea typeface="+mn-ea"/>
                <a:cs typeface="+mn-cs"/>
              </a:rPr>
              <a:t>( </a:t>
            </a:r>
            <a:r>
              <a:rPr lang="en-US" dirty="0">
                <a:solidFill>
                  <a:schemeClr val="accent3"/>
                </a:solidFill>
                <a:latin typeface="+mn-lt"/>
                <a:ea typeface="+mn-ea"/>
                <a:cs typeface="+mn-cs"/>
              </a:rPr>
              <a:t>[location, status] </a:t>
            </a:r>
            <a:r>
              <a:rPr lang="en-US" dirty="0">
                <a:solidFill>
                  <a:schemeClr val="tx1"/>
                </a:solidFill>
                <a:latin typeface="+mn-lt"/>
                <a:ea typeface="+mn-ea"/>
                <a:cs typeface="+mn-cs"/>
              </a:rPr>
              <a:t>) </a:t>
            </a:r>
            <a:br>
              <a:rPr lang="en-US" dirty="0">
                <a:solidFill>
                  <a:schemeClr val="tx1"/>
                </a:solidFill>
                <a:latin typeface="+mn-lt"/>
                <a:ea typeface="+mn-ea"/>
                <a:cs typeface="+mn-cs"/>
              </a:rPr>
            </a:br>
            <a:r>
              <a:rPr lang="en-US" dirty="0">
                <a:solidFill>
                  <a:schemeClr val="tx1"/>
                </a:solidFill>
                <a:latin typeface="+mn-lt"/>
                <a:ea typeface="+mn-ea"/>
                <a:cs typeface="+mn-cs"/>
              </a:rPr>
              <a:t>   returns an action</a:t>
            </a:r>
          </a:p>
          <a:p>
            <a:endParaRPr lang="en-US" sz="1600" i="1" dirty="0">
              <a:solidFill>
                <a:schemeClr val="tx1"/>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if</a:t>
            </a:r>
            <a:r>
              <a:rPr lang="en-US" sz="1600" dirty="0">
                <a:solidFill>
                  <a:schemeClr val="tx1"/>
                </a:solidFill>
                <a:latin typeface="Courier New" panose="02070309020205020404" pitchFamily="49" charset="0"/>
                <a:cs typeface="Courier New" panose="02070309020205020404" pitchFamily="49" charset="0"/>
              </a:rPr>
              <a:t> status = </a:t>
            </a:r>
            <a:r>
              <a:rPr lang="en-US" sz="1600" dirty="0">
                <a:solidFill>
                  <a:schemeClr val="accent3"/>
                </a:solidFill>
                <a:latin typeface="Courier New" panose="02070309020205020404" pitchFamily="49" charset="0"/>
                <a:cs typeface="Courier New" panose="02070309020205020404" pitchFamily="49" charset="0"/>
              </a:rPr>
              <a:t>Dirty</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Suck</a:t>
            </a: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A</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Right</a:t>
            </a:r>
            <a:endParaRPr lang="en-US" sz="1600" i="1" dirty="0">
              <a:solidFill>
                <a:srgbClr val="ED0000"/>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B</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Left</a:t>
            </a:r>
            <a:endParaRPr lang="en-US" sz="1600" dirty="0">
              <a:solidFill>
                <a:srgbClr val="ED0000"/>
              </a:solidFill>
            </a:endParaRPr>
          </a:p>
        </p:txBody>
      </p:sp>
      <p:sp>
        <p:nvSpPr>
          <p:cNvPr id="3" name="TextBox 2">
            <a:extLst>
              <a:ext uri="{FF2B5EF4-FFF2-40B4-BE49-F238E27FC236}">
                <a16:creationId xmlns:a16="http://schemas.microsoft.com/office/drawing/2014/main" id="{507F4FE3-C460-4729-876D-99EA36E53AB6}"/>
              </a:ext>
            </a:extLst>
          </p:cNvPr>
          <p:cNvSpPr txBox="1"/>
          <p:nvPr/>
        </p:nvSpPr>
        <p:spPr>
          <a:xfrm>
            <a:off x="990600" y="5943600"/>
            <a:ext cx="6858000" cy="830997"/>
          </a:xfrm>
          <a:prstGeom prst="rect">
            <a:avLst/>
          </a:prstGeom>
          <a:noFill/>
        </p:spPr>
        <p:txBody>
          <a:bodyPr wrap="square" rtlCol="0">
            <a:spAutoFit/>
          </a:bodyPr>
          <a:lstStyle/>
          <a:p>
            <a:pPr algn="ctr"/>
            <a:r>
              <a:rPr lang="en-US" sz="2400" b="1" dirty="0">
                <a:solidFill>
                  <a:srgbClr val="FF0000"/>
                </a:solidFill>
              </a:rPr>
              <a:t>What could be a performance measure?</a:t>
            </a:r>
          </a:p>
          <a:p>
            <a:pPr algn="ctr"/>
            <a:r>
              <a:rPr lang="en-US" sz="2400" b="1" dirty="0">
                <a:solidFill>
                  <a:srgbClr val="FF0000"/>
                </a:solidFill>
              </a:rPr>
              <a:t>Is this agent program rational?</a:t>
            </a:r>
          </a:p>
        </p:txBody>
      </p:sp>
    </p:spTree>
    <p:extLst>
      <p:ext uri="{BB962C8B-B14F-4D97-AF65-F5344CB8AC3E}">
        <p14:creationId xmlns:p14="http://schemas.microsoft.com/office/powerpoint/2010/main" val="261313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PEAS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1079628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3067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lvl="0"/>
            <a:r>
              <a:rPr lang="en-US" dirty="0"/>
              <a:t>Problem Specification: PEAS</a:t>
            </a:r>
          </a:p>
        </p:txBody>
      </p:sp>
      <p:grpSp>
        <p:nvGrpSpPr>
          <p:cNvPr id="4" name="Group 3">
            <a:extLst>
              <a:ext uri="{FF2B5EF4-FFF2-40B4-BE49-F238E27FC236}">
                <a16:creationId xmlns:a16="http://schemas.microsoft.com/office/drawing/2014/main" id="{BF18AA8D-DD4B-4916-A75B-38CD4C098EA3}"/>
              </a:ext>
              <a:ext uri="{C183D7F6-B498-43B3-948B-1728B52AA6E4}">
                <adec:decorative xmlns:adec="http://schemas.microsoft.com/office/drawing/2017/decorative" val="1"/>
              </a:ext>
            </a:extLst>
          </p:cNvPr>
          <p:cNvGrpSpPr/>
          <p:nvPr/>
        </p:nvGrpSpPr>
        <p:grpSpPr>
          <a:xfrm>
            <a:off x="3137807" y="990600"/>
            <a:ext cx="5410200" cy="2497307"/>
            <a:chOff x="9829800" y="1545479"/>
            <a:chExt cx="5410200" cy="2497307"/>
          </a:xfrm>
        </p:grpSpPr>
        <p:pic>
          <p:nvPicPr>
            <p:cNvPr id="6" name="Picture 4">
              <a:extLst>
                <a:ext uri="{FF2B5EF4-FFF2-40B4-BE49-F238E27FC236}">
                  <a16:creationId xmlns:a16="http://schemas.microsoft.com/office/drawing/2014/main" id="{DA24B479-BE69-463C-8624-3C566ACB5828}"/>
                </a:ext>
              </a:extLst>
            </p:cNvPr>
            <p:cNvPicPr>
              <a:picLocks noChangeAspect="1" noChangeArrowheads="1"/>
            </p:cNvPicPr>
            <p:nvPr/>
          </p:nvPicPr>
          <p:blipFill>
            <a:blip r:embed="rId3" cstate="print"/>
            <a:srcRect/>
            <a:stretch>
              <a:fillRect/>
            </a:stretch>
          </p:blipFill>
          <p:spPr bwMode="auto">
            <a:xfrm>
              <a:off x="9829800" y="1828800"/>
              <a:ext cx="5139131" cy="2213986"/>
            </a:xfrm>
            <a:prstGeom prst="rect">
              <a:avLst/>
            </a:prstGeom>
            <a:noFill/>
            <a:ln w="9525">
              <a:noFill/>
              <a:miter lim="800000"/>
              <a:headEnd/>
              <a:tailEnd/>
            </a:ln>
          </p:spPr>
        </p:pic>
        <p:sp>
          <p:nvSpPr>
            <p:cNvPr id="5" name="TextBox 4">
              <a:extLst>
                <a:ext uri="{FF2B5EF4-FFF2-40B4-BE49-F238E27FC236}">
                  <a16:creationId xmlns:a16="http://schemas.microsoft.com/office/drawing/2014/main" id="{C1B7C275-0483-401D-9E7D-2D8545C30C8B}"/>
                </a:ext>
              </a:extLst>
            </p:cNvPr>
            <p:cNvSpPr txBox="1"/>
            <p:nvPr/>
          </p:nvSpPr>
          <p:spPr>
            <a:xfrm>
              <a:off x="13773701" y="1545479"/>
              <a:ext cx="1466299" cy="646331"/>
            </a:xfrm>
            <a:prstGeom prst="rect">
              <a:avLst/>
            </a:prstGeom>
            <a:noFill/>
          </p:spPr>
          <p:txBody>
            <a:bodyPr wrap="none" rtlCol="0">
              <a:spAutoFit/>
            </a:bodyPr>
            <a:lstStyle/>
            <a:p>
              <a:pPr algn="r"/>
              <a:r>
                <a:rPr lang="en-US" b="1" dirty="0"/>
                <a:t>Performance </a:t>
              </a:r>
              <a:br>
                <a:rPr lang="en-US" b="1" dirty="0"/>
              </a:br>
              <a:r>
                <a:rPr lang="en-US" b="1" dirty="0"/>
                <a:t>measure</a:t>
              </a:r>
            </a:p>
          </p:txBody>
        </p:sp>
        <p:cxnSp>
          <p:nvCxnSpPr>
            <p:cNvPr id="8" name="Straight Arrow Connector 7">
              <a:extLst>
                <a:ext uri="{FF2B5EF4-FFF2-40B4-BE49-F238E27FC236}">
                  <a16:creationId xmlns:a16="http://schemas.microsoft.com/office/drawing/2014/main" id="{7DED69C6-1C77-47FC-A3AD-56ADBE1873BC}"/>
                </a:ext>
              </a:extLst>
            </p:cNvPr>
            <p:cNvCxnSpPr>
              <a:cxnSpLocks/>
            </p:cNvCxnSpPr>
            <p:nvPr/>
          </p:nvCxnSpPr>
          <p:spPr>
            <a:xfrm flipH="1">
              <a:off x="13773701" y="1985386"/>
              <a:ext cx="178186" cy="4682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aphicFrame>
        <p:nvGraphicFramePr>
          <p:cNvPr id="12" name="Content Placeholder 3" descr="The PEAS description contains the performance measure, the environment, the actuators and the sensors.">
            <a:extLst>
              <a:ext uri="{FF2B5EF4-FFF2-40B4-BE49-F238E27FC236}">
                <a16:creationId xmlns:a16="http://schemas.microsoft.com/office/drawing/2014/main" id="{CD643942-7178-4454-944F-5D344EDDD2EC}"/>
              </a:ext>
            </a:extLst>
          </p:cNvPr>
          <p:cNvGraphicFramePr>
            <a:graphicFrameLocks/>
          </p:cNvGraphicFramePr>
          <p:nvPr>
            <p:extLst>
              <p:ext uri="{D42A27DB-BD31-4B8C-83A1-F6EECF244321}">
                <p14:modId xmlns:p14="http://schemas.microsoft.com/office/powerpoint/2010/main" val="2392207915"/>
              </p:ext>
            </p:extLst>
          </p:nvPr>
        </p:nvGraphicFramePr>
        <p:xfrm>
          <a:off x="661307" y="3276600"/>
          <a:ext cx="7886700" cy="23496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peech Bubble: Rectangle with Corners Rounded 1">
            <a:extLst>
              <a:ext uri="{FF2B5EF4-FFF2-40B4-BE49-F238E27FC236}">
                <a16:creationId xmlns:a16="http://schemas.microsoft.com/office/drawing/2014/main" id="{2886F2BB-619F-408F-B638-04009730ACC6}"/>
              </a:ext>
            </a:extLst>
          </p:cNvPr>
          <p:cNvSpPr/>
          <p:nvPr/>
        </p:nvSpPr>
        <p:spPr>
          <a:xfrm>
            <a:off x="685800" y="5576802"/>
            <a:ext cx="1752600" cy="1050926"/>
          </a:xfrm>
          <a:prstGeom prst="wedgeRoundRectCallout">
            <a:avLst>
              <a:gd name="adj1" fmla="val 375"/>
              <a:gd name="adj2" fmla="val -1142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utility and what is rational</a:t>
            </a:r>
          </a:p>
        </p:txBody>
      </p:sp>
      <p:sp>
        <p:nvSpPr>
          <p:cNvPr id="9" name="Speech Bubble: Rectangle with Corners Rounded 8">
            <a:extLst>
              <a:ext uri="{FF2B5EF4-FFF2-40B4-BE49-F238E27FC236}">
                <a16:creationId xmlns:a16="http://schemas.microsoft.com/office/drawing/2014/main" id="{9FC9BF3B-54B9-41E3-88E0-F20CB7D9B126}"/>
              </a:ext>
            </a:extLst>
          </p:cNvPr>
          <p:cNvSpPr/>
          <p:nvPr/>
        </p:nvSpPr>
        <p:spPr>
          <a:xfrm>
            <a:off x="2604407" y="5486401"/>
            <a:ext cx="2196193" cy="1141328"/>
          </a:xfrm>
          <a:prstGeom prst="wedgeRoundRectCallout">
            <a:avLst>
              <a:gd name="adj1" fmla="val -6332"/>
              <a:gd name="adj2" fmla="val -100312"/>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Components and rules of how actions affect the environment.</a:t>
            </a:r>
          </a:p>
        </p:txBody>
      </p:sp>
      <p:sp>
        <p:nvSpPr>
          <p:cNvPr id="10" name="Speech Bubble: Rectangle with Corners Rounded 9">
            <a:extLst>
              <a:ext uri="{FF2B5EF4-FFF2-40B4-BE49-F238E27FC236}">
                <a16:creationId xmlns:a16="http://schemas.microsoft.com/office/drawing/2014/main" id="{396B8513-B52A-4A07-9297-B582C27B4EC6}"/>
              </a:ext>
            </a:extLst>
          </p:cNvPr>
          <p:cNvSpPr/>
          <p:nvPr/>
        </p:nvSpPr>
        <p:spPr>
          <a:xfrm>
            <a:off x="4876800" y="5549858"/>
            <a:ext cx="1524000" cy="1050926"/>
          </a:xfrm>
          <a:prstGeom prst="wedgeRoundRectCallout">
            <a:avLst>
              <a:gd name="adj1" fmla="val 375"/>
              <a:gd name="adj2" fmla="val -1104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available actions</a:t>
            </a:r>
          </a:p>
        </p:txBody>
      </p:sp>
      <p:sp>
        <p:nvSpPr>
          <p:cNvPr id="11" name="Speech Bubble: Rectangle with Corners Rounded 10">
            <a:extLst>
              <a:ext uri="{FF2B5EF4-FFF2-40B4-BE49-F238E27FC236}">
                <a16:creationId xmlns:a16="http://schemas.microsoft.com/office/drawing/2014/main" id="{9F17723E-DC67-44C6-BAD2-8D1C55879410}"/>
              </a:ext>
            </a:extLst>
          </p:cNvPr>
          <p:cNvSpPr/>
          <p:nvPr/>
        </p:nvSpPr>
        <p:spPr>
          <a:xfrm>
            <a:off x="6934200" y="5486400"/>
            <a:ext cx="1524000" cy="760328"/>
          </a:xfrm>
          <a:prstGeom prst="wedgeRoundRectCallout">
            <a:avLst>
              <a:gd name="adj1" fmla="val 5137"/>
              <a:gd name="adj2" fmla="val -119975"/>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percepts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Example: Automated Taxi Driver</a:t>
            </a:r>
          </a:p>
        </p:txBody>
      </p:sp>
      <p:graphicFrame>
        <p:nvGraphicFramePr>
          <p:cNvPr id="4" name="Content Placeholder 3" descr="Tables with completed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31822712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1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Spam Filter</a:t>
            </a:r>
          </a:p>
        </p:txBody>
      </p:sp>
      <p:graphicFrame>
        <p:nvGraphicFramePr>
          <p:cNvPr id="4" name="Content Placeholder 3" descr="A table with a completed PEAS description.">
            <a:extLst>
              <a:ext uri="{FF2B5EF4-FFF2-40B4-BE49-F238E27FC236}">
                <a16:creationId xmlns:a16="http://schemas.microsoft.com/office/drawing/2014/main" id="{09294F42-7A2C-44CE-A164-897670526B5D}"/>
              </a:ext>
            </a:extLst>
          </p:cNvPr>
          <p:cNvGraphicFramePr>
            <a:graphicFrameLocks noGrp="1"/>
          </p:cNvGraphicFramePr>
          <p:nvPr>
            <p:ph idx="1"/>
            <p:extLst>
              <p:ext uri="{D42A27DB-BD31-4B8C-83A1-F6EECF244321}">
                <p14:modId xmlns:p14="http://schemas.microsoft.com/office/powerpoint/2010/main" val="120475211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Environment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75098465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5074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8568-A216-0551-41AF-7B7F25A300D5}"/>
              </a:ext>
            </a:extLst>
          </p:cNvPr>
          <p:cNvSpPr>
            <a:spLocks noGrp="1"/>
          </p:cNvSpPr>
          <p:nvPr>
            <p:ph type="title"/>
          </p:nvPr>
        </p:nvSpPr>
        <p:spPr/>
        <p:txBody>
          <a:bodyPr/>
          <a:lstStyle/>
          <a:p>
            <a:r>
              <a:rPr lang="en-US" dirty="0"/>
              <a:t>The Environment</a:t>
            </a:r>
          </a:p>
        </p:txBody>
      </p:sp>
      <p:grpSp>
        <p:nvGrpSpPr>
          <p:cNvPr id="15" name="Group 14" descr="Image of an agent with an agent function interacting with the environment using percepts and actions.">
            <a:extLst>
              <a:ext uri="{FF2B5EF4-FFF2-40B4-BE49-F238E27FC236}">
                <a16:creationId xmlns:a16="http://schemas.microsoft.com/office/drawing/2014/main" id="{14312B70-7353-A6D0-E9E3-F13899BF156B}"/>
              </a:ext>
            </a:extLst>
          </p:cNvPr>
          <p:cNvGrpSpPr/>
          <p:nvPr/>
        </p:nvGrpSpPr>
        <p:grpSpPr>
          <a:xfrm>
            <a:off x="789809" y="1371600"/>
            <a:ext cx="3629791" cy="1676399"/>
            <a:chOff x="789809" y="1371600"/>
            <a:chExt cx="3629791" cy="1676399"/>
          </a:xfrm>
        </p:grpSpPr>
        <p:pic>
          <p:nvPicPr>
            <p:cNvPr id="4" name="Picture 4">
              <a:extLst>
                <a:ext uri="{FF2B5EF4-FFF2-40B4-BE49-F238E27FC236}">
                  <a16:creationId xmlns:a16="http://schemas.microsoft.com/office/drawing/2014/main" id="{D5DD70EB-1B18-DC7A-749A-36E63679CAF5}"/>
                </a:ext>
              </a:extLst>
            </p:cNvPr>
            <p:cNvPicPr>
              <a:picLocks noChangeAspect="1" noChangeArrowheads="1"/>
            </p:cNvPicPr>
            <p:nvPr/>
          </p:nvPicPr>
          <p:blipFill>
            <a:blip r:embed="rId2" cstate="print"/>
            <a:srcRect/>
            <a:stretch>
              <a:fillRect/>
            </a:stretch>
          </p:blipFill>
          <p:spPr bwMode="auto">
            <a:xfrm>
              <a:off x="789809" y="1440927"/>
              <a:ext cx="3556002" cy="1531959"/>
            </a:xfrm>
            <a:prstGeom prst="rect">
              <a:avLst/>
            </a:prstGeom>
            <a:noFill/>
            <a:ln w="9525">
              <a:noFill/>
              <a:miter lim="800000"/>
              <a:headEnd/>
              <a:tailEnd/>
            </a:ln>
          </p:spPr>
        </p:pic>
        <p:sp>
          <p:nvSpPr>
            <p:cNvPr id="6" name="Rectangle 5">
              <a:extLst>
                <a:ext uri="{FF2B5EF4-FFF2-40B4-BE49-F238E27FC236}">
                  <a16:creationId xmlns:a16="http://schemas.microsoft.com/office/drawing/2014/main" id="{A83C7B3D-6834-C99E-9536-3162F34785CE}"/>
                </a:ext>
              </a:extLst>
            </p:cNvPr>
            <p:cNvSpPr/>
            <p:nvPr/>
          </p:nvSpPr>
          <p:spPr>
            <a:xfrm>
              <a:off x="3276600" y="1914646"/>
              <a:ext cx="548640" cy="27432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Rectangle 7">
              <a:extLst>
                <a:ext uri="{FF2B5EF4-FFF2-40B4-BE49-F238E27FC236}">
                  <a16:creationId xmlns:a16="http://schemas.microsoft.com/office/drawing/2014/main" id="{72C9A4A9-747A-7514-A9BB-8C4F8BA15E79}"/>
                </a:ext>
              </a:extLst>
            </p:cNvPr>
            <p:cNvSpPr/>
            <p:nvPr/>
          </p:nvSpPr>
          <p:spPr>
            <a:xfrm>
              <a:off x="789809" y="1371600"/>
              <a:ext cx="3629791" cy="1676399"/>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B14DBC3-5C81-8C1D-FEB3-C68B2652450E}"/>
              </a:ext>
            </a:extLst>
          </p:cNvPr>
          <p:cNvSpPr>
            <a:spLocks noGrp="1"/>
          </p:cNvSpPr>
          <p:nvPr>
            <p:ph idx="1"/>
          </p:nvPr>
        </p:nvSpPr>
        <p:spPr>
          <a:xfrm>
            <a:off x="644416" y="3175553"/>
            <a:ext cx="4032828" cy="3317321"/>
          </a:xfrm>
        </p:spPr>
        <p:txBody>
          <a:bodyPr>
            <a:normAutofit lnSpcReduction="10000"/>
          </a:bodyPr>
          <a:lstStyle/>
          <a:p>
            <a:r>
              <a:rPr lang="en-US" dirty="0"/>
              <a:t>We typically consider everything outside the agent function (the agent’s brain) as the agent’s environment. </a:t>
            </a:r>
          </a:p>
          <a:p>
            <a:r>
              <a:rPr lang="en-US" dirty="0"/>
              <a:t>This means that the sensors and actuators are part of the environment.</a:t>
            </a:r>
          </a:p>
          <a:p>
            <a:r>
              <a:rPr lang="en-US" dirty="0"/>
              <a:t>The agent function receives already preprocessed percepts and acts by issuing high-level instructions to the actuators.</a:t>
            </a:r>
          </a:p>
        </p:txBody>
      </p:sp>
      <p:sp>
        <p:nvSpPr>
          <p:cNvPr id="5" name="Content Placeholder 2">
            <a:extLst>
              <a:ext uri="{FF2B5EF4-FFF2-40B4-BE49-F238E27FC236}">
                <a16:creationId xmlns:a16="http://schemas.microsoft.com/office/drawing/2014/main" id="{B6D87BCB-4CA8-2866-7923-FD91025BD4D8}"/>
              </a:ext>
            </a:extLst>
          </p:cNvPr>
          <p:cNvSpPr txBox="1">
            <a:spLocks/>
          </p:cNvSpPr>
          <p:nvPr/>
        </p:nvSpPr>
        <p:spPr>
          <a:xfrm>
            <a:off x="5029200" y="1285389"/>
            <a:ext cx="1521691" cy="44791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dirty="0"/>
              <a:t>Examples:</a:t>
            </a:r>
          </a:p>
        </p:txBody>
      </p:sp>
      <p:pic>
        <p:nvPicPr>
          <p:cNvPr id="1030" name="Picture 6" descr="A Smart Robot Toy">
            <a:extLst>
              <a:ext uri="{FF2B5EF4-FFF2-40B4-BE49-F238E27FC236}">
                <a16:creationId xmlns:a16="http://schemas.microsoft.com/office/drawing/2014/main" id="{F39AFE67-86DE-6D89-7A9B-B46A2E50B6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3353" y="173330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 Chess Computer">
            <a:extLst>
              <a:ext uri="{FF2B5EF4-FFF2-40B4-BE49-F238E27FC236}">
                <a16:creationId xmlns:a16="http://schemas.microsoft.com/office/drawing/2014/main" id="{ED800421-2D83-30FE-C1B9-DEC4A66BD8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75921"/>
            <a:ext cx="2755441" cy="20665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elf Driving Car">
            <a:extLst>
              <a:ext uri="{FF2B5EF4-FFF2-40B4-BE49-F238E27FC236}">
                <a16:creationId xmlns:a16="http://schemas.microsoft.com/office/drawing/2014/main" id="{4C37BC5C-0117-27CE-119B-2C9918A1628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00" y="3990771"/>
            <a:ext cx="3299583" cy="21922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47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Environment Types: Observability</a:t>
            </a:r>
          </a:p>
        </p:txBody>
      </p:sp>
      <p:sp>
        <p:nvSpPr>
          <p:cNvPr id="7" name="TextBox 6">
            <a:extLst>
              <a:ext uri="{FF2B5EF4-FFF2-40B4-BE49-F238E27FC236}">
                <a16:creationId xmlns:a16="http://schemas.microsoft.com/office/drawing/2014/main" id="{DEA7DB37-EDD5-07F3-AF05-F2C68E2B27D3}"/>
              </a:ext>
            </a:extLst>
          </p:cNvPr>
          <p:cNvSpPr txBox="1"/>
          <p:nvPr/>
        </p:nvSpPr>
        <p:spPr>
          <a:xfrm>
            <a:off x="679847" y="1746794"/>
            <a:ext cx="3124200" cy="954107"/>
          </a:xfrm>
          <a:prstGeom prst="rect">
            <a:avLst/>
          </a:prstGeom>
          <a:noFill/>
        </p:spPr>
        <p:txBody>
          <a:bodyPr wrap="square">
            <a:spAutoFit/>
          </a:bodyPr>
          <a:lstStyle/>
          <a:p>
            <a:pPr marL="0" indent="0">
              <a:buNone/>
            </a:pPr>
            <a:r>
              <a:rPr lang="en-US" sz="1400" b="1" dirty="0">
                <a:solidFill>
                  <a:srgbClr val="FF0000"/>
                </a:solidFill>
              </a:rPr>
              <a:t>Fully observable: </a:t>
            </a:r>
            <a:r>
              <a:rPr lang="en-US" sz="1400" dirty="0"/>
              <a:t>The agent's sensors give it access to the complete state of the environment. The agent can “see” the whole environment.</a:t>
            </a:r>
            <a:endParaRPr lang="en-US" sz="1400" b="1" dirty="0">
              <a:solidFill>
                <a:srgbClr val="FF0000"/>
              </a:solidFill>
            </a:endParaRPr>
          </a:p>
        </p:txBody>
      </p:sp>
      <p:sp>
        <p:nvSpPr>
          <p:cNvPr id="3" name="TextBox 2">
            <a:extLst>
              <a:ext uri="{FF2B5EF4-FFF2-40B4-BE49-F238E27FC236}">
                <a16:creationId xmlns:a16="http://schemas.microsoft.com/office/drawing/2014/main" id="{EB4EE6AF-025E-E64D-E65C-8B1334B2C89F}"/>
              </a:ext>
            </a:extLst>
          </p:cNvPr>
          <p:cNvSpPr txBox="1"/>
          <p:nvPr/>
        </p:nvSpPr>
        <p:spPr>
          <a:xfrm>
            <a:off x="3902869" y="1894570"/>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DE87FCA1-B948-8AB0-0850-212AAF1F9022}"/>
              </a:ext>
            </a:extLst>
          </p:cNvPr>
          <p:cNvSpPr txBox="1"/>
          <p:nvPr/>
        </p:nvSpPr>
        <p:spPr>
          <a:xfrm>
            <a:off x="4505325" y="1808962"/>
            <a:ext cx="3495676" cy="738664"/>
          </a:xfrm>
          <a:prstGeom prst="rect">
            <a:avLst/>
          </a:prstGeom>
          <a:noFill/>
        </p:spPr>
        <p:txBody>
          <a:bodyPr wrap="square">
            <a:spAutoFit/>
          </a:bodyPr>
          <a:lstStyle/>
          <a:p>
            <a:r>
              <a:rPr lang="en-US" sz="1400" b="1" dirty="0">
                <a:solidFill>
                  <a:srgbClr val="FF0000"/>
                </a:solidFill>
              </a:rPr>
              <a:t>Partially observable: </a:t>
            </a:r>
            <a:r>
              <a:rPr lang="en-US" sz="1400" dirty="0"/>
              <a:t>The agent cannot see all aspects of the environment. E.g., it can’t see through walls</a:t>
            </a:r>
          </a:p>
        </p:txBody>
      </p:sp>
      <p:sp>
        <p:nvSpPr>
          <p:cNvPr id="12" name="TextBox 11">
            <a:extLst>
              <a:ext uri="{FF2B5EF4-FFF2-40B4-BE49-F238E27FC236}">
                <a16:creationId xmlns:a16="http://schemas.microsoft.com/office/drawing/2014/main" id="{A6FF06FB-0770-A9DD-2B64-27676841E276}"/>
              </a:ext>
            </a:extLst>
          </p:cNvPr>
          <p:cNvSpPr txBox="1"/>
          <p:nvPr/>
        </p:nvSpPr>
        <p:spPr>
          <a:xfrm>
            <a:off x="679847" y="2795994"/>
            <a:ext cx="1225153" cy="369332"/>
          </a:xfrm>
          <a:prstGeom prst="rect">
            <a:avLst/>
          </a:prstGeom>
          <a:noFill/>
        </p:spPr>
        <p:txBody>
          <a:bodyPr wrap="square" rtlCol="0">
            <a:spAutoFit/>
          </a:bodyPr>
          <a:lstStyle/>
          <a:p>
            <a:r>
              <a:rPr lang="en-US" dirty="0"/>
              <a:t>Examples:</a:t>
            </a:r>
          </a:p>
        </p:txBody>
      </p:sp>
      <p:grpSp>
        <p:nvGrpSpPr>
          <p:cNvPr id="20" name="Group 19">
            <a:extLst>
              <a:ext uri="{FF2B5EF4-FFF2-40B4-BE49-F238E27FC236}">
                <a16:creationId xmlns:a16="http://schemas.microsoft.com/office/drawing/2014/main" id="{2C5EB3F1-17D0-62CC-BD93-38A499293F81}"/>
              </a:ext>
            </a:extLst>
          </p:cNvPr>
          <p:cNvGrpSpPr/>
          <p:nvPr/>
        </p:nvGrpSpPr>
        <p:grpSpPr>
          <a:xfrm>
            <a:off x="611456" y="3191907"/>
            <a:ext cx="3307362" cy="3306283"/>
            <a:chOff x="611456" y="3191907"/>
            <a:chExt cx="3307362" cy="3306283"/>
          </a:xfrm>
        </p:grpSpPr>
        <p:pic>
          <p:nvPicPr>
            <p:cNvPr id="8" name="Picture 7" descr="chess board | Free SVG">
              <a:extLst>
                <a:ext uri="{FF2B5EF4-FFF2-40B4-BE49-F238E27FC236}">
                  <a16:creationId xmlns:a16="http://schemas.microsoft.com/office/drawing/2014/main" id="{CC7BF71E-AF48-8630-64F3-F286E2DE9AE3}"/>
                </a:ext>
              </a:extLst>
            </p:cNvPr>
            <p:cNvPicPr>
              <a:picLocks noChangeAspect="1"/>
            </p:cNvPicPr>
            <p:nvPr/>
          </p:nvPicPr>
          <p:blipFill>
            <a:blip r:embed="rId3"/>
            <a:stretch>
              <a:fillRect/>
            </a:stretch>
          </p:blipFill>
          <p:spPr>
            <a:xfrm>
              <a:off x="1106921" y="3191907"/>
              <a:ext cx="2270051" cy="2270051"/>
            </a:xfrm>
            <a:prstGeom prst="rect">
              <a:avLst/>
            </a:prstGeom>
          </p:spPr>
        </p:pic>
        <p:sp>
          <p:nvSpPr>
            <p:cNvPr id="16" name="TextBox 15">
              <a:extLst>
                <a:ext uri="{FF2B5EF4-FFF2-40B4-BE49-F238E27FC236}">
                  <a16:creationId xmlns:a16="http://schemas.microsoft.com/office/drawing/2014/main" id="{99A6C032-7E5A-4060-0E1A-5B4BECC2F1FF}"/>
                </a:ext>
              </a:extLst>
            </p:cNvPr>
            <p:cNvSpPr txBox="1"/>
            <p:nvPr/>
          </p:nvSpPr>
          <p:spPr>
            <a:xfrm>
              <a:off x="611456" y="5636416"/>
              <a:ext cx="3307362" cy="861774"/>
            </a:xfrm>
            <a:prstGeom prst="rect">
              <a:avLst/>
            </a:prstGeom>
            <a:noFill/>
          </p:spPr>
          <p:txBody>
            <a:bodyPr wrap="square" rtlCol="0">
              <a:spAutoFit/>
            </a:bodyPr>
            <a:lstStyle/>
            <a:p>
              <a:r>
                <a:rPr lang="en-US" sz="1600" dirty="0"/>
                <a:t>Chess</a:t>
              </a:r>
            </a:p>
            <a:p>
              <a:pPr marL="742950" lvl="1" indent="-285750">
                <a:buFont typeface="Arial" panose="020B0604020202020204" pitchFamily="34" charset="0"/>
                <a:buChar char="•"/>
              </a:pPr>
              <a:r>
                <a:rPr lang="en-US" sz="1600" dirty="0"/>
                <a:t>All Pieces visible</a:t>
              </a:r>
            </a:p>
            <a:p>
              <a:pPr marL="742950" lvl="1" indent="-285750">
                <a:buFont typeface="Arial" panose="020B0604020202020204" pitchFamily="34" charset="0"/>
                <a:buChar char="•"/>
              </a:pPr>
              <a:r>
                <a:rPr lang="en-US" sz="1600" dirty="0"/>
                <a:t>Full information</a:t>
              </a:r>
            </a:p>
          </p:txBody>
        </p:sp>
      </p:grpSp>
      <p:grpSp>
        <p:nvGrpSpPr>
          <p:cNvPr id="4" name="Group 3">
            <a:extLst>
              <a:ext uri="{FF2B5EF4-FFF2-40B4-BE49-F238E27FC236}">
                <a16:creationId xmlns:a16="http://schemas.microsoft.com/office/drawing/2014/main" id="{DFA360B1-B27C-916D-066B-20070F9BCFEC}"/>
              </a:ext>
            </a:extLst>
          </p:cNvPr>
          <p:cNvGrpSpPr/>
          <p:nvPr/>
        </p:nvGrpSpPr>
        <p:grpSpPr>
          <a:xfrm>
            <a:off x="4738875" y="3429000"/>
            <a:ext cx="3432149" cy="3053801"/>
            <a:chOff x="4738875" y="3429000"/>
            <a:chExt cx="3432149" cy="3053801"/>
          </a:xfrm>
        </p:grpSpPr>
        <p:sp>
          <p:nvSpPr>
            <p:cNvPr id="19" name="TextBox 18">
              <a:extLst>
                <a:ext uri="{FF2B5EF4-FFF2-40B4-BE49-F238E27FC236}">
                  <a16:creationId xmlns:a16="http://schemas.microsoft.com/office/drawing/2014/main" id="{05F52A5A-90EC-F866-C810-B75B91364810}"/>
                </a:ext>
              </a:extLst>
            </p:cNvPr>
            <p:cNvSpPr txBox="1"/>
            <p:nvPr/>
          </p:nvSpPr>
          <p:spPr>
            <a:xfrm>
              <a:off x="4767228" y="5651804"/>
              <a:ext cx="3307362" cy="830997"/>
            </a:xfrm>
            <a:prstGeom prst="rect">
              <a:avLst/>
            </a:prstGeom>
            <a:noFill/>
          </p:spPr>
          <p:txBody>
            <a:bodyPr wrap="square" rtlCol="0">
              <a:spAutoFit/>
            </a:bodyPr>
            <a:lstStyle/>
            <a:p>
              <a:r>
                <a:rPr lang="en-US" sz="1600" dirty="0"/>
                <a:t>Poker</a:t>
              </a:r>
            </a:p>
            <a:p>
              <a:pPr marL="742950" lvl="1" indent="-285750">
                <a:buFont typeface="Arial" panose="020B0604020202020204" pitchFamily="34" charset="0"/>
                <a:buChar char="•"/>
              </a:pPr>
              <a:r>
                <a:rPr lang="en-US" sz="1600" dirty="0"/>
                <a:t>Some cards are not known (e.g., other player’s cards)</a:t>
              </a:r>
            </a:p>
          </p:txBody>
        </p:sp>
        <p:pic>
          <p:nvPicPr>
            <p:cNvPr id="2" name="Picture 1" descr="How to Play Texas Hold'em Poker Step by Step">
              <a:extLst>
                <a:ext uri="{FF2B5EF4-FFF2-40B4-BE49-F238E27FC236}">
                  <a16:creationId xmlns:a16="http://schemas.microsoft.com/office/drawing/2014/main" id="{0D9F5377-31E8-148A-F842-81FBCE45A87C}"/>
                </a:ext>
              </a:extLst>
            </p:cNvPr>
            <p:cNvPicPr>
              <a:picLocks noChangeAspect="1"/>
            </p:cNvPicPr>
            <p:nvPr/>
          </p:nvPicPr>
          <p:blipFill>
            <a:blip r:embed="rId4"/>
            <a:stretch>
              <a:fillRect/>
            </a:stretch>
          </p:blipFill>
          <p:spPr>
            <a:xfrm>
              <a:off x="4738875" y="3429000"/>
              <a:ext cx="3432149" cy="1930584"/>
            </a:xfrm>
            <a:prstGeom prst="rect">
              <a:avLst/>
            </a:prstGeom>
            <a:ln>
              <a:noFill/>
            </a:ln>
            <a:effectLst>
              <a:outerShdw blurRad="292100" dist="139700" dir="2700000" algn="tl" rotWithShape="0">
                <a:srgbClr val="333333">
                  <a:alpha val="65000"/>
                </a:srgb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9"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70A1-4F12-5008-4517-58F0926152FD}"/>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C18D46D1-8D59-3825-67B1-DC2044AB8404}"/>
              </a:ext>
            </a:extLst>
          </p:cNvPr>
          <p:cNvSpPr>
            <a:spLocks noGrp="1" noChangeArrowheads="1"/>
          </p:cNvSpPr>
          <p:nvPr>
            <p:ph type="title"/>
          </p:nvPr>
        </p:nvSpPr>
        <p:spPr/>
        <p:txBody>
          <a:bodyPr/>
          <a:lstStyle/>
          <a:p>
            <a:r>
              <a:rPr lang="en-US" dirty="0"/>
              <a:t>Environment Types: Stochasticity</a:t>
            </a:r>
          </a:p>
        </p:txBody>
      </p:sp>
      <p:sp>
        <p:nvSpPr>
          <p:cNvPr id="11" name="TextBox 10">
            <a:extLst>
              <a:ext uri="{FF2B5EF4-FFF2-40B4-BE49-F238E27FC236}">
                <a16:creationId xmlns:a16="http://schemas.microsoft.com/office/drawing/2014/main" id="{386B4E17-ED50-946B-AF37-FED3C16E09C2}"/>
              </a:ext>
            </a:extLst>
          </p:cNvPr>
          <p:cNvSpPr txBox="1"/>
          <p:nvPr/>
        </p:nvSpPr>
        <p:spPr>
          <a:xfrm>
            <a:off x="642827" y="1699974"/>
            <a:ext cx="3352800" cy="738664"/>
          </a:xfrm>
          <a:prstGeom prst="rect">
            <a:avLst/>
          </a:prstGeom>
          <a:noFill/>
        </p:spPr>
        <p:txBody>
          <a:bodyPr wrap="square">
            <a:spAutoFit/>
          </a:bodyPr>
          <a:lstStyle/>
          <a:p>
            <a:pPr marL="0" indent="0">
              <a:buNone/>
            </a:pPr>
            <a:r>
              <a:rPr lang="en-US" sz="1400" b="1" dirty="0">
                <a:solidFill>
                  <a:srgbClr val="FF0000"/>
                </a:solidFill>
              </a:rPr>
              <a:t>Deterministic: </a:t>
            </a:r>
            <a:r>
              <a:rPr lang="en-US" sz="1400" dirty="0"/>
              <a:t>The environment follows fixed rules. Actions have always the same results.</a:t>
            </a:r>
          </a:p>
        </p:txBody>
      </p:sp>
      <p:sp>
        <p:nvSpPr>
          <p:cNvPr id="4" name="TextBox 3">
            <a:extLst>
              <a:ext uri="{FF2B5EF4-FFF2-40B4-BE49-F238E27FC236}">
                <a16:creationId xmlns:a16="http://schemas.microsoft.com/office/drawing/2014/main" id="{A051C146-0524-8B96-525D-13F42268F715}"/>
              </a:ext>
            </a:extLst>
          </p:cNvPr>
          <p:cNvSpPr txBox="1"/>
          <p:nvPr/>
        </p:nvSpPr>
        <p:spPr>
          <a:xfrm>
            <a:off x="3865849" y="1842938"/>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4F346DB9-A883-56B0-AE23-B9B2E5DFEAA8}"/>
              </a:ext>
            </a:extLst>
          </p:cNvPr>
          <p:cNvSpPr txBox="1"/>
          <p:nvPr/>
        </p:nvSpPr>
        <p:spPr>
          <a:xfrm>
            <a:off x="4456399" y="1732106"/>
            <a:ext cx="3807619" cy="738664"/>
          </a:xfrm>
          <a:prstGeom prst="rect">
            <a:avLst/>
          </a:prstGeom>
          <a:noFill/>
        </p:spPr>
        <p:txBody>
          <a:bodyPr wrap="square">
            <a:spAutoFit/>
          </a:bodyPr>
          <a:lstStyle/>
          <a:p>
            <a:pPr marL="0" indent="0">
              <a:buNone/>
            </a:pPr>
            <a:r>
              <a:rPr lang="en-US" sz="1400" b="1" dirty="0">
                <a:solidFill>
                  <a:srgbClr val="FF0000"/>
                </a:solidFill>
              </a:rPr>
              <a:t>Stochastic: </a:t>
            </a:r>
            <a:r>
              <a:rPr lang="en-US" sz="1400" dirty="0"/>
              <a:t>The environments reacts to actions with some randomness. The same action may have different results when tried multiple times.</a:t>
            </a:r>
          </a:p>
        </p:txBody>
      </p:sp>
      <p:grpSp>
        <p:nvGrpSpPr>
          <p:cNvPr id="23" name="Group 22">
            <a:extLst>
              <a:ext uri="{FF2B5EF4-FFF2-40B4-BE49-F238E27FC236}">
                <a16:creationId xmlns:a16="http://schemas.microsoft.com/office/drawing/2014/main" id="{E58E97D0-350A-9AD4-EFBB-5B04C3A43466}"/>
              </a:ext>
            </a:extLst>
          </p:cNvPr>
          <p:cNvGrpSpPr/>
          <p:nvPr/>
        </p:nvGrpSpPr>
        <p:grpSpPr>
          <a:xfrm>
            <a:off x="709530" y="4024370"/>
            <a:ext cx="3307362" cy="2443043"/>
            <a:chOff x="709530" y="4024370"/>
            <a:chExt cx="3307362" cy="2443043"/>
          </a:xfrm>
        </p:grpSpPr>
        <p:sp>
          <p:nvSpPr>
            <p:cNvPr id="8" name="TextBox 7">
              <a:extLst>
                <a:ext uri="{FF2B5EF4-FFF2-40B4-BE49-F238E27FC236}">
                  <a16:creationId xmlns:a16="http://schemas.microsoft.com/office/drawing/2014/main" id="{91EC7E42-B0B3-DDFA-9663-104E0909A98A}"/>
                </a:ext>
              </a:extLst>
            </p:cNvPr>
            <p:cNvSpPr txBox="1"/>
            <p:nvPr/>
          </p:nvSpPr>
          <p:spPr>
            <a:xfrm>
              <a:off x="709530" y="5636416"/>
              <a:ext cx="3307362" cy="830997"/>
            </a:xfrm>
            <a:prstGeom prst="rect">
              <a:avLst/>
            </a:prstGeom>
            <a:noFill/>
          </p:spPr>
          <p:txBody>
            <a:bodyPr wrap="square" rtlCol="0">
              <a:spAutoFit/>
            </a:bodyPr>
            <a:lstStyle/>
            <a:p>
              <a:r>
                <a:rPr lang="en-US" sz="1600" dirty="0"/>
                <a:t>Tic-tac-toe</a:t>
              </a:r>
            </a:p>
            <a:p>
              <a:pPr marL="742950" lvl="1" indent="-285750">
                <a:buFont typeface="Arial" panose="020B0604020202020204" pitchFamily="34" charset="0"/>
                <a:buChar char="•"/>
              </a:pPr>
              <a:r>
                <a:rPr lang="en-US" sz="1600" dirty="0"/>
                <a:t>The game follows fixed rules without uncertainty</a:t>
              </a:r>
            </a:p>
          </p:txBody>
        </p:sp>
        <p:pic>
          <p:nvPicPr>
            <p:cNvPr id="10" name="Picture 9" descr="Tic-tac-toe - Wikipedia">
              <a:extLst>
                <a:ext uri="{FF2B5EF4-FFF2-40B4-BE49-F238E27FC236}">
                  <a16:creationId xmlns:a16="http://schemas.microsoft.com/office/drawing/2014/main" id="{D7D6BCF8-47B8-82B5-0754-9A6C5CD1D12B}"/>
                </a:ext>
              </a:extLst>
            </p:cNvPr>
            <p:cNvPicPr>
              <a:picLocks noChangeAspect="1"/>
            </p:cNvPicPr>
            <p:nvPr/>
          </p:nvPicPr>
          <p:blipFill>
            <a:blip r:embed="rId3"/>
            <a:stretch>
              <a:fillRect/>
            </a:stretch>
          </p:blipFill>
          <p:spPr>
            <a:xfrm>
              <a:off x="1414352" y="4024370"/>
              <a:ext cx="1809750" cy="1612046"/>
            </a:xfrm>
            <a:prstGeom prst="rect">
              <a:avLst/>
            </a:prstGeom>
          </p:spPr>
        </p:pic>
      </p:grpSp>
      <p:sp>
        <p:nvSpPr>
          <p:cNvPr id="12" name="TextBox 11">
            <a:extLst>
              <a:ext uri="{FF2B5EF4-FFF2-40B4-BE49-F238E27FC236}">
                <a16:creationId xmlns:a16="http://schemas.microsoft.com/office/drawing/2014/main" id="{FAE0D46A-E9B2-4804-CA45-BA3ADEF19541}"/>
              </a:ext>
            </a:extLst>
          </p:cNvPr>
          <p:cNvSpPr txBox="1"/>
          <p:nvPr/>
        </p:nvSpPr>
        <p:spPr>
          <a:xfrm>
            <a:off x="642827" y="3315140"/>
            <a:ext cx="1225153" cy="369332"/>
          </a:xfrm>
          <a:prstGeom prst="rect">
            <a:avLst/>
          </a:prstGeom>
          <a:noFill/>
        </p:spPr>
        <p:txBody>
          <a:bodyPr wrap="square" rtlCol="0">
            <a:spAutoFit/>
          </a:bodyPr>
          <a:lstStyle/>
          <a:p>
            <a:r>
              <a:rPr lang="en-US" dirty="0"/>
              <a:t>Examples:</a:t>
            </a:r>
          </a:p>
        </p:txBody>
      </p:sp>
      <p:grpSp>
        <p:nvGrpSpPr>
          <p:cNvPr id="22" name="Group 21">
            <a:extLst>
              <a:ext uri="{FF2B5EF4-FFF2-40B4-BE49-F238E27FC236}">
                <a16:creationId xmlns:a16="http://schemas.microsoft.com/office/drawing/2014/main" id="{ED368595-5BD0-A30F-359F-E2C87ABBC343}"/>
              </a:ext>
            </a:extLst>
          </p:cNvPr>
          <p:cNvGrpSpPr/>
          <p:nvPr/>
        </p:nvGrpSpPr>
        <p:grpSpPr>
          <a:xfrm>
            <a:off x="4684500" y="3684472"/>
            <a:ext cx="3307362" cy="2826123"/>
            <a:chOff x="4684500" y="3684472"/>
            <a:chExt cx="3307362" cy="2826123"/>
          </a:xfrm>
        </p:grpSpPr>
        <p:sp>
          <p:nvSpPr>
            <p:cNvPr id="16" name="TextBox 15">
              <a:extLst>
                <a:ext uri="{FF2B5EF4-FFF2-40B4-BE49-F238E27FC236}">
                  <a16:creationId xmlns:a16="http://schemas.microsoft.com/office/drawing/2014/main" id="{0EDC91E5-C65E-B8AC-78E8-5CC41CA56874}"/>
                </a:ext>
              </a:extLst>
            </p:cNvPr>
            <p:cNvSpPr txBox="1"/>
            <p:nvPr/>
          </p:nvSpPr>
          <p:spPr>
            <a:xfrm>
              <a:off x="4684500" y="5679598"/>
              <a:ext cx="3307362" cy="830997"/>
            </a:xfrm>
            <a:prstGeom prst="rect">
              <a:avLst/>
            </a:prstGeom>
            <a:noFill/>
          </p:spPr>
          <p:txBody>
            <a:bodyPr wrap="square" rtlCol="0">
              <a:spAutoFit/>
            </a:bodyPr>
            <a:lstStyle/>
            <a:p>
              <a:r>
                <a:rPr lang="en-US" sz="1600" dirty="0"/>
                <a:t>Games with uncertainty:</a:t>
              </a:r>
            </a:p>
            <a:p>
              <a:pPr marL="742950" lvl="1" indent="-285750">
                <a:buFont typeface="Arial" panose="020B0604020202020204" pitchFamily="34" charset="0"/>
                <a:buChar char="•"/>
              </a:pPr>
              <a:r>
                <a:rPr lang="en-US" sz="1600" dirty="0"/>
                <a:t>Roll dice to move</a:t>
              </a:r>
            </a:p>
            <a:p>
              <a:pPr marL="742950" lvl="1" indent="-285750">
                <a:buFont typeface="Arial" panose="020B0604020202020204" pitchFamily="34" charset="0"/>
                <a:buChar char="•"/>
              </a:pPr>
              <a:r>
                <a:rPr lang="en-US" sz="1600" dirty="0"/>
                <a:t>Pick a card from a stack</a:t>
              </a:r>
            </a:p>
          </p:txBody>
        </p:sp>
        <p:pic>
          <p:nvPicPr>
            <p:cNvPr id="21" name="Picture 20" descr="DICE definition in American English | Collins English Dictionary">
              <a:extLst>
                <a:ext uri="{FF2B5EF4-FFF2-40B4-BE49-F238E27FC236}">
                  <a16:creationId xmlns:a16="http://schemas.microsoft.com/office/drawing/2014/main" id="{2465662B-AC2C-B5E7-5C1F-262A19C71EF2}"/>
                </a:ext>
              </a:extLst>
            </p:cNvPr>
            <p:cNvPicPr>
              <a:picLocks noChangeAspect="1"/>
            </p:cNvPicPr>
            <p:nvPr/>
          </p:nvPicPr>
          <p:blipFill>
            <a:blip r:embed="rId4"/>
            <a:stretch>
              <a:fillRect/>
            </a:stretch>
          </p:blipFill>
          <p:spPr>
            <a:xfrm>
              <a:off x="5194295" y="3684472"/>
              <a:ext cx="2197105" cy="2004624"/>
            </a:xfrm>
            <a:prstGeom prst="rect">
              <a:avLst/>
            </a:prstGeom>
          </p:spPr>
        </p:pic>
      </p:grpSp>
    </p:spTree>
    <p:extLst>
      <p:ext uri="{BB962C8B-B14F-4D97-AF65-F5344CB8AC3E}">
        <p14:creationId xmlns:p14="http://schemas.microsoft.com/office/powerpoint/2010/main" val="95404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13"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A027-EB3A-E1D3-0E55-E16291C7E0AA}"/>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73C2CDEB-5D51-DC7F-1891-99F38DCB9AB7}"/>
              </a:ext>
            </a:extLst>
          </p:cNvPr>
          <p:cNvSpPr>
            <a:spLocks noGrp="1" noChangeArrowheads="1"/>
          </p:cNvSpPr>
          <p:nvPr>
            <p:ph type="title"/>
          </p:nvPr>
        </p:nvSpPr>
        <p:spPr/>
        <p:txBody>
          <a:bodyPr/>
          <a:lstStyle/>
          <a:p>
            <a:r>
              <a:rPr lang="en-US" dirty="0"/>
              <a:t>Special Case of Stochastic Environments:</a:t>
            </a:r>
            <a:br>
              <a:rPr lang="en-US" dirty="0"/>
            </a:br>
            <a:r>
              <a:rPr lang="en-US" dirty="0"/>
              <a:t>Strategic Environment</a:t>
            </a:r>
          </a:p>
        </p:txBody>
      </p:sp>
      <p:sp>
        <p:nvSpPr>
          <p:cNvPr id="2" name="Content Placeholder 1">
            <a:extLst>
              <a:ext uri="{FF2B5EF4-FFF2-40B4-BE49-F238E27FC236}">
                <a16:creationId xmlns:a16="http://schemas.microsoft.com/office/drawing/2014/main" id="{08A8415A-C7AE-0FBB-0979-71C8E0AA7285}"/>
              </a:ext>
            </a:extLst>
          </p:cNvPr>
          <p:cNvSpPr>
            <a:spLocks noGrp="1"/>
          </p:cNvSpPr>
          <p:nvPr>
            <p:ph idx="1"/>
          </p:nvPr>
        </p:nvSpPr>
        <p:spPr>
          <a:xfrm>
            <a:off x="628650" y="1825625"/>
            <a:ext cx="7886700" cy="1561705"/>
          </a:xfrm>
        </p:spPr>
        <p:txBody>
          <a:bodyPr>
            <a:normAutofit fontScale="92500" lnSpcReduction="10000"/>
          </a:bodyPr>
          <a:lstStyle/>
          <a:p>
            <a:r>
              <a:rPr lang="en-US" dirty="0"/>
              <a:t>Standard stochastic environments include pure randomness.</a:t>
            </a:r>
          </a:p>
          <a:p>
            <a:r>
              <a:rPr lang="en-US" dirty="0"/>
              <a:t>Strategic environments pursue their own objective. This typically means that the environment contains a second agent making decisions. </a:t>
            </a:r>
          </a:p>
          <a:p>
            <a:r>
              <a:rPr lang="en-US" dirty="0"/>
              <a:t>Uncertainty comes from the unpredictable, interactive, and often adversarial choices of the other intelligent agents.</a:t>
            </a:r>
          </a:p>
        </p:txBody>
      </p:sp>
      <p:grpSp>
        <p:nvGrpSpPr>
          <p:cNvPr id="27" name="Group 26">
            <a:extLst>
              <a:ext uri="{FF2B5EF4-FFF2-40B4-BE49-F238E27FC236}">
                <a16:creationId xmlns:a16="http://schemas.microsoft.com/office/drawing/2014/main" id="{37088232-1B02-33D4-07DB-30E7BEFD7B48}"/>
              </a:ext>
            </a:extLst>
          </p:cNvPr>
          <p:cNvGrpSpPr/>
          <p:nvPr/>
        </p:nvGrpSpPr>
        <p:grpSpPr>
          <a:xfrm>
            <a:off x="1981200" y="3657600"/>
            <a:ext cx="4935796" cy="1790997"/>
            <a:chOff x="2248672" y="3774778"/>
            <a:chExt cx="4935796" cy="1790997"/>
          </a:xfrm>
        </p:grpSpPr>
        <p:pic>
          <p:nvPicPr>
            <p:cNvPr id="5" name="Graphic 4" descr="Man with solid fill">
              <a:extLst>
                <a:ext uri="{FF2B5EF4-FFF2-40B4-BE49-F238E27FC236}">
                  <a16:creationId xmlns:a16="http://schemas.microsoft.com/office/drawing/2014/main" id="{9C40E9C5-7DEE-A58C-F9BB-55922EFA23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672" y="4249231"/>
              <a:ext cx="914400" cy="914400"/>
            </a:xfrm>
            <a:prstGeom prst="rect">
              <a:avLst/>
            </a:prstGeom>
          </p:spPr>
        </p:pic>
        <p:pic>
          <p:nvPicPr>
            <p:cNvPr id="7" name="Graphic 6" descr="Man with solid fill">
              <a:extLst>
                <a:ext uri="{FF2B5EF4-FFF2-40B4-BE49-F238E27FC236}">
                  <a16:creationId xmlns:a16="http://schemas.microsoft.com/office/drawing/2014/main" id="{3AD4F016-49F2-18C1-77E0-352BEBE0B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81820" y="4170379"/>
              <a:ext cx="914400" cy="914400"/>
            </a:xfrm>
            <a:prstGeom prst="rect">
              <a:avLst/>
            </a:prstGeom>
          </p:spPr>
        </p:pic>
        <p:pic>
          <p:nvPicPr>
            <p:cNvPr id="14" name="Picture 13" descr="Tic-tac-toe - Wikipedia">
              <a:extLst>
                <a:ext uri="{FF2B5EF4-FFF2-40B4-BE49-F238E27FC236}">
                  <a16:creationId xmlns:a16="http://schemas.microsoft.com/office/drawing/2014/main" id="{1CAFF73B-2216-4CB9-83B7-77FF54D060D1}"/>
                </a:ext>
              </a:extLst>
            </p:cNvPr>
            <p:cNvPicPr>
              <a:picLocks noChangeAspect="1"/>
            </p:cNvPicPr>
            <p:nvPr/>
          </p:nvPicPr>
          <p:blipFill>
            <a:blip r:embed="rId5"/>
            <a:stretch>
              <a:fillRect/>
            </a:stretch>
          </p:blipFill>
          <p:spPr>
            <a:xfrm>
              <a:off x="4534672" y="4220310"/>
              <a:ext cx="1076900" cy="959256"/>
            </a:xfrm>
            <a:prstGeom prst="rect">
              <a:avLst/>
            </a:prstGeom>
          </p:spPr>
        </p:pic>
        <p:sp>
          <p:nvSpPr>
            <p:cNvPr id="15" name="Rectangle: Rounded Corners 14">
              <a:extLst>
                <a:ext uri="{FF2B5EF4-FFF2-40B4-BE49-F238E27FC236}">
                  <a16:creationId xmlns:a16="http://schemas.microsoft.com/office/drawing/2014/main" id="{34486426-B5C9-8C7F-B75E-0D91E6CE092B}"/>
                </a:ext>
              </a:extLst>
            </p:cNvPr>
            <p:cNvSpPr/>
            <p:nvPr/>
          </p:nvSpPr>
          <p:spPr>
            <a:xfrm>
              <a:off x="4268904" y="3810000"/>
              <a:ext cx="2889649" cy="1755775"/>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7" name="Arrow: Right 16">
              <a:extLst>
                <a:ext uri="{FF2B5EF4-FFF2-40B4-BE49-F238E27FC236}">
                  <a16:creationId xmlns:a16="http://schemas.microsoft.com/office/drawing/2014/main" id="{AEDCE049-DB4A-8EDE-EBCB-86C0F1583364}"/>
                </a:ext>
              </a:extLst>
            </p:cNvPr>
            <p:cNvSpPr/>
            <p:nvPr/>
          </p:nvSpPr>
          <p:spPr>
            <a:xfrm>
              <a:off x="3278077" y="4484253"/>
              <a:ext cx="767953" cy="444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D15189C0-0A48-D3A9-C80F-B50FC01163DF}"/>
                </a:ext>
              </a:extLst>
            </p:cNvPr>
            <p:cNvSpPr/>
            <p:nvPr/>
          </p:nvSpPr>
          <p:spPr>
            <a:xfrm flipH="1">
              <a:off x="5695135" y="4477278"/>
              <a:ext cx="448703" cy="444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F7ED3E4-D164-79DB-D842-91A8D014CB23}"/>
                </a:ext>
              </a:extLst>
            </p:cNvPr>
            <p:cNvSpPr txBox="1"/>
            <p:nvPr/>
          </p:nvSpPr>
          <p:spPr>
            <a:xfrm>
              <a:off x="4343400" y="3774778"/>
              <a:ext cx="2815153" cy="369332"/>
            </a:xfrm>
            <a:prstGeom prst="rect">
              <a:avLst/>
            </a:prstGeom>
            <a:noFill/>
          </p:spPr>
          <p:txBody>
            <a:bodyPr wrap="square" rtlCol="0">
              <a:spAutoFit/>
            </a:bodyPr>
            <a:lstStyle/>
            <a:p>
              <a:pPr algn="ctr"/>
              <a:r>
                <a:rPr lang="en-US" dirty="0"/>
                <a:t>Strategic Environment</a:t>
              </a:r>
            </a:p>
          </p:txBody>
        </p:sp>
        <p:sp>
          <p:nvSpPr>
            <p:cNvPr id="25" name="TextBox 24">
              <a:extLst>
                <a:ext uri="{FF2B5EF4-FFF2-40B4-BE49-F238E27FC236}">
                  <a16:creationId xmlns:a16="http://schemas.microsoft.com/office/drawing/2014/main" id="{A07AE1A6-12DC-D57A-66F4-8AC37BF5EE56}"/>
                </a:ext>
              </a:extLst>
            </p:cNvPr>
            <p:cNvSpPr txBox="1"/>
            <p:nvPr/>
          </p:nvSpPr>
          <p:spPr>
            <a:xfrm>
              <a:off x="5967790" y="5021443"/>
              <a:ext cx="1216678" cy="523220"/>
            </a:xfrm>
            <a:prstGeom prst="rect">
              <a:avLst/>
            </a:prstGeom>
            <a:noFill/>
          </p:spPr>
          <p:txBody>
            <a:bodyPr wrap="square" rtlCol="0">
              <a:spAutoFit/>
            </a:bodyPr>
            <a:lstStyle/>
            <a:p>
              <a:pPr algn="ctr"/>
              <a:r>
                <a:rPr lang="en-US" sz="1400" dirty="0"/>
                <a:t>Opponent Agent</a:t>
              </a:r>
            </a:p>
          </p:txBody>
        </p:sp>
        <p:sp>
          <p:nvSpPr>
            <p:cNvPr id="26" name="TextBox 25">
              <a:extLst>
                <a:ext uri="{FF2B5EF4-FFF2-40B4-BE49-F238E27FC236}">
                  <a16:creationId xmlns:a16="http://schemas.microsoft.com/office/drawing/2014/main" id="{C0040FAE-BB88-596B-F581-4F77B492BFC7}"/>
                </a:ext>
              </a:extLst>
            </p:cNvPr>
            <p:cNvSpPr txBox="1"/>
            <p:nvPr/>
          </p:nvSpPr>
          <p:spPr>
            <a:xfrm>
              <a:off x="2337438" y="5124397"/>
              <a:ext cx="736868" cy="369332"/>
            </a:xfrm>
            <a:prstGeom prst="rect">
              <a:avLst/>
            </a:prstGeom>
            <a:noFill/>
          </p:spPr>
          <p:txBody>
            <a:bodyPr wrap="none" rtlCol="0">
              <a:spAutoFit/>
            </a:bodyPr>
            <a:lstStyle/>
            <a:p>
              <a:r>
                <a:rPr lang="en-US" dirty="0"/>
                <a:t>Agent</a:t>
              </a:r>
            </a:p>
          </p:txBody>
        </p:sp>
      </p:grpSp>
      <p:sp>
        <p:nvSpPr>
          <p:cNvPr id="28" name="TextBox 27">
            <a:extLst>
              <a:ext uri="{FF2B5EF4-FFF2-40B4-BE49-F238E27FC236}">
                <a16:creationId xmlns:a16="http://schemas.microsoft.com/office/drawing/2014/main" id="{1FADFC00-9E78-5B7E-06A4-886822EBA260}"/>
              </a:ext>
            </a:extLst>
          </p:cNvPr>
          <p:cNvSpPr txBox="1"/>
          <p:nvPr/>
        </p:nvSpPr>
        <p:spPr>
          <a:xfrm>
            <a:off x="762000" y="5886180"/>
            <a:ext cx="7620000" cy="646331"/>
          </a:xfrm>
          <a:prstGeom prst="rect">
            <a:avLst/>
          </a:prstGeom>
          <a:noFill/>
        </p:spPr>
        <p:txBody>
          <a:bodyPr wrap="square" rtlCol="0">
            <a:spAutoFit/>
          </a:bodyPr>
          <a:lstStyle/>
          <a:p>
            <a:r>
              <a:rPr lang="en-US" b="1" dirty="0"/>
              <a:t>Note</a:t>
            </a:r>
            <a:r>
              <a:rPr lang="en-US" dirty="0"/>
              <a:t>: While the game mechanics are deterministic, considering the opponent as part of the environment makes the environment strategic (stochastic)!</a:t>
            </a:r>
          </a:p>
        </p:txBody>
      </p:sp>
    </p:spTree>
    <p:extLst>
      <p:ext uri="{BB962C8B-B14F-4D97-AF65-F5344CB8AC3E}">
        <p14:creationId xmlns:p14="http://schemas.microsoft.com/office/powerpoint/2010/main" val="93232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00B3-3A8F-8DE5-EA8B-2960BC42F700}"/>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238F098D-03F5-F90E-217D-7118C174191E}"/>
              </a:ext>
            </a:extLst>
          </p:cNvPr>
          <p:cNvSpPr>
            <a:spLocks noGrp="1" noChangeArrowheads="1"/>
          </p:cNvSpPr>
          <p:nvPr>
            <p:ph type="title"/>
          </p:nvPr>
        </p:nvSpPr>
        <p:spPr/>
        <p:txBody>
          <a:bodyPr/>
          <a:lstStyle/>
          <a:p>
            <a:r>
              <a:rPr lang="en-US" dirty="0"/>
              <a:t>Environment Types: Knowledge</a:t>
            </a:r>
          </a:p>
        </p:txBody>
      </p:sp>
      <p:sp>
        <p:nvSpPr>
          <p:cNvPr id="15" name="TextBox 14">
            <a:extLst>
              <a:ext uri="{FF2B5EF4-FFF2-40B4-BE49-F238E27FC236}">
                <a16:creationId xmlns:a16="http://schemas.microsoft.com/office/drawing/2014/main" id="{B1606F03-65B3-C038-F054-0F4FA5CFCA7C}"/>
              </a:ext>
            </a:extLst>
          </p:cNvPr>
          <p:cNvSpPr txBox="1"/>
          <p:nvPr/>
        </p:nvSpPr>
        <p:spPr>
          <a:xfrm>
            <a:off x="633966" y="1442235"/>
            <a:ext cx="3192066" cy="738664"/>
          </a:xfrm>
          <a:prstGeom prst="rect">
            <a:avLst/>
          </a:prstGeom>
          <a:noFill/>
        </p:spPr>
        <p:txBody>
          <a:bodyPr wrap="square">
            <a:spAutoFit/>
          </a:bodyPr>
          <a:lstStyle/>
          <a:p>
            <a:pPr marL="0" indent="0">
              <a:buNone/>
            </a:pPr>
            <a:r>
              <a:rPr lang="en-US" sz="1400" b="1" dirty="0">
                <a:solidFill>
                  <a:srgbClr val="FF0000"/>
                </a:solidFill>
              </a:rPr>
              <a:t>Known: </a:t>
            </a:r>
            <a:r>
              <a:rPr lang="en-US" sz="1400" dirty="0"/>
              <a:t>The agent knows the rules of the environment and can predict the (chance of the) outcome of actions.</a:t>
            </a:r>
            <a:endParaRPr lang="en-US" sz="1400" b="1" dirty="0">
              <a:solidFill>
                <a:srgbClr val="FF0000"/>
              </a:solidFill>
            </a:endParaRPr>
          </a:p>
        </p:txBody>
      </p:sp>
      <p:sp>
        <p:nvSpPr>
          <p:cNvPr id="5" name="TextBox 4">
            <a:extLst>
              <a:ext uri="{FF2B5EF4-FFF2-40B4-BE49-F238E27FC236}">
                <a16:creationId xmlns:a16="http://schemas.microsoft.com/office/drawing/2014/main" id="{FA1029EA-C9A8-F6EA-5528-AC085391F9F7}"/>
              </a:ext>
            </a:extLst>
          </p:cNvPr>
          <p:cNvSpPr txBox="1"/>
          <p:nvPr/>
        </p:nvSpPr>
        <p:spPr>
          <a:xfrm>
            <a:off x="3872466" y="1494617"/>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C6FF14F1-DCCC-8C99-6C49-3446B2F8C4AD}"/>
              </a:ext>
            </a:extLst>
          </p:cNvPr>
          <p:cNvSpPr txBox="1"/>
          <p:nvPr/>
        </p:nvSpPr>
        <p:spPr>
          <a:xfrm>
            <a:off x="4463016" y="1505001"/>
            <a:ext cx="3807618" cy="738664"/>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agent does not know the rules of the environment and cannot predict the outcome of actions.</a:t>
            </a:r>
            <a:endParaRPr lang="en-US" sz="1400" b="1" dirty="0">
              <a:solidFill>
                <a:srgbClr val="FF0000"/>
              </a:solidFill>
            </a:endParaRPr>
          </a:p>
        </p:txBody>
      </p:sp>
      <p:sp>
        <p:nvSpPr>
          <p:cNvPr id="12" name="TextBox 11">
            <a:extLst>
              <a:ext uri="{FF2B5EF4-FFF2-40B4-BE49-F238E27FC236}">
                <a16:creationId xmlns:a16="http://schemas.microsoft.com/office/drawing/2014/main" id="{BE4765C4-4AAD-987F-10A1-93F78BE7B825}"/>
              </a:ext>
            </a:extLst>
          </p:cNvPr>
          <p:cNvSpPr txBox="1"/>
          <p:nvPr/>
        </p:nvSpPr>
        <p:spPr>
          <a:xfrm>
            <a:off x="651687" y="2514600"/>
            <a:ext cx="1225153" cy="369332"/>
          </a:xfrm>
          <a:prstGeom prst="rect">
            <a:avLst/>
          </a:prstGeom>
          <a:noFill/>
        </p:spPr>
        <p:txBody>
          <a:bodyPr wrap="square" rtlCol="0">
            <a:spAutoFit/>
          </a:bodyPr>
          <a:lstStyle/>
          <a:p>
            <a:r>
              <a:rPr lang="en-US" dirty="0"/>
              <a:t>Examples:</a:t>
            </a:r>
          </a:p>
        </p:txBody>
      </p:sp>
      <p:grpSp>
        <p:nvGrpSpPr>
          <p:cNvPr id="19" name="Group 18">
            <a:extLst>
              <a:ext uri="{FF2B5EF4-FFF2-40B4-BE49-F238E27FC236}">
                <a16:creationId xmlns:a16="http://schemas.microsoft.com/office/drawing/2014/main" id="{47617480-8AC3-BF5E-101D-750C7D34A369}"/>
              </a:ext>
            </a:extLst>
          </p:cNvPr>
          <p:cNvGrpSpPr/>
          <p:nvPr/>
        </p:nvGrpSpPr>
        <p:grpSpPr>
          <a:xfrm>
            <a:off x="628650" y="2820180"/>
            <a:ext cx="3581400" cy="3654777"/>
            <a:chOff x="625106" y="3172683"/>
            <a:chExt cx="3581400" cy="3654777"/>
          </a:xfrm>
        </p:grpSpPr>
        <p:pic>
          <p:nvPicPr>
            <p:cNvPr id="6" name="Picture 5" descr="44 Different Types of Mazes and Labyrinths — Free Printable Mazes for All Ages">
              <a:extLst>
                <a:ext uri="{FF2B5EF4-FFF2-40B4-BE49-F238E27FC236}">
                  <a16:creationId xmlns:a16="http://schemas.microsoft.com/office/drawing/2014/main" id="{9C080488-9659-712A-97E6-5627E5CAB9C0}"/>
                </a:ext>
              </a:extLst>
            </p:cNvPr>
            <p:cNvPicPr>
              <a:picLocks noChangeAspect="1"/>
            </p:cNvPicPr>
            <p:nvPr/>
          </p:nvPicPr>
          <p:blipFill>
            <a:blip r:embed="rId3"/>
            <a:stretch>
              <a:fillRect/>
            </a:stretch>
          </p:blipFill>
          <p:spPr>
            <a:xfrm>
              <a:off x="1247941" y="3172683"/>
              <a:ext cx="2257259" cy="2257259"/>
            </a:xfrm>
            <a:prstGeom prst="rect">
              <a:avLst/>
            </a:prstGeom>
          </p:spPr>
        </p:pic>
        <p:sp>
          <p:nvSpPr>
            <p:cNvPr id="14" name="TextBox 13">
              <a:extLst>
                <a:ext uri="{FF2B5EF4-FFF2-40B4-BE49-F238E27FC236}">
                  <a16:creationId xmlns:a16="http://schemas.microsoft.com/office/drawing/2014/main" id="{85D0B31F-57DE-5949-4F6B-D9245E2F8854}"/>
                </a:ext>
              </a:extLst>
            </p:cNvPr>
            <p:cNvSpPr txBox="1"/>
            <p:nvPr/>
          </p:nvSpPr>
          <p:spPr>
            <a:xfrm>
              <a:off x="625106" y="5257800"/>
              <a:ext cx="3581400" cy="1569660"/>
            </a:xfrm>
            <a:prstGeom prst="rect">
              <a:avLst/>
            </a:prstGeom>
            <a:noFill/>
          </p:spPr>
          <p:txBody>
            <a:bodyPr wrap="square" rtlCol="0">
              <a:spAutoFit/>
            </a:bodyPr>
            <a:lstStyle/>
            <a:p>
              <a:r>
                <a:rPr lang="en-US" sz="1600" dirty="0"/>
                <a:t>Solving a maze </a:t>
              </a:r>
              <a:r>
                <a:rPr lang="en-US" sz="1600" b="1" dirty="0"/>
                <a:t>with</a:t>
              </a:r>
              <a:r>
                <a:rPr lang="en-US" sz="1600" dirty="0"/>
                <a:t> a map</a:t>
              </a:r>
            </a:p>
            <a:p>
              <a:pPr marL="742950" lvl="1" indent="-285750">
                <a:buFont typeface="Arial" panose="020B0604020202020204" pitchFamily="34" charset="0"/>
                <a:buChar char="•"/>
              </a:pPr>
              <a:r>
                <a:rPr lang="en-US" sz="1600" dirty="0"/>
                <a:t>The agent knows in every position where actions (North, East, </a:t>
              </a:r>
              <a:r>
                <a:rPr lang="en-US" sz="1600" dirty="0" err="1"/>
                <a:t>etc</a:t>
              </a:r>
              <a:r>
                <a:rPr lang="en-US" sz="1600" dirty="0"/>
                <a:t>) lead.</a:t>
              </a:r>
            </a:p>
            <a:p>
              <a:pPr marL="742950" lvl="1" indent="-285750">
                <a:buFont typeface="Arial" panose="020B0604020202020204" pitchFamily="34" charset="0"/>
                <a:buChar char="•"/>
              </a:pPr>
              <a:r>
                <a:rPr lang="en-US" sz="1600" dirty="0"/>
                <a:t>The map can be used for planning.</a:t>
              </a:r>
            </a:p>
          </p:txBody>
        </p:sp>
      </p:grpSp>
      <p:grpSp>
        <p:nvGrpSpPr>
          <p:cNvPr id="20" name="Group 19">
            <a:extLst>
              <a:ext uri="{FF2B5EF4-FFF2-40B4-BE49-F238E27FC236}">
                <a16:creationId xmlns:a16="http://schemas.microsoft.com/office/drawing/2014/main" id="{21D73C65-84D0-46A6-0C73-4C4393CEE8C4}"/>
              </a:ext>
            </a:extLst>
          </p:cNvPr>
          <p:cNvGrpSpPr/>
          <p:nvPr/>
        </p:nvGrpSpPr>
        <p:grpSpPr>
          <a:xfrm>
            <a:off x="4572000" y="3124200"/>
            <a:ext cx="3683797" cy="3210818"/>
            <a:chOff x="4491369" y="3124200"/>
            <a:chExt cx="3683797" cy="3210818"/>
          </a:xfrm>
        </p:grpSpPr>
        <p:pic>
          <p:nvPicPr>
            <p:cNvPr id="8" name="Picture 7" descr="LabRat: A First Person Maze Game (EARLY RELEASE) - Release Announcements -  itch.io">
              <a:extLst>
                <a:ext uri="{FF2B5EF4-FFF2-40B4-BE49-F238E27FC236}">
                  <a16:creationId xmlns:a16="http://schemas.microsoft.com/office/drawing/2014/main" id="{BDFC00E2-3B77-C7E7-E59B-99D7F1896CFB}"/>
                </a:ext>
              </a:extLst>
            </p:cNvPr>
            <p:cNvPicPr>
              <a:picLocks noChangeAspect="1"/>
            </p:cNvPicPr>
            <p:nvPr/>
          </p:nvPicPr>
          <p:blipFill>
            <a:blip r:embed="rId4"/>
            <a:stretch>
              <a:fillRect/>
            </a:stretch>
          </p:blipFill>
          <p:spPr>
            <a:xfrm>
              <a:off x="4776149" y="3124200"/>
              <a:ext cx="3399017" cy="19110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17">
              <a:extLst>
                <a:ext uri="{FF2B5EF4-FFF2-40B4-BE49-F238E27FC236}">
                  <a16:creationId xmlns:a16="http://schemas.microsoft.com/office/drawing/2014/main" id="{CEA5F511-8904-51F8-C3EE-37DEFFD17EDE}"/>
                </a:ext>
              </a:extLst>
            </p:cNvPr>
            <p:cNvSpPr txBox="1"/>
            <p:nvPr/>
          </p:nvSpPr>
          <p:spPr>
            <a:xfrm>
              <a:off x="4491369" y="5257800"/>
              <a:ext cx="3581400" cy="1077218"/>
            </a:xfrm>
            <a:prstGeom prst="rect">
              <a:avLst/>
            </a:prstGeom>
            <a:noFill/>
          </p:spPr>
          <p:txBody>
            <a:bodyPr wrap="square" rtlCol="0">
              <a:spAutoFit/>
            </a:bodyPr>
            <a:lstStyle/>
            <a:p>
              <a:r>
                <a:rPr lang="en-US" sz="1600" dirty="0"/>
                <a:t>Solving a maze </a:t>
              </a:r>
              <a:r>
                <a:rPr lang="en-US" sz="1600" b="1" dirty="0"/>
                <a:t>without</a:t>
              </a:r>
              <a:r>
                <a:rPr lang="en-US" sz="1600" dirty="0"/>
                <a:t> a map</a:t>
              </a:r>
            </a:p>
            <a:p>
              <a:pPr marL="742950" lvl="1" indent="-285750">
                <a:buFont typeface="Arial" panose="020B0604020202020204" pitchFamily="34" charset="0"/>
                <a:buChar char="•"/>
              </a:pPr>
              <a:r>
                <a:rPr lang="en-US" sz="1600" dirty="0"/>
                <a:t>The agent does not know where all the corridors lead.</a:t>
              </a:r>
            </a:p>
            <a:p>
              <a:pPr marL="742950" lvl="1" indent="-285750">
                <a:buFont typeface="Arial" panose="020B0604020202020204" pitchFamily="34" charset="0"/>
                <a:buChar char="•"/>
              </a:pPr>
              <a:r>
                <a:rPr lang="en-US" sz="1600" dirty="0"/>
                <a:t>The agent needs to explore.</a:t>
              </a:r>
            </a:p>
          </p:txBody>
        </p:sp>
      </p:grpSp>
    </p:spTree>
    <p:extLst>
      <p:ext uri="{BB962C8B-B14F-4D97-AF65-F5344CB8AC3E}">
        <p14:creationId xmlns:p14="http://schemas.microsoft.com/office/powerpoint/2010/main" val="9168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17"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More Environment Types</a:t>
            </a:r>
          </a:p>
        </p:txBody>
      </p:sp>
      <p:sp>
        <p:nvSpPr>
          <p:cNvPr id="3" name="TextBox 2">
            <a:extLst>
              <a:ext uri="{FF2B5EF4-FFF2-40B4-BE49-F238E27FC236}">
                <a16:creationId xmlns:a16="http://schemas.microsoft.com/office/drawing/2014/main" id="{669A5505-E67D-0FAE-885B-3F58A3FE73D3}"/>
              </a:ext>
            </a:extLst>
          </p:cNvPr>
          <p:cNvSpPr txBox="1"/>
          <p:nvPr/>
        </p:nvSpPr>
        <p:spPr>
          <a:xfrm>
            <a:off x="728660" y="1595426"/>
            <a:ext cx="3233740" cy="1169551"/>
          </a:xfrm>
          <a:prstGeom prst="rect">
            <a:avLst/>
          </a:prstGeom>
          <a:noFill/>
        </p:spPr>
        <p:txBody>
          <a:bodyPr wrap="square">
            <a:spAutoFit/>
          </a:bodyPr>
          <a:lstStyle/>
          <a:p>
            <a:pPr marL="0" indent="0">
              <a:buNone/>
            </a:pPr>
            <a:r>
              <a:rPr lang="en-US" sz="1400" b="1" dirty="0">
                <a:solidFill>
                  <a:srgbClr val="FF0000"/>
                </a:solidFill>
              </a:rPr>
              <a:t>Static: </a:t>
            </a:r>
            <a:r>
              <a:rPr lang="en-US" sz="1400" dirty="0"/>
              <a:t>The environment is </a:t>
            </a:r>
            <a:r>
              <a:rPr lang="en-US" sz="1400" b="1" dirty="0"/>
              <a:t>not</a:t>
            </a:r>
            <a:r>
              <a:rPr lang="en-US" sz="1400" dirty="0"/>
              <a:t> changing while  agent is deliberating. </a:t>
            </a:r>
            <a:r>
              <a:rPr lang="en-US" sz="1400" b="1" dirty="0" err="1">
                <a:solidFill>
                  <a:srgbClr val="FF0000"/>
                </a:solidFill>
              </a:rPr>
              <a:t>Semidynamic</a:t>
            </a:r>
            <a:r>
              <a:rPr lang="en-US" sz="1400" b="1" dirty="0">
                <a:solidFill>
                  <a:srgbClr val="FF0000"/>
                </a:solidFill>
              </a:rPr>
              <a:t>:</a:t>
            </a:r>
            <a:r>
              <a:rPr lang="en-US" sz="1400" dirty="0">
                <a:solidFill>
                  <a:srgbClr val="FF0000"/>
                </a:solidFill>
              </a:rPr>
              <a:t> </a:t>
            </a:r>
            <a:r>
              <a:rPr lang="en-US" sz="1400" dirty="0"/>
              <a:t>the environment is static, but the agent's performance score depends on how fast it acts.</a:t>
            </a:r>
          </a:p>
        </p:txBody>
      </p:sp>
      <p:sp>
        <p:nvSpPr>
          <p:cNvPr id="6" name="TextBox 5">
            <a:extLst>
              <a:ext uri="{FF2B5EF4-FFF2-40B4-BE49-F238E27FC236}">
                <a16:creationId xmlns:a16="http://schemas.microsoft.com/office/drawing/2014/main" id="{490F1121-67CD-301E-1F2E-3D64E9B9ADD6}"/>
              </a:ext>
            </a:extLst>
          </p:cNvPr>
          <p:cNvSpPr txBox="1"/>
          <p:nvPr/>
        </p:nvSpPr>
        <p:spPr>
          <a:xfrm>
            <a:off x="4188621" y="1813592"/>
            <a:ext cx="590550" cy="369332"/>
          </a:xfrm>
          <a:prstGeom prst="rect">
            <a:avLst/>
          </a:prstGeom>
          <a:noFill/>
        </p:spPr>
        <p:txBody>
          <a:bodyPr wrap="square" rtlCol="0">
            <a:spAutoFit/>
          </a:bodyPr>
          <a:lstStyle/>
          <a:p>
            <a:r>
              <a:rPr lang="en-US" b="1" dirty="0">
                <a:solidFill>
                  <a:srgbClr val="FF0000"/>
                </a:solidFill>
              </a:rPr>
              <a:t>vs.</a:t>
            </a:r>
          </a:p>
        </p:txBody>
      </p:sp>
      <p:sp>
        <p:nvSpPr>
          <p:cNvPr id="10" name="TextBox 9">
            <a:extLst>
              <a:ext uri="{FF2B5EF4-FFF2-40B4-BE49-F238E27FC236}">
                <a16:creationId xmlns:a16="http://schemas.microsoft.com/office/drawing/2014/main" id="{06EEF6D6-8F9B-2FC1-79A9-E8707ED8A3DA}"/>
              </a:ext>
            </a:extLst>
          </p:cNvPr>
          <p:cNvSpPr txBox="1"/>
          <p:nvPr/>
        </p:nvSpPr>
        <p:spPr>
          <a:xfrm>
            <a:off x="4748213" y="1732332"/>
            <a:ext cx="3667127" cy="523220"/>
          </a:xfrm>
          <a:prstGeom prst="rect">
            <a:avLst/>
          </a:prstGeom>
          <a:noFill/>
        </p:spPr>
        <p:txBody>
          <a:bodyPr wrap="square">
            <a:spAutoFit/>
          </a:bodyPr>
          <a:lstStyle/>
          <a:p>
            <a:pPr marL="0" indent="0">
              <a:buNone/>
            </a:pPr>
            <a:r>
              <a:rPr lang="en-US" sz="1400" b="1" dirty="0">
                <a:solidFill>
                  <a:srgbClr val="FF0000"/>
                </a:solidFill>
              </a:rPr>
              <a:t>Dynamic: </a:t>
            </a:r>
            <a:r>
              <a:rPr lang="en-US" sz="1400" dirty="0"/>
              <a:t>The environment is changing while the agent is deliberating.</a:t>
            </a:r>
          </a:p>
        </p:txBody>
      </p:sp>
      <p:sp>
        <p:nvSpPr>
          <p:cNvPr id="12" name="TextBox 11">
            <a:extLst>
              <a:ext uri="{FF2B5EF4-FFF2-40B4-BE49-F238E27FC236}">
                <a16:creationId xmlns:a16="http://schemas.microsoft.com/office/drawing/2014/main" id="{488155CE-94F3-158B-5F97-33A205AD568B}"/>
              </a:ext>
            </a:extLst>
          </p:cNvPr>
          <p:cNvSpPr txBox="1"/>
          <p:nvPr/>
        </p:nvSpPr>
        <p:spPr>
          <a:xfrm>
            <a:off x="709610" y="3008293"/>
            <a:ext cx="3495080" cy="954107"/>
          </a:xfrm>
          <a:prstGeom prst="rect">
            <a:avLst/>
          </a:prstGeom>
          <a:noFill/>
        </p:spPr>
        <p:txBody>
          <a:bodyPr wrap="square">
            <a:spAutoFit/>
          </a:bodyPr>
          <a:lstStyle/>
          <a:p>
            <a:pPr marL="0" indent="0">
              <a:buNone/>
            </a:pPr>
            <a:r>
              <a:rPr lang="en-US" sz="1400" b="1" dirty="0">
                <a:solidFill>
                  <a:srgbClr val="FF0000"/>
                </a:solidFill>
              </a:rPr>
              <a:t>Discrete: </a:t>
            </a:r>
            <a:r>
              <a:rPr lang="en-US" sz="1400" dirty="0"/>
              <a:t>The environment provides a fixed number of distinct percepts, actions, and environment states. Time can also evolve in a discrete or continuous fashion.</a:t>
            </a:r>
          </a:p>
        </p:txBody>
      </p:sp>
      <p:sp>
        <p:nvSpPr>
          <p:cNvPr id="7" name="TextBox 6">
            <a:extLst>
              <a:ext uri="{FF2B5EF4-FFF2-40B4-BE49-F238E27FC236}">
                <a16:creationId xmlns:a16="http://schemas.microsoft.com/office/drawing/2014/main" id="{0890128D-9645-AC09-FC05-CCDDE8C0F976}"/>
              </a:ext>
            </a:extLst>
          </p:cNvPr>
          <p:cNvSpPr txBox="1"/>
          <p:nvPr/>
        </p:nvSpPr>
        <p:spPr>
          <a:xfrm>
            <a:off x="4214814" y="3212068"/>
            <a:ext cx="590550" cy="369332"/>
          </a:xfrm>
          <a:prstGeom prst="rect">
            <a:avLst/>
          </a:prstGeom>
          <a:noFill/>
        </p:spPr>
        <p:txBody>
          <a:bodyPr wrap="square" rtlCol="0">
            <a:spAutoFit/>
          </a:bodyPr>
          <a:lstStyle/>
          <a:p>
            <a:r>
              <a:rPr lang="en-US" b="1" dirty="0">
                <a:solidFill>
                  <a:srgbClr val="FF0000"/>
                </a:solidFill>
              </a:rPr>
              <a:t>vs.</a:t>
            </a:r>
          </a:p>
        </p:txBody>
      </p:sp>
      <p:sp>
        <p:nvSpPr>
          <p:cNvPr id="14" name="TextBox 13">
            <a:extLst>
              <a:ext uri="{FF2B5EF4-FFF2-40B4-BE49-F238E27FC236}">
                <a16:creationId xmlns:a16="http://schemas.microsoft.com/office/drawing/2014/main" id="{099811E5-982C-C063-A466-A62127A79B62}"/>
              </a:ext>
            </a:extLst>
          </p:cNvPr>
          <p:cNvSpPr txBox="1"/>
          <p:nvPr/>
        </p:nvSpPr>
        <p:spPr>
          <a:xfrm>
            <a:off x="4681836" y="3048000"/>
            <a:ext cx="4028480" cy="738664"/>
          </a:xfrm>
          <a:prstGeom prst="rect">
            <a:avLst/>
          </a:prstGeom>
          <a:noFill/>
        </p:spPr>
        <p:txBody>
          <a:bodyPr wrap="square">
            <a:spAutoFit/>
          </a:bodyPr>
          <a:lstStyle/>
          <a:p>
            <a:pPr marL="0" indent="0">
              <a:buNone/>
            </a:pPr>
            <a:r>
              <a:rPr lang="en-US" sz="1400" b="1" dirty="0">
                <a:solidFill>
                  <a:srgbClr val="FF0000"/>
                </a:solidFill>
              </a:rPr>
              <a:t>Continuous: </a:t>
            </a:r>
            <a:r>
              <a:rPr lang="en-US" sz="1400" dirty="0"/>
              <a:t>Percepts, actions, state variables or time are continuous leading to an infinite state, percept or action space.</a:t>
            </a:r>
          </a:p>
        </p:txBody>
      </p:sp>
      <p:sp>
        <p:nvSpPr>
          <p:cNvPr id="16" name="TextBox 15">
            <a:extLst>
              <a:ext uri="{FF2B5EF4-FFF2-40B4-BE49-F238E27FC236}">
                <a16:creationId xmlns:a16="http://schemas.microsoft.com/office/drawing/2014/main" id="{A87F8B32-D29A-55D3-9F99-29981BA264C7}"/>
              </a:ext>
            </a:extLst>
          </p:cNvPr>
          <p:cNvSpPr txBox="1"/>
          <p:nvPr/>
        </p:nvSpPr>
        <p:spPr>
          <a:xfrm>
            <a:off x="712883" y="4110453"/>
            <a:ext cx="3444780" cy="1169551"/>
          </a:xfrm>
          <a:prstGeom prst="rect">
            <a:avLst/>
          </a:prstGeom>
          <a:noFill/>
        </p:spPr>
        <p:txBody>
          <a:bodyPr wrap="square">
            <a:spAutoFit/>
          </a:bodyPr>
          <a:lstStyle/>
          <a:p>
            <a:r>
              <a:rPr lang="en-US" sz="1400" b="1" dirty="0">
                <a:solidFill>
                  <a:srgbClr val="FF0000"/>
                </a:solidFill>
              </a:rPr>
              <a:t>Episodic: </a:t>
            </a:r>
            <a:r>
              <a:rPr lang="en-US" sz="1400" dirty="0"/>
              <a:t>Episode = a self-contained sequence of actions. </a:t>
            </a:r>
            <a:r>
              <a:rPr lang="en-US" sz="1400" b="1" dirty="0"/>
              <a:t>Short episodes </a:t>
            </a:r>
            <a:r>
              <a:rPr lang="en-US" sz="1400" dirty="0"/>
              <a:t>for a task that the agent performs repeatedly. What the agent does in one episode does not affect future episodes.</a:t>
            </a:r>
            <a:endParaRPr lang="en-US" sz="1400" b="1" dirty="0">
              <a:solidFill>
                <a:srgbClr val="FF0000"/>
              </a:solidFill>
            </a:endParaRPr>
          </a:p>
        </p:txBody>
      </p:sp>
      <p:sp>
        <p:nvSpPr>
          <p:cNvPr id="8" name="TextBox 7">
            <a:extLst>
              <a:ext uri="{FF2B5EF4-FFF2-40B4-BE49-F238E27FC236}">
                <a16:creationId xmlns:a16="http://schemas.microsoft.com/office/drawing/2014/main" id="{F866E9D5-29E5-EF08-B80E-1C37350660BC}"/>
              </a:ext>
            </a:extLst>
          </p:cNvPr>
          <p:cNvSpPr txBox="1"/>
          <p:nvPr/>
        </p:nvSpPr>
        <p:spPr>
          <a:xfrm>
            <a:off x="4262437" y="4343400"/>
            <a:ext cx="590550" cy="369332"/>
          </a:xfrm>
          <a:prstGeom prst="rect">
            <a:avLst/>
          </a:prstGeom>
          <a:noFill/>
        </p:spPr>
        <p:txBody>
          <a:bodyPr wrap="square" rtlCol="0">
            <a:spAutoFit/>
          </a:bodyPr>
          <a:lstStyle/>
          <a:p>
            <a:r>
              <a:rPr lang="en-US" b="1" dirty="0">
                <a:solidFill>
                  <a:srgbClr val="FF0000"/>
                </a:solidFill>
              </a:rPr>
              <a:t>vs.</a:t>
            </a:r>
          </a:p>
        </p:txBody>
      </p:sp>
      <p:sp>
        <p:nvSpPr>
          <p:cNvPr id="20" name="TextBox 19">
            <a:extLst>
              <a:ext uri="{FF2B5EF4-FFF2-40B4-BE49-F238E27FC236}">
                <a16:creationId xmlns:a16="http://schemas.microsoft.com/office/drawing/2014/main" id="{6952C82E-965A-1F81-1A19-71B6B8BDB2A2}"/>
              </a:ext>
            </a:extLst>
          </p:cNvPr>
          <p:cNvSpPr txBox="1"/>
          <p:nvPr/>
        </p:nvSpPr>
        <p:spPr>
          <a:xfrm>
            <a:off x="4717555" y="4222192"/>
            <a:ext cx="3570089" cy="954107"/>
          </a:xfrm>
          <a:prstGeom prst="rect">
            <a:avLst/>
          </a:prstGeom>
          <a:noFill/>
        </p:spPr>
        <p:txBody>
          <a:bodyPr wrap="square">
            <a:spAutoFit/>
          </a:bodyPr>
          <a:lstStyle/>
          <a:p>
            <a:r>
              <a:rPr lang="en-US" sz="1400" b="1" dirty="0">
                <a:solidFill>
                  <a:srgbClr val="FF0000"/>
                </a:solidFill>
              </a:rPr>
              <a:t>Sequential: </a:t>
            </a:r>
            <a:r>
              <a:rPr lang="en-US" sz="1400" dirty="0"/>
              <a:t>Tasks are long, and actions taken now affect the outcomes later. The agent must consider the </a:t>
            </a:r>
            <a:r>
              <a:rPr lang="en-US" sz="1400" b="1" dirty="0"/>
              <a:t>long-term consequences </a:t>
            </a:r>
            <a:r>
              <a:rPr lang="en-US" sz="1400" dirty="0"/>
              <a:t>of its actions.</a:t>
            </a:r>
            <a:endParaRPr lang="en-US" sz="1400" b="1" dirty="0">
              <a:solidFill>
                <a:srgbClr val="FF0000"/>
              </a:solidFill>
            </a:endParaRPr>
          </a:p>
        </p:txBody>
      </p:sp>
      <p:sp>
        <p:nvSpPr>
          <p:cNvPr id="18" name="TextBox 17">
            <a:extLst>
              <a:ext uri="{FF2B5EF4-FFF2-40B4-BE49-F238E27FC236}">
                <a16:creationId xmlns:a16="http://schemas.microsoft.com/office/drawing/2014/main" id="{0E6E329F-BA90-8663-3C8E-FB7B367D49A7}"/>
              </a:ext>
            </a:extLst>
          </p:cNvPr>
          <p:cNvSpPr txBox="1"/>
          <p:nvPr/>
        </p:nvSpPr>
        <p:spPr>
          <a:xfrm>
            <a:off x="709610" y="5484019"/>
            <a:ext cx="3495080" cy="523220"/>
          </a:xfrm>
          <a:prstGeom prst="rect">
            <a:avLst/>
          </a:prstGeom>
          <a:noFill/>
        </p:spPr>
        <p:txBody>
          <a:bodyPr wrap="square">
            <a:spAutoFit/>
          </a:bodyPr>
          <a:lstStyle/>
          <a:p>
            <a:pPr marL="0" indent="0">
              <a:buNone/>
            </a:pPr>
            <a:r>
              <a:rPr lang="en-US" sz="1400" b="1" dirty="0">
                <a:solidFill>
                  <a:srgbClr val="FF0000"/>
                </a:solidFill>
              </a:rPr>
              <a:t>Single agent: </a:t>
            </a:r>
            <a:r>
              <a:rPr lang="en-US" sz="1400" dirty="0"/>
              <a:t>A single agent operating in an environment.</a:t>
            </a:r>
          </a:p>
        </p:txBody>
      </p:sp>
      <p:sp>
        <p:nvSpPr>
          <p:cNvPr id="9" name="TextBox 8">
            <a:extLst>
              <a:ext uri="{FF2B5EF4-FFF2-40B4-BE49-F238E27FC236}">
                <a16:creationId xmlns:a16="http://schemas.microsoft.com/office/drawing/2014/main" id="{8817C307-0B04-E7B5-12DF-15C0A369A41E}"/>
              </a:ext>
            </a:extLst>
          </p:cNvPr>
          <p:cNvSpPr txBox="1"/>
          <p:nvPr/>
        </p:nvSpPr>
        <p:spPr>
          <a:xfrm>
            <a:off x="4286251" y="5486400"/>
            <a:ext cx="590550" cy="369332"/>
          </a:xfrm>
          <a:prstGeom prst="rect">
            <a:avLst/>
          </a:prstGeom>
          <a:noFill/>
        </p:spPr>
        <p:txBody>
          <a:bodyPr wrap="square" rtlCol="0">
            <a:spAutoFit/>
          </a:bodyPr>
          <a:lstStyle/>
          <a:p>
            <a:r>
              <a:rPr lang="en-US" b="1" dirty="0">
                <a:solidFill>
                  <a:srgbClr val="FF0000"/>
                </a:solidFill>
              </a:rPr>
              <a:t>vs.</a:t>
            </a:r>
          </a:p>
        </p:txBody>
      </p:sp>
      <p:sp>
        <p:nvSpPr>
          <p:cNvPr id="22" name="TextBox 21">
            <a:extLst>
              <a:ext uri="{FF2B5EF4-FFF2-40B4-BE49-F238E27FC236}">
                <a16:creationId xmlns:a16="http://schemas.microsoft.com/office/drawing/2014/main" id="{70A8E991-19DB-5C90-91E5-081145124944}"/>
              </a:ext>
            </a:extLst>
          </p:cNvPr>
          <p:cNvSpPr txBox="1"/>
          <p:nvPr/>
        </p:nvSpPr>
        <p:spPr>
          <a:xfrm>
            <a:off x="4805364" y="5448775"/>
            <a:ext cx="3738562" cy="523220"/>
          </a:xfrm>
          <a:prstGeom prst="rect">
            <a:avLst/>
          </a:prstGeom>
          <a:noFill/>
        </p:spPr>
        <p:txBody>
          <a:bodyPr wrap="square">
            <a:spAutoFit/>
          </a:bodyPr>
          <a:lstStyle/>
          <a:p>
            <a:pPr marL="0" indent="0">
              <a:buNone/>
            </a:pPr>
            <a:r>
              <a:rPr lang="en-US" sz="1400" b="1" dirty="0">
                <a:solidFill>
                  <a:srgbClr val="FF0000"/>
                </a:solidFill>
              </a:rPr>
              <a:t>Multi-agent: </a:t>
            </a:r>
            <a:r>
              <a:rPr lang="en-US" sz="1400" dirty="0"/>
              <a:t>Agent cooperate or compete in the same environment.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 grpId="0"/>
      <p:bldP spid="12" grpId="0"/>
      <p:bldP spid="7" grpId="0"/>
      <p:bldP spid="14" grpId="0"/>
      <p:bldP spid="16" grpId="0"/>
      <p:bldP spid="8" grpId="0"/>
      <p:bldP spid="20" grpId="0"/>
      <p:bldP spid="18" grpId="0"/>
      <p:bldP spid="9"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0"/>
            <a:ext cx="8763000" cy="1143000"/>
          </a:xfrm>
        </p:spPr>
        <p:txBody>
          <a:bodyPr/>
          <a:lstStyle/>
          <a:p>
            <a:r>
              <a:rPr lang="en-US" dirty="0"/>
              <a:t>Examples of Different Environments</a:t>
            </a:r>
          </a:p>
        </p:txBody>
      </p:sp>
      <p:sp>
        <p:nvSpPr>
          <p:cNvPr id="19459" name="Rectangle 3">
            <a:extLst>
              <a:ext uri="{C183D7F6-B498-43B3-948B-1728B52AA6E4}">
                <adec:decorative xmlns:adec="http://schemas.microsoft.com/office/drawing/2017/decorative" val="1"/>
              </a:ext>
            </a:extLst>
          </p:cNvPr>
          <p:cNvSpPr>
            <a:spLocks noGrp="1" noChangeArrowheads="1"/>
          </p:cNvSpPr>
          <p:nvPr>
            <p:ph idx="1"/>
          </p:nvPr>
        </p:nvSpPr>
        <p:spPr>
          <a:xfrm>
            <a:off x="740259" y="2974626"/>
            <a:ext cx="1600200" cy="3391591"/>
          </a:xfrm>
        </p:spPr>
        <p:txBody>
          <a:bodyPr>
            <a:normAutofit/>
          </a:bodyPr>
          <a:lstStyle/>
          <a:p>
            <a:pPr>
              <a:lnSpc>
                <a:spcPct val="80000"/>
              </a:lnSpc>
              <a:buFontTx/>
              <a:buNone/>
            </a:pPr>
            <a:r>
              <a:rPr lang="en-US" sz="1400" dirty="0"/>
              <a:t>Observable</a:t>
            </a:r>
            <a:br>
              <a:rPr lang="en-US" sz="1400" dirty="0"/>
            </a:br>
            <a:r>
              <a:rPr lang="en-US" sz="1400" dirty="0"/>
              <a:t>	</a:t>
            </a:r>
          </a:p>
          <a:p>
            <a:pPr>
              <a:lnSpc>
                <a:spcPct val="80000"/>
              </a:lnSpc>
              <a:buFontTx/>
              <a:buNone/>
            </a:pPr>
            <a:r>
              <a:rPr lang="en-US" sz="1400" dirty="0"/>
              <a:t>Deterministic		</a:t>
            </a:r>
          </a:p>
          <a:p>
            <a:pPr>
              <a:lnSpc>
                <a:spcPct val="80000"/>
              </a:lnSpc>
              <a:buFontTx/>
              <a:buNone/>
            </a:pPr>
            <a:r>
              <a:rPr lang="en-US" sz="1400" dirty="0"/>
              <a:t>Episodic? </a:t>
            </a:r>
            <a:br>
              <a:rPr lang="en-US" sz="1400" dirty="0"/>
            </a:br>
            <a:r>
              <a:rPr lang="en-US" sz="1400" dirty="0"/>
              <a:t>         		</a:t>
            </a:r>
          </a:p>
          <a:p>
            <a:pPr>
              <a:lnSpc>
                <a:spcPct val="80000"/>
              </a:lnSpc>
              <a:buFontTx/>
              <a:buNone/>
            </a:pPr>
            <a:r>
              <a:rPr lang="en-US" sz="1400" dirty="0"/>
              <a:t>Static			</a:t>
            </a:r>
          </a:p>
          <a:p>
            <a:pPr>
              <a:lnSpc>
                <a:spcPct val="80000"/>
              </a:lnSpc>
              <a:buFontTx/>
              <a:buNone/>
            </a:pPr>
            <a:r>
              <a:rPr lang="en-US" sz="1400" dirty="0"/>
              <a:t>Discrete	</a:t>
            </a:r>
          </a:p>
          <a:p>
            <a:pPr>
              <a:lnSpc>
                <a:spcPct val="80000"/>
              </a:lnSpc>
              <a:buFontTx/>
              <a:buNone/>
            </a:pPr>
            <a:r>
              <a:rPr lang="en-US" sz="1400" dirty="0"/>
              <a:t>	</a:t>
            </a:r>
          </a:p>
          <a:p>
            <a:pPr>
              <a:lnSpc>
                <a:spcPct val="80000"/>
              </a:lnSpc>
              <a:buFontTx/>
              <a:buNone/>
            </a:pPr>
            <a:r>
              <a:rPr lang="en-US" sz="1400" dirty="0"/>
              <a:t>Single agent		</a:t>
            </a:r>
          </a:p>
        </p:txBody>
      </p:sp>
      <p:sp>
        <p:nvSpPr>
          <p:cNvPr id="30" name="Rectangle 29">
            <a:extLst>
              <a:ext uri="{FF2B5EF4-FFF2-40B4-BE49-F238E27FC236}">
                <a16:creationId xmlns:a16="http://schemas.microsoft.com/office/drawing/2014/main" id="{0A30D3E1-02C8-AF0F-3B20-66909B1B78B5}"/>
              </a:ext>
              <a:ext uri="{C183D7F6-B498-43B3-948B-1728B52AA6E4}">
                <adec:decorative xmlns:adec="http://schemas.microsoft.com/office/drawing/2017/decorative" val="1"/>
              </a:ext>
            </a:extLst>
          </p:cNvPr>
          <p:cNvSpPr/>
          <p:nvPr/>
        </p:nvSpPr>
        <p:spPr>
          <a:xfrm>
            <a:off x="2140322" y="5805418"/>
            <a:ext cx="5658985" cy="646331"/>
          </a:xfrm>
          <a:prstGeom prst="rect">
            <a:avLst/>
          </a:prstGeom>
        </p:spPr>
        <p:txBody>
          <a:bodyPr wrap="none">
            <a:spAutoFit/>
          </a:bodyPr>
          <a:lstStyle/>
          <a:p>
            <a:r>
              <a:rPr lang="en-US" sz="1200" dirty="0"/>
              <a:t>*   Can be models as a single agent problem with the other agent(s) in the environment.</a:t>
            </a:r>
          </a:p>
          <a:p>
            <a:r>
              <a:rPr lang="en-US" sz="1200" dirty="0"/>
              <a:t>** A single game would be sequential environment. Multiple games could </a:t>
            </a:r>
            <a:r>
              <a:rPr lang="en-US" sz="1200"/>
              <a:t>be also </a:t>
            </a:r>
            <a:br>
              <a:rPr lang="en-US" sz="1200"/>
            </a:br>
            <a:r>
              <a:rPr lang="en-US" sz="1200"/>
              <a:t>     modeled as an </a:t>
            </a:r>
            <a:r>
              <a:rPr lang="en-US" sz="1200" dirty="0"/>
              <a:t>episodic sequence of </a:t>
            </a:r>
            <a:r>
              <a:rPr lang="en-US" sz="1200"/>
              <a:t>independent games.</a:t>
            </a:r>
            <a:endParaRPr lang="en-US" sz="1200" dirty="0"/>
          </a:p>
        </p:txBody>
      </p:sp>
      <p:sp>
        <p:nvSpPr>
          <p:cNvPr id="29" name="Rectangle 28"/>
          <p:cNvSpPr/>
          <p:nvPr/>
        </p:nvSpPr>
        <p:spPr>
          <a:xfrm>
            <a:off x="1981200" y="2829730"/>
            <a:ext cx="5918878" cy="29233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34" name="Group 33">
            <a:extLst>
              <a:ext uri="{FF2B5EF4-FFF2-40B4-BE49-F238E27FC236}">
                <a16:creationId xmlns:a16="http://schemas.microsoft.com/office/drawing/2014/main" id="{2EDC43FD-415B-36B2-B0BD-FF54114CC818}"/>
              </a:ext>
            </a:extLst>
          </p:cNvPr>
          <p:cNvGrpSpPr/>
          <p:nvPr/>
        </p:nvGrpSpPr>
        <p:grpSpPr>
          <a:xfrm>
            <a:off x="4239704" y="1104900"/>
            <a:ext cx="1377932" cy="4479241"/>
            <a:chOff x="5134513" y="1104900"/>
            <a:chExt cx="1377932" cy="4479241"/>
          </a:xfrm>
        </p:grpSpPr>
        <p:sp>
          <p:nvSpPr>
            <p:cNvPr id="6" name="Rectangle 5"/>
            <p:cNvSpPr/>
            <p:nvPr/>
          </p:nvSpPr>
          <p:spPr>
            <a:xfrm>
              <a:off x="5168578" y="2956833"/>
              <a:ext cx="777136" cy="307777"/>
            </a:xfrm>
            <a:prstGeom prst="rect">
              <a:avLst/>
            </a:prstGeom>
          </p:spPr>
          <p:txBody>
            <a:bodyPr wrap="none">
              <a:spAutoFit/>
            </a:bodyPr>
            <a:lstStyle/>
            <a:p>
              <a:r>
                <a:rPr lang="en-US" sz="1400" dirty="0"/>
                <a:t>Partially</a:t>
              </a:r>
            </a:p>
          </p:txBody>
        </p:sp>
        <p:sp>
          <p:nvSpPr>
            <p:cNvPr id="9" name="Rectangle 8"/>
            <p:cNvSpPr/>
            <p:nvPr/>
          </p:nvSpPr>
          <p:spPr>
            <a:xfrm>
              <a:off x="5154727" y="3498648"/>
              <a:ext cx="963212" cy="307777"/>
            </a:xfrm>
            <a:prstGeom prst="rect">
              <a:avLst/>
            </a:prstGeom>
          </p:spPr>
          <p:txBody>
            <a:bodyPr wrap="none">
              <a:spAutoFit/>
            </a:bodyPr>
            <a:lstStyle/>
            <a:p>
              <a:pPr algn="ctr"/>
              <a:r>
                <a:rPr lang="en-US" sz="1400" dirty="0"/>
                <a:t>Stochastic </a:t>
              </a:r>
            </a:p>
          </p:txBody>
        </p:sp>
        <p:sp>
          <p:nvSpPr>
            <p:cNvPr id="12" name="Rectangle 11"/>
            <p:cNvSpPr/>
            <p:nvPr/>
          </p:nvSpPr>
          <p:spPr>
            <a:xfrm>
              <a:off x="5134513" y="4001394"/>
              <a:ext cx="1138389" cy="307777"/>
            </a:xfrm>
            <a:prstGeom prst="rect">
              <a:avLst/>
            </a:prstGeom>
          </p:spPr>
          <p:txBody>
            <a:bodyPr wrap="none">
              <a:spAutoFit/>
            </a:bodyPr>
            <a:lstStyle/>
            <a:p>
              <a:r>
                <a:rPr lang="en-US" sz="1400" dirty="0"/>
                <a:t>Sequential**</a:t>
              </a:r>
            </a:p>
          </p:txBody>
        </p:sp>
        <p:sp>
          <p:nvSpPr>
            <p:cNvPr id="16" name="Rectangle 15"/>
            <p:cNvSpPr/>
            <p:nvPr/>
          </p:nvSpPr>
          <p:spPr>
            <a:xfrm>
              <a:off x="5168578" y="4339029"/>
              <a:ext cx="587981" cy="307777"/>
            </a:xfrm>
            <a:prstGeom prst="rect">
              <a:avLst/>
            </a:prstGeom>
          </p:spPr>
          <p:txBody>
            <a:bodyPr wrap="none">
              <a:spAutoFit/>
            </a:bodyPr>
            <a:lstStyle/>
            <a:p>
              <a:r>
                <a:rPr lang="en-US" sz="1400" dirty="0"/>
                <a:t>Static</a:t>
              </a:r>
            </a:p>
          </p:txBody>
        </p:sp>
        <p:sp>
          <p:nvSpPr>
            <p:cNvPr id="18" name="Rectangle 17"/>
            <p:cNvSpPr/>
            <p:nvPr/>
          </p:nvSpPr>
          <p:spPr>
            <a:xfrm>
              <a:off x="5168578" y="4767951"/>
              <a:ext cx="780535" cy="307777"/>
            </a:xfrm>
            <a:prstGeom prst="rect">
              <a:avLst/>
            </a:prstGeom>
          </p:spPr>
          <p:txBody>
            <a:bodyPr wrap="none">
              <a:spAutoFit/>
            </a:bodyPr>
            <a:lstStyle/>
            <a:p>
              <a:r>
                <a:rPr lang="en-US" sz="1400" dirty="0"/>
                <a:t>Discrete</a:t>
              </a:r>
            </a:p>
          </p:txBody>
        </p:sp>
        <p:sp>
          <p:nvSpPr>
            <p:cNvPr id="21" name="Rectangle 20"/>
            <p:cNvSpPr/>
            <p:nvPr/>
          </p:nvSpPr>
          <p:spPr>
            <a:xfrm>
              <a:off x="5198187" y="5276364"/>
              <a:ext cx="667170" cy="307777"/>
            </a:xfrm>
            <a:prstGeom prst="rect">
              <a:avLst/>
            </a:prstGeom>
          </p:spPr>
          <p:txBody>
            <a:bodyPr wrap="none">
              <a:spAutoFit/>
            </a:bodyPr>
            <a:lstStyle/>
            <a:p>
              <a:r>
                <a:rPr lang="en-US" sz="1400" dirty="0"/>
                <a:t>Multi*</a:t>
              </a:r>
            </a:p>
          </p:txBody>
        </p:sp>
        <p:pic>
          <p:nvPicPr>
            <p:cNvPr id="45061" name="Picture 5">
              <a:extLs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21195" y="1104900"/>
              <a:ext cx="1291250" cy="1010478"/>
            </a:xfrm>
            <a:prstGeom prst="rect">
              <a:avLst/>
            </a:prstGeom>
            <a:noFill/>
            <a:ln w="9525">
              <a:noFill/>
              <a:miter lim="800000"/>
              <a:headEnd/>
              <a:tailEnd/>
            </a:ln>
          </p:spPr>
        </p:pic>
        <p:sp>
          <p:nvSpPr>
            <p:cNvPr id="37" name="Rectangle 36"/>
            <p:cNvSpPr/>
            <p:nvPr/>
          </p:nvSpPr>
          <p:spPr>
            <a:xfrm>
              <a:off x="5407377" y="2134026"/>
              <a:ext cx="807785" cy="307777"/>
            </a:xfrm>
            <a:prstGeom prst="rect">
              <a:avLst/>
            </a:prstGeom>
          </p:spPr>
          <p:txBody>
            <a:bodyPr wrap="none">
              <a:spAutoFit/>
            </a:bodyPr>
            <a:lstStyle/>
            <a:p>
              <a:r>
                <a:rPr lang="en-US" sz="1400" dirty="0"/>
                <a:t>Scrabble</a:t>
              </a:r>
            </a:p>
          </p:txBody>
        </p:sp>
      </p:grpSp>
      <p:grpSp>
        <p:nvGrpSpPr>
          <p:cNvPr id="33" name="Group 32">
            <a:extLst>
              <a:ext uri="{FF2B5EF4-FFF2-40B4-BE49-F238E27FC236}">
                <a16:creationId xmlns:a16="http://schemas.microsoft.com/office/drawing/2014/main" id="{E59F4371-6D4A-7B26-CC2A-201CC14B1425}"/>
              </a:ext>
            </a:extLst>
          </p:cNvPr>
          <p:cNvGrpSpPr/>
          <p:nvPr/>
        </p:nvGrpSpPr>
        <p:grpSpPr>
          <a:xfrm>
            <a:off x="6285133" y="1159878"/>
            <a:ext cx="1623346" cy="4427813"/>
            <a:chOff x="6595977" y="1172265"/>
            <a:chExt cx="1623346" cy="4427813"/>
          </a:xfrm>
        </p:grpSpPr>
        <p:sp>
          <p:nvSpPr>
            <p:cNvPr id="7" name="Rectangle 6"/>
            <p:cNvSpPr/>
            <p:nvPr/>
          </p:nvSpPr>
          <p:spPr>
            <a:xfrm>
              <a:off x="6756660" y="2956833"/>
              <a:ext cx="777136" cy="307777"/>
            </a:xfrm>
            <a:prstGeom prst="rect">
              <a:avLst/>
            </a:prstGeom>
          </p:spPr>
          <p:txBody>
            <a:bodyPr wrap="none">
              <a:spAutoFit/>
            </a:bodyPr>
            <a:lstStyle/>
            <a:p>
              <a:r>
                <a:rPr lang="en-US" sz="1400" dirty="0"/>
                <a:t>Partially</a:t>
              </a:r>
            </a:p>
          </p:txBody>
        </p:sp>
        <p:sp>
          <p:nvSpPr>
            <p:cNvPr id="10" name="Rectangle 9"/>
            <p:cNvSpPr/>
            <p:nvPr/>
          </p:nvSpPr>
          <p:spPr>
            <a:xfrm>
              <a:off x="6759927" y="3417632"/>
              <a:ext cx="923138" cy="307777"/>
            </a:xfrm>
            <a:prstGeom prst="rect">
              <a:avLst/>
            </a:prstGeom>
          </p:spPr>
          <p:txBody>
            <a:bodyPr wrap="none">
              <a:spAutoFit/>
            </a:bodyPr>
            <a:lstStyle/>
            <a:p>
              <a:r>
                <a:rPr lang="en-US" sz="1400" dirty="0"/>
                <a:t>Stochastic</a:t>
              </a:r>
            </a:p>
          </p:txBody>
        </p:sp>
        <p:sp>
          <p:nvSpPr>
            <p:cNvPr id="13" name="Rectangle 12"/>
            <p:cNvSpPr/>
            <p:nvPr/>
          </p:nvSpPr>
          <p:spPr>
            <a:xfrm>
              <a:off x="6779541" y="3990863"/>
              <a:ext cx="958852" cy="307777"/>
            </a:xfrm>
            <a:prstGeom prst="rect">
              <a:avLst/>
            </a:prstGeom>
          </p:spPr>
          <p:txBody>
            <a:bodyPr wrap="none">
              <a:spAutoFit/>
            </a:bodyPr>
            <a:lstStyle/>
            <a:p>
              <a:r>
                <a:rPr lang="en-US" sz="1400" dirty="0"/>
                <a:t>Sequential</a:t>
              </a:r>
            </a:p>
          </p:txBody>
        </p:sp>
        <p:sp>
          <p:nvSpPr>
            <p:cNvPr id="15" name="Rectangle 14"/>
            <p:cNvSpPr/>
            <p:nvPr/>
          </p:nvSpPr>
          <p:spPr>
            <a:xfrm>
              <a:off x="6766940" y="4307153"/>
              <a:ext cx="817853" cy="307777"/>
            </a:xfrm>
            <a:prstGeom prst="rect">
              <a:avLst/>
            </a:prstGeom>
          </p:spPr>
          <p:txBody>
            <a:bodyPr wrap="none">
              <a:spAutoFit/>
            </a:bodyPr>
            <a:lstStyle/>
            <a:p>
              <a:r>
                <a:rPr lang="en-US" sz="1400" dirty="0"/>
                <a:t>Dynamic</a:t>
              </a:r>
            </a:p>
          </p:txBody>
        </p:sp>
        <p:sp>
          <p:nvSpPr>
            <p:cNvPr id="19" name="Rectangle 18"/>
            <p:cNvSpPr/>
            <p:nvPr/>
          </p:nvSpPr>
          <p:spPr>
            <a:xfrm>
              <a:off x="6779541" y="4767951"/>
              <a:ext cx="1019766" cy="307777"/>
            </a:xfrm>
            <a:prstGeom prst="rect">
              <a:avLst/>
            </a:prstGeom>
          </p:spPr>
          <p:txBody>
            <a:bodyPr wrap="none">
              <a:spAutoFit/>
            </a:bodyPr>
            <a:lstStyle/>
            <a:p>
              <a:r>
                <a:rPr lang="en-US" sz="1400" dirty="0"/>
                <a:t>Continuous</a:t>
              </a:r>
            </a:p>
          </p:txBody>
        </p:sp>
        <p:sp>
          <p:nvSpPr>
            <p:cNvPr id="22" name="Rectangle 21"/>
            <p:cNvSpPr/>
            <p:nvPr/>
          </p:nvSpPr>
          <p:spPr>
            <a:xfrm>
              <a:off x="6786270" y="5292301"/>
              <a:ext cx="667170" cy="307777"/>
            </a:xfrm>
            <a:prstGeom prst="rect">
              <a:avLst/>
            </a:prstGeom>
          </p:spPr>
          <p:txBody>
            <a:bodyPr wrap="none">
              <a:spAutoFit/>
            </a:bodyPr>
            <a:lstStyle/>
            <a:p>
              <a:r>
                <a:rPr lang="en-US" sz="1400" dirty="0"/>
                <a:t>Multi*</a:t>
              </a:r>
            </a:p>
          </p:txBody>
        </p:sp>
        <p:pic>
          <p:nvPicPr>
            <p:cNvPr id="45062" name="Picture 6">
              <a:extLst>
                <a:ext uri="{C183D7F6-B498-43B3-948B-1728B52AA6E4}">
                  <adec:decorative xmlns:adec="http://schemas.microsoft.com/office/drawing/2017/decorative" val="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595977" y="1172265"/>
              <a:ext cx="1623346" cy="707335"/>
            </a:xfrm>
            <a:prstGeom prst="rect">
              <a:avLst/>
            </a:prstGeom>
            <a:noFill/>
            <a:ln w="9525">
              <a:noFill/>
              <a:miter lim="800000"/>
              <a:headEnd/>
              <a:tailEnd/>
            </a:ln>
          </p:spPr>
        </p:pic>
        <p:sp>
          <p:nvSpPr>
            <p:cNvPr id="38" name="Rectangle 37"/>
            <p:cNvSpPr/>
            <p:nvPr/>
          </p:nvSpPr>
          <p:spPr>
            <a:xfrm>
              <a:off x="6740930" y="2115378"/>
              <a:ext cx="1133002" cy="307777"/>
            </a:xfrm>
            <a:prstGeom prst="rect">
              <a:avLst/>
            </a:prstGeom>
          </p:spPr>
          <p:txBody>
            <a:bodyPr wrap="none">
              <a:spAutoFit/>
            </a:bodyPr>
            <a:lstStyle/>
            <a:p>
              <a:r>
                <a:rPr lang="en-US" sz="1400" dirty="0"/>
                <a:t>Driving a taxi</a:t>
              </a:r>
            </a:p>
          </p:txBody>
        </p:sp>
      </p:grpSp>
      <p:grpSp>
        <p:nvGrpSpPr>
          <p:cNvPr id="35" name="Group 34">
            <a:extLst>
              <a:ext uri="{FF2B5EF4-FFF2-40B4-BE49-F238E27FC236}">
                <a16:creationId xmlns:a16="http://schemas.microsoft.com/office/drawing/2014/main" id="{0DC29CFA-42FE-971D-9599-C2F63E08AA58}"/>
              </a:ext>
            </a:extLst>
          </p:cNvPr>
          <p:cNvGrpSpPr/>
          <p:nvPr/>
        </p:nvGrpSpPr>
        <p:grpSpPr>
          <a:xfrm>
            <a:off x="1993555" y="1260850"/>
            <a:ext cx="1516459" cy="4323291"/>
            <a:chOff x="1993555" y="1260850"/>
            <a:chExt cx="1516459" cy="4323291"/>
          </a:xfrm>
        </p:grpSpPr>
        <p:sp>
          <p:nvSpPr>
            <p:cNvPr id="23" name="Rectangle 22"/>
            <p:cNvSpPr/>
            <p:nvPr/>
          </p:nvSpPr>
          <p:spPr>
            <a:xfrm>
              <a:off x="2044723" y="2956833"/>
              <a:ext cx="777136" cy="307777"/>
            </a:xfrm>
            <a:prstGeom prst="rect">
              <a:avLst/>
            </a:prstGeom>
          </p:spPr>
          <p:txBody>
            <a:bodyPr wrap="none">
              <a:spAutoFit/>
            </a:bodyPr>
            <a:lstStyle/>
            <a:p>
              <a:r>
                <a:rPr lang="en-US" sz="1400" dirty="0"/>
                <a:t>Partially</a:t>
              </a:r>
            </a:p>
          </p:txBody>
        </p:sp>
        <p:sp>
          <p:nvSpPr>
            <p:cNvPr id="24" name="Rectangle 23"/>
            <p:cNvSpPr/>
            <p:nvPr/>
          </p:nvSpPr>
          <p:spPr>
            <a:xfrm>
              <a:off x="2044723" y="3401694"/>
              <a:ext cx="1162434" cy="307777"/>
            </a:xfrm>
            <a:prstGeom prst="rect">
              <a:avLst/>
            </a:prstGeom>
          </p:spPr>
          <p:txBody>
            <a:bodyPr wrap="none">
              <a:spAutoFit/>
            </a:bodyPr>
            <a:lstStyle/>
            <a:p>
              <a:r>
                <a:rPr lang="en-US" sz="1400" dirty="0"/>
                <a:t>Deterministic</a:t>
              </a:r>
            </a:p>
          </p:txBody>
        </p:sp>
        <p:sp>
          <p:nvSpPr>
            <p:cNvPr id="25" name="Rectangle 24"/>
            <p:cNvSpPr/>
            <p:nvPr/>
          </p:nvSpPr>
          <p:spPr>
            <a:xfrm>
              <a:off x="2044723" y="3944555"/>
              <a:ext cx="785793" cy="307777"/>
            </a:xfrm>
            <a:prstGeom prst="rect">
              <a:avLst/>
            </a:prstGeom>
          </p:spPr>
          <p:txBody>
            <a:bodyPr wrap="none">
              <a:spAutoFit/>
            </a:bodyPr>
            <a:lstStyle/>
            <a:p>
              <a:r>
                <a:rPr lang="en-US" sz="1400" dirty="0"/>
                <a:t>Episodic</a:t>
              </a:r>
            </a:p>
          </p:txBody>
        </p:sp>
        <p:sp>
          <p:nvSpPr>
            <p:cNvPr id="26" name="Rectangle 25"/>
            <p:cNvSpPr/>
            <p:nvPr/>
          </p:nvSpPr>
          <p:spPr>
            <a:xfrm>
              <a:off x="2044723" y="4323091"/>
              <a:ext cx="587981" cy="307777"/>
            </a:xfrm>
            <a:prstGeom prst="rect">
              <a:avLst/>
            </a:prstGeom>
          </p:spPr>
          <p:txBody>
            <a:bodyPr wrap="none">
              <a:spAutoFit/>
            </a:bodyPr>
            <a:lstStyle/>
            <a:p>
              <a:r>
                <a:rPr lang="en-US" sz="1400" dirty="0"/>
                <a:t>Static</a:t>
              </a:r>
            </a:p>
          </p:txBody>
        </p:sp>
        <p:sp>
          <p:nvSpPr>
            <p:cNvPr id="27" name="Rectangle 26"/>
            <p:cNvSpPr/>
            <p:nvPr/>
          </p:nvSpPr>
          <p:spPr>
            <a:xfrm>
              <a:off x="2044723" y="4783889"/>
              <a:ext cx="780535" cy="307777"/>
            </a:xfrm>
            <a:prstGeom prst="rect">
              <a:avLst/>
            </a:prstGeom>
          </p:spPr>
          <p:txBody>
            <a:bodyPr wrap="none">
              <a:spAutoFit/>
            </a:bodyPr>
            <a:lstStyle/>
            <a:p>
              <a:r>
                <a:rPr lang="en-US" sz="1400" dirty="0"/>
                <a:t>Discrete</a:t>
              </a:r>
            </a:p>
          </p:txBody>
        </p:sp>
        <p:sp>
          <p:nvSpPr>
            <p:cNvPr id="28" name="Rectangle 27"/>
            <p:cNvSpPr/>
            <p:nvPr/>
          </p:nvSpPr>
          <p:spPr>
            <a:xfrm>
              <a:off x="2044723" y="5276364"/>
              <a:ext cx="619080" cy="307777"/>
            </a:xfrm>
            <a:prstGeom prst="rect">
              <a:avLst/>
            </a:prstGeom>
          </p:spPr>
          <p:txBody>
            <a:bodyPr wrap="none">
              <a:spAutoFit/>
            </a:bodyPr>
            <a:lstStyle/>
            <a:p>
              <a:r>
                <a:rPr lang="en-US" sz="1400" dirty="0"/>
                <a:t>Single</a:t>
              </a:r>
            </a:p>
          </p:txBody>
        </p:sp>
        <p:sp>
          <p:nvSpPr>
            <p:cNvPr id="39" name="Rectangle 38"/>
            <p:cNvSpPr/>
            <p:nvPr/>
          </p:nvSpPr>
          <p:spPr>
            <a:xfrm>
              <a:off x="2136870" y="2115378"/>
              <a:ext cx="1351267" cy="523220"/>
            </a:xfrm>
            <a:prstGeom prst="rect">
              <a:avLst/>
            </a:prstGeom>
          </p:spPr>
          <p:txBody>
            <a:bodyPr wrap="none">
              <a:spAutoFit/>
            </a:bodyPr>
            <a:lstStyle/>
            <a:p>
              <a:pPr algn="ctr"/>
              <a:r>
                <a:rPr lang="en-US" sz="1400" dirty="0"/>
                <a:t>Vacuum cleaner</a:t>
              </a:r>
              <a:br>
                <a:rPr lang="en-US" sz="1400" dirty="0"/>
              </a:br>
              <a:r>
                <a:rPr lang="en-US" sz="1400" dirty="0"/>
                <a:t>world</a:t>
              </a:r>
            </a:p>
          </p:txBody>
        </p:sp>
        <p:pic>
          <p:nvPicPr>
            <p:cNvPr id="3" name="Picture 4">
              <a:extLst>
                <a:ext uri="{FF2B5EF4-FFF2-40B4-BE49-F238E27FC236}">
                  <a16:creationId xmlns:a16="http://schemas.microsoft.com/office/drawing/2014/main" id="{7F66E2C8-E952-6782-B595-546A3B9F5101}"/>
                </a:ext>
                <a:ext uri="{C183D7F6-B498-43B3-948B-1728B52AA6E4}">
                  <adec:decorative xmlns:adec="http://schemas.microsoft.com/office/drawing/2017/decorative" val="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993555" y="1260850"/>
              <a:ext cx="1516459" cy="736179"/>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Agent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8586610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7526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872682"/>
          </a:xfrm>
        </p:spPr>
        <p:txBody>
          <a:bodyPr/>
          <a:lstStyle/>
          <a:p>
            <a:r>
              <a:rPr lang="en-US" dirty="0"/>
              <a:t>Designing a Rational Agent</a:t>
            </a:r>
          </a:p>
        </p:txBody>
      </p:sp>
      <p:pic>
        <p:nvPicPr>
          <p:cNvPr id="9" name="Picture 4">
            <a:extLst>
              <a:ext uri="{FF2B5EF4-FFF2-40B4-BE49-F238E27FC236}">
                <a16:creationId xmlns:a16="http://schemas.microsoft.com/office/drawing/2014/main" id="{46E8AEF4-D86A-4A0B-B953-150370693E80}"/>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17851" y="1295400"/>
            <a:ext cx="4185764" cy="1823987"/>
          </a:xfrm>
          <a:prstGeom prst="rect">
            <a:avLst/>
          </a:prstGeom>
          <a:noFill/>
          <a:ln w="9525">
            <a:noFill/>
            <a:miter lim="800000"/>
            <a:headEnd/>
            <a:tailEnd/>
          </a:ln>
        </p:spPr>
      </p:pic>
      <p:sp>
        <p:nvSpPr>
          <p:cNvPr id="3" name="TextBox 2">
            <a:extLst>
              <a:ext uri="{FF2B5EF4-FFF2-40B4-BE49-F238E27FC236}">
                <a16:creationId xmlns:a16="http://schemas.microsoft.com/office/drawing/2014/main" id="{8E5BC799-A91C-F554-D39B-84A41FBC6B8A}"/>
              </a:ext>
            </a:extLst>
          </p:cNvPr>
          <p:cNvSpPr txBox="1"/>
          <p:nvPr/>
        </p:nvSpPr>
        <p:spPr>
          <a:xfrm>
            <a:off x="4572000" y="1295400"/>
            <a:ext cx="4419600" cy="2292174"/>
          </a:xfrm>
          <a:prstGeom prst="rect">
            <a:avLst/>
          </a:prstGeom>
        </p:spPr>
        <p:style>
          <a:lnRef idx="2">
            <a:schemeClr val="accent6"/>
          </a:lnRef>
          <a:fillRef idx="1">
            <a:schemeClr val="lt1"/>
          </a:fillRef>
          <a:effectRef idx="0">
            <a:schemeClr val="accent6"/>
          </a:effectRef>
          <a:fontRef idx="minor">
            <a:schemeClr val="dk1"/>
          </a:fontRef>
        </p:style>
        <p:txBody>
          <a:bodyPr wrap="square">
            <a:normAutofit fontScale="77500" lnSpcReduction="20000"/>
          </a:bodyPr>
          <a:lstStyle/>
          <a:p>
            <a:pPr marL="0" indent="0">
              <a:buNone/>
            </a:pPr>
            <a:r>
              <a:rPr lang="en-US" sz="2800" dirty="0"/>
              <a:t>Remember the 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a:t>
            </a:r>
            <a:r>
              <a:rPr lang="en-US" sz="2500" b="1" i="1" dirty="0">
                <a:solidFill>
                  <a:srgbClr val="FF0000"/>
                </a:solidFill>
              </a:rPr>
              <a:t> 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p:nvPr/>
            </p:nvSpPr>
            <p:spPr>
              <a:xfrm>
                <a:off x="3157646" y="1840214"/>
                <a:ext cx="381000" cy="338554"/>
              </a:xfrm>
              <a:prstGeom prst="rect">
                <a:avLst/>
              </a:prstGeom>
              <a:noFill/>
            </p:spPr>
            <p:txBody>
              <a:bodyPr wrap="square">
                <a:spAutoFit/>
              </a:bodyPr>
              <a:lstStyle/>
              <a:p>
                <a:pPr/>
                <a14:m>
                  <m:oMathPara xmlns:m="http://schemas.openxmlformats.org/officeDocument/2006/math">
                    <m:oMath>
                      <m:r>
                        <a:rPr lang="en-US" sz="1600" b="0" i="1" smtClean="0">
                          <a:latin typeface="Cambria Math" panose="02040503050406030204" pitchFamily="18" charset="0"/>
                        </a:rPr>
                        <m:t>𝑓</m:t>
                      </m:r>
                    </m:oMath>
                  </m:oMathPara>
                </a14:m>
                <a:endParaRPr lang="en-US" sz="1600" dirty="0"/>
              </a:p>
            </p:txBody>
          </p:sp>
        </mc:Choice>
        <mc:Fallback xmlns="">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57646" y="1840214"/>
                <a:ext cx="381000" cy="338554"/>
              </a:xfrm>
              <a:prstGeom prst="rect">
                <a:avLst/>
              </a:prstGeom>
              <a:blipFill>
                <a:blip r:embed="rId4"/>
                <a:stretch>
                  <a:fillRect b="-10909"/>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97A4365-FAB8-3CB6-5EC2-595FAABE4D28}"/>
              </a:ext>
              <a:ext uri="{C183D7F6-B498-43B3-948B-1728B52AA6E4}">
                <adec:decorative xmlns:adec="http://schemas.microsoft.com/office/drawing/2017/decorative" val="1"/>
              </a:ext>
            </a:extLst>
          </p:cNvPr>
          <p:cNvCxnSpPr>
            <a:cxnSpLocks/>
          </p:cNvCxnSpPr>
          <p:nvPr/>
        </p:nvCxnSpPr>
        <p:spPr>
          <a:xfrm flipH="1">
            <a:off x="3192781" y="2100180"/>
            <a:ext cx="301404" cy="2950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D22C628-C220-F760-6CBE-5183B8BCBD9A}"/>
              </a:ext>
              <a:ext uri="{C183D7F6-B498-43B3-948B-1728B52AA6E4}">
                <adec:decorative xmlns:adec="http://schemas.microsoft.com/office/drawing/2017/decorative" val="1"/>
              </a:ext>
            </a:extLst>
          </p:cNvPr>
          <p:cNvSpPr txBox="1"/>
          <p:nvPr/>
        </p:nvSpPr>
        <p:spPr>
          <a:xfrm>
            <a:off x="2895600" y="2100180"/>
            <a:ext cx="571500" cy="261610"/>
          </a:xfrm>
          <a:prstGeom prst="rect">
            <a:avLst/>
          </a:prstGeom>
          <a:noFill/>
        </p:spPr>
        <p:txBody>
          <a:bodyPr wrap="square" rtlCol="0">
            <a:spAutoFit/>
          </a:bodyPr>
          <a:lstStyle/>
          <a:p>
            <a:r>
              <a:rPr lang="en-US" sz="1100" b="1" dirty="0"/>
              <a:t>action</a:t>
            </a:r>
          </a:p>
        </p:txBody>
      </p:sp>
      <p:sp>
        <p:nvSpPr>
          <p:cNvPr id="2" name="Arrow: Down 1">
            <a:extLst>
              <a:ext uri="{FF2B5EF4-FFF2-40B4-BE49-F238E27FC236}">
                <a16:creationId xmlns:a16="http://schemas.microsoft.com/office/drawing/2014/main" id="{CEC7A0A7-0C86-2824-B18B-E587AE386CFB}"/>
              </a:ext>
              <a:ext uri="{C183D7F6-B498-43B3-948B-1728B52AA6E4}">
                <adec:decorative xmlns:adec="http://schemas.microsoft.com/office/drawing/2017/decorative" val="1"/>
              </a:ext>
            </a:extLst>
          </p:cNvPr>
          <p:cNvSpPr/>
          <p:nvPr/>
        </p:nvSpPr>
        <p:spPr>
          <a:xfrm rot="20595314">
            <a:off x="3601282" y="2862065"/>
            <a:ext cx="685800" cy="844374"/>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B38B1A3F-34AA-8D60-73EE-3B5A618630D0}"/>
              </a:ext>
              <a:ext uri="{C183D7F6-B498-43B3-948B-1728B52AA6E4}">
                <adec:decorative xmlns:adec="http://schemas.microsoft.com/office/drawing/2017/decorative" val="1"/>
              </a:ext>
            </a:extLst>
          </p:cNvPr>
          <p:cNvGrpSpPr/>
          <p:nvPr/>
        </p:nvGrpSpPr>
        <p:grpSpPr>
          <a:xfrm>
            <a:off x="2619882" y="3798765"/>
            <a:ext cx="4648439" cy="2946551"/>
            <a:chOff x="2619882" y="3798765"/>
            <a:chExt cx="4648439" cy="2946551"/>
          </a:xfrm>
        </p:grpSpPr>
        <p:grpSp>
          <p:nvGrpSpPr>
            <p:cNvPr id="7" name="Group 6">
              <a:extLst>
                <a:ext uri="{FF2B5EF4-FFF2-40B4-BE49-F238E27FC236}">
                  <a16:creationId xmlns:a16="http://schemas.microsoft.com/office/drawing/2014/main" id="{46001A08-347E-082E-76DA-1ED74BFF0012}"/>
                </a:ext>
              </a:extLst>
            </p:cNvPr>
            <p:cNvGrpSpPr/>
            <p:nvPr/>
          </p:nvGrpSpPr>
          <p:grpSpPr>
            <a:xfrm>
              <a:off x="2619882" y="3798765"/>
              <a:ext cx="4648439" cy="2946551"/>
              <a:chOff x="2619882" y="3798765"/>
              <a:chExt cx="4648439" cy="2946551"/>
            </a:xfrm>
          </p:grpSpPr>
          <p:pic>
            <p:nvPicPr>
              <p:cNvPr id="12" name="Picture 11">
                <a:extLst>
                  <a:ext uri="{FF2B5EF4-FFF2-40B4-BE49-F238E27FC236}">
                    <a16:creationId xmlns:a16="http://schemas.microsoft.com/office/drawing/2014/main" id="{5BC1C46B-B850-47F4-BE5B-42730CA524ED}"/>
                  </a:ext>
                </a:extLst>
              </p:cNvPr>
              <p:cNvPicPr>
                <a:picLocks noChangeAspect="1"/>
              </p:cNvPicPr>
              <p:nvPr/>
            </p:nvPicPr>
            <p:blipFill>
              <a:blip r:embed="rId5"/>
              <a:stretch>
                <a:fillRect/>
              </a:stretch>
            </p:blipFill>
            <p:spPr>
              <a:xfrm>
                <a:off x="2619882" y="3798765"/>
                <a:ext cx="4648439" cy="2946551"/>
              </a:xfrm>
              <a:prstGeom prst="rect">
                <a:avLst/>
              </a:prstGeom>
            </p:spPr>
          </p:pic>
          <p:sp>
            <p:nvSpPr>
              <p:cNvPr id="16" name="TextBox 15">
                <a:extLst>
                  <a:ext uri="{FF2B5EF4-FFF2-40B4-BE49-F238E27FC236}">
                    <a16:creationId xmlns:a16="http://schemas.microsoft.com/office/drawing/2014/main" id="{F8E8F9ED-1E07-2259-2D05-7D75B295E85D}"/>
                  </a:ext>
                </a:extLst>
              </p:cNvPr>
              <p:cNvSpPr txBox="1"/>
              <p:nvPr/>
            </p:nvSpPr>
            <p:spPr>
              <a:xfrm>
                <a:off x="4091241" y="4227075"/>
                <a:ext cx="961518" cy="400110"/>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Percept to the agent function</a:t>
                </a:r>
              </a:p>
            </p:txBody>
          </p:sp>
          <p:sp>
            <p:nvSpPr>
              <p:cNvPr id="17" name="TextBox 16">
                <a:extLst>
                  <a:ext uri="{FF2B5EF4-FFF2-40B4-BE49-F238E27FC236}">
                    <a16:creationId xmlns:a16="http://schemas.microsoft.com/office/drawing/2014/main" id="{7350C410-4579-38AC-CCE6-0C8BF118562D}"/>
                  </a:ext>
                </a:extLst>
              </p:cNvPr>
              <p:cNvSpPr txBox="1"/>
              <p:nvPr/>
            </p:nvSpPr>
            <p:spPr>
              <a:xfrm>
                <a:off x="4114800" y="5695650"/>
                <a:ext cx="1066800" cy="55399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Action from the agent function to execute</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F55595-D275-FF3A-6A20-05F36A7860BC}"/>
                    </a:ext>
                  </a:extLst>
                </p:cNvPr>
                <p:cNvSpPr txBox="1"/>
                <p:nvPr/>
              </p:nvSpPr>
              <p:spPr>
                <a:xfrm>
                  <a:off x="3657600" y="5313055"/>
                  <a:ext cx="914400" cy="276999"/>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𝑝</m:t>
                        </m:r>
                        <m:r>
                          <a:rPr lang="en-US" sz="1200" b="0" i="1" smtClean="0">
                            <a:latin typeface="Cambria Math" panose="02040503050406030204" pitchFamily="18" charset="0"/>
                          </a:rPr>
                          <m:t>)</m:t>
                        </m:r>
                      </m:oMath>
                    </m:oMathPara>
                  </a14:m>
                  <a:endParaRPr lang="en-US" sz="1200" dirty="0"/>
                </a:p>
              </p:txBody>
            </p:sp>
          </mc:Choice>
          <mc:Fallback xmlns="">
            <p:sp>
              <p:nvSpPr>
                <p:cNvPr id="5" name="TextBox 4">
                  <a:extLst>
                    <a:ext uri="{FF2B5EF4-FFF2-40B4-BE49-F238E27FC236}">
                      <a16:creationId xmlns:a16="http://schemas.microsoft.com/office/drawing/2014/main" id="{42F55595-D275-FF3A-6A20-05F36A7860BC}"/>
                    </a:ext>
                  </a:extLst>
                </p:cNvPr>
                <p:cNvSpPr txBox="1">
                  <a:spLocks noRot="1" noChangeAspect="1" noMove="1" noResize="1" noEditPoints="1" noAdjustHandles="1" noChangeArrowheads="1" noChangeShapeType="1" noTextEdit="1"/>
                </p:cNvSpPr>
                <p:nvPr/>
              </p:nvSpPr>
              <p:spPr>
                <a:xfrm>
                  <a:off x="3657600" y="5313055"/>
                  <a:ext cx="914400" cy="276999"/>
                </a:xfrm>
                <a:prstGeom prst="rect">
                  <a:avLst/>
                </a:prstGeom>
                <a:blipFill>
                  <a:blip r:embed="rId8"/>
                  <a:stretch>
                    <a:fillRect b="-8889"/>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A2B81BA7-1DFE-5682-A706-408F9989DCF6}"/>
              </a:ext>
            </a:extLst>
          </p:cNvPr>
          <p:cNvSpPr txBox="1"/>
          <p:nvPr/>
        </p:nvSpPr>
        <p:spPr>
          <a:xfrm>
            <a:off x="2748200" y="4262178"/>
            <a:ext cx="961518" cy="147732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Hardware + an event loop </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Read the sensors</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Ask agent function for action</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Execute action</a:t>
            </a:r>
          </a:p>
        </p:txBody>
      </p:sp>
      <p:sp>
        <p:nvSpPr>
          <p:cNvPr id="4" name="Speech Bubble: Rectangle 3">
            <a:extLst>
              <a:ext uri="{FF2B5EF4-FFF2-40B4-BE49-F238E27FC236}">
                <a16:creationId xmlns:a16="http://schemas.microsoft.com/office/drawing/2014/main" id="{B3BCC7E8-1ECE-D23A-F5F7-94B050721690}"/>
              </a:ext>
            </a:extLst>
          </p:cNvPr>
          <p:cNvSpPr/>
          <p:nvPr/>
        </p:nvSpPr>
        <p:spPr>
          <a:xfrm>
            <a:off x="349991" y="4695932"/>
            <a:ext cx="2011567" cy="1905000"/>
          </a:xfrm>
          <a:prstGeom prst="wedgeRectCallout">
            <a:avLst>
              <a:gd name="adj1" fmla="val 121190"/>
              <a:gd name="adj2" fmla="val 616"/>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b="1" dirty="0"/>
              <a:t>Agent Function</a:t>
            </a:r>
          </a:p>
          <a:p>
            <a:pPr marL="285750" indent="-285750">
              <a:buFont typeface="Arial" panose="020B0604020202020204" pitchFamily="34" charset="0"/>
              <a:buChar char="•"/>
            </a:pPr>
            <a:r>
              <a:rPr lang="en-US" sz="1400" dirty="0"/>
              <a:t>Represents the “brain”</a:t>
            </a:r>
          </a:p>
          <a:p>
            <a:pPr marL="285750" indent="-285750">
              <a:buFont typeface="Arial" panose="020B0604020202020204" pitchFamily="34" charset="0"/>
              <a:buChar char="•"/>
            </a:pPr>
            <a:r>
              <a:rPr lang="en-US" sz="1400" dirty="0"/>
              <a:t>Assess performance measure</a:t>
            </a:r>
          </a:p>
          <a:p>
            <a:pPr marL="285750" indent="-285750">
              <a:buFont typeface="Arial" panose="020B0604020202020204" pitchFamily="34" charset="0"/>
              <a:buChar char="•"/>
            </a:pPr>
            <a:r>
              <a:rPr lang="en-US" sz="1400" dirty="0"/>
              <a:t>Remember percept sequence</a:t>
            </a:r>
          </a:p>
          <a:p>
            <a:pPr marL="285750" indent="-285750">
              <a:buFont typeface="Arial" panose="020B0604020202020204" pitchFamily="34" charset="0"/>
              <a:buChar char="•"/>
            </a:pPr>
            <a:r>
              <a:rPr lang="en-US" sz="1400" dirty="0"/>
              <a:t>Built-in knowledge</a:t>
            </a:r>
          </a:p>
        </p:txBody>
      </p:sp>
      <p:sp>
        <p:nvSpPr>
          <p:cNvPr id="13" name="TextBox 12">
            <a:extLst>
              <a:ext uri="{FF2B5EF4-FFF2-40B4-BE49-F238E27FC236}">
                <a16:creationId xmlns:a16="http://schemas.microsoft.com/office/drawing/2014/main" id="{084BD0FD-126E-2D69-D249-07D9FB56287C}"/>
              </a:ext>
              <a:ext uri="{C183D7F6-B498-43B3-948B-1728B52AA6E4}">
                <adec:decorative xmlns:adec="http://schemas.microsoft.com/office/drawing/2017/decorative" val="1"/>
              </a:ext>
            </a:extLst>
          </p:cNvPr>
          <p:cNvSpPr txBox="1"/>
          <p:nvPr/>
        </p:nvSpPr>
        <p:spPr>
          <a:xfrm>
            <a:off x="3261166" y="1884040"/>
            <a:ext cx="625034" cy="27997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4" name="TextBox 13">
            <a:extLst>
              <a:ext uri="{FF2B5EF4-FFF2-40B4-BE49-F238E27FC236}">
                <a16:creationId xmlns:a16="http://schemas.microsoft.com/office/drawing/2014/main" id="{BDB8EE00-E784-B5AE-6682-BDE1C2E3213B}"/>
              </a:ext>
              <a:ext uri="{C183D7F6-B498-43B3-948B-1728B52AA6E4}">
                <adec:decorative xmlns:adec="http://schemas.microsoft.com/office/drawing/2017/decorative" val="1"/>
              </a:ext>
            </a:extLst>
          </p:cNvPr>
          <p:cNvSpPr txBox="1"/>
          <p:nvPr/>
        </p:nvSpPr>
        <p:spPr>
          <a:xfrm>
            <a:off x="3709717" y="4850626"/>
            <a:ext cx="793897" cy="788174"/>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8" name="TextBox 17">
            <a:extLst>
              <a:ext uri="{FF2B5EF4-FFF2-40B4-BE49-F238E27FC236}">
                <a16:creationId xmlns:a16="http://schemas.microsoft.com/office/drawing/2014/main" id="{01F3DC52-536A-9328-7E14-B5FA2C6383F0}"/>
              </a:ext>
            </a:extLst>
          </p:cNvPr>
          <p:cNvSpPr txBox="1"/>
          <p:nvPr/>
        </p:nvSpPr>
        <p:spPr>
          <a:xfrm>
            <a:off x="7396639" y="4171450"/>
            <a:ext cx="1524000" cy="246221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b="1" dirty="0"/>
              <a:t>Important</a:t>
            </a:r>
            <a:r>
              <a:rPr lang="en-US" sz="1400" dirty="0"/>
              <a:t>: Everything outside the agent function represents the environment.</a:t>
            </a:r>
          </a:p>
          <a:p>
            <a:r>
              <a:rPr lang="en-US" sz="1400" dirty="0"/>
              <a:t>This includes the physical robot, its sensors and its actuators, and event loop!</a:t>
            </a:r>
          </a:p>
        </p:txBody>
      </p:sp>
    </p:spTree>
    <p:extLst>
      <p:ext uri="{BB962C8B-B14F-4D97-AF65-F5344CB8AC3E}">
        <p14:creationId xmlns:p14="http://schemas.microsoft.com/office/powerpoint/2010/main" val="5690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4" grpId="0" animBg="1"/>
      <p:bldP spid="14"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Hierarchy of Agent Types</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19403300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Simple Reflex Agent</a:t>
            </a:r>
          </a:p>
        </p:txBody>
      </p:sp>
      <p:sp>
        <p:nvSpPr>
          <p:cNvPr id="6" name="Content Placeholder 5"/>
          <p:cNvSpPr>
            <a:spLocks noGrp="1"/>
          </p:cNvSpPr>
          <p:nvPr>
            <p:ph idx="1"/>
          </p:nvPr>
        </p:nvSpPr>
        <p:spPr>
          <a:xfrm>
            <a:off x="628650" y="1417639"/>
            <a:ext cx="7886700" cy="1325562"/>
          </a:xfrm>
        </p:spPr>
        <p:txBody>
          <a:bodyPr>
            <a:normAutofit fontScale="85000" lnSpcReduction="20000"/>
          </a:bodyPr>
          <a:lstStyle/>
          <a:p>
            <a:r>
              <a:rPr lang="en-US" dirty="0"/>
              <a:t>Uses only built-in knowledge in the form of </a:t>
            </a:r>
            <a:r>
              <a:rPr lang="en-US" b="1" dirty="0">
                <a:solidFill>
                  <a:srgbClr val="FF0000"/>
                </a:solidFill>
              </a:rPr>
              <a:t>rules</a:t>
            </a:r>
            <a:r>
              <a:rPr lang="en-US" dirty="0"/>
              <a:t> that select action only  </a:t>
            </a:r>
            <a:r>
              <a:rPr lang="en-US" b="1" dirty="0">
                <a:solidFill>
                  <a:srgbClr val="FF0000"/>
                </a:solidFill>
              </a:rPr>
              <a:t>based on the current percept. </a:t>
            </a:r>
            <a:r>
              <a:rPr lang="en-US" dirty="0"/>
              <a:t>This is typically very fast!</a:t>
            </a:r>
            <a:endParaRPr lang="en-US" b="1" dirty="0">
              <a:solidFill>
                <a:srgbClr val="FF0000"/>
              </a:solidFill>
            </a:endParaRPr>
          </a:p>
          <a:p>
            <a:r>
              <a:rPr lang="en-US" dirty="0"/>
              <a:t>The </a:t>
            </a:r>
            <a:r>
              <a:rPr lang="en-US" b="1" dirty="0">
                <a:solidFill>
                  <a:srgbClr val="FF0000"/>
                </a:solidFill>
              </a:rPr>
              <a:t>agent does not know about the performance measure</a:t>
            </a:r>
            <a:r>
              <a:rPr lang="en-US" dirty="0"/>
              <a:t>! But well-designed rules can lead to good performance.</a:t>
            </a:r>
          </a:p>
          <a:p>
            <a:r>
              <a:rPr lang="en-US" dirty="0"/>
              <a:t>The agent needs no memory and ignores all past percepts.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5F931F8-34A1-48EC-9F54-75986756E228}"/>
                  </a:ext>
                </a:extLst>
              </p:cNvPr>
              <p:cNvSpPr/>
              <p:nvPr/>
            </p:nvSpPr>
            <p:spPr>
              <a:xfrm>
                <a:off x="516867" y="5673054"/>
                <a:ext cx="8110265"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simple vacuum cleaner that uses rules based on its current sensor input. </a:t>
                </a:r>
              </a:p>
            </p:txBody>
          </p:sp>
        </mc:Choice>
        <mc:Fallback xmlns="">
          <p:sp>
            <p:nvSpPr>
              <p:cNvPr id="2" name="Rectangle 1">
                <a:extLst>
                  <a:ext uri="{FF2B5EF4-FFF2-40B4-BE49-F238E27FC236}">
                    <a16:creationId xmlns:a16="http://schemas.microsoft.com/office/drawing/2014/main" id="{85F931F8-34A1-48EC-9F54-75986756E228}"/>
                  </a:ext>
                </a:extLst>
              </p:cNvPr>
              <p:cNvSpPr>
                <a:spLocks noRot="1" noChangeAspect="1" noMove="1" noResize="1" noEditPoints="1" noAdjustHandles="1" noChangeArrowheads="1" noChangeShapeType="1" noTextEdit="1"/>
              </p:cNvSpPr>
              <p:nvPr/>
            </p:nvSpPr>
            <p:spPr>
              <a:xfrm>
                <a:off x="516867" y="5673054"/>
                <a:ext cx="8110265" cy="923330"/>
              </a:xfrm>
              <a:prstGeom prst="rect">
                <a:avLst/>
              </a:prstGeom>
              <a:blipFill>
                <a:blip r:embed="rId6"/>
                <a:stretch>
                  <a:fillRect l="-677" t="-3974" b="-9934"/>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2B4A5160-2D3B-2C88-1C01-EF2FEE594D97}"/>
              </a:ext>
            </a:extLst>
          </p:cNvPr>
          <p:cNvGrpSpPr/>
          <p:nvPr/>
        </p:nvGrpSpPr>
        <p:grpSpPr>
          <a:xfrm>
            <a:off x="2057400" y="2743201"/>
            <a:ext cx="4603987" cy="2908449"/>
            <a:chOff x="2057400" y="2743201"/>
            <a:chExt cx="4603987" cy="2908449"/>
          </a:xfrm>
        </p:grpSpPr>
        <p:grpSp>
          <p:nvGrpSpPr>
            <p:cNvPr id="3" name="Group 2" descr="A figure showing that the sensors show the agent how the world is like now. The agent then uses condition-action rules to desice what actions it should take.">
              <a:extLst>
                <a:ext uri="{FF2B5EF4-FFF2-40B4-BE49-F238E27FC236}">
                  <a16:creationId xmlns:a16="http://schemas.microsoft.com/office/drawing/2014/main" id="{F4335952-8DB7-263E-0EEA-8140CF315E42}"/>
                </a:ext>
              </a:extLst>
            </p:cNvPr>
            <p:cNvGrpSpPr/>
            <p:nvPr/>
          </p:nvGrpSpPr>
          <p:grpSpPr>
            <a:xfrm>
              <a:off x="2057400" y="2743201"/>
              <a:ext cx="4603987" cy="2908449"/>
              <a:chOff x="1981200" y="2984707"/>
              <a:chExt cx="4603987" cy="2908449"/>
            </a:xfrm>
          </p:grpSpPr>
          <p:pic>
            <p:nvPicPr>
              <p:cNvPr id="4" name="Picture 3">
                <a:extLst>
                  <a:ext uri="{FF2B5EF4-FFF2-40B4-BE49-F238E27FC236}">
                    <a16:creationId xmlns:a16="http://schemas.microsoft.com/office/drawing/2014/main" id="{181DEF91-8F60-4AD0-929E-67A7782BFCE8}"/>
                  </a:ext>
                </a:extLst>
              </p:cNvPr>
              <p:cNvPicPr>
                <a:picLocks noChangeAspect="1"/>
              </p:cNvPicPr>
              <p:nvPr/>
            </p:nvPicPr>
            <p:blipFill>
              <a:blip r:embed="rId7"/>
              <a:stretch>
                <a:fillRect/>
              </a:stretch>
            </p:blipFill>
            <p:spPr>
              <a:xfrm>
                <a:off x="1981200" y="2984707"/>
                <a:ext cx="4603987" cy="290844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8E4DDC-AC43-2395-FE15-DB33FBB1D188}"/>
                      </a:ext>
                    </a:extLst>
                  </p:cNvPr>
                  <p:cNvSpPr txBox="1"/>
                  <p:nvPr/>
                </p:nvSpPr>
                <p:spPr>
                  <a:xfrm>
                    <a:off x="2514600" y="4495800"/>
                    <a:ext cx="14478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088E4DDC-AC43-2395-FE15-DB33FBB1D188}"/>
                      </a:ext>
                    </a:extLst>
                  </p:cNvPr>
                  <p:cNvSpPr txBox="1">
                    <a:spLocks noRot="1" noChangeAspect="1" noMove="1" noResize="1" noEditPoints="1" noAdjustHandles="1" noChangeArrowheads="1" noChangeShapeType="1" noTextEdit="1"/>
                  </p:cNvSpPr>
                  <p:nvPr/>
                </p:nvSpPr>
                <p:spPr>
                  <a:xfrm>
                    <a:off x="2514600" y="4495800"/>
                    <a:ext cx="1447800" cy="369332"/>
                  </a:xfrm>
                  <a:prstGeom prst="rect">
                    <a:avLst/>
                  </a:prstGeom>
                  <a:blipFill>
                    <a:blip r:embed="rId5"/>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C56248-ADE7-557F-240E-DB78E9B36348}"/>
                    </a:ext>
                  </a:extLst>
                </p:cNvPr>
                <p:cNvSpPr txBox="1"/>
                <p:nvPr/>
              </p:nvSpPr>
              <p:spPr>
                <a:xfrm>
                  <a:off x="2286000" y="4876800"/>
                  <a:ext cx="2209800" cy="653384"/>
                </a:xfrm>
                <a:prstGeom prst="rect">
                  <a:avLst/>
                </a:prstGeom>
                <a:noFill/>
              </p:spPr>
              <p:txBody>
                <a:bodyPr wrap="square">
                  <a:spAutoFit/>
                </a:bodyPr>
                <a:lstStyle/>
                <a:p>
                  <a:pPr/>
                  <a14:m>
                    <m:oMathPara xmlns:m="http://schemas.openxmlformats.org/officeDocument/2006/math">
                      <m:oMath>
                        <m:r>
                          <m:rPr>
                            <m:nor/>
                          </m:rPr>
                          <a:rPr lang="en-US" sz="1100" b="0" i="0" smtClean="0">
                            <a:latin typeface="Cambria Math" panose="02040503050406030204" pitchFamily="18" charset="0"/>
                          </a:rPr>
                          <m:t>if</m:t>
                        </m:r>
                        <m:r>
                          <a:rPr lang="en-US" sz="1100" b="0" i="1" smtClean="0">
                            <a:latin typeface="Cambria Math" panose="02040503050406030204" pitchFamily="18" charset="0"/>
                          </a:rPr>
                          <m:t> </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𝑝</m:t>
                            </m:r>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𝑥</m:t>
                                </m:r>
                              </m:e>
                              <m:sub>
                                <m:r>
                                  <a:rPr lang="en-US" sz="1100" b="0" i="1" smtClean="0">
                                    <a:latin typeface="Cambria Math" panose="02040503050406030204" pitchFamily="18" charset="0"/>
                                  </a:rPr>
                                  <m:t>1</m:t>
                                </m:r>
                              </m:sub>
                            </m:sSub>
                          </m:e>
                        </m:d>
                        <m:r>
                          <a:rPr lang="en-US" sz="1100" b="0" i="1" smtClean="0">
                            <a:latin typeface="Cambria Math" panose="02040503050406030204" pitchFamily="18" charset="0"/>
                          </a:rPr>
                          <m:t> </m:t>
                        </m:r>
                        <m:r>
                          <m:rPr>
                            <m:nor/>
                          </m:rPr>
                          <a:rPr lang="en-US" sz="1100" b="0" i="0" smtClean="0">
                            <a:latin typeface="Cambria Math" panose="02040503050406030204" pitchFamily="18" charset="0"/>
                          </a:rPr>
                          <m:t>then return</m:t>
                        </m:r>
                        <m:d>
                          <m:dPr>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𝑎</m:t>
                                </m:r>
                              </m:e>
                              <m:sub>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𝑥</m:t>
                                    </m:r>
                                  </m:e>
                                  <m:sub>
                                    <m:r>
                                      <a:rPr lang="en-US" sz="1100" b="0" i="1" smtClean="0">
                                        <a:latin typeface="Cambria Math" panose="02040503050406030204" pitchFamily="18" charset="0"/>
                                      </a:rPr>
                                      <m:t>1</m:t>
                                    </m:r>
                                  </m:sub>
                                </m:sSub>
                              </m:sub>
                            </m:sSub>
                          </m:e>
                        </m:d>
                      </m:oMath>
                      <m:oMath>
                        <m:r>
                          <m:rPr>
                            <m:nor/>
                          </m:rPr>
                          <a:rPr lang="en-US" sz="1100" i="0">
                            <a:latin typeface="Cambria Math" panose="02040503050406030204" pitchFamily="18" charset="0"/>
                          </a:rPr>
                          <m:t>if</m:t>
                        </m:r>
                        <m:r>
                          <a:rPr lang="en-US" sz="1100" i="1">
                            <a:latin typeface="Cambria Math" panose="02040503050406030204" pitchFamily="18" charset="0"/>
                          </a:rPr>
                          <m:t> </m:t>
                        </m:r>
                        <m:d>
                          <m:dPr>
                            <m:ctrlPr>
                              <a:rPr lang="en-US" sz="1100" i="1">
                                <a:latin typeface="Cambria Math" panose="02040503050406030204" pitchFamily="18" charset="0"/>
                              </a:rPr>
                            </m:ctrlPr>
                          </m:dPr>
                          <m:e>
                            <m:r>
                              <a:rPr lang="en-US" sz="1100" i="1">
                                <a:latin typeface="Cambria Math" panose="02040503050406030204" pitchFamily="18" charset="0"/>
                              </a:rPr>
                              <m:t>𝑝</m:t>
                            </m:r>
                            <m:r>
                              <a:rPr lang="en-US" sz="1100" i="1">
                                <a:latin typeface="Cambria Math" panose="02040503050406030204" pitchFamily="18" charset="0"/>
                              </a:rPr>
                              <m:t>=</m:t>
                            </m:r>
                            <m:sSub>
                              <m:sSubPr>
                                <m:ctrlPr>
                                  <a:rPr lang="en-US" sz="1100" i="1">
                                    <a:latin typeface="Cambria Math" panose="02040503050406030204" pitchFamily="18" charset="0"/>
                                  </a:rPr>
                                </m:ctrlPr>
                              </m:sSubPr>
                              <m:e>
                                <m:r>
                                  <a:rPr lang="en-US" sz="1100" i="1">
                                    <a:latin typeface="Cambria Math" panose="02040503050406030204" pitchFamily="18" charset="0"/>
                                  </a:rPr>
                                  <m:t>𝑥</m:t>
                                </m:r>
                              </m:e>
                              <m:sub>
                                <m:r>
                                  <a:rPr lang="en-US" sz="1100" b="0" i="1" smtClean="0">
                                    <a:latin typeface="Cambria Math" panose="02040503050406030204" pitchFamily="18" charset="0"/>
                                  </a:rPr>
                                  <m:t>2</m:t>
                                </m:r>
                              </m:sub>
                            </m:sSub>
                          </m:e>
                        </m:d>
                        <m:r>
                          <a:rPr lang="en-US" sz="1100" i="1">
                            <a:latin typeface="Cambria Math" panose="02040503050406030204" pitchFamily="18" charset="0"/>
                          </a:rPr>
                          <m:t> </m:t>
                        </m:r>
                        <m:r>
                          <m:rPr>
                            <m:nor/>
                          </m:rPr>
                          <a:rPr lang="en-US" sz="1100" i="0">
                            <a:latin typeface="Cambria Math" panose="02040503050406030204" pitchFamily="18" charset="0"/>
                          </a:rPr>
                          <m:t>then return</m:t>
                        </m:r>
                        <m:d>
                          <m:dPr>
                            <m:ctrlPr>
                              <a:rPr lang="en-US" sz="1100" i="1">
                                <a:latin typeface="Cambria Math" panose="02040503050406030204" pitchFamily="18" charset="0"/>
                              </a:rPr>
                            </m:ctrlPr>
                          </m:dPr>
                          <m:e>
                            <m:sSub>
                              <m:sSubPr>
                                <m:ctrlPr>
                                  <a:rPr lang="en-US" sz="1100" i="1">
                                    <a:latin typeface="Cambria Math" panose="02040503050406030204" pitchFamily="18" charset="0"/>
                                  </a:rPr>
                                </m:ctrlPr>
                              </m:sSubPr>
                              <m:e>
                                <m:r>
                                  <a:rPr lang="en-US" sz="1100" i="1">
                                    <a:latin typeface="Cambria Math" panose="02040503050406030204" pitchFamily="18" charset="0"/>
                                  </a:rPr>
                                  <m:t>𝑎</m:t>
                                </m:r>
                              </m:e>
                              <m:sub>
                                <m:sSub>
                                  <m:sSubPr>
                                    <m:ctrlPr>
                                      <a:rPr lang="en-US" sz="1100" i="1">
                                        <a:latin typeface="Cambria Math" panose="02040503050406030204" pitchFamily="18" charset="0"/>
                                      </a:rPr>
                                    </m:ctrlPr>
                                  </m:sSubPr>
                                  <m:e>
                                    <m:r>
                                      <a:rPr lang="en-US" sz="1100" i="1">
                                        <a:latin typeface="Cambria Math" panose="02040503050406030204" pitchFamily="18" charset="0"/>
                                      </a:rPr>
                                      <m:t>𝑥</m:t>
                                    </m:r>
                                  </m:e>
                                  <m:sub>
                                    <m:r>
                                      <a:rPr lang="en-US" sz="1100" b="0" i="1" smtClean="0">
                                        <a:latin typeface="Cambria Math" panose="02040503050406030204" pitchFamily="18" charset="0"/>
                                      </a:rPr>
                                      <m:t>2</m:t>
                                    </m:r>
                                  </m:sub>
                                </m:sSub>
                              </m:sub>
                            </m:sSub>
                          </m:e>
                        </m:d>
                      </m:oMath>
                      <m:oMath>
                        <m:r>
                          <a:rPr lang="en-US" sz="1100" b="0" i="1" smtClean="0">
                            <a:latin typeface="Cambria Math" panose="02040503050406030204" pitchFamily="18" charset="0"/>
                          </a:rPr>
                          <m:t>…</m:t>
                        </m:r>
                      </m:oMath>
                    </m:oMathPara>
                  </a14:m>
                  <a:endParaRPr lang="en-US" sz="1100" dirty="0"/>
                </a:p>
              </p:txBody>
            </p:sp>
          </mc:Choice>
          <mc:Fallback xmlns="">
            <p:sp>
              <p:nvSpPr>
                <p:cNvPr id="8" name="TextBox 7">
                  <a:extLst>
                    <a:ext uri="{FF2B5EF4-FFF2-40B4-BE49-F238E27FC236}">
                      <a16:creationId xmlns:a16="http://schemas.microsoft.com/office/drawing/2014/main" id="{24C56248-ADE7-557F-240E-DB78E9B36348}"/>
                    </a:ext>
                  </a:extLst>
                </p:cNvPr>
                <p:cNvSpPr txBox="1">
                  <a:spLocks noRot="1" noChangeAspect="1" noMove="1" noResize="1" noEditPoints="1" noAdjustHandles="1" noChangeArrowheads="1" noChangeShapeType="1" noTextEdit="1"/>
                </p:cNvSpPr>
                <p:nvPr/>
              </p:nvSpPr>
              <p:spPr>
                <a:xfrm>
                  <a:off x="2286000" y="4876800"/>
                  <a:ext cx="2209800" cy="653384"/>
                </a:xfrm>
                <a:prstGeom prst="rect">
                  <a:avLst/>
                </a:prstGeom>
                <a:blipFill>
                  <a:blip r:embed="rId8"/>
                  <a:stretch>
                    <a:fillRect/>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Model-based Reflex Agent</a:t>
            </a:r>
          </a:p>
        </p:txBody>
      </p:sp>
      <p:sp>
        <p:nvSpPr>
          <p:cNvPr id="6" name="Content Placeholder 5"/>
          <p:cNvSpPr>
            <a:spLocks noGrp="1"/>
          </p:cNvSpPr>
          <p:nvPr>
            <p:ph idx="1"/>
          </p:nvPr>
        </p:nvSpPr>
        <p:spPr>
          <a:xfrm>
            <a:off x="628650" y="1358825"/>
            <a:ext cx="7886700" cy="1325563"/>
          </a:xfrm>
        </p:spPr>
        <p:txBody>
          <a:bodyPr>
            <a:normAutofit fontScale="85000" lnSpcReduction="20000"/>
          </a:bodyPr>
          <a:lstStyle/>
          <a:p>
            <a:r>
              <a:rPr lang="en-US" dirty="0"/>
              <a:t>Maintains a</a:t>
            </a:r>
            <a:r>
              <a:rPr lang="en-US" b="1" dirty="0">
                <a:solidFill>
                  <a:srgbClr val="FF0000"/>
                </a:solidFill>
              </a:rPr>
              <a:t> state variable</a:t>
            </a:r>
            <a:r>
              <a:rPr lang="en-US" dirty="0"/>
              <a:t> to keep track of aspects of the environment that cannot be currently observed. I.e., it has memory.</a:t>
            </a:r>
          </a:p>
          <a:p>
            <a:r>
              <a:rPr lang="en-US" dirty="0"/>
              <a:t>It knows how the environment evolves over time and what its actions do (implemented as the </a:t>
            </a:r>
            <a:r>
              <a:rPr lang="en-US" b="1" dirty="0">
                <a:solidFill>
                  <a:srgbClr val="FF0000"/>
                </a:solidFill>
              </a:rPr>
              <a:t>transition function</a:t>
            </a:r>
            <a:r>
              <a:rPr lang="en-US" dirty="0"/>
              <a:t>) to keep its state up-to-date.</a:t>
            </a:r>
          </a:p>
          <a:p>
            <a:r>
              <a:rPr lang="en-US" dirty="0"/>
              <a:t>There is now </a:t>
            </a:r>
            <a:r>
              <a:rPr lang="en-US" b="1" dirty="0">
                <a:solidFill>
                  <a:srgbClr val="FF0000"/>
                </a:solidFill>
              </a:rPr>
              <a:t>more information for the rules </a:t>
            </a:r>
            <a:r>
              <a:rPr lang="en-US" dirty="0"/>
              <a:t>to make better decisions. </a:t>
            </a:r>
            <a:endParaRPr lang="en-US" sz="2000" dirty="0"/>
          </a:p>
        </p:txBody>
      </p:sp>
      <p:pic>
        <p:nvPicPr>
          <p:cNvPr id="5" name="Picture 4" descr="A figure that shiws how the agent adds a state and a model that describes how the world envolves.">
            <a:extLst>
              <a:ext uri="{FF2B5EF4-FFF2-40B4-BE49-F238E27FC236}">
                <a16:creationId xmlns:a16="http://schemas.microsoft.com/office/drawing/2014/main" id="{038E5158-0581-49FA-94C4-ABA19CFED948}"/>
              </a:ext>
            </a:extLst>
          </p:cNvPr>
          <p:cNvPicPr>
            <a:picLocks noChangeAspect="1"/>
          </p:cNvPicPr>
          <p:nvPr/>
        </p:nvPicPr>
        <p:blipFill>
          <a:blip r:embed="rId3"/>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51710F2-6347-93E9-7B88-B35B5B442B27}"/>
                  </a:ext>
                </a:extLst>
              </p:cNvPr>
              <p:cNvSpPr txBox="1"/>
              <p:nvPr/>
            </p:nvSpPr>
            <p:spPr>
              <a:xfrm>
                <a:off x="6858000" y="3544577"/>
                <a:ext cx="2057400"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Note</a:t>
                </a:r>
                <a:r>
                  <a:rPr lang="en-US" sz="1600" dirty="0"/>
                  <a:t>: </a:t>
                </a:r>
                <a14:m>
                  <m:oMath xmlns:m="http://schemas.openxmlformats.org/officeDocument/2006/math">
                    <m:r>
                      <a:rPr lang="en-US" sz="1600" i="1" dirty="0">
                        <a:latin typeface="Cambria Math" panose="02040503050406030204" pitchFamily="18" charset="0"/>
                      </a:rPr>
                      <m:t>𝑇</m:t>
                    </m:r>
                  </m:oMath>
                </a14:m>
                <a:r>
                  <a:rPr lang="en-US" sz="1600" dirty="0"/>
                  <a:t> is not directly used in the rules, but may affect rule design and the state update.</a:t>
                </a:r>
              </a:p>
            </p:txBody>
          </p:sp>
        </mc:Choice>
        <mc:Fallback xmlns="">
          <p:sp>
            <p:nvSpPr>
              <p:cNvPr id="13" name="TextBox 12">
                <a:extLst>
                  <a:ext uri="{FF2B5EF4-FFF2-40B4-BE49-F238E27FC236}">
                    <a16:creationId xmlns:a16="http://schemas.microsoft.com/office/drawing/2014/main" id="{251710F2-6347-93E9-7B88-B35B5B442B27}"/>
                  </a:ext>
                </a:extLst>
              </p:cNvPr>
              <p:cNvSpPr txBox="1">
                <a:spLocks noRot="1" noChangeAspect="1" noMove="1" noResize="1" noEditPoints="1" noAdjustHandles="1" noChangeArrowheads="1" noChangeShapeType="1" noTextEdit="1"/>
              </p:cNvSpPr>
              <p:nvPr/>
            </p:nvSpPr>
            <p:spPr>
              <a:xfrm>
                <a:off x="6858000" y="3544577"/>
                <a:ext cx="2057400" cy="1077218"/>
              </a:xfrm>
              <a:prstGeom prst="rect">
                <a:avLst/>
              </a:prstGeom>
              <a:blipFill>
                <a:blip r:embed="rId9"/>
                <a:stretch>
                  <a:fillRect l="-1176" t="-1117" r="-294" b="-5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6838F9-B6C4-425B-8572-2F7363951D3D}"/>
                  </a:ext>
                </a:extLst>
              </p:cNvPr>
              <p:cNvSpPr/>
              <p:nvPr/>
            </p:nvSpPr>
            <p:spPr>
              <a:xfrm>
                <a:off x="587829" y="5767797"/>
                <a:ext cx="7905750"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vacuum cleaner that remembers were it has already cleaned.</a:t>
                </a:r>
              </a:p>
            </p:txBody>
          </p:sp>
        </mc:Choice>
        <mc:Fallback xmlns="">
          <p:sp>
            <p:nvSpPr>
              <p:cNvPr id="2" name="Rectangle 1">
                <a:extLst>
                  <a:ext uri="{FF2B5EF4-FFF2-40B4-BE49-F238E27FC236}">
                    <a16:creationId xmlns:a16="http://schemas.microsoft.com/office/drawing/2014/main" id="{AE6838F9-B6C4-425B-8572-2F7363951D3D}"/>
                  </a:ext>
                </a:extLst>
              </p:cNvPr>
              <p:cNvSpPr>
                <a:spLocks noRot="1" noChangeAspect="1" noMove="1" noResize="1" noEditPoints="1" noAdjustHandles="1" noChangeArrowheads="1" noChangeShapeType="1" noTextEdit="1"/>
              </p:cNvSpPr>
              <p:nvPr/>
            </p:nvSpPr>
            <p:spPr>
              <a:xfrm>
                <a:off x="587829" y="5767797"/>
                <a:ext cx="7905750" cy="923330"/>
              </a:xfrm>
              <a:prstGeom prst="rect">
                <a:avLst/>
              </a:prstGeom>
              <a:blipFill>
                <a:blip r:embed="rId4"/>
                <a:stretch>
                  <a:fillRect l="-617" t="-3289" b="-9211"/>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055F036E-DDEA-4D0D-8190-21B9533B8EBB}"/>
              </a:ext>
              <a:ext uri="{C183D7F6-B498-43B3-948B-1728B52AA6E4}">
                <adec:decorative xmlns:adec="http://schemas.microsoft.com/office/drawing/2017/decorative" val="1"/>
              </a:ext>
            </a:extLst>
          </p:cNvPr>
          <p:cNvSpPr/>
          <p:nvPr/>
        </p:nvSpPr>
        <p:spPr>
          <a:xfrm>
            <a:off x="2362200" y="3035225"/>
            <a:ext cx="1676400" cy="1143000"/>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p:nvPr/>
            </p:nvSpPr>
            <p:spPr>
              <a:xfrm>
                <a:off x="2476500" y="4371909"/>
                <a:ext cx="1447800" cy="338554"/>
              </a:xfrm>
              <a:prstGeom prst="rect">
                <a:avLst/>
              </a:prstGeom>
              <a:noFill/>
            </p:spPr>
            <p:txBody>
              <a:bodyPr wrap="square">
                <a:spAutoFit/>
              </a:bodyPr>
              <a:lstStyle/>
              <a:p>
                <a:pPr/>
                <a14:m>
                  <m:oMathPara xmlns:m="http://schemas.openxmlformats.org/officeDocument/2006/math">
                    <m:oMath>
                      <m:r>
                        <a:rPr lang="en-US" sz="1600" b="0" i="1" smtClean="0">
                          <a:latin typeface="Cambria Math" panose="02040503050406030204" pitchFamily="18" charset="0"/>
                        </a:rPr>
                        <m:t>𝑎</m:t>
                      </m:r>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𝑝</m:t>
                      </m:r>
                      <m:r>
                        <a:rPr lang="en-US" sz="1600" b="0" i="1" smtClean="0">
                          <a:latin typeface="Cambria Math" panose="02040503050406030204" pitchFamily="18" charset="0"/>
                        </a:rPr>
                        <m:t>,</m:t>
                      </m:r>
                      <m:r>
                        <a:rPr lang="en-US" sz="1600" i="1">
                          <a:latin typeface="Cambria Math" panose="02040503050406030204" pitchFamily="18" charset="0"/>
                        </a:rPr>
                        <m:t>𝑠</m:t>
                      </m:r>
                      <m:r>
                        <a:rPr lang="en-US" sz="1600" b="0" i="1" smtClean="0">
                          <a:latin typeface="Cambria Math" panose="02040503050406030204" pitchFamily="18" charset="0"/>
                        </a:rPr>
                        <m:t>)</m:t>
                      </m:r>
                    </m:oMath>
                  </m:oMathPara>
                </a14:m>
                <a:endParaRPr lang="en-US" sz="1600" dirty="0"/>
              </a:p>
            </p:txBody>
          </p:sp>
        </mc:Choice>
        <mc:Fallback xmlns="">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76500" y="4371909"/>
                <a:ext cx="1447800" cy="338554"/>
              </a:xfrm>
              <a:prstGeom prst="rect">
                <a:avLst/>
              </a:prstGeom>
              <a:blipFill>
                <a:blip r:embed="rId5"/>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p:nvPr/>
            </p:nvSpPr>
            <p:spPr>
              <a:xfrm>
                <a:off x="2667000" y="3001963"/>
                <a:ext cx="3810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67000" y="300196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p:nvPr/>
            </p:nvSpPr>
            <p:spPr>
              <a:xfrm>
                <a:off x="2438400" y="3544577"/>
                <a:ext cx="1524000"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𝑇</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oMath>
                  </m:oMathPara>
                </a14:m>
                <a:endParaRPr lang="en-US" sz="1600" dirty="0"/>
              </a:p>
            </p:txBody>
          </p:sp>
        </mc:Choice>
        <mc:Fallback xmlns="">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38400" y="3544577"/>
                <a:ext cx="1524000" cy="338554"/>
              </a:xfrm>
              <a:prstGeom prst="rect">
                <a:avLst/>
              </a:prstGeom>
              <a:blipFill>
                <a:blip r:embed="rId7"/>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763B28-6C18-8BF9-D115-799B085EEEC1}"/>
                  </a:ext>
                  <a:ext uri="{C183D7F6-B498-43B3-948B-1728B52AA6E4}">
                    <adec:decorative xmlns:adec="http://schemas.microsoft.com/office/drawing/2017/decorative" val="1"/>
                  </a:ext>
                </a:extLst>
              </p:cNvPr>
              <p:cNvSpPr txBox="1"/>
              <p:nvPr/>
            </p:nvSpPr>
            <p:spPr>
              <a:xfrm>
                <a:off x="4775320" y="3001963"/>
                <a:ext cx="3810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0" name="TextBox 9">
                <a:extLst>
                  <a:ext uri="{FF2B5EF4-FFF2-40B4-BE49-F238E27FC236}">
                    <a16:creationId xmlns:a16="http://schemas.microsoft.com/office/drawing/2014/main" id="{DF763B28-6C18-8BF9-D115-799B085EEEC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775320" y="3001963"/>
                <a:ext cx="381000" cy="369332"/>
              </a:xfrm>
              <a:prstGeom prst="rect">
                <a:avLst/>
              </a:prstGeom>
              <a:blipFill>
                <a:blip r:embed="rId10"/>
                <a:stretch>
                  <a:fillRect b="-655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F2D4AF1-67B0-72BD-0E19-78D8D3EC3BDA}"/>
              </a:ext>
              <a:ext uri="{C183D7F6-B498-43B3-948B-1728B52AA6E4}">
                <adec:decorative xmlns:adec="http://schemas.microsoft.com/office/drawing/2017/decorative" val="1"/>
              </a:ext>
            </a:extLst>
          </p:cNvPr>
          <p:cNvSpPr txBox="1"/>
          <p:nvPr/>
        </p:nvSpPr>
        <p:spPr>
          <a:xfrm>
            <a:off x="2438400" y="4125271"/>
            <a:ext cx="1626279" cy="307777"/>
          </a:xfrm>
          <a:prstGeom prst="rect">
            <a:avLst/>
          </a:prstGeom>
          <a:noFill/>
        </p:spPr>
        <p:txBody>
          <a:bodyPr wrap="none" rtlCol="0">
            <a:spAutoFit/>
          </a:bodyPr>
          <a:lstStyle/>
          <a:p>
            <a:r>
              <a:rPr lang="en-US" sz="1400" dirty="0">
                <a:solidFill>
                  <a:schemeClr val="accent2"/>
                </a:solidFill>
              </a:rPr>
              <a:t>Environment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State Representation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417637"/>
            <a:ext cx="7886700" cy="1425151"/>
          </a:xfrm>
        </p:spPr>
        <p:txBody>
          <a:bodyPr>
            <a:normAutofit fontScale="85000" lnSpcReduction="20000"/>
          </a:bodyPr>
          <a:lstStyle/>
          <a:p>
            <a:pPr marL="0" indent="0">
              <a:buNone/>
            </a:pPr>
            <a:r>
              <a:rPr lang="en-US" sz="2000" b="1" dirty="0"/>
              <a:t>Definition</a:t>
            </a:r>
            <a:r>
              <a:rPr lang="en-US" sz="2000" dirty="0"/>
              <a:t>: The state represents all that the agent knows about the environment and can use for choosing an action.</a:t>
            </a:r>
          </a:p>
          <a:p>
            <a:pPr marL="0" indent="0">
              <a:buNone/>
            </a:pPr>
            <a:r>
              <a:rPr lang="en-US" sz="2000" dirty="0"/>
              <a:t>The representation can be:</a:t>
            </a:r>
          </a:p>
          <a:p>
            <a:pPr lvl="1"/>
            <a:r>
              <a:rPr lang="en-US" b="1" dirty="0">
                <a:solidFill>
                  <a:srgbClr val="FF0000"/>
                </a:solidFill>
              </a:rPr>
              <a:t>Atomic</a:t>
            </a:r>
            <a:r>
              <a:rPr lang="en-US" dirty="0"/>
              <a:t>: Just a label for a black box. E.g., A, B</a:t>
            </a:r>
          </a:p>
          <a:p>
            <a:pPr lvl="1"/>
            <a:r>
              <a:rPr lang="en-US" b="1" dirty="0">
                <a:solidFill>
                  <a:srgbClr val="FF0000"/>
                </a:solidFill>
              </a:rPr>
              <a:t>Factored</a:t>
            </a:r>
            <a:r>
              <a:rPr lang="en-US" dirty="0"/>
              <a:t>: A set of attribute values called </a:t>
            </a:r>
            <a:r>
              <a:rPr lang="en-US" dirty="0" err="1"/>
              <a:t>fluents</a:t>
            </a:r>
            <a:r>
              <a:rPr lang="en-US" dirty="0"/>
              <a:t> (because they model what can change). </a:t>
            </a:r>
            <a:br>
              <a:rPr lang="en-US" dirty="0"/>
            </a:br>
            <a:r>
              <a:rPr lang="en-US" dirty="0"/>
              <a:t>                  E.g., [location = left, status = clean, temperature = 75 deg. F] </a:t>
            </a:r>
            <a:endParaRPr lang="en-US" sz="2000" dirty="0"/>
          </a:p>
          <a:p>
            <a:endParaRPr lang="en-US" sz="2000" dirty="0"/>
          </a:p>
          <a:p>
            <a:endParaRPr lang="en-US" sz="2000" dirty="0"/>
          </a:p>
          <a:p>
            <a:pPr marL="0" indent="0">
              <a:buNone/>
            </a:pPr>
            <a:endParaRPr lang="en-US" sz="2000" b="1" dirty="0">
              <a:solidFill>
                <a:srgbClr val="FF0000"/>
              </a:solidFill>
            </a:endParaRPr>
          </a:p>
          <a:p>
            <a:pPr marL="0" indent="0">
              <a:buNone/>
            </a:pPr>
            <a:endParaRPr lang="en-US" sz="2000" b="1" dirty="0">
              <a:solidFill>
                <a:srgbClr val="FF0000"/>
              </a:solidFill>
            </a:endParaRPr>
          </a:p>
          <a:p>
            <a:pPr marL="0" indent="0">
              <a:buNone/>
            </a:pPr>
            <a:endParaRPr lang="en-US" sz="2000" dirty="0"/>
          </a:p>
          <a:p>
            <a:pPr marL="0" indent="0">
              <a:buNone/>
            </a:pPr>
            <a:endParaRPr lang="en-US" sz="2000" dirty="0"/>
          </a:p>
        </p:txBody>
      </p:sp>
      <p:grpSp>
        <p:nvGrpSpPr>
          <p:cNvPr id="7" name="Group 6">
            <a:extLst>
              <a:ext uri="{FF2B5EF4-FFF2-40B4-BE49-F238E27FC236}">
                <a16:creationId xmlns:a16="http://schemas.microsoft.com/office/drawing/2014/main" id="{F890EDF4-2E69-7716-7B65-66158EFDB7A8}"/>
              </a:ext>
            </a:extLst>
          </p:cNvPr>
          <p:cNvGrpSpPr/>
          <p:nvPr/>
        </p:nvGrpSpPr>
        <p:grpSpPr>
          <a:xfrm>
            <a:off x="1981200" y="2887663"/>
            <a:ext cx="5486400" cy="1912937"/>
            <a:chOff x="1981200" y="2887663"/>
            <a:chExt cx="5486400" cy="1912937"/>
          </a:xfrm>
        </p:grpSpPr>
        <p:pic>
          <p:nvPicPr>
            <p:cNvPr id="4" name="Picture 3" descr="A figure showinf two atomic states as boxes and then a factored state decription where the states contain variables describing the state.">
              <a:extLst>
                <a:ext uri="{FF2B5EF4-FFF2-40B4-BE49-F238E27FC236}">
                  <a16:creationId xmlns:a16="http://schemas.microsoft.com/office/drawing/2014/main" id="{BA80952D-B85D-4F0D-B7D7-FD1AEFB93BCD}"/>
                </a:ext>
                <a:ext uri="{C183D7F6-B498-43B3-948B-1728B52AA6E4}">
                  <adec:decorative xmlns:adec="http://schemas.microsoft.com/office/drawing/2017/decorative" val="0"/>
                </a:ext>
              </a:extLst>
            </p:cNvPr>
            <p:cNvPicPr>
              <a:picLocks noChangeAspect="1"/>
            </p:cNvPicPr>
            <p:nvPr/>
          </p:nvPicPr>
          <p:blipFill rotWithShape="1">
            <a:blip r:embed="rId3"/>
            <a:srcRect r="40741" b="29953"/>
            <a:stretch/>
          </p:blipFill>
          <p:spPr>
            <a:xfrm>
              <a:off x="1981200" y="2971800"/>
              <a:ext cx="2982360" cy="1828800"/>
            </a:xfrm>
            <a:prstGeom prst="rect">
              <a:avLst/>
            </a:prstGeom>
          </p:spPr>
        </p:pic>
        <p:sp>
          <p:nvSpPr>
            <p:cNvPr id="6" name="Speech Bubble: Rectangle 5">
              <a:extLst>
                <a:ext uri="{FF2B5EF4-FFF2-40B4-BE49-F238E27FC236}">
                  <a16:creationId xmlns:a16="http://schemas.microsoft.com/office/drawing/2014/main" id="{DE306C82-3C11-0925-0BB1-2921BC51CE19}"/>
                </a:ext>
              </a:extLst>
            </p:cNvPr>
            <p:cNvSpPr/>
            <p:nvPr/>
          </p:nvSpPr>
          <p:spPr>
            <a:xfrm>
              <a:off x="5791200" y="2887663"/>
              <a:ext cx="1676400" cy="769938"/>
            </a:xfrm>
            <a:prstGeom prst="wedgeRectCallout">
              <a:avLst>
                <a:gd name="adj1" fmla="val -121544"/>
                <a:gd name="adj2" fmla="val 43903"/>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Variables describing the system state are called “</a:t>
              </a:r>
              <a:r>
                <a:rPr lang="en-US" sz="1400" dirty="0" err="1"/>
                <a:t>fluents</a:t>
              </a:r>
              <a:r>
                <a:rPr lang="en-US" sz="1400" dirty="0"/>
                <a:t>”</a:t>
              </a:r>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D0D7C3-8100-410F-21C7-DAC246620F5E}"/>
                  </a:ext>
                </a:extLst>
              </p:cNvPr>
              <p:cNvSpPr txBox="1"/>
              <p:nvPr/>
            </p:nvSpPr>
            <p:spPr>
              <a:xfrm>
                <a:off x="628650" y="4917207"/>
                <a:ext cx="8001000" cy="338554"/>
              </a:xfrm>
              <a:prstGeom prst="rect">
                <a:avLst/>
              </a:prstGeom>
              <a:noFill/>
            </p:spPr>
            <p:txBody>
              <a:bodyPr wrap="square">
                <a:spAutoFit/>
              </a:bodyPr>
              <a:lstStyle/>
              <a:p>
                <a:r>
                  <a:rPr lang="en-US" sz="1600" dirty="0"/>
                  <a:t>The set of all possible states is called the </a:t>
                </a:r>
                <a:r>
                  <a:rPr lang="en-US" sz="1600" b="1" dirty="0">
                    <a:solidFill>
                      <a:srgbClr val="FF0000"/>
                    </a:solidFill>
                  </a:rPr>
                  <a:t>state space </a:t>
                </a:r>
                <a14:m>
                  <m:oMath xmlns:m="http://schemas.openxmlformats.org/officeDocument/2006/math">
                    <m:r>
                      <a:rPr lang="en-US" sz="1600" b="1" i="1" smtClean="0">
                        <a:solidFill>
                          <a:srgbClr val="FF0000"/>
                        </a:solidFill>
                        <a:latin typeface="Cambria Math" panose="02040503050406030204" pitchFamily="18" charset="0"/>
                      </a:rPr>
                      <m:t>𝑺</m:t>
                    </m:r>
                    <m:r>
                      <a:rPr lang="en-US" sz="1600" b="0" i="0" smtClean="0">
                        <a:solidFill>
                          <a:srgbClr val="FF0000"/>
                        </a:solidFill>
                        <a:latin typeface="Cambria Math" panose="02040503050406030204" pitchFamily="18" charset="0"/>
                      </a:rPr>
                      <m:t>.</m:t>
                    </m:r>
                  </m:oMath>
                </a14:m>
                <a:r>
                  <a:rPr lang="en-US" sz="1600" dirty="0"/>
                  <a:t> This set is typically very large!</a:t>
                </a:r>
              </a:p>
            </p:txBody>
          </p:sp>
        </mc:Choice>
        <mc:Fallback xmlns="">
          <p:sp>
            <p:nvSpPr>
              <p:cNvPr id="8" name="TextBox 7">
                <a:extLst>
                  <a:ext uri="{FF2B5EF4-FFF2-40B4-BE49-F238E27FC236}">
                    <a16:creationId xmlns:a16="http://schemas.microsoft.com/office/drawing/2014/main" id="{01D0D7C3-8100-410F-21C7-DAC246620F5E}"/>
                  </a:ext>
                </a:extLst>
              </p:cNvPr>
              <p:cNvSpPr txBox="1">
                <a:spLocks noRot="1" noChangeAspect="1" noMove="1" noResize="1" noEditPoints="1" noAdjustHandles="1" noChangeArrowheads="1" noChangeShapeType="1" noTextEdit="1"/>
              </p:cNvSpPr>
              <p:nvPr/>
            </p:nvSpPr>
            <p:spPr>
              <a:xfrm>
                <a:off x="628650" y="4917207"/>
                <a:ext cx="8001000" cy="338554"/>
              </a:xfrm>
              <a:prstGeom prst="rect">
                <a:avLst/>
              </a:prstGeom>
              <a:blipFill>
                <a:blip r:embed="rId4"/>
                <a:stretch>
                  <a:fillRect l="-381" t="-5455" b="-2363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E1409DC-AC15-D2BF-82CB-3B0C06F89D81}"/>
              </a:ext>
            </a:extLst>
          </p:cNvPr>
          <p:cNvSpPr txBox="1"/>
          <p:nvPr/>
        </p:nvSpPr>
        <p:spPr>
          <a:xfrm>
            <a:off x="685800" y="5367052"/>
            <a:ext cx="7487536" cy="132343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t>Note</a:t>
            </a:r>
            <a:r>
              <a:rPr lang="en-US" sz="1600" dirty="0"/>
              <a:t>: We often construct atomic labels from factored state representations. E.g.: If the agent’s state is the location x = 7 and y = 3, then the atomic state label could be the string “(7, 3)”. With the atomic representation, we can only compare if two labels are the same. With the factored state representation, we have more information. E.g., we can calculate the distance between the coordinates in two states.</a:t>
            </a:r>
          </a:p>
        </p:txBody>
      </p:sp>
    </p:spTree>
    <p:extLst>
      <p:ext uri="{BB962C8B-B14F-4D97-AF65-F5344CB8AC3E}">
        <p14:creationId xmlns:p14="http://schemas.microsoft.com/office/powerpoint/2010/main" val="73149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Transition Function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600200"/>
            <a:ext cx="7886700" cy="3962400"/>
          </a:xfrm>
        </p:spPr>
        <p:txBody>
          <a:bodyPr>
            <a:normAutofit fontScale="70000" lnSpcReduction="20000"/>
          </a:bodyPr>
          <a:lstStyle/>
          <a:p>
            <a:r>
              <a:rPr lang="en-US" dirty="0"/>
              <a:t>How </a:t>
            </a:r>
            <a:r>
              <a:rPr lang="en-US" b="1" dirty="0">
                <a:solidFill>
                  <a:srgbClr val="FF0000"/>
                </a:solidFill>
              </a:rPr>
              <a:t>the environment changes when actions are performed </a:t>
            </a:r>
            <a:r>
              <a:rPr lang="en-US" dirty="0"/>
              <a:t>is modeled as a discrete </a:t>
            </a:r>
            <a:r>
              <a:rPr lang="en-US" b="1" dirty="0"/>
              <a:t>dynamical system</a:t>
            </a:r>
            <a:r>
              <a:rPr lang="en-US" dirty="0"/>
              <a:t>.</a:t>
            </a:r>
          </a:p>
          <a:p>
            <a:endParaRPr lang="en-US" dirty="0"/>
          </a:p>
          <a:p>
            <a:r>
              <a:rPr lang="en-US" dirty="0"/>
              <a:t>Example of a state diagram</a:t>
            </a:r>
            <a:br>
              <a:rPr lang="en-US" dirty="0"/>
            </a:br>
            <a:r>
              <a:rPr lang="en-US" dirty="0"/>
              <a:t>for the Vacuum cleaner world: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States change because of</a:t>
            </a:r>
          </a:p>
          <a:p>
            <a:pPr marL="685800" lvl="1" indent="-342900">
              <a:buFont typeface="+mj-lt"/>
              <a:buAutoNum type="alphaLcPeriod"/>
            </a:pPr>
            <a:r>
              <a:rPr lang="en-US" dirty="0"/>
              <a:t>System dynamics of the environment (the environment evolves by itself).</a:t>
            </a:r>
          </a:p>
          <a:p>
            <a:pPr marL="685800" lvl="1" indent="-342900">
              <a:buFont typeface="+mj-lt"/>
              <a:buAutoNum type="alphaLcPeriod"/>
            </a:pPr>
            <a:r>
              <a:rPr lang="en-US" dirty="0"/>
              <a:t>The actions of the agent.</a:t>
            </a:r>
          </a:p>
          <a:p>
            <a:pPr marL="0" indent="0">
              <a:buNone/>
            </a:pPr>
            <a:endParaRPr lang="en-US" dirty="0"/>
          </a:p>
          <a:p>
            <a:r>
              <a:rPr lang="en-US" dirty="0"/>
              <a:t>Both types of changes are represented by the transition function written as</a:t>
            </a:r>
          </a:p>
          <a:p>
            <a:pPr marL="0" indent="0">
              <a:buNone/>
            </a:pPr>
            <a:endParaRPr lang="en-US" dirty="0"/>
          </a:p>
        </p:txBody>
      </p:sp>
      <p:grpSp>
        <p:nvGrpSpPr>
          <p:cNvPr id="13" name="Group 12">
            <a:extLst>
              <a:ext uri="{FF2B5EF4-FFF2-40B4-BE49-F238E27FC236}">
                <a16:creationId xmlns:a16="http://schemas.microsoft.com/office/drawing/2014/main" id="{4911C40D-453A-DCC5-4967-120424498C66}"/>
              </a:ext>
            </a:extLst>
          </p:cNvPr>
          <p:cNvGrpSpPr/>
          <p:nvPr/>
        </p:nvGrpSpPr>
        <p:grpSpPr>
          <a:xfrm>
            <a:off x="2133600" y="5459849"/>
            <a:ext cx="6543676" cy="1169551"/>
            <a:chOff x="2133600" y="5459849"/>
            <a:chExt cx="6543676" cy="1169551"/>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p:nvPr/>
              </p:nvSpPr>
              <p:spPr>
                <a:xfrm>
                  <a:off x="2133600" y="5498068"/>
                  <a:ext cx="1533525"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m:oMathPara>
                  </a14:m>
                  <a:endParaRPr lang="en-US" dirty="0"/>
                </a:p>
              </p:txBody>
            </p:sp>
          </mc:Choice>
          <mc:Fallback xmlns="">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133600" y="5498068"/>
                  <a:ext cx="1533525" cy="369332"/>
                </a:xfrm>
                <a:prstGeom prst="rect">
                  <a:avLst/>
                </a:prstGeom>
                <a:blipFill>
                  <a:blip r:embed="rId3"/>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D48821B-8C75-76CE-662C-A45020AF98E0}"/>
                </a:ext>
                <a:ext uri="{C183D7F6-B498-43B3-948B-1728B52AA6E4}">
                  <adec:decorative xmlns:adec="http://schemas.microsoft.com/office/drawing/2017/decorative" val="0"/>
                </a:ext>
              </a:extLst>
            </p:cNvPr>
            <p:cNvSpPr txBox="1"/>
            <p:nvPr/>
          </p:nvSpPr>
          <p:spPr>
            <a:xfrm>
              <a:off x="3829051" y="5498068"/>
              <a:ext cx="533400"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p:nvPr/>
              </p:nvSpPr>
              <p:spPr>
                <a:xfrm>
                  <a:off x="4419601" y="5498068"/>
                  <a:ext cx="1447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4419601" y="5498068"/>
                  <a:ext cx="1447800" cy="369332"/>
                </a:xfrm>
                <a:prstGeom prst="rect">
                  <a:avLst/>
                </a:prstGeom>
                <a:blipFill>
                  <a:blip r:embed="rId4"/>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p:nvPr/>
              </p:nvSpPr>
              <p:spPr>
                <a:xfrm>
                  <a:off x="6162676" y="5459849"/>
                  <a:ext cx="2514600" cy="1169551"/>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𝑆</m:t>
                      </m:r>
                    </m:oMath>
                  </a14:m>
                  <a:r>
                    <a:rPr lang="en-US" sz="1400" dirty="0"/>
                    <a:t>        … set of states</a:t>
                  </a:r>
                </a:p>
                <a:p>
                  <a14:m>
                    <m:oMath xmlns:m="http://schemas.openxmlformats.org/officeDocument/2006/math">
                      <m:r>
                        <a:rPr lang="en-US" sz="1400" b="0" i="1" smtClean="0">
                          <a:latin typeface="Cambria Math" panose="02040503050406030204" pitchFamily="18" charset="0"/>
                        </a:rPr>
                        <m:t>𝐴</m:t>
                      </m:r>
                    </m:oMath>
                  </a14:m>
                  <a:r>
                    <a:rPr lang="en-US" sz="1400" dirty="0"/>
                    <a:t>        … set of available actions</a:t>
                  </a:r>
                </a:p>
                <a:p>
                  <a14:m>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 an action</a:t>
                  </a:r>
                </a:p>
                <a:p>
                  <a14:m>
                    <m:oMath xmlns:m="http://schemas.openxmlformats.org/officeDocument/2006/math">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current state</a:t>
                  </a:r>
                </a:p>
                <a:p>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next state</a:t>
                  </a:r>
                </a:p>
              </p:txBody>
            </p:sp>
          </mc:Choice>
          <mc:Fallback xmlns="">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162676" y="5459849"/>
                  <a:ext cx="2514600" cy="1169551"/>
                </a:xfrm>
                <a:prstGeom prst="rect">
                  <a:avLst/>
                </a:prstGeom>
                <a:blipFill>
                  <a:blip r:embed="rId5"/>
                  <a:stretch>
                    <a:fillRect t="-1042" b="-4167"/>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1F9A59A-EC69-2991-376B-38B0F1894943}"/>
              </a:ext>
            </a:extLst>
          </p:cNvPr>
          <p:cNvGrpSpPr/>
          <p:nvPr/>
        </p:nvGrpSpPr>
        <p:grpSpPr>
          <a:xfrm>
            <a:off x="4038600" y="1850416"/>
            <a:ext cx="4489155" cy="2541383"/>
            <a:chOff x="4038600" y="1850416"/>
            <a:chExt cx="4489155" cy="2541383"/>
          </a:xfrm>
        </p:grpSpPr>
        <p:grpSp>
          <p:nvGrpSpPr>
            <p:cNvPr id="7" name="Group 6">
              <a:extLst>
                <a:ext uri="{FF2B5EF4-FFF2-40B4-BE49-F238E27FC236}">
                  <a16:creationId xmlns:a16="http://schemas.microsoft.com/office/drawing/2014/main" id="{B526ECBA-AB2D-2519-6D4F-B8C7C5230D83}"/>
                </a:ext>
              </a:extLst>
            </p:cNvPr>
            <p:cNvGrpSpPr/>
            <p:nvPr/>
          </p:nvGrpSpPr>
          <p:grpSpPr>
            <a:xfrm>
              <a:off x="4038600" y="1850416"/>
              <a:ext cx="4489155" cy="2492984"/>
              <a:chOff x="4038600" y="1850416"/>
              <a:chExt cx="4489155" cy="2492984"/>
            </a:xfrm>
          </p:grpSpPr>
          <p:pic>
            <p:nvPicPr>
              <p:cNvPr id="4" name="Picture 6">
                <a:extLst>
                  <a:ext uri="{FF2B5EF4-FFF2-40B4-BE49-F238E27FC236}">
                    <a16:creationId xmlns:a16="http://schemas.microsoft.com/office/drawing/2014/main" id="{1A0A61BC-FB53-9039-E36C-C55166799046}"/>
                  </a:ext>
                  <a:ext uri="{C183D7F6-B498-43B3-948B-1728B52AA6E4}">
                    <adec:decorative xmlns:adec="http://schemas.microsoft.com/office/drawing/2017/decorative" val="1"/>
                  </a:ext>
                </a:extLst>
              </p:cNvPr>
              <p:cNvPicPr>
                <a:picLocks noChangeAspect="1" noChangeArrowheads="1"/>
              </p:cNvPicPr>
              <p:nvPr/>
            </p:nvPicPr>
            <p:blipFill>
              <a:blip r:embed="rId6" cstate="print"/>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5" name="Speech Bubble: Rectangle 4">
                <a:extLst>
                  <a:ext uri="{FF2B5EF4-FFF2-40B4-BE49-F238E27FC236}">
                    <a16:creationId xmlns:a16="http://schemas.microsoft.com/office/drawing/2014/main" id="{3EDFDD20-31F0-E5BB-A0B7-B9234C3BE12A}"/>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State</a:t>
                </a:r>
              </a:p>
            </p:txBody>
          </p:sp>
          <p:sp>
            <p:nvSpPr>
              <p:cNvPr id="6" name="Speech Bubble: Rectangle 5">
                <a:extLst>
                  <a:ext uri="{FF2B5EF4-FFF2-40B4-BE49-F238E27FC236}">
                    <a16:creationId xmlns:a16="http://schemas.microsoft.com/office/drawing/2014/main" id="{FA455424-E70B-C037-EA6B-959892952F00}"/>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t>Action/</a:t>
                </a:r>
                <a:br>
                  <a:rPr lang="en-US" sz="1600" dirty="0"/>
                </a:br>
                <a:r>
                  <a:rPr lang="en-US" sz="1600" dirty="0"/>
                  <a:t>Transition</a:t>
                </a:r>
              </a:p>
            </p:txBody>
          </p:sp>
        </p:grpSp>
        <p:sp>
          <p:nvSpPr>
            <p:cNvPr id="14" name="TextBox 13">
              <a:extLst>
                <a:ext uri="{FF2B5EF4-FFF2-40B4-BE49-F238E27FC236}">
                  <a16:creationId xmlns:a16="http://schemas.microsoft.com/office/drawing/2014/main" id="{42ACA45F-D153-FEDC-27C0-D9BA03725C51}"/>
                </a:ext>
              </a:extLst>
            </p:cNvPr>
            <p:cNvSpPr txBox="1"/>
            <p:nvPr/>
          </p:nvSpPr>
          <p:spPr>
            <a:xfrm>
              <a:off x="7162800" y="4114800"/>
              <a:ext cx="1227466" cy="276999"/>
            </a:xfrm>
            <a:prstGeom prst="rect">
              <a:avLst/>
            </a:prstGeom>
            <a:noFill/>
          </p:spPr>
          <p:txBody>
            <a:bodyPr wrap="square" rtlCol="0">
              <a:spAutoFit/>
            </a:bodyPr>
            <a:lstStyle/>
            <a:p>
              <a:r>
                <a:rPr lang="en-US" sz="1200" dirty="0"/>
                <a:t>Transition model</a:t>
              </a:r>
            </a:p>
          </p:txBody>
        </p:sp>
      </p:grpSp>
    </p:spTree>
    <p:extLst>
      <p:ext uri="{BB962C8B-B14F-4D97-AF65-F5344CB8AC3E}">
        <p14:creationId xmlns:p14="http://schemas.microsoft.com/office/powerpoint/2010/main" val="326601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w V Mechanical Tstat, 50 to 90F, White">
            <a:extLst>
              <a:ext uri="{FF2B5EF4-FFF2-40B4-BE49-F238E27FC236}">
                <a16:creationId xmlns:a16="http://schemas.microsoft.com/office/drawing/2014/main" id="{0D95B34D-A495-4F79-83B6-981EF65CC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532" y="597932"/>
            <a:ext cx="2526268" cy="25262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hoto of a Nest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166464" y="1078290"/>
            <a:ext cx="2682136" cy="1536588"/>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a:t>
            </a:r>
          </a:p>
        </p:txBody>
      </p:sp>
      <p:grpSp>
        <p:nvGrpSpPr>
          <p:cNvPr id="24" name="Group 23">
            <a:extLst>
              <a:ext uri="{FF2B5EF4-FFF2-40B4-BE49-F238E27FC236}">
                <a16:creationId xmlns:a16="http://schemas.microsoft.com/office/drawing/2014/main" id="{5515EFA8-D30A-9AAC-78C9-55B52FB4BF9C}"/>
              </a:ext>
            </a:extLst>
          </p:cNvPr>
          <p:cNvGrpSpPr/>
          <p:nvPr/>
        </p:nvGrpSpPr>
        <p:grpSpPr>
          <a:xfrm>
            <a:off x="685800" y="27432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 uri="{C183D7F6-B498-43B3-948B-1728B52AA6E4}">
                  <adec:decorative xmlns:adec="http://schemas.microsoft.com/office/drawing/2017/decorative" val="1"/>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 uri="{C183D7F6-B498-43B3-948B-1728B52AA6E4}">
                  <adec:decorative xmlns:adec="http://schemas.microsoft.com/office/drawing/2017/decorative" val="1"/>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sp>
          <p:nvSpPr>
            <p:cNvPr id="3" name="TextBox 2">
              <a:extLst>
                <a:ext uri="{FF2B5EF4-FFF2-40B4-BE49-F238E27FC236}">
                  <a16:creationId xmlns:a16="http://schemas.microsoft.com/office/drawing/2014/main" id="{8BEC33CE-2976-42AA-AC2E-2DB601416A8A}"/>
                </a:ext>
                <a:ext uri="{C183D7F6-B498-43B3-948B-1728B52AA6E4}">
                  <adec:decorative xmlns:adec="http://schemas.microsoft.com/office/drawing/2017/decorative" val="1"/>
                </a:ext>
              </a:extLst>
            </p:cNvPr>
            <p:cNvSpPr txBox="1"/>
            <p:nvPr/>
          </p:nvSpPr>
          <p:spPr>
            <a:xfrm>
              <a:off x="762000" y="3115557"/>
              <a:ext cx="1003929" cy="369332"/>
            </a:xfrm>
            <a:prstGeom prst="rect">
              <a:avLst/>
            </a:prstGeom>
            <a:noFill/>
          </p:spPr>
          <p:txBody>
            <a:bodyPr wrap="none" rtlCol="0">
              <a:spAutoFit/>
            </a:bodyPr>
            <a:lstStyle/>
            <a:p>
              <a:r>
                <a:rPr lang="en-US" b="1" dirty="0"/>
                <a:t>Percepts</a:t>
              </a:r>
              <a:endParaRPr lang="en-US" dirty="0"/>
            </a:p>
          </p:txBody>
        </p:sp>
        <p:sp>
          <p:nvSpPr>
            <p:cNvPr id="13" name="TextBox 12">
              <a:extLst>
                <a:ext uri="{FF2B5EF4-FFF2-40B4-BE49-F238E27FC236}">
                  <a16:creationId xmlns:a16="http://schemas.microsoft.com/office/drawing/2014/main" id="{9B402BD5-D8DE-40BF-8FAC-7554706570E3}"/>
                </a:ext>
                <a:ext uri="{C183D7F6-B498-43B3-948B-1728B52AA6E4}">
                  <adec:decorative xmlns:adec="http://schemas.microsoft.com/office/drawing/2017/decorative" val="1"/>
                </a:ext>
              </a:extLst>
            </p:cNvPr>
            <p:cNvSpPr txBox="1"/>
            <p:nvPr/>
          </p:nvSpPr>
          <p:spPr>
            <a:xfrm>
              <a:off x="2436122" y="3124200"/>
              <a:ext cx="1607588" cy="369332"/>
            </a:xfrm>
            <a:prstGeom prst="rect">
              <a:avLst/>
            </a:prstGeom>
            <a:noFill/>
          </p:spPr>
          <p:txBody>
            <a:bodyPr wrap="square" rtlCol="0">
              <a:spAutoFit/>
            </a:bodyPr>
            <a:lstStyle/>
            <a:p>
              <a:r>
                <a:rPr lang="en-US" b="1" dirty="0"/>
                <a:t>States</a:t>
              </a:r>
            </a:p>
          </p:txBody>
        </p:sp>
        <p:cxnSp>
          <p:nvCxnSpPr>
            <p:cNvPr id="6" name="Straight Connector 5">
              <a:extLst>
                <a:ext uri="{FF2B5EF4-FFF2-40B4-BE49-F238E27FC236}">
                  <a16:creationId xmlns:a16="http://schemas.microsoft.com/office/drawing/2014/main" id="{45059520-DFE9-4791-94EB-AA0EE19A9FE6}"/>
                </a:ext>
                <a:ext uri="{C183D7F6-B498-43B3-948B-1728B52AA6E4}">
                  <adec:decorative xmlns:adec="http://schemas.microsoft.com/office/drawing/2017/decorative" val="1"/>
                </a:ext>
              </a:extLst>
            </p:cNvPr>
            <p:cNvCxnSpPr>
              <a:cxnSpLocks/>
            </p:cNvCxnSpPr>
            <p:nvPr/>
          </p:nvCxnSpPr>
          <p:spPr>
            <a:xfrm>
              <a:off x="2273016" y="33528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0A6B2FF0-A1AF-CE80-7F30-A09DF2D42542}"/>
                </a:ext>
                <a:ext uri="{C183D7F6-B498-43B3-948B-1728B52AA6E4}">
                  <adec:decorative xmlns:adec="http://schemas.microsoft.com/office/drawing/2017/decorative" val="1"/>
                </a:ext>
              </a:extLst>
            </p:cNvPr>
            <p:cNvSpPr txBox="1"/>
            <p:nvPr/>
          </p:nvSpPr>
          <p:spPr>
            <a:xfrm>
              <a:off x="818552" y="5334000"/>
              <a:ext cx="1222514" cy="369332"/>
            </a:xfrm>
            <a:prstGeom prst="rect">
              <a:avLst/>
            </a:prstGeom>
            <a:noFill/>
          </p:spPr>
          <p:txBody>
            <a:bodyPr wrap="none" rtlCol="0">
              <a:spAutoFit/>
            </a:bodyPr>
            <a:lstStyle/>
            <a:p>
              <a:r>
                <a:rPr lang="en-US" b="1" dirty="0"/>
                <a:t>Transitions</a:t>
              </a:r>
              <a:endParaRPr lang="en-US" dirty="0"/>
            </a:p>
          </p:txBody>
        </p:sp>
        <p:cxnSp>
          <p:nvCxnSpPr>
            <p:cNvPr id="16" name="Straight Connector 15">
              <a:extLst>
                <a:ext uri="{FF2B5EF4-FFF2-40B4-BE49-F238E27FC236}">
                  <a16:creationId xmlns:a16="http://schemas.microsoft.com/office/drawing/2014/main" id="{FAE66207-8143-083F-8D08-1772CFFAF979}"/>
                </a:ext>
                <a:ext uri="{C183D7F6-B498-43B3-948B-1728B52AA6E4}">
                  <adec:decorative xmlns:adec="http://schemas.microsoft.com/office/drawing/2017/decorative" val="1"/>
                </a:ext>
              </a:extLst>
            </p:cNvPr>
            <p:cNvCxnSpPr>
              <a:cxnSpLocks/>
            </p:cNvCxnSpPr>
            <p:nvPr/>
          </p:nvCxnSpPr>
          <p:spPr>
            <a:xfrm>
              <a:off x="914400" y="53340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5" name="Group 24">
            <a:extLst>
              <a:ext uri="{FF2B5EF4-FFF2-40B4-BE49-F238E27FC236}">
                <a16:creationId xmlns:a16="http://schemas.microsoft.com/office/drawing/2014/main" id="{700948ED-EA07-F118-4AEB-328DDD51F741}"/>
              </a:ext>
            </a:extLst>
          </p:cNvPr>
          <p:cNvGrpSpPr/>
          <p:nvPr/>
        </p:nvGrpSpPr>
        <p:grpSpPr>
          <a:xfrm>
            <a:off x="4800600" y="2743200"/>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 uri="{C183D7F6-B498-43B3-948B-1728B52AA6E4}">
                  <adec:decorative xmlns:adec="http://schemas.microsoft.com/office/drawing/2017/decorative" val="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46BEEC65-AC0E-437D-8CD7-B9F36A8B4660}"/>
                </a:ext>
                <a:ext uri="{C183D7F6-B498-43B3-948B-1728B52AA6E4}">
                  <adec:decorative xmlns:adec="http://schemas.microsoft.com/office/drawing/2017/decorative" val="1"/>
                </a:ext>
              </a:extLst>
            </p:cNvPr>
            <p:cNvSpPr/>
            <p:nvPr/>
          </p:nvSpPr>
          <p:spPr>
            <a:xfrm>
              <a:off x="5486402" y="2819400"/>
              <a:ext cx="1842684" cy="369332"/>
            </a:xfrm>
            <a:prstGeom prst="rect">
              <a:avLst/>
            </a:prstGeom>
          </p:spPr>
          <p:txBody>
            <a:bodyPr wrap="none">
              <a:spAutoFit/>
            </a:bodyPr>
            <a:lstStyle/>
            <a:p>
              <a:r>
                <a:rPr lang="en-US" dirty="0"/>
                <a:t>Smart thermostat</a:t>
              </a:r>
            </a:p>
          </p:txBody>
        </p:sp>
        <p:sp>
          <p:nvSpPr>
            <p:cNvPr id="19" name="TextBox 18">
              <a:extLst>
                <a:ext uri="{FF2B5EF4-FFF2-40B4-BE49-F238E27FC236}">
                  <a16:creationId xmlns:a16="http://schemas.microsoft.com/office/drawing/2014/main" id="{011FB6B7-FA0E-9D9C-FF19-817ADA883E8E}"/>
                </a:ext>
                <a:ext uri="{C183D7F6-B498-43B3-948B-1728B52AA6E4}">
                  <adec:decorative xmlns:adec="http://schemas.microsoft.com/office/drawing/2017/decorative" val="1"/>
                </a:ext>
              </a:extLst>
            </p:cNvPr>
            <p:cNvSpPr txBox="1"/>
            <p:nvPr/>
          </p:nvSpPr>
          <p:spPr>
            <a:xfrm>
              <a:off x="4876800" y="3147823"/>
              <a:ext cx="1003929" cy="369332"/>
            </a:xfrm>
            <a:prstGeom prst="rect">
              <a:avLst/>
            </a:prstGeom>
            <a:noFill/>
          </p:spPr>
          <p:txBody>
            <a:bodyPr wrap="none" rtlCol="0">
              <a:spAutoFit/>
            </a:bodyPr>
            <a:lstStyle/>
            <a:p>
              <a:r>
                <a:rPr lang="en-US" b="1" dirty="0"/>
                <a:t>Percepts</a:t>
              </a:r>
              <a:endParaRPr lang="en-US" dirty="0"/>
            </a:p>
          </p:txBody>
        </p:sp>
        <p:sp>
          <p:nvSpPr>
            <p:cNvPr id="20" name="TextBox 19">
              <a:extLst>
                <a:ext uri="{FF2B5EF4-FFF2-40B4-BE49-F238E27FC236}">
                  <a16:creationId xmlns:a16="http://schemas.microsoft.com/office/drawing/2014/main" id="{D6432341-E9AB-69F4-FE12-58B6192E9A1F}"/>
                </a:ext>
                <a:ext uri="{C183D7F6-B498-43B3-948B-1728B52AA6E4}">
                  <adec:decorative xmlns:adec="http://schemas.microsoft.com/office/drawing/2017/decorative" val="1"/>
                </a:ext>
              </a:extLst>
            </p:cNvPr>
            <p:cNvSpPr txBox="1"/>
            <p:nvPr/>
          </p:nvSpPr>
          <p:spPr>
            <a:xfrm>
              <a:off x="6550922" y="3156466"/>
              <a:ext cx="1607588" cy="369332"/>
            </a:xfrm>
            <a:prstGeom prst="rect">
              <a:avLst/>
            </a:prstGeom>
            <a:noFill/>
          </p:spPr>
          <p:txBody>
            <a:bodyPr wrap="square" rtlCol="0">
              <a:spAutoFit/>
            </a:bodyPr>
            <a:lstStyle/>
            <a:p>
              <a:r>
                <a:rPr lang="en-US" b="1" dirty="0"/>
                <a:t>States</a:t>
              </a:r>
            </a:p>
          </p:txBody>
        </p:sp>
        <p:cxnSp>
          <p:nvCxnSpPr>
            <p:cNvPr id="21" name="Straight Connector 20">
              <a:extLst>
                <a:ext uri="{FF2B5EF4-FFF2-40B4-BE49-F238E27FC236}">
                  <a16:creationId xmlns:a16="http://schemas.microsoft.com/office/drawing/2014/main" id="{F1F9DE0A-1E31-139C-31DF-FE6555C66BAD}"/>
                </a:ext>
                <a:ext uri="{C183D7F6-B498-43B3-948B-1728B52AA6E4}">
                  <adec:decorative xmlns:adec="http://schemas.microsoft.com/office/drawing/2017/decorative" val="1"/>
                </a:ext>
              </a:extLst>
            </p:cNvPr>
            <p:cNvCxnSpPr>
              <a:cxnSpLocks/>
            </p:cNvCxnSpPr>
            <p:nvPr/>
          </p:nvCxnSpPr>
          <p:spPr>
            <a:xfrm>
              <a:off x="6387816" y="3385066"/>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2344C1CC-6920-1244-9D3D-0A106C03B957}"/>
                </a:ext>
                <a:ext uri="{C183D7F6-B498-43B3-948B-1728B52AA6E4}">
                  <adec:decorative xmlns:adec="http://schemas.microsoft.com/office/drawing/2017/decorative" val="1"/>
                </a:ext>
              </a:extLst>
            </p:cNvPr>
            <p:cNvSpPr txBox="1"/>
            <p:nvPr/>
          </p:nvSpPr>
          <p:spPr>
            <a:xfrm>
              <a:off x="4933352" y="5366266"/>
              <a:ext cx="1222514" cy="369332"/>
            </a:xfrm>
            <a:prstGeom prst="rect">
              <a:avLst/>
            </a:prstGeom>
            <a:noFill/>
          </p:spPr>
          <p:txBody>
            <a:bodyPr wrap="none" rtlCol="0">
              <a:spAutoFit/>
            </a:bodyPr>
            <a:lstStyle/>
            <a:p>
              <a:r>
                <a:rPr lang="en-US" b="1" dirty="0"/>
                <a:t>Transitions</a:t>
              </a:r>
              <a:endParaRPr lang="en-US" dirty="0"/>
            </a:p>
          </p:txBody>
        </p:sp>
        <p:cxnSp>
          <p:nvCxnSpPr>
            <p:cNvPr id="23" name="Straight Connector 22">
              <a:extLst>
                <a:ext uri="{FF2B5EF4-FFF2-40B4-BE49-F238E27FC236}">
                  <a16:creationId xmlns:a16="http://schemas.microsoft.com/office/drawing/2014/main" id="{3D5DFC45-D2EA-2CE3-2ACE-82AE8FB28F46}"/>
                </a:ext>
                <a:ext uri="{C183D7F6-B498-43B3-948B-1728B52AA6E4}">
                  <adec:decorative xmlns:adec="http://schemas.microsoft.com/office/drawing/2017/decorative" val="1"/>
                </a:ext>
              </a:extLst>
            </p:cNvPr>
            <p:cNvCxnSpPr>
              <a:cxnSpLocks/>
            </p:cNvCxnSpPr>
            <p:nvPr/>
          </p:nvCxnSpPr>
          <p:spPr>
            <a:xfrm>
              <a:off x="5029200" y="5366266"/>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75789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 Solution</a:t>
            </a:r>
          </a:p>
        </p:txBody>
      </p:sp>
      <p:pic>
        <p:nvPicPr>
          <p:cNvPr id="22" name="Picture 21" descr="Foto of the inside of a mechanical thermostat.">
            <a:extLst>
              <a:ext uri="{FF2B5EF4-FFF2-40B4-BE49-F238E27FC236}">
                <a16:creationId xmlns:a16="http://schemas.microsoft.com/office/drawing/2014/main" id="{6CB36289-F9EB-124A-66CD-6DC6FA209F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16130" y="1421412"/>
            <a:ext cx="2211617" cy="1886379"/>
          </a:xfrm>
          <a:prstGeom prst="rect">
            <a:avLst/>
          </a:prstGeom>
          <a:ln>
            <a:noFill/>
          </a:ln>
          <a:effectLst>
            <a:softEdge rad="112500"/>
          </a:effectLst>
        </p:spPr>
      </p:pic>
      <p:sp>
        <p:nvSpPr>
          <p:cNvPr id="5" name="TextBox 4">
            <a:extLst>
              <a:ext uri="{FF2B5EF4-FFF2-40B4-BE49-F238E27FC236}">
                <a16:creationId xmlns:a16="http://schemas.microsoft.com/office/drawing/2014/main" id="{E7C2D6C5-C842-4F68-BA5B-73EEC57595E6}"/>
              </a:ext>
            </a:extLst>
          </p:cNvPr>
          <p:cNvSpPr txBox="1"/>
          <p:nvPr/>
        </p:nvSpPr>
        <p:spPr>
          <a:xfrm>
            <a:off x="3377847" y="2120462"/>
            <a:ext cx="1655513" cy="584775"/>
          </a:xfrm>
          <a:prstGeom prst="rect">
            <a:avLst/>
          </a:prstGeom>
          <a:noFill/>
        </p:spPr>
        <p:txBody>
          <a:bodyPr wrap="square" rtlCol="0">
            <a:spAutoFit/>
          </a:bodyPr>
          <a:lstStyle/>
          <a:p>
            <a:r>
              <a:rPr lang="en-US" sz="1600" dirty="0">
                <a:solidFill>
                  <a:schemeClr val="accent2"/>
                </a:solidFill>
              </a:rPr>
              <a:t>Set target temperature</a:t>
            </a:r>
          </a:p>
        </p:txBody>
      </p:sp>
      <p:pic>
        <p:nvPicPr>
          <p:cNvPr id="4" name="Picture 3" descr="Foto of a nest smart thermostat.">
            <a:extLst>
              <a:ext uri="{FF2B5EF4-FFF2-40B4-BE49-F238E27FC236}">
                <a16:creationId xmlns:a16="http://schemas.microsoft.com/office/drawing/2014/main" id="{F31ABD9D-4846-470F-B3BA-A565CD3E29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5464" y="1561590"/>
            <a:ext cx="2682136" cy="1536588"/>
          </a:xfrm>
          <a:prstGeom prst="rect">
            <a:avLst/>
          </a:prstGeom>
          <a:ln>
            <a:noFill/>
          </a:ln>
          <a:effectLst>
            <a:outerShdw blurRad="292100" dist="139700" dir="2700000" algn="tl" rotWithShape="0">
              <a:srgbClr val="333333">
                <a:alpha val="65000"/>
              </a:srgbClr>
            </a:outerShdw>
          </a:effectLst>
        </p:spPr>
      </p:pic>
      <p:sp>
        <p:nvSpPr>
          <p:cNvPr id="30" name="Speech Bubble: Rectangle 29">
            <a:extLst>
              <a:ext uri="{FF2B5EF4-FFF2-40B4-BE49-F238E27FC236}">
                <a16:creationId xmlns:a16="http://schemas.microsoft.com/office/drawing/2014/main" id="{149D56CF-CA52-6970-895D-87A82A52AD78}"/>
              </a:ext>
              <a:ext uri="{C183D7F6-B498-43B3-948B-1728B52AA6E4}">
                <adec:decorative xmlns:adec="http://schemas.microsoft.com/office/drawing/2017/decorative" val="0"/>
              </a:ext>
            </a:extLst>
          </p:cNvPr>
          <p:cNvSpPr/>
          <p:nvPr/>
        </p:nvSpPr>
        <p:spPr>
          <a:xfrm>
            <a:off x="6699912" y="943524"/>
            <a:ext cx="2063088" cy="566868"/>
          </a:xfrm>
          <a:prstGeom prst="wedgeRectCallout">
            <a:avLst>
              <a:gd name="adj1" fmla="val -42208"/>
              <a:gd name="adj2" fmla="val 139950"/>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Many sensors, internet connectivity, memory.</a:t>
            </a:r>
          </a:p>
        </p:txBody>
      </p:sp>
      <p:sp>
        <p:nvSpPr>
          <p:cNvPr id="7" name="TextBox 6">
            <a:extLst>
              <a:ext uri="{FF2B5EF4-FFF2-40B4-BE49-F238E27FC236}">
                <a16:creationId xmlns:a16="http://schemas.microsoft.com/office/drawing/2014/main" id="{B58D5326-8ECE-462C-B003-A9E569C57869}"/>
              </a:ext>
            </a:extLst>
          </p:cNvPr>
          <p:cNvSpPr txBox="1"/>
          <p:nvPr/>
        </p:nvSpPr>
        <p:spPr>
          <a:xfrm>
            <a:off x="7620000" y="1596772"/>
            <a:ext cx="1271836" cy="1323439"/>
          </a:xfrm>
          <a:prstGeom prst="rect">
            <a:avLst/>
          </a:prstGeom>
          <a:noFill/>
        </p:spPr>
        <p:txBody>
          <a:bodyPr wrap="square" rtlCol="0">
            <a:spAutoFit/>
          </a:bodyPr>
          <a:lstStyle/>
          <a:p>
            <a:r>
              <a:rPr lang="en-US" sz="1600" dirty="0">
                <a:solidFill>
                  <a:schemeClr val="accent2"/>
                </a:solidFill>
              </a:rPr>
              <a:t>Change temperature when you are too cold/warm.</a:t>
            </a:r>
          </a:p>
        </p:txBody>
      </p:sp>
      <p:sp>
        <p:nvSpPr>
          <p:cNvPr id="23" name="Freeform: Shape 22">
            <a:extLst>
              <a:ext uri="{FF2B5EF4-FFF2-40B4-BE49-F238E27FC236}">
                <a16:creationId xmlns:a16="http://schemas.microsoft.com/office/drawing/2014/main" id="{0456D4DE-22D7-F05D-A6B8-FCA00DD1B1B0}"/>
              </a:ext>
              <a:ext uri="{C183D7F6-B498-43B3-948B-1728B52AA6E4}">
                <adec:decorative xmlns:adec="http://schemas.microsoft.com/office/drawing/2017/decorative" val="1"/>
              </a:ext>
            </a:extLst>
          </p:cNvPr>
          <p:cNvSpPr/>
          <p:nvPr/>
        </p:nvSpPr>
        <p:spPr>
          <a:xfrm rot="11970244">
            <a:off x="1929279" y="2371945"/>
            <a:ext cx="373208" cy="325342"/>
          </a:xfrm>
          <a:custGeom>
            <a:avLst/>
            <a:gdLst>
              <a:gd name="connsiteX0" fmla="*/ 236017 w 590632"/>
              <a:gd name="connsiteY0" fmla="*/ 313001 h 506066"/>
              <a:gd name="connsiteX1" fmla="*/ 243392 w 590632"/>
              <a:gd name="connsiteY1" fmla="*/ 172891 h 506066"/>
              <a:gd name="connsiteX2" fmla="*/ 449869 w 590632"/>
              <a:gd name="connsiteY2" fmla="*/ 246633 h 506066"/>
              <a:gd name="connsiteX3" fmla="*/ 390876 w 590632"/>
              <a:gd name="connsiteY3" fmla="*/ 497356 h 506066"/>
              <a:gd name="connsiteX4" fmla="*/ 88534 w 590632"/>
              <a:gd name="connsiteY4" fmla="*/ 453110 h 506066"/>
              <a:gd name="connsiteX5" fmla="*/ 43 w 590632"/>
              <a:gd name="connsiteY5" fmla="*/ 209762 h 506066"/>
              <a:gd name="connsiteX6" fmla="*/ 95908 w 590632"/>
              <a:gd name="connsiteY6" fmla="*/ 10659 h 506066"/>
              <a:gd name="connsiteX7" fmla="*/ 331882 w 590632"/>
              <a:gd name="connsiteY7" fmla="*/ 25407 h 506066"/>
              <a:gd name="connsiteX8" fmla="*/ 368753 w 590632"/>
              <a:gd name="connsiteY8" fmla="*/ 32781 h 506066"/>
              <a:gd name="connsiteX9" fmla="*/ 560482 w 590632"/>
              <a:gd name="connsiteY9" fmla="*/ 128646 h 506066"/>
              <a:gd name="connsiteX10" fmla="*/ 582605 w 590632"/>
              <a:gd name="connsiteY10" fmla="*/ 180265 h 506066"/>
              <a:gd name="connsiteX11" fmla="*/ 589979 w 590632"/>
              <a:gd name="connsiteY11" fmla="*/ 327749 h 506066"/>
              <a:gd name="connsiteX12" fmla="*/ 567856 w 590632"/>
              <a:gd name="connsiteY12" fmla="*/ 401491 h 506066"/>
              <a:gd name="connsiteX13" fmla="*/ 582605 w 590632"/>
              <a:gd name="connsiteY13" fmla="*/ 408865 h 50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0632" h="506066">
                <a:moveTo>
                  <a:pt x="236017" y="313001"/>
                </a:moveTo>
                <a:cubicBezTo>
                  <a:pt x="221883" y="248476"/>
                  <a:pt x="207750" y="183952"/>
                  <a:pt x="243392" y="172891"/>
                </a:cubicBezTo>
                <a:cubicBezTo>
                  <a:pt x="279034" y="161830"/>
                  <a:pt x="425288" y="192556"/>
                  <a:pt x="449869" y="246633"/>
                </a:cubicBezTo>
                <a:cubicBezTo>
                  <a:pt x="474450" y="300710"/>
                  <a:pt x="451099" y="462943"/>
                  <a:pt x="390876" y="497356"/>
                </a:cubicBezTo>
                <a:cubicBezTo>
                  <a:pt x="330654" y="531769"/>
                  <a:pt x="88534" y="453110"/>
                  <a:pt x="88534" y="453110"/>
                </a:cubicBezTo>
                <a:cubicBezTo>
                  <a:pt x="23395" y="405178"/>
                  <a:pt x="-1186" y="283504"/>
                  <a:pt x="43" y="209762"/>
                </a:cubicBezTo>
                <a:cubicBezTo>
                  <a:pt x="1272" y="136020"/>
                  <a:pt x="40602" y="41385"/>
                  <a:pt x="95908" y="10659"/>
                </a:cubicBezTo>
                <a:cubicBezTo>
                  <a:pt x="151214" y="-20067"/>
                  <a:pt x="331882" y="25407"/>
                  <a:pt x="331882" y="25407"/>
                </a:cubicBezTo>
                <a:cubicBezTo>
                  <a:pt x="377356" y="29094"/>
                  <a:pt x="330653" y="15574"/>
                  <a:pt x="368753" y="32781"/>
                </a:cubicBezTo>
                <a:cubicBezTo>
                  <a:pt x="406853" y="49987"/>
                  <a:pt x="524840" y="104065"/>
                  <a:pt x="560482" y="128646"/>
                </a:cubicBezTo>
                <a:cubicBezTo>
                  <a:pt x="596124" y="153227"/>
                  <a:pt x="577689" y="147081"/>
                  <a:pt x="582605" y="180265"/>
                </a:cubicBezTo>
                <a:cubicBezTo>
                  <a:pt x="587521" y="213449"/>
                  <a:pt x="592437" y="290878"/>
                  <a:pt x="589979" y="327749"/>
                </a:cubicBezTo>
                <a:cubicBezTo>
                  <a:pt x="587521" y="364620"/>
                  <a:pt x="567856" y="401491"/>
                  <a:pt x="567856" y="401491"/>
                </a:cubicBezTo>
                <a:cubicBezTo>
                  <a:pt x="566627" y="415010"/>
                  <a:pt x="574616" y="411937"/>
                  <a:pt x="582605" y="40886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6" name="Speech Bubble: Rectangle 25">
            <a:extLst>
              <a:ext uri="{FF2B5EF4-FFF2-40B4-BE49-F238E27FC236}">
                <a16:creationId xmlns:a16="http://schemas.microsoft.com/office/drawing/2014/main" id="{34202182-06A3-ECD2-E6CE-D328CADC4D88}"/>
              </a:ext>
              <a:ext uri="{C183D7F6-B498-43B3-948B-1728B52AA6E4}">
                <adec:decorative xmlns:adec="http://schemas.microsoft.com/office/drawing/2017/decorative" val="1"/>
              </a:ext>
            </a:extLst>
          </p:cNvPr>
          <p:cNvSpPr/>
          <p:nvPr/>
        </p:nvSpPr>
        <p:spPr>
          <a:xfrm>
            <a:off x="2354047" y="1421411"/>
            <a:ext cx="796874" cy="216378"/>
          </a:xfrm>
          <a:prstGeom prst="wedgeRectCallout">
            <a:avLst>
              <a:gd name="adj1" fmla="val -41037"/>
              <a:gd name="adj2" fmla="val 10881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Setting</a:t>
            </a:r>
          </a:p>
        </p:txBody>
      </p:sp>
      <p:sp>
        <p:nvSpPr>
          <p:cNvPr id="29" name="Speech Bubble: Rectangle 28">
            <a:extLst>
              <a:ext uri="{FF2B5EF4-FFF2-40B4-BE49-F238E27FC236}">
                <a16:creationId xmlns:a16="http://schemas.microsoft.com/office/drawing/2014/main" id="{8D835A94-9AEE-6930-E3EE-3BED17D32D94}"/>
              </a:ext>
              <a:ext uri="{C183D7F6-B498-43B3-948B-1728B52AA6E4}">
                <adec:decorative xmlns:adec="http://schemas.microsoft.com/office/drawing/2017/decorative" val="1"/>
              </a:ext>
            </a:extLst>
          </p:cNvPr>
          <p:cNvSpPr/>
          <p:nvPr/>
        </p:nvSpPr>
        <p:spPr>
          <a:xfrm>
            <a:off x="685800" y="1421413"/>
            <a:ext cx="838200" cy="216376"/>
          </a:xfrm>
          <a:prstGeom prst="wedgeRectCallout">
            <a:avLst>
              <a:gd name="adj1" fmla="val 86741"/>
              <a:gd name="adj2" fmla="val 264799"/>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Contacts</a:t>
            </a:r>
          </a:p>
        </p:txBody>
      </p:sp>
      <p:sp>
        <p:nvSpPr>
          <p:cNvPr id="31" name="Speech Bubble: Rectangle 30">
            <a:extLst>
              <a:ext uri="{FF2B5EF4-FFF2-40B4-BE49-F238E27FC236}">
                <a16:creationId xmlns:a16="http://schemas.microsoft.com/office/drawing/2014/main" id="{4F69CF10-D675-8E78-CE52-62CB67743852}"/>
              </a:ext>
            </a:extLst>
          </p:cNvPr>
          <p:cNvSpPr/>
          <p:nvPr/>
        </p:nvSpPr>
        <p:spPr>
          <a:xfrm>
            <a:off x="628650" y="2557098"/>
            <a:ext cx="854024" cy="431280"/>
          </a:xfrm>
          <a:prstGeom prst="wedgeRectCallout">
            <a:avLst>
              <a:gd name="adj1" fmla="val 118223"/>
              <a:gd name="adj2" fmla="val -4825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solidFill>
                  <a:schemeClr val="bg1"/>
                </a:solidFill>
              </a:rPr>
              <a:t>Bi-metal spring</a:t>
            </a:r>
          </a:p>
        </p:txBody>
      </p:sp>
      <p:grpSp>
        <p:nvGrpSpPr>
          <p:cNvPr id="17" name="Group 16">
            <a:extLst>
              <a:ext uri="{FF2B5EF4-FFF2-40B4-BE49-F238E27FC236}">
                <a16:creationId xmlns:a16="http://schemas.microsoft.com/office/drawing/2014/main" id="{EC9E1568-DC9E-F1F0-75F6-338765ED1E44}"/>
              </a:ext>
              <a:ext uri="{C183D7F6-B498-43B3-948B-1728B52AA6E4}">
                <adec:decorative xmlns:adec="http://schemas.microsoft.com/office/drawing/2017/decorative" val="1"/>
              </a:ext>
            </a:extLst>
          </p:cNvPr>
          <p:cNvGrpSpPr/>
          <p:nvPr/>
        </p:nvGrpSpPr>
        <p:grpSpPr>
          <a:xfrm>
            <a:off x="685800" y="32265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grpSp>
      <p:sp>
        <p:nvSpPr>
          <p:cNvPr id="21" name="TextBox 20">
            <a:extLst>
              <a:ext uri="{FF2B5EF4-FFF2-40B4-BE49-F238E27FC236}">
                <a16:creationId xmlns:a16="http://schemas.microsoft.com/office/drawing/2014/main" id="{964EFBA6-6E13-B08E-27FB-C7FFE06B5948}"/>
              </a:ext>
            </a:extLst>
          </p:cNvPr>
          <p:cNvSpPr txBox="1"/>
          <p:nvPr/>
        </p:nvSpPr>
        <p:spPr>
          <a:xfrm>
            <a:off x="825215" y="4162924"/>
            <a:ext cx="1370637" cy="1323439"/>
          </a:xfrm>
          <a:prstGeom prst="rect">
            <a:avLst/>
          </a:prstGeom>
          <a:noFill/>
        </p:spPr>
        <p:txBody>
          <a:bodyPr wrap="square">
            <a:spAutoFit/>
          </a:bodyPr>
          <a:lstStyle/>
          <a:p>
            <a:r>
              <a:rPr lang="en-US" sz="1600" dirty="0"/>
              <a:t>Setting: Cool, off, heat</a:t>
            </a:r>
            <a:br>
              <a:rPr lang="en-US" sz="1600" dirty="0"/>
            </a:br>
            <a:endParaRPr lang="en-US" sz="1600" dirty="0"/>
          </a:p>
          <a:p>
            <a:r>
              <a:rPr lang="en-US" sz="1600" dirty="0"/>
              <a:t>Contact:</a:t>
            </a:r>
          </a:p>
          <a:p>
            <a:r>
              <a:rPr lang="en-US" sz="1600" dirty="0"/>
              <a:t>Open, closed</a:t>
            </a:r>
          </a:p>
        </p:txBody>
      </p:sp>
      <p:sp>
        <p:nvSpPr>
          <p:cNvPr id="25" name="TextBox 24">
            <a:extLst>
              <a:ext uri="{FF2B5EF4-FFF2-40B4-BE49-F238E27FC236}">
                <a16:creationId xmlns:a16="http://schemas.microsoft.com/office/drawing/2014/main" id="{BDA14F90-0638-5D53-4066-051DCBBEE3C4}"/>
              </a:ext>
            </a:extLst>
          </p:cNvPr>
          <p:cNvSpPr txBox="1"/>
          <p:nvPr/>
        </p:nvSpPr>
        <p:spPr>
          <a:xfrm>
            <a:off x="2420956" y="4286034"/>
            <a:ext cx="1497068" cy="1323439"/>
          </a:xfrm>
          <a:prstGeom prst="rect">
            <a:avLst/>
          </a:prstGeom>
          <a:noFill/>
        </p:spPr>
        <p:txBody>
          <a:bodyPr wrap="square">
            <a:spAutoFit/>
          </a:bodyPr>
          <a:lstStyle/>
          <a:p>
            <a:r>
              <a:rPr lang="en-US" sz="1600" dirty="0"/>
              <a:t>The agent uses no states (only reacts to the current percepts)</a:t>
            </a:r>
          </a:p>
        </p:txBody>
      </p:sp>
      <p:grpSp>
        <p:nvGrpSpPr>
          <p:cNvPr id="28" name="Group 27" descr="Old-school thermostat: &#10;&#10;Percepts are: User setting and if the contact for the temperature sensor is open or closed.&#10;&#10;States: Has no states.&#10;&#10;Transistions: none">
            <a:extLst>
              <a:ext uri="{FF2B5EF4-FFF2-40B4-BE49-F238E27FC236}">
                <a16:creationId xmlns:a16="http://schemas.microsoft.com/office/drawing/2014/main" id="{7C7E8C33-9DDE-8021-C277-AB82E84EB675}"/>
              </a:ext>
            </a:extLst>
          </p:cNvPr>
          <p:cNvGrpSpPr/>
          <p:nvPr/>
        </p:nvGrpSpPr>
        <p:grpSpPr>
          <a:xfrm>
            <a:off x="820763" y="3640013"/>
            <a:ext cx="3281710" cy="2587775"/>
            <a:chOff x="-2420236" y="3065457"/>
            <a:chExt cx="3281710" cy="2587775"/>
          </a:xfrm>
        </p:grpSpPr>
        <p:sp>
          <p:nvSpPr>
            <p:cNvPr id="18" name="TextBox 17">
              <a:extLst>
                <a:ext uri="{FF2B5EF4-FFF2-40B4-BE49-F238E27FC236}">
                  <a16:creationId xmlns:a16="http://schemas.microsoft.com/office/drawing/2014/main" id="{D7B81FFE-561F-C003-2EBE-20C927DF6531}"/>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19" name="TextBox 18">
              <a:extLst>
                <a:ext uri="{FF2B5EF4-FFF2-40B4-BE49-F238E27FC236}">
                  <a16:creationId xmlns:a16="http://schemas.microsoft.com/office/drawing/2014/main" id="{3D8AC12F-9165-952E-1926-343A03C9509E}"/>
                </a:ext>
                <a:ext uri="{C183D7F6-B498-43B3-948B-1728B52AA6E4}">
                  <adec:decorative xmlns:adec="http://schemas.microsoft.com/office/drawing/2017/decorative" val="1"/>
                </a:ext>
              </a:extLst>
            </p:cNvPr>
            <p:cNvSpPr txBox="1"/>
            <p:nvPr/>
          </p:nvSpPr>
          <p:spPr>
            <a:xfrm>
              <a:off x="-746114" y="3074100"/>
              <a:ext cx="1607588" cy="369332"/>
            </a:xfrm>
            <a:prstGeom prst="rect">
              <a:avLst/>
            </a:prstGeom>
            <a:noFill/>
          </p:spPr>
          <p:txBody>
            <a:bodyPr wrap="square" rtlCol="0">
              <a:spAutoFit/>
            </a:bodyPr>
            <a:lstStyle/>
            <a:p>
              <a:r>
                <a:rPr lang="en-US" b="1" dirty="0"/>
                <a:t>State</a:t>
              </a:r>
            </a:p>
          </p:txBody>
        </p:sp>
        <p:cxnSp>
          <p:nvCxnSpPr>
            <p:cNvPr id="20" name="Straight Connector 19">
              <a:extLst>
                <a:ext uri="{FF2B5EF4-FFF2-40B4-BE49-F238E27FC236}">
                  <a16:creationId xmlns:a16="http://schemas.microsoft.com/office/drawing/2014/main" id="{39C8779F-0FCD-B374-F881-B34591FA76D7}"/>
                </a:ext>
                <a:ext uri="{C183D7F6-B498-43B3-948B-1728B52AA6E4}">
                  <adec:decorative xmlns:adec="http://schemas.microsoft.com/office/drawing/2017/decorative" val="1"/>
                </a:ext>
              </a:extLst>
            </p:cNvPr>
            <p:cNvCxnSpPr>
              <a:cxnSpLocks/>
            </p:cNvCxnSpPr>
            <p:nvPr/>
          </p:nvCxnSpPr>
          <p:spPr>
            <a:xfrm>
              <a:off x="-909220" y="33027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47317A5F-7649-6401-B7A8-3209EB1C03F5}"/>
                </a:ext>
                <a:ext uri="{C183D7F6-B498-43B3-948B-1728B52AA6E4}">
                  <adec:decorative xmlns:adec="http://schemas.microsoft.com/office/drawing/2017/decorative" val="1"/>
                </a:ext>
              </a:extLst>
            </p:cNvPr>
            <p:cNvSpPr txBox="1"/>
            <p:nvPr/>
          </p:nvSpPr>
          <p:spPr>
            <a:xfrm>
              <a:off x="-2363684" y="5283900"/>
              <a:ext cx="1222514" cy="369332"/>
            </a:xfrm>
            <a:prstGeom prst="rect">
              <a:avLst/>
            </a:prstGeom>
            <a:noFill/>
          </p:spPr>
          <p:txBody>
            <a:bodyPr wrap="none" rtlCol="0">
              <a:spAutoFit/>
            </a:bodyPr>
            <a:lstStyle/>
            <a:p>
              <a:r>
                <a:rPr lang="en-US" b="1" dirty="0"/>
                <a:t>Transitions</a:t>
              </a:r>
              <a:endParaRPr lang="en-US" dirty="0"/>
            </a:p>
          </p:txBody>
        </p:sp>
        <p:cxnSp>
          <p:nvCxnSpPr>
            <p:cNvPr id="27" name="Straight Connector 26">
              <a:extLst>
                <a:ext uri="{FF2B5EF4-FFF2-40B4-BE49-F238E27FC236}">
                  <a16:creationId xmlns:a16="http://schemas.microsoft.com/office/drawing/2014/main" id="{40B253DD-9C75-C5BD-19A0-F8AC813E01B5}"/>
                </a:ext>
                <a:ext uri="{C183D7F6-B498-43B3-948B-1728B52AA6E4}">
                  <adec:decorative xmlns:adec="http://schemas.microsoft.com/office/drawing/2017/decorative" val="1"/>
                </a:ext>
              </a:extLst>
            </p:cNvPr>
            <p:cNvCxnSpPr>
              <a:cxnSpLocks/>
            </p:cNvCxnSpPr>
            <p:nvPr/>
          </p:nvCxnSpPr>
          <p:spPr>
            <a:xfrm>
              <a:off x="-2267836" y="52839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33" name="TextBox 32">
            <a:extLst>
              <a:ext uri="{FF2B5EF4-FFF2-40B4-BE49-F238E27FC236}">
                <a16:creationId xmlns:a16="http://schemas.microsoft.com/office/drawing/2014/main" id="{9CED989F-A650-7DDE-F749-A502809B8849}"/>
              </a:ext>
            </a:extLst>
          </p:cNvPr>
          <p:cNvSpPr txBox="1"/>
          <p:nvPr/>
        </p:nvSpPr>
        <p:spPr>
          <a:xfrm>
            <a:off x="920707" y="6166563"/>
            <a:ext cx="2997317" cy="338554"/>
          </a:xfrm>
          <a:prstGeom prst="rect">
            <a:avLst/>
          </a:prstGeom>
          <a:noFill/>
        </p:spPr>
        <p:txBody>
          <a:bodyPr wrap="square">
            <a:spAutoFit/>
          </a:bodyPr>
          <a:lstStyle/>
          <a:p>
            <a:r>
              <a:rPr lang="en-US" sz="1600" dirty="0"/>
              <a:t>No transitions (has no states)</a:t>
            </a:r>
          </a:p>
        </p:txBody>
      </p:sp>
      <p:grpSp>
        <p:nvGrpSpPr>
          <p:cNvPr id="16" name="Group 15" descr="A smart thermostat has many sensors and is internet connected. The state contains information like: is someone home, estimated time to cool down the house. The transition model has many transitions like: A person walks in the house.">
            <a:extLst>
              <a:ext uri="{FF2B5EF4-FFF2-40B4-BE49-F238E27FC236}">
                <a16:creationId xmlns:a16="http://schemas.microsoft.com/office/drawing/2014/main" id="{9EEA5130-0B05-07C3-5A7A-1178C9EB196C}"/>
              </a:ext>
              <a:ext uri="{C183D7F6-B498-43B3-948B-1728B52AA6E4}">
                <adec:decorative xmlns:adec="http://schemas.microsoft.com/office/drawing/2017/decorative" val="0"/>
              </a:ext>
            </a:extLst>
          </p:cNvPr>
          <p:cNvGrpSpPr/>
          <p:nvPr/>
        </p:nvGrpSpPr>
        <p:grpSpPr>
          <a:xfrm>
            <a:off x="4759924" y="3227705"/>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BEEC65-AC0E-437D-8CD7-B9F36A8B4660}"/>
                </a:ext>
              </a:extLst>
            </p:cNvPr>
            <p:cNvSpPr/>
            <p:nvPr/>
          </p:nvSpPr>
          <p:spPr>
            <a:xfrm>
              <a:off x="5486402" y="2743200"/>
              <a:ext cx="1842684" cy="369332"/>
            </a:xfrm>
            <a:prstGeom prst="rect">
              <a:avLst/>
            </a:prstGeom>
          </p:spPr>
          <p:txBody>
            <a:bodyPr wrap="none">
              <a:spAutoFit/>
            </a:bodyPr>
            <a:lstStyle/>
            <a:p>
              <a:r>
                <a:rPr lang="en-US" dirty="0"/>
                <a:t>Smart thermostat</a:t>
              </a:r>
            </a:p>
          </p:txBody>
        </p:sp>
      </p:grpSp>
      <p:sp>
        <p:nvSpPr>
          <p:cNvPr id="32" name="TextBox 31">
            <a:extLst>
              <a:ext uri="{FF2B5EF4-FFF2-40B4-BE49-F238E27FC236}">
                <a16:creationId xmlns:a16="http://schemas.microsoft.com/office/drawing/2014/main" id="{89B1C01E-BDD5-86D3-6844-815995F7C44C}"/>
              </a:ext>
            </a:extLst>
          </p:cNvPr>
          <p:cNvSpPr txBox="1"/>
          <p:nvPr/>
        </p:nvSpPr>
        <p:spPr>
          <a:xfrm>
            <a:off x="4800600" y="3759823"/>
            <a:ext cx="2107333" cy="2123658"/>
          </a:xfrm>
          <a:prstGeom prst="rect">
            <a:avLst/>
          </a:prstGeom>
          <a:noFill/>
        </p:spPr>
        <p:txBody>
          <a:bodyPr wrap="square">
            <a:spAutoFit/>
          </a:bodyPr>
          <a:lstStyle/>
          <a:p>
            <a:r>
              <a:rPr lang="en-US" sz="1200" dirty="0"/>
              <a:t>Sensors</a:t>
            </a:r>
          </a:p>
          <a:p>
            <a:pPr marL="171450" indent="-171450">
              <a:buFont typeface="Arial" panose="020B0604020202020204" pitchFamily="34" charset="0"/>
              <a:buChar char="•"/>
            </a:pPr>
            <a:r>
              <a:rPr lang="en-US" sz="1200" dirty="0"/>
              <a:t>Temp: deg. F</a:t>
            </a:r>
          </a:p>
          <a:p>
            <a:pPr marL="171450" indent="-171450">
              <a:buFont typeface="Arial" panose="020B0604020202020204" pitchFamily="34" charset="0"/>
              <a:buChar char="•"/>
            </a:pPr>
            <a:r>
              <a:rPr lang="en-US" sz="1200" dirty="0"/>
              <a:t>Someone walking by</a:t>
            </a:r>
          </a:p>
          <a:p>
            <a:pPr marL="171450" indent="-171450">
              <a:buFont typeface="Arial" panose="020B0604020202020204" pitchFamily="34" charset="0"/>
              <a:buChar char="•"/>
            </a:pPr>
            <a:r>
              <a:rPr lang="en-US" sz="1200" dirty="0"/>
              <a:t>Someone changes temp.</a:t>
            </a:r>
          </a:p>
          <a:p>
            <a:pPr marL="285750" indent="-285750">
              <a:buFont typeface="Arial" panose="020B0604020202020204" pitchFamily="34" charset="0"/>
              <a:buChar char="•"/>
            </a:pPr>
            <a:endParaRPr lang="en-US" sz="1200" dirty="0"/>
          </a:p>
          <a:p>
            <a:r>
              <a:rPr lang="en-US" sz="1200" dirty="0"/>
              <a:t>Internet</a:t>
            </a:r>
          </a:p>
          <a:p>
            <a:pPr marL="171450" indent="-171450">
              <a:buFont typeface="Arial" panose="020B0604020202020204" pitchFamily="34" charset="0"/>
              <a:buChar char="•"/>
            </a:pPr>
            <a:r>
              <a:rPr lang="en-US" sz="1200" dirty="0"/>
              <a:t>Outside temp.</a:t>
            </a:r>
          </a:p>
          <a:p>
            <a:pPr marL="171450" indent="-171450">
              <a:buFont typeface="Arial" panose="020B0604020202020204" pitchFamily="34" charset="0"/>
              <a:buChar char="•"/>
            </a:pPr>
            <a:r>
              <a:rPr lang="en-US" sz="1200" dirty="0"/>
              <a:t>Weather report</a:t>
            </a:r>
          </a:p>
          <a:p>
            <a:pPr marL="171450" indent="-171450">
              <a:buFont typeface="Arial" panose="020B0604020202020204" pitchFamily="34" charset="0"/>
              <a:buChar char="•"/>
            </a:pPr>
            <a:r>
              <a:rPr lang="en-US" sz="1200" dirty="0"/>
              <a:t>Energy curtailment</a:t>
            </a:r>
          </a:p>
          <a:p>
            <a:pPr marL="171450" indent="-171450">
              <a:buFont typeface="Arial" panose="020B0604020202020204" pitchFamily="34" charset="0"/>
              <a:buChar char="•"/>
            </a:pPr>
            <a:r>
              <a:rPr lang="en-US" sz="1200" dirty="0"/>
              <a:t>Day &amp; time</a:t>
            </a:r>
          </a:p>
          <a:p>
            <a:pPr marL="171450" indent="-171450">
              <a:buFont typeface="Arial" panose="020B0604020202020204" pitchFamily="34" charset="0"/>
              <a:buChar char="•"/>
            </a:pPr>
            <a:r>
              <a:rPr lang="en-US" sz="1200" dirty="0"/>
              <a:t>…</a:t>
            </a:r>
          </a:p>
        </p:txBody>
      </p:sp>
      <p:sp>
        <p:nvSpPr>
          <p:cNvPr id="34" name="TextBox 33">
            <a:extLst>
              <a:ext uri="{FF2B5EF4-FFF2-40B4-BE49-F238E27FC236}">
                <a16:creationId xmlns:a16="http://schemas.microsoft.com/office/drawing/2014/main" id="{5E7BBEF0-95B8-8CED-32EC-F6842F0B41B2}"/>
              </a:ext>
            </a:extLst>
          </p:cNvPr>
          <p:cNvSpPr txBox="1"/>
          <p:nvPr/>
        </p:nvSpPr>
        <p:spPr>
          <a:xfrm>
            <a:off x="6779581" y="3839584"/>
            <a:ext cx="1484375" cy="1754326"/>
          </a:xfrm>
          <a:prstGeom prst="rect">
            <a:avLst/>
          </a:prstGeom>
          <a:noFill/>
        </p:spPr>
        <p:txBody>
          <a:bodyPr wrap="square">
            <a:spAutoFit/>
          </a:bodyPr>
          <a:lstStyle/>
          <a:p>
            <a:r>
              <a:rPr lang="en-US" sz="1200" dirty="0"/>
              <a:t>Factored description</a:t>
            </a:r>
          </a:p>
          <a:p>
            <a:pPr marL="171450" indent="-171450">
              <a:buFont typeface="Arial" panose="020B0604020202020204" pitchFamily="34" charset="0"/>
              <a:buChar char="•"/>
            </a:pPr>
            <a:r>
              <a:rPr lang="en-US" sz="1200" dirty="0"/>
              <a:t>Estimated time to cool the house</a:t>
            </a:r>
          </a:p>
          <a:p>
            <a:pPr marL="171450" indent="-171450">
              <a:buFont typeface="Arial" panose="020B0604020202020204" pitchFamily="34" charset="0"/>
              <a:buChar char="•"/>
            </a:pPr>
            <a:r>
              <a:rPr lang="en-US" sz="1200" dirty="0"/>
              <a:t>Someone home?</a:t>
            </a:r>
          </a:p>
          <a:p>
            <a:pPr marL="171450" indent="-171450">
              <a:buFont typeface="Arial" panose="020B0604020202020204" pitchFamily="34" charset="0"/>
              <a:buChar char="•"/>
            </a:pPr>
            <a:r>
              <a:rPr lang="en-US" sz="1200" dirty="0"/>
              <a:t>How long till someone is coming home?</a:t>
            </a:r>
          </a:p>
          <a:p>
            <a:pPr marL="171450" indent="-171450">
              <a:buFont typeface="Arial" panose="020B0604020202020204" pitchFamily="34" charset="0"/>
              <a:buChar char="•"/>
            </a:pPr>
            <a:r>
              <a:rPr lang="en-US" sz="1200" dirty="0"/>
              <a:t>Schedule</a:t>
            </a:r>
          </a:p>
          <a:p>
            <a:pPr marL="171450" indent="-171450">
              <a:buFont typeface="Arial" panose="020B0604020202020204" pitchFamily="34" charset="0"/>
              <a:buChar char="•"/>
            </a:pPr>
            <a:r>
              <a:rPr lang="en-US" sz="1200" dirty="0"/>
              <a:t>….</a:t>
            </a:r>
          </a:p>
        </p:txBody>
      </p:sp>
      <p:grpSp>
        <p:nvGrpSpPr>
          <p:cNvPr id="35" name="Group 34">
            <a:extLst>
              <a:ext uri="{FF2B5EF4-FFF2-40B4-BE49-F238E27FC236}">
                <a16:creationId xmlns:a16="http://schemas.microsoft.com/office/drawing/2014/main" id="{D756E7C8-7D92-86A2-8384-8189B036A00D}"/>
              </a:ext>
            </a:extLst>
          </p:cNvPr>
          <p:cNvGrpSpPr/>
          <p:nvPr/>
        </p:nvGrpSpPr>
        <p:grpSpPr>
          <a:xfrm>
            <a:off x="4785464" y="3482003"/>
            <a:ext cx="3566759" cy="2698339"/>
            <a:chOff x="-2455651" y="3060094"/>
            <a:chExt cx="3566759" cy="2698339"/>
          </a:xfrm>
        </p:grpSpPr>
        <p:sp>
          <p:nvSpPr>
            <p:cNvPr id="36" name="TextBox 35">
              <a:extLst>
                <a:ext uri="{FF2B5EF4-FFF2-40B4-BE49-F238E27FC236}">
                  <a16:creationId xmlns:a16="http://schemas.microsoft.com/office/drawing/2014/main" id="{DA75D9F4-9FF3-FF2C-A54B-FE37B35CA4C9}"/>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37" name="TextBox 36">
              <a:extLst>
                <a:ext uri="{FF2B5EF4-FFF2-40B4-BE49-F238E27FC236}">
                  <a16:creationId xmlns:a16="http://schemas.microsoft.com/office/drawing/2014/main" id="{865CEDEA-AE69-043B-2C9D-FED04CA0CC96}"/>
                </a:ext>
                <a:ext uri="{C183D7F6-B498-43B3-948B-1728B52AA6E4}">
                  <adec:decorative xmlns:adec="http://schemas.microsoft.com/office/drawing/2017/decorative" val="1"/>
                </a:ext>
              </a:extLst>
            </p:cNvPr>
            <p:cNvSpPr txBox="1"/>
            <p:nvPr/>
          </p:nvSpPr>
          <p:spPr>
            <a:xfrm>
              <a:off x="-496480" y="3060094"/>
              <a:ext cx="1607588" cy="369332"/>
            </a:xfrm>
            <a:prstGeom prst="rect">
              <a:avLst/>
            </a:prstGeom>
            <a:noFill/>
          </p:spPr>
          <p:txBody>
            <a:bodyPr wrap="square" rtlCol="0">
              <a:spAutoFit/>
            </a:bodyPr>
            <a:lstStyle/>
            <a:p>
              <a:r>
                <a:rPr lang="en-US" b="1" dirty="0"/>
                <a:t>State</a:t>
              </a:r>
            </a:p>
          </p:txBody>
        </p:sp>
        <p:cxnSp>
          <p:nvCxnSpPr>
            <p:cNvPr id="38" name="Straight Connector 37">
              <a:extLst>
                <a:ext uri="{FF2B5EF4-FFF2-40B4-BE49-F238E27FC236}">
                  <a16:creationId xmlns:a16="http://schemas.microsoft.com/office/drawing/2014/main" id="{CA952581-29CF-1AD6-667C-BEA88D451E6C}"/>
                </a:ext>
                <a:ext uri="{C183D7F6-B498-43B3-948B-1728B52AA6E4}">
                  <adec:decorative xmlns:adec="http://schemas.microsoft.com/office/drawing/2017/decorative" val="1"/>
                </a:ext>
              </a:extLst>
            </p:cNvPr>
            <p:cNvCxnSpPr>
              <a:cxnSpLocks/>
            </p:cNvCxnSpPr>
            <p:nvPr/>
          </p:nvCxnSpPr>
          <p:spPr>
            <a:xfrm>
              <a:off x="-541203" y="3314391"/>
              <a:ext cx="0" cy="2122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9" name="TextBox 38">
              <a:extLst>
                <a:ext uri="{FF2B5EF4-FFF2-40B4-BE49-F238E27FC236}">
                  <a16:creationId xmlns:a16="http://schemas.microsoft.com/office/drawing/2014/main" id="{06E05B0B-CA4D-22F3-EA8E-6076CA99C04C}"/>
                </a:ext>
                <a:ext uri="{C183D7F6-B498-43B3-948B-1728B52AA6E4}">
                  <adec:decorative xmlns:adec="http://schemas.microsoft.com/office/drawing/2017/decorative" val="1"/>
                </a:ext>
              </a:extLst>
            </p:cNvPr>
            <p:cNvSpPr txBox="1"/>
            <p:nvPr/>
          </p:nvSpPr>
          <p:spPr>
            <a:xfrm>
              <a:off x="-2455651" y="5389101"/>
              <a:ext cx="1222514" cy="369332"/>
            </a:xfrm>
            <a:prstGeom prst="rect">
              <a:avLst/>
            </a:prstGeom>
            <a:noFill/>
          </p:spPr>
          <p:txBody>
            <a:bodyPr wrap="none" rtlCol="0">
              <a:spAutoFit/>
            </a:bodyPr>
            <a:lstStyle/>
            <a:p>
              <a:r>
                <a:rPr lang="en-US" b="1" dirty="0"/>
                <a:t>Transitions</a:t>
              </a:r>
              <a:endParaRPr lang="en-US" dirty="0"/>
            </a:p>
          </p:txBody>
        </p:sp>
        <p:cxnSp>
          <p:nvCxnSpPr>
            <p:cNvPr id="40" name="Straight Connector 39">
              <a:extLst>
                <a:ext uri="{FF2B5EF4-FFF2-40B4-BE49-F238E27FC236}">
                  <a16:creationId xmlns:a16="http://schemas.microsoft.com/office/drawing/2014/main" id="{7A100F9C-2755-6E03-4B72-9DE916C0ADE3}"/>
                </a:ext>
                <a:ext uri="{C183D7F6-B498-43B3-948B-1728B52AA6E4}">
                  <adec:decorative xmlns:adec="http://schemas.microsoft.com/office/drawing/2017/decorative" val="1"/>
                </a:ext>
              </a:extLst>
            </p:cNvPr>
            <p:cNvCxnSpPr>
              <a:cxnSpLocks/>
            </p:cNvCxnSpPr>
            <p:nvPr/>
          </p:nvCxnSpPr>
          <p:spPr>
            <a:xfrm>
              <a:off x="-2288115" y="5436547"/>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1" name="TextBox 40">
            <a:extLst>
              <a:ext uri="{FF2B5EF4-FFF2-40B4-BE49-F238E27FC236}">
                <a16:creationId xmlns:a16="http://schemas.microsoft.com/office/drawing/2014/main" id="{F332BD29-2138-56B3-E7DC-427B3972CE3C}"/>
              </a:ext>
            </a:extLst>
          </p:cNvPr>
          <p:cNvSpPr txBox="1"/>
          <p:nvPr/>
        </p:nvSpPr>
        <p:spPr>
          <a:xfrm>
            <a:off x="4785464" y="6105007"/>
            <a:ext cx="3623457" cy="461665"/>
          </a:xfrm>
          <a:prstGeom prst="rect">
            <a:avLst/>
          </a:prstGeom>
          <a:noFill/>
        </p:spPr>
        <p:txBody>
          <a:bodyPr wrap="square">
            <a:spAutoFit/>
          </a:bodyPr>
          <a:lstStyle/>
          <a:p>
            <a:r>
              <a:rPr lang="en-US" sz="1200" dirty="0"/>
              <a:t>Many: E.g., Person walks by -&gt; someone is home.</a:t>
            </a:r>
          </a:p>
          <a:p>
            <a:r>
              <a:rPr lang="en-US" sz="1200" dirty="0"/>
              <a:t>Temperature changes -&gt; estimated cool time changes</a:t>
            </a:r>
          </a:p>
        </p:txBody>
      </p:sp>
      <p:sp>
        <p:nvSpPr>
          <p:cNvPr id="43" name="Speech Bubble: Rectangle with Corners Rounded 42">
            <a:extLst>
              <a:ext uri="{FF2B5EF4-FFF2-40B4-BE49-F238E27FC236}">
                <a16:creationId xmlns:a16="http://schemas.microsoft.com/office/drawing/2014/main" id="{EF261749-73F5-C3A3-21A7-1A0CD67A37D2}"/>
              </a:ext>
            </a:extLst>
          </p:cNvPr>
          <p:cNvSpPr/>
          <p:nvPr/>
        </p:nvSpPr>
        <p:spPr>
          <a:xfrm>
            <a:off x="8092446" y="2920212"/>
            <a:ext cx="822953" cy="816088"/>
          </a:xfrm>
          <a:prstGeom prst="wedgeRoundRectCallout">
            <a:avLst>
              <a:gd name="adj1" fmla="val -131513"/>
              <a:gd name="adj2" fmla="val 4037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err="1"/>
              <a:t>Fluents</a:t>
            </a:r>
            <a:r>
              <a:rPr lang="en-US" sz="1200" dirty="0"/>
              <a:t> model current situation</a:t>
            </a:r>
          </a:p>
        </p:txBody>
      </p:sp>
      <p:sp>
        <p:nvSpPr>
          <p:cNvPr id="44" name="Speech Bubble: Rectangle with Corners Rounded 43">
            <a:extLst>
              <a:ext uri="{FF2B5EF4-FFF2-40B4-BE49-F238E27FC236}">
                <a16:creationId xmlns:a16="http://schemas.microsoft.com/office/drawing/2014/main" id="{82915666-C44E-93AE-A9B4-EBCD7D017984}"/>
              </a:ext>
            </a:extLst>
          </p:cNvPr>
          <p:cNvSpPr/>
          <p:nvPr/>
        </p:nvSpPr>
        <p:spPr>
          <a:xfrm>
            <a:off x="8251708" y="4867856"/>
            <a:ext cx="822953" cy="1534682"/>
          </a:xfrm>
          <a:prstGeom prst="wedgeRoundRectCallout">
            <a:avLst>
              <a:gd name="adj1" fmla="val -312393"/>
              <a:gd name="adj2" fmla="val 23838"/>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Actions or changes in the environment change the state</a:t>
            </a:r>
          </a:p>
        </p:txBody>
      </p:sp>
    </p:spTree>
    <p:extLst>
      <p:ext uri="{BB962C8B-B14F-4D97-AF65-F5344CB8AC3E}">
        <p14:creationId xmlns:p14="http://schemas.microsoft.com/office/powerpoint/2010/main" val="189031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0" grpId="0" animBg="1"/>
      <p:bldP spid="7" grpId="0"/>
      <p:bldP spid="23" grpId="0" animBg="1"/>
      <p:bldP spid="26" grpId="0" animBg="1"/>
      <p:bldP spid="29" grpId="0" animBg="1"/>
      <p:bldP spid="31" grpId="0" animBg="1"/>
      <p:bldP spid="21" grpId="0"/>
      <p:bldP spid="25" grpId="0"/>
      <p:bldP spid="33" grpId="0"/>
      <p:bldP spid="32" grpId="0"/>
      <p:bldP spid="34" grpId="0"/>
      <p:bldP spid="41" grpId="0"/>
      <p:bldP spid="43" grpId="0" animBg="1"/>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Goal-based Agent</a:t>
            </a:r>
          </a:p>
        </p:txBody>
      </p:sp>
      <p:sp>
        <p:nvSpPr>
          <p:cNvPr id="7" name="Content Placeholder 6"/>
          <p:cNvSpPr>
            <a:spLocks noGrp="1"/>
          </p:cNvSpPr>
          <p:nvPr>
            <p:ph idx="1"/>
          </p:nvPr>
        </p:nvSpPr>
        <p:spPr>
          <a:xfrm>
            <a:off x="628650" y="1447801"/>
            <a:ext cx="7886700" cy="1235149"/>
          </a:xfrm>
        </p:spPr>
        <p:txBody>
          <a:bodyPr>
            <a:normAutofit fontScale="77500" lnSpcReduction="20000"/>
          </a:bodyPr>
          <a:lstStyle/>
          <a:p>
            <a:r>
              <a:rPr lang="en-US" dirty="0"/>
              <a:t>The agent has the task of reaching a defined </a:t>
            </a:r>
            <a:r>
              <a:rPr lang="en-US" b="1" dirty="0">
                <a:solidFill>
                  <a:srgbClr val="FF0000"/>
                </a:solidFill>
              </a:rPr>
              <a:t>goal state</a:t>
            </a:r>
            <a:r>
              <a:rPr lang="en-US" dirty="0"/>
              <a:t>, and then it is done. </a:t>
            </a:r>
          </a:p>
          <a:p>
            <a:r>
              <a:rPr lang="en-US" dirty="0"/>
              <a:t>The agent needs to choose actions to move towards the goal. Subtypes:</a:t>
            </a:r>
          </a:p>
          <a:p>
            <a:pPr lvl="1"/>
            <a:r>
              <a:rPr lang="en-US" b="1" dirty="0">
                <a:solidFill>
                  <a:srgbClr val="FF0000"/>
                </a:solidFill>
              </a:rPr>
              <a:t>Greedy or heuristic goal-seeking agent</a:t>
            </a:r>
            <a:r>
              <a:rPr lang="en-US" dirty="0"/>
              <a:t>: Choose the next action to move towards the goal. </a:t>
            </a:r>
          </a:p>
          <a:p>
            <a:pPr lvl="1"/>
            <a:r>
              <a:rPr lang="en-US" b="1" dirty="0">
                <a:solidFill>
                  <a:srgbClr val="FF0000"/>
                </a:solidFill>
              </a:rPr>
              <a:t>Planning agent</a:t>
            </a:r>
            <a:r>
              <a:rPr lang="en-US" dirty="0"/>
              <a:t>: Use </a:t>
            </a:r>
            <a:r>
              <a:rPr lang="en-US" b="1" dirty="0">
                <a:solidFill>
                  <a:srgbClr val="FF0000"/>
                </a:solidFill>
              </a:rPr>
              <a:t>search algorithms </a:t>
            </a:r>
            <a:r>
              <a:rPr lang="en-US" dirty="0"/>
              <a:t>to plan a sequence of actions that leads to the goal.</a:t>
            </a:r>
          </a:p>
          <a:p>
            <a:r>
              <a:rPr lang="en-US" dirty="0"/>
              <a:t>Performance measure: the </a:t>
            </a:r>
            <a:r>
              <a:rPr lang="en-US" b="1" dirty="0">
                <a:solidFill>
                  <a:srgbClr val="FF0000"/>
                </a:solidFill>
              </a:rPr>
              <a:t>cost to reach the goal</a:t>
            </a:r>
            <a:r>
              <a:rPr lang="en-US" dirty="0"/>
              <a:t>.</a:t>
            </a:r>
            <a:r>
              <a:rPr lang="en-US" b="1" dirty="0">
                <a:solidFill>
                  <a:srgbClr val="FF0000"/>
                </a:solidFill>
              </a:rPr>
              <a:t>  </a:t>
            </a:r>
          </a:p>
        </p:txBody>
      </p:sp>
      <p:grpSp>
        <p:nvGrpSpPr>
          <p:cNvPr id="16" name="Group 15">
            <a:extLst>
              <a:ext uri="{FF2B5EF4-FFF2-40B4-BE49-F238E27FC236}">
                <a16:creationId xmlns:a16="http://schemas.microsoft.com/office/drawing/2014/main" id="{2D9E2088-EA46-68B4-DFB2-B8AF8C54455E}"/>
              </a:ext>
              <a:ext uri="{C183D7F6-B498-43B3-948B-1728B52AA6E4}">
                <adec:decorative xmlns:adec="http://schemas.microsoft.com/office/drawing/2017/decorative" val="1"/>
              </a:ext>
            </a:extLst>
          </p:cNvPr>
          <p:cNvGrpSpPr/>
          <p:nvPr/>
        </p:nvGrpSpPr>
        <p:grpSpPr>
          <a:xfrm>
            <a:off x="767978" y="2767543"/>
            <a:ext cx="4515082" cy="2927500"/>
            <a:chOff x="767978" y="2767543"/>
            <a:chExt cx="4515082" cy="2927500"/>
          </a:xfrm>
        </p:grpSpPr>
        <p:grpSp>
          <p:nvGrpSpPr>
            <p:cNvPr id="8" name="Group 7" descr="A figure adding goals to the agent.">
              <a:extLst>
                <a:ext uri="{FF2B5EF4-FFF2-40B4-BE49-F238E27FC236}">
                  <a16:creationId xmlns:a16="http://schemas.microsoft.com/office/drawing/2014/main" id="{99B13B2A-866C-34B6-3674-D659B2A7835E}"/>
                </a:ext>
              </a:extLst>
            </p:cNvPr>
            <p:cNvGrpSpPr/>
            <p:nvPr/>
          </p:nvGrpSpPr>
          <p:grpSpPr>
            <a:xfrm>
              <a:off x="767978" y="2767543"/>
              <a:ext cx="4515082" cy="2927500"/>
              <a:chOff x="2114318" y="2819400"/>
              <a:chExt cx="4515082" cy="2927500"/>
            </a:xfrm>
          </p:grpSpPr>
          <p:pic>
            <p:nvPicPr>
              <p:cNvPr id="9" name="Picture 8">
                <a:extLst>
                  <a:ext uri="{FF2B5EF4-FFF2-40B4-BE49-F238E27FC236}">
                    <a16:creationId xmlns:a16="http://schemas.microsoft.com/office/drawing/2014/main" id="{2FE2CE57-5E44-48F8-9543-D465169F4975}"/>
                  </a:ext>
                </a:extLst>
              </p:cNvPr>
              <p:cNvPicPr>
                <a:picLocks noChangeAspect="1"/>
              </p:cNvPicPr>
              <p:nvPr/>
            </p:nvPicPr>
            <p:blipFill>
              <a:blip r:embed="rId3"/>
              <a:stretch>
                <a:fillRect/>
              </a:stretch>
            </p:blipFill>
            <p:spPr>
              <a:xfrm>
                <a:off x="2114318" y="2819400"/>
                <a:ext cx="4515082" cy="2927500"/>
              </a:xfrm>
              <a:prstGeom prst="rect">
                <a:avLst/>
              </a:prstGeom>
            </p:spPr>
          </p:pic>
          <p:sp>
            <p:nvSpPr>
              <p:cNvPr id="3" name="Oval 2">
                <a:extLst>
                  <a:ext uri="{FF2B5EF4-FFF2-40B4-BE49-F238E27FC236}">
                    <a16:creationId xmlns:a16="http://schemas.microsoft.com/office/drawing/2014/main" id="{8DC68F3E-3623-454B-9115-EF6E8CD7423F}"/>
                  </a:ext>
                </a:extLst>
              </p:cNvPr>
              <p:cNvSpPr/>
              <p:nvPr/>
            </p:nvSpPr>
            <p:spPr>
              <a:xfrm>
                <a:off x="2895600" y="4664150"/>
                <a:ext cx="685800" cy="45720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Rectangle 3">
                <a:extLst>
                  <a:ext uri="{FF2B5EF4-FFF2-40B4-BE49-F238E27FC236}">
                    <a16:creationId xmlns:a16="http://schemas.microsoft.com/office/drawing/2014/main" id="{7CAEB44A-E0D5-4126-A2E1-486A8A386ED4}"/>
                  </a:ext>
                </a:extLst>
              </p:cNvPr>
              <p:cNvSpPr/>
              <p:nvPr/>
            </p:nvSpPr>
            <p:spPr>
              <a:xfrm>
                <a:off x="4191000" y="3825950"/>
                <a:ext cx="1447800" cy="4572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4B43DD05-3D9B-4F73-B36D-2727CE931ED9}"/>
                  </a:ext>
                </a:extLst>
              </p:cNvPr>
              <p:cNvCxnSpPr/>
              <p:nvPr/>
            </p:nvCxnSpPr>
            <p:spPr>
              <a:xfrm flipV="1">
                <a:off x="3429000" y="4206950"/>
                <a:ext cx="685800" cy="457200"/>
              </a:xfrm>
              <a:prstGeom prst="straightConnector1">
                <a:avLst/>
              </a:prstGeom>
              <a:ln w="28575">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grpSp>
        <p:sp>
          <p:nvSpPr>
            <p:cNvPr id="14" name="TextBox 13">
              <a:extLst>
                <a:ext uri="{FF2B5EF4-FFF2-40B4-BE49-F238E27FC236}">
                  <a16:creationId xmlns:a16="http://schemas.microsoft.com/office/drawing/2014/main" id="{E16C1A7F-80A0-191F-C175-0D32EA450CFD}"/>
                </a:ext>
                <a:ext uri="{C183D7F6-B498-43B3-948B-1728B52AA6E4}">
                  <adec:decorative xmlns:adec="http://schemas.microsoft.com/office/drawing/2017/decorative" val="1"/>
                </a:ext>
              </a:extLst>
            </p:cNvPr>
            <p:cNvSpPr txBox="1"/>
            <p:nvPr/>
          </p:nvSpPr>
          <p:spPr>
            <a:xfrm>
              <a:off x="2674187" y="4274446"/>
              <a:ext cx="827545" cy="461665"/>
            </a:xfrm>
            <a:prstGeom prst="rect">
              <a:avLst/>
            </a:prstGeom>
            <a:noFill/>
          </p:spPr>
          <p:txBody>
            <a:bodyPr wrap="square" rtlCol="0">
              <a:spAutoFit/>
            </a:bodyPr>
            <a:lstStyle/>
            <a:p>
              <a:r>
                <a:rPr lang="en-US" sz="1200" dirty="0">
                  <a:solidFill>
                    <a:schemeClr val="accent2"/>
                  </a:solidFill>
                </a:rPr>
                <a:t>Plan or heuristic</a:t>
              </a:r>
            </a:p>
          </p:txBody>
        </p:sp>
        <p:sp>
          <p:nvSpPr>
            <p:cNvPr id="15" name="Rectangle 14">
              <a:extLst>
                <a:ext uri="{FF2B5EF4-FFF2-40B4-BE49-F238E27FC236}">
                  <a16:creationId xmlns:a16="http://schemas.microsoft.com/office/drawing/2014/main" id="{3CFDAF85-A4D8-129B-8546-170DFE12F035}"/>
                </a:ext>
              </a:extLst>
            </p:cNvPr>
            <p:cNvSpPr/>
            <p:nvPr/>
          </p:nvSpPr>
          <p:spPr>
            <a:xfrm>
              <a:off x="2674187" y="4315886"/>
              <a:ext cx="1474907" cy="776655"/>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1F9CA39F-1257-A379-DC68-DEEB05CBF412}"/>
              </a:ext>
            </a:extLst>
          </p:cNvPr>
          <p:cNvGrpSpPr/>
          <p:nvPr/>
        </p:nvGrpSpPr>
        <p:grpSpPr>
          <a:xfrm>
            <a:off x="5295900" y="2923684"/>
            <a:ext cx="3784740" cy="2314969"/>
            <a:chOff x="5295900" y="2923684"/>
            <a:chExt cx="3784740" cy="2314969"/>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09C9C9-D66E-EA9C-F32B-9350BBA1FE6F}"/>
                    </a:ext>
                  </a:extLst>
                </p:cNvPr>
                <p:cNvSpPr txBox="1"/>
                <p:nvPr/>
              </p:nvSpPr>
              <p:spPr>
                <a:xfrm>
                  <a:off x="5295900" y="2923684"/>
                  <a:ext cx="3784740" cy="97270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sSub>
                              <m:sSubPr>
                                <m:ctrlPr>
                                  <a:rPr lang="en-US" b="0" i="0"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argmin</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𝒜</m:t>
                                </m:r>
                              </m:sub>
                            </m:sSub>
                          </m:fName>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𝑇</m:t>
                                    </m:r>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𝑇</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𝑔𝑜𝑎𝑙</m:t>
                                        </m:r>
                                      </m:sup>
                                    </m:sSup>
                                  </m:e>
                                </m:d>
                              </m:e>
                            </m:d>
                          </m:e>
                        </m:func>
                      </m:oMath>
                    </m:oMathPara>
                  </a14:m>
                  <a:endParaRPr lang="en-US" dirty="0"/>
                </a:p>
              </p:txBody>
            </p:sp>
          </mc:Choice>
          <mc:Fallback xmlns="">
            <p:sp>
              <p:nvSpPr>
                <p:cNvPr id="6" name="TextBox 5">
                  <a:extLst>
                    <a:ext uri="{FF2B5EF4-FFF2-40B4-BE49-F238E27FC236}">
                      <a16:creationId xmlns:a16="http://schemas.microsoft.com/office/drawing/2014/main" id="{B309C9C9-D66E-EA9C-F32B-9350BBA1FE6F}"/>
                    </a:ext>
                  </a:extLst>
                </p:cNvPr>
                <p:cNvSpPr txBox="1">
                  <a:spLocks noRot="1" noChangeAspect="1" noMove="1" noResize="1" noEditPoints="1" noAdjustHandles="1" noChangeArrowheads="1" noChangeShapeType="1" noTextEdit="1"/>
                </p:cNvSpPr>
                <p:nvPr/>
              </p:nvSpPr>
              <p:spPr>
                <a:xfrm>
                  <a:off x="5295900" y="2923684"/>
                  <a:ext cx="3784740" cy="972702"/>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655D056-4265-310C-3A14-607DA88A98C3}"/>
                </a:ext>
              </a:extLst>
            </p:cNvPr>
            <p:cNvSpPr txBox="1"/>
            <p:nvPr/>
          </p:nvSpPr>
          <p:spPr>
            <a:xfrm>
              <a:off x="7043619" y="4284546"/>
              <a:ext cx="1932970" cy="954107"/>
            </a:xfrm>
            <a:prstGeom prst="rect">
              <a:avLst/>
            </a:prstGeom>
            <a:noFill/>
          </p:spPr>
          <p:txBody>
            <a:bodyPr wrap="square" rtlCol="0">
              <a:spAutoFit/>
            </a:bodyPr>
            <a:lstStyle/>
            <a:p>
              <a:pPr algn="ctr"/>
              <a:r>
                <a:rPr lang="en-US" sz="1400" dirty="0"/>
                <a:t>Sum of the cost</a:t>
              </a:r>
              <a:br>
                <a:rPr lang="en-US" sz="1400" dirty="0"/>
              </a:br>
              <a:r>
                <a:rPr lang="en-US" sz="1400" dirty="0"/>
                <a:t>of a planed sequence of actions that leads to a goal state </a:t>
              </a:r>
            </a:p>
          </p:txBody>
        </p:sp>
        <p:sp>
          <p:nvSpPr>
            <p:cNvPr id="10" name="Left Brace 9">
              <a:extLst>
                <a:ext uri="{FF2B5EF4-FFF2-40B4-BE49-F238E27FC236}">
                  <a16:creationId xmlns:a16="http://schemas.microsoft.com/office/drawing/2014/main" id="{2A6DF24A-807F-9B76-3928-56AF087F5171}"/>
                </a:ext>
                <a:ext uri="{C183D7F6-B498-43B3-948B-1728B52AA6E4}">
                  <adec:decorative xmlns:adec="http://schemas.microsoft.com/office/drawing/2017/decorative" val="1"/>
                </a:ext>
              </a:extLst>
            </p:cNvPr>
            <p:cNvSpPr/>
            <p:nvPr/>
          </p:nvSpPr>
          <p:spPr>
            <a:xfrm rot="16200000">
              <a:off x="7810958" y="3173675"/>
              <a:ext cx="288772" cy="19329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F6642E8-380F-00A9-5334-211DAA579A7F}"/>
              </a:ext>
            </a:extLst>
          </p:cNvPr>
          <p:cNvGrpSpPr/>
          <p:nvPr/>
        </p:nvGrpSpPr>
        <p:grpSpPr>
          <a:xfrm>
            <a:off x="628650" y="5830141"/>
            <a:ext cx="6808980" cy="942309"/>
            <a:chOff x="628650" y="5830141"/>
            <a:chExt cx="6808980" cy="942309"/>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6DFB2F8-B6C3-45F5-85E4-692E0E5C7665}"/>
                    </a:ext>
                  </a:extLst>
                </p:cNvPr>
                <p:cNvSpPr/>
                <p:nvPr/>
              </p:nvSpPr>
              <p:spPr>
                <a:xfrm>
                  <a:off x="628650" y="5830141"/>
                  <a:ext cx="6808980" cy="942309"/>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𝑠</m:t>
                          </m:r>
                        </m:e>
                        <m:sup>
                          <m:r>
                            <a:rPr lang="en-US" b="0" i="1" smtClean="0">
                              <a:latin typeface="Cambria Math" panose="02040503050406030204" pitchFamily="18" charset="0"/>
                            </a:rPr>
                            <m:t>𝑔𝑜𝑎𝑙</m:t>
                          </m:r>
                        </m:sup>
                      </m:sSup>
                    </m:oMath>
                  </a14:m>
                  <a:endParaRPr lang="en-US" dirty="0"/>
                </a:p>
                <a:p>
                  <a:endParaRPr lang="en-US" b="1" dirty="0"/>
                </a:p>
                <a:p>
                  <a:r>
                    <a:rPr lang="en-US" b="1" dirty="0"/>
                    <a:t>Example</a:t>
                  </a:r>
                  <a:r>
                    <a:rPr lang="en-US" dirty="0"/>
                    <a:t>: Solving a puzzle. What action gets me closer to the solution?</a:t>
                  </a:r>
                </a:p>
              </p:txBody>
            </p:sp>
          </mc:Choice>
          <mc:Fallback xmlns="">
            <p:sp>
              <p:nvSpPr>
                <p:cNvPr id="2" name="Rectangle 1">
                  <a:extLst>
                    <a:ext uri="{FF2B5EF4-FFF2-40B4-BE49-F238E27FC236}">
                      <a16:creationId xmlns:a16="http://schemas.microsoft.com/office/drawing/2014/main" id="{B6DFB2F8-B6C3-45F5-85E4-692E0E5C7665}"/>
                    </a:ext>
                  </a:extLst>
                </p:cNvPr>
                <p:cNvSpPr>
                  <a:spLocks noRot="1" noChangeAspect="1" noMove="1" noResize="1" noEditPoints="1" noAdjustHandles="1" noChangeArrowheads="1" noChangeShapeType="1" noTextEdit="1"/>
                </p:cNvSpPr>
                <p:nvPr/>
              </p:nvSpPr>
              <p:spPr>
                <a:xfrm>
                  <a:off x="628650" y="5830141"/>
                  <a:ext cx="6808980" cy="942309"/>
                </a:xfrm>
                <a:prstGeom prst="rect">
                  <a:avLst/>
                </a:prstGeom>
                <a:blipFill>
                  <a:blip r:embed="rId5"/>
                  <a:stretch>
                    <a:fillRect l="-716" t="-2581" b="-7742"/>
                  </a:stretch>
                </a:blipFill>
              </p:spPr>
              <p:txBody>
                <a:bodyPr/>
                <a:lstStyle/>
                <a:p>
                  <a:r>
                    <a:rPr lang="en-US">
                      <a:noFill/>
                    </a:rPr>
                    <a:t> </a:t>
                  </a:r>
                </a:p>
              </p:txBody>
            </p:sp>
          </mc:Fallback>
        </mc:AlternateContent>
        <p:sp>
          <p:nvSpPr>
            <p:cNvPr id="12" name="Left Brace 11">
              <a:extLst>
                <a:ext uri="{FF2B5EF4-FFF2-40B4-BE49-F238E27FC236}">
                  <a16:creationId xmlns:a16="http://schemas.microsoft.com/office/drawing/2014/main" id="{AB771649-5BF3-8747-5429-08474493638E}"/>
                </a:ext>
                <a:ext uri="{C183D7F6-B498-43B3-948B-1728B52AA6E4}">
                  <adec:decorative xmlns:adec="http://schemas.microsoft.com/office/drawing/2017/decorative" val="1"/>
                </a:ext>
              </a:extLst>
            </p:cNvPr>
            <p:cNvSpPr/>
            <p:nvPr/>
          </p:nvSpPr>
          <p:spPr>
            <a:xfrm rot="16200000">
              <a:off x="5261807" y="4455988"/>
              <a:ext cx="144386" cy="3505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8D0B5546-A820-8FF6-7A6B-09F4E0F16CED}"/>
                </a:ext>
                <a:ext uri="{C183D7F6-B498-43B3-948B-1728B52AA6E4}">
                  <adec:decorative xmlns:adec="http://schemas.microsoft.com/office/drawing/2017/decorative" val="1"/>
                </a:ext>
              </a:extLst>
            </p:cNvPr>
            <p:cNvSpPr txBox="1"/>
            <p:nvPr/>
          </p:nvSpPr>
          <p:spPr>
            <a:xfrm>
              <a:off x="4395317" y="6205333"/>
              <a:ext cx="1932970" cy="307777"/>
            </a:xfrm>
            <a:prstGeom prst="rect">
              <a:avLst/>
            </a:prstGeom>
            <a:noFill/>
          </p:spPr>
          <p:txBody>
            <a:bodyPr wrap="square" rtlCol="0">
              <a:spAutoFit/>
            </a:bodyPr>
            <a:lstStyle/>
            <a:p>
              <a:pPr algn="ctr"/>
              <a:r>
                <a:rPr lang="en-US" sz="1400" dirty="0"/>
                <a:t>cost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Utility-based Agent</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628650" y="1295400"/>
                <a:ext cx="7886700" cy="1477965"/>
              </a:xfrm>
            </p:spPr>
            <p:txBody>
              <a:bodyPr>
                <a:normAutofit fontScale="92500"/>
              </a:bodyPr>
              <a:lstStyle/>
              <a:p>
                <a:r>
                  <a:rPr lang="en-US" dirty="0"/>
                  <a:t>The agent uses a utility function to evaluate the </a:t>
                </a:r>
                <a:r>
                  <a:rPr lang="en-US" b="1" dirty="0">
                    <a:solidFill>
                      <a:srgbClr val="FF0000"/>
                    </a:solidFill>
                  </a:rPr>
                  <a:t>desirability of each possible states. </a:t>
                </a:r>
                <a:r>
                  <a:rPr lang="en-US" dirty="0"/>
                  <a:t>This is typically expressed as the reward of being in a state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oMath>
                </a14:m>
                <a:r>
                  <a:rPr lang="en-US" dirty="0"/>
                  <a:t>.</a:t>
                </a:r>
              </a:p>
              <a:p>
                <a:r>
                  <a:rPr lang="en-US" dirty="0"/>
                  <a:t>Choose actions to stay in desirable states.</a:t>
                </a:r>
              </a:p>
              <a:p>
                <a:r>
                  <a:rPr lang="en-US" dirty="0"/>
                  <a:t>Performance measure: The discounted sum of </a:t>
                </a:r>
                <a:r>
                  <a:rPr lang="en-US" b="1" dirty="0">
                    <a:solidFill>
                      <a:srgbClr val="FF0000"/>
                    </a:solidFill>
                  </a:rPr>
                  <a:t>expected utility over time</a:t>
                </a:r>
                <a:r>
                  <a:rPr lang="en-US" dirty="0"/>
                  <a:t>.</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628650" y="1295400"/>
                <a:ext cx="7886700" cy="1477965"/>
              </a:xfrm>
              <a:blipFill>
                <a:blip r:embed="rId3"/>
                <a:stretch>
                  <a:fillRect l="-541" t="-4132" r="-850"/>
                </a:stretch>
              </a:blipFill>
            </p:spPr>
            <p:txBody>
              <a:bodyPr/>
              <a:lstStyle/>
              <a:p>
                <a:r>
                  <a:rPr lang="en-US">
                    <a:noFill/>
                  </a:rPr>
                  <a:t> </a:t>
                </a:r>
              </a:p>
            </p:txBody>
          </p:sp>
        </mc:Fallback>
      </mc:AlternateContent>
      <p:pic>
        <p:nvPicPr>
          <p:cNvPr id="4" name="Picture 3" descr="Diagram of an agent that adds utility to determine how happy it is with a state.">
            <a:extLst>
              <a:ext uri="{FF2B5EF4-FFF2-40B4-BE49-F238E27FC236}">
                <a16:creationId xmlns:a16="http://schemas.microsoft.com/office/drawing/2014/main" id="{FAF6271A-FC38-434F-B4E3-EEA4639F708B}"/>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933634" y="2794829"/>
            <a:ext cx="4483330" cy="2857647"/>
          </a:xfrm>
          <a:prstGeom prst="rect">
            <a:avLst/>
          </a:prstGeom>
        </p:spPr>
      </p:pic>
      <p:sp>
        <p:nvSpPr>
          <p:cNvPr id="3" name="Rectangle: Rounded Corners 2">
            <a:extLst>
              <a:ext uri="{FF2B5EF4-FFF2-40B4-BE49-F238E27FC236}">
                <a16:creationId xmlns:a16="http://schemas.microsoft.com/office/drawing/2014/main" id="{FF3F49AA-5AE7-40C8-A131-B2029CFF8054}"/>
              </a:ext>
              <a:ext uri="{C183D7F6-B498-43B3-948B-1728B52AA6E4}">
                <adec:decorative xmlns:adec="http://schemas.microsoft.com/office/drawing/2017/decorative" val="1"/>
              </a:ext>
            </a:extLst>
          </p:cNvPr>
          <p:cNvSpPr/>
          <p:nvPr/>
        </p:nvSpPr>
        <p:spPr>
          <a:xfrm>
            <a:off x="1390834" y="4283824"/>
            <a:ext cx="3048000" cy="460148"/>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nvGrpSpPr>
          <p:cNvPr id="12" name="Group 11">
            <a:extLst>
              <a:ext uri="{FF2B5EF4-FFF2-40B4-BE49-F238E27FC236}">
                <a16:creationId xmlns:a16="http://schemas.microsoft.com/office/drawing/2014/main" id="{094C3A7E-18B1-323E-28F1-6E33B7032ECB}"/>
              </a:ext>
            </a:extLst>
          </p:cNvPr>
          <p:cNvGrpSpPr/>
          <p:nvPr/>
        </p:nvGrpSpPr>
        <p:grpSpPr>
          <a:xfrm>
            <a:off x="5486400" y="2743200"/>
            <a:ext cx="3507111" cy="2816631"/>
            <a:chOff x="5486400" y="2743200"/>
            <a:chExt cx="3507111" cy="2816631"/>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AFE2FF-0717-3CEE-EC11-6C4E1A3A3186}"/>
                    </a:ext>
                  </a:extLst>
                </p:cNvPr>
                <p:cNvSpPr txBox="1"/>
                <p:nvPr/>
              </p:nvSpPr>
              <p:spPr>
                <a:xfrm>
                  <a:off x="5486400" y="2743200"/>
                  <a:ext cx="3353996" cy="847861"/>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arg</m:t>
                                </m:r>
                                <m:r>
                                  <a:rPr lang="en-US" b="0" i="1" smtClean="0">
                                    <a:latin typeface="Cambria Math" panose="02040503050406030204" pitchFamily="18" charset="0"/>
                                  </a:rPr>
                                  <m:t>𝑚𝑎𝑥</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A</m:t>
                                </m:r>
                              </m:sub>
                            </m:sSub>
                          </m:fName>
                          <m:e>
                            <m:r>
                              <a:rPr lang="en-US" b="0"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sup>
                                    </m:s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e>
                                </m:d>
                              </m:e>
                            </m:d>
                          </m:e>
                        </m:func>
                      </m:oMath>
                    </m:oMathPara>
                  </a14:m>
                  <a:endParaRPr lang="en-US" dirty="0"/>
                </a:p>
              </p:txBody>
            </p:sp>
          </mc:Choice>
          <mc:Fallback xmlns="">
            <p:sp>
              <p:nvSpPr>
                <p:cNvPr id="2" name="TextBox 1">
                  <a:extLst>
                    <a:ext uri="{FF2B5EF4-FFF2-40B4-BE49-F238E27FC236}">
                      <a16:creationId xmlns:a16="http://schemas.microsoft.com/office/drawing/2014/main" id="{84AFE2FF-0717-3CEE-EC11-6C4E1A3A3186}"/>
                    </a:ext>
                  </a:extLst>
                </p:cNvPr>
                <p:cNvSpPr txBox="1">
                  <a:spLocks noRot="1" noChangeAspect="1" noMove="1" noResize="1" noEditPoints="1" noAdjustHandles="1" noChangeArrowheads="1" noChangeShapeType="1" noTextEdit="1"/>
                </p:cNvSpPr>
                <p:nvPr/>
              </p:nvSpPr>
              <p:spPr>
                <a:xfrm>
                  <a:off x="5486400" y="2743200"/>
                  <a:ext cx="3353996" cy="847861"/>
                </a:xfrm>
                <a:prstGeom prst="rect">
                  <a:avLst/>
                </a:prstGeom>
                <a:blipFill>
                  <a:blip r:embed="rId5"/>
                  <a:stretch>
                    <a:fillRect/>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890A0BAA-2317-3D77-5800-B322AC6CED34}"/>
                </a:ext>
                <a:ext uri="{C183D7F6-B498-43B3-948B-1728B52AA6E4}">
                  <adec:decorative xmlns:adec="http://schemas.microsoft.com/office/drawing/2017/decorative" val="1"/>
                </a:ext>
              </a:extLst>
            </p:cNvPr>
            <p:cNvSpPr/>
            <p:nvPr/>
          </p:nvSpPr>
          <p:spPr>
            <a:xfrm rot="16200000">
              <a:off x="7954946" y="3179915"/>
              <a:ext cx="288772" cy="11110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D37A21B7-E7DC-07F5-EF0D-F84D984C558F}"/>
                </a:ext>
              </a:extLst>
            </p:cNvPr>
            <p:cNvSpPr txBox="1"/>
            <p:nvPr/>
          </p:nvSpPr>
          <p:spPr>
            <a:xfrm>
              <a:off x="7169796" y="3848290"/>
              <a:ext cx="1696278" cy="954107"/>
            </a:xfrm>
            <a:prstGeom prst="rect">
              <a:avLst/>
            </a:prstGeom>
            <a:noFill/>
          </p:spPr>
          <p:txBody>
            <a:bodyPr wrap="square" rtlCol="0">
              <a:spAutoFit/>
            </a:bodyPr>
            <a:lstStyle/>
            <a:p>
              <a:pPr algn="ctr"/>
              <a:r>
                <a:rPr lang="en-US" sz="1400" dirty="0"/>
                <a:t>Implements rational behavior: Utility is the expected future discounted reward</a:t>
              </a:r>
            </a:p>
          </p:txBody>
        </p:sp>
        <p:sp>
          <p:nvSpPr>
            <p:cNvPr id="8" name="TextBox 7">
              <a:extLst>
                <a:ext uri="{FF2B5EF4-FFF2-40B4-BE49-F238E27FC236}">
                  <a16:creationId xmlns:a16="http://schemas.microsoft.com/office/drawing/2014/main" id="{590C1277-14FF-4879-6A2E-E3A16C07A263}"/>
                </a:ext>
              </a:extLst>
            </p:cNvPr>
            <p:cNvSpPr txBox="1"/>
            <p:nvPr/>
          </p:nvSpPr>
          <p:spPr>
            <a:xfrm>
              <a:off x="5639514" y="4913500"/>
              <a:ext cx="3353997" cy="646331"/>
            </a:xfrm>
            <a:prstGeom prst="rect">
              <a:avLst/>
            </a:prstGeom>
            <a:noFill/>
          </p:spPr>
          <p:txBody>
            <a:bodyPr wrap="square" rtlCol="0">
              <a:spAutoFit/>
            </a:bodyPr>
            <a:lstStyle/>
            <a:p>
              <a:pPr algn="ctr"/>
              <a:r>
                <a:rPr lang="en-US" b="1" dirty="0"/>
                <a:t>Techniques</a:t>
              </a:r>
              <a:r>
                <a:rPr lang="en-US" dirty="0"/>
                <a:t>: Markov decision processes, reinforcement learning</a:t>
              </a:r>
            </a:p>
          </p:txBody>
        </p:sp>
      </p:grpSp>
      <p:grpSp>
        <p:nvGrpSpPr>
          <p:cNvPr id="13" name="Group 12">
            <a:extLst>
              <a:ext uri="{FF2B5EF4-FFF2-40B4-BE49-F238E27FC236}">
                <a16:creationId xmlns:a16="http://schemas.microsoft.com/office/drawing/2014/main" id="{353677C0-5D0C-5267-C992-D4F46EB52980}"/>
              </a:ext>
            </a:extLst>
          </p:cNvPr>
          <p:cNvGrpSpPr/>
          <p:nvPr/>
        </p:nvGrpSpPr>
        <p:grpSpPr>
          <a:xfrm>
            <a:off x="457200" y="5817060"/>
            <a:ext cx="8536311" cy="923330"/>
            <a:chOff x="457200" y="5817060"/>
            <a:chExt cx="8536311" cy="923330"/>
          </a:xfrm>
        </p:grpSpPr>
        <p:sp>
          <p:nvSpPr>
            <p:cNvPr id="10" name="Left Brace 9">
              <a:extLst>
                <a:ext uri="{FF2B5EF4-FFF2-40B4-BE49-F238E27FC236}">
                  <a16:creationId xmlns:a16="http://schemas.microsoft.com/office/drawing/2014/main" id="{42D56FA4-703F-9468-26AE-D2AE0657BB5A}"/>
                </a:ext>
                <a:ext uri="{C183D7F6-B498-43B3-948B-1728B52AA6E4}">
                  <adec:decorative xmlns:adec="http://schemas.microsoft.com/office/drawing/2017/decorative" val="1"/>
                </a:ext>
              </a:extLst>
            </p:cNvPr>
            <p:cNvSpPr/>
            <p:nvPr/>
          </p:nvSpPr>
          <p:spPr>
            <a:xfrm rot="16200000">
              <a:off x="4866615" y="4698779"/>
              <a:ext cx="96571" cy="29718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32899228-E8A9-FC7D-842A-375C67A36518}"/>
                </a:ext>
                <a:ext uri="{C183D7F6-B498-43B3-948B-1728B52AA6E4}">
                  <adec:decorative xmlns:adec="http://schemas.microsoft.com/office/drawing/2017/decorative" val="1"/>
                </a:ext>
              </a:extLst>
            </p:cNvPr>
            <p:cNvSpPr txBox="1"/>
            <p:nvPr/>
          </p:nvSpPr>
          <p:spPr>
            <a:xfrm>
              <a:off x="4038600" y="6136394"/>
              <a:ext cx="1932970" cy="307777"/>
            </a:xfrm>
            <a:prstGeom prst="rect">
              <a:avLst/>
            </a:prstGeom>
            <a:noFill/>
          </p:spPr>
          <p:txBody>
            <a:bodyPr wrap="square" rtlCol="0">
              <a:spAutoFit/>
            </a:bodyPr>
            <a:lstStyle/>
            <a:p>
              <a:pPr algn="ctr"/>
              <a:r>
                <a:rPr lang="en-US" sz="1400" dirty="0"/>
                <a:t>reward</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C026A23-FBAD-4041-B131-AB5A1A014596}"/>
                    </a:ext>
                  </a:extLst>
                </p:cNvPr>
                <p:cNvSpPr/>
                <p:nvPr/>
              </p:nvSpPr>
              <p:spPr>
                <a:xfrm>
                  <a:off x="457200" y="5817060"/>
                  <a:ext cx="8536311" cy="923330"/>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b="1" dirty="0"/>
                </a:p>
                <a:p>
                  <a:endParaRPr lang="en-US" b="1" dirty="0"/>
                </a:p>
                <a:p>
                  <a:r>
                    <a:rPr lang="en-US" b="1" dirty="0"/>
                    <a:t>Example</a:t>
                  </a:r>
                  <a:r>
                    <a:rPr lang="en-US" dirty="0"/>
                    <a:t>: An autonomous Mars rover prefers states where its battery is not critically low. </a:t>
                  </a:r>
                </a:p>
              </p:txBody>
            </p:sp>
          </mc:Choice>
          <mc:Fallback xmlns="">
            <p:sp>
              <p:nvSpPr>
                <p:cNvPr id="9" name="Rectangle 8">
                  <a:extLst>
                    <a:ext uri="{FF2B5EF4-FFF2-40B4-BE49-F238E27FC236}">
                      <a16:creationId xmlns:a16="http://schemas.microsoft.com/office/drawing/2014/main" id="{3C026A23-FBAD-4041-B131-AB5A1A014596}"/>
                    </a:ext>
                  </a:extLst>
                </p:cNvPr>
                <p:cNvSpPr>
                  <a:spLocks noRot="1" noChangeAspect="1" noMove="1" noResize="1" noEditPoints="1" noAdjustHandles="1" noChangeArrowheads="1" noChangeShapeType="1" noTextEdit="1"/>
                </p:cNvSpPr>
                <p:nvPr/>
              </p:nvSpPr>
              <p:spPr>
                <a:xfrm>
                  <a:off x="457200" y="5817060"/>
                  <a:ext cx="8536311" cy="923330"/>
                </a:xfrm>
                <a:prstGeom prst="rect">
                  <a:avLst/>
                </a:prstGeom>
                <a:blipFill>
                  <a:blip r:embed="rId6"/>
                  <a:stretch>
                    <a:fillRect l="-571" t="-3289" b="-9211"/>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Agents that Learn</a:t>
            </a:r>
          </a:p>
        </p:txBody>
      </p:sp>
      <p:sp>
        <p:nvSpPr>
          <p:cNvPr id="6" name="Content Placeholder 5"/>
          <p:cNvSpPr>
            <a:spLocks noGrp="1"/>
          </p:cNvSpPr>
          <p:nvPr>
            <p:ph idx="1"/>
          </p:nvPr>
        </p:nvSpPr>
        <p:spPr>
          <a:xfrm>
            <a:off x="628650" y="1825625"/>
            <a:ext cx="7886700" cy="892013"/>
          </a:xfrm>
        </p:spPr>
        <p:txBody>
          <a:bodyPr/>
          <a:lstStyle/>
          <a:p>
            <a:pPr marL="0" indent="0">
              <a:buNone/>
            </a:pPr>
            <a:r>
              <a:rPr lang="en-US" dirty="0"/>
              <a:t>The </a:t>
            </a:r>
            <a:r>
              <a:rPr lang="en-US" b="1" dirty="0">
                <a:solidFill>
                  <a:srgbClr val="FF0000"/>
                </a:solidFill>
              </a:rPr>
              <a:t>learning element </a:t>
            </a:r>
            <a:r>
              <a:rPr lang="en-US" dirty="0"/>
              <a:t>modifies the agent program (reflex-based, goal-based, or utility-based) to improve its performance.</a:t>
            </a:r>
          </a:p>
          <a:p>
            <a:endParaRPr lang="en-US" dirty="0"/>
          </a:p>
        </p:txBody>
      </p:sp>
      <p:pic>
        <p:nvPicPr>
          <p:cNvPr id="5" name="Picture 4" descr="A figure showing that a learning agent adds a critic component, a learning element and a problem generator to the agent design.">
            <a:extLst>
              <a:ext uri="{FF2B5EF4-FFF2-40B4-BE49-F238E27FC236}">
                <a16:creationId xmlns:a16="http://schemas.microsoft.com/office/drawing/2014/main" id="{3FAB11E6-8A7F-4883-91BB-E3D4CAF1979E}"/>
              </a:ext>
            </a:extLst>
          </p:cNvPr>
          <p:cNvPicPr>
            <a:picLocks noChangeAspect="1"/>
          </p:cNvPicPr>
          <p:nvPr/>
        </p:nvPicPr>
        <p:blipFill>
          <a:blip r:embed="rId3"/>
          <a:stretch>
            <a:fillRect/>
          </a:stretch>
        </p:blipFill>
        <p:spPr>
          <a:xfrm>
            <a:off x="3435115" y="3027201"/>
            <a:ext cx="4565885" cy="3149762"/>
          </a:xfrm>
          <a:prstGeom prst="rect">
            <a:avLst/>
          </a:prstGeom>
        </p:spPr>
      </p:pic>
      <p:sp>
        <p:nvSpPr>
          <p:cNvPr id="2" name="Callout: Line 1">
            <a:extLst>
              <a:ext uri="{FF2B5EF4-FFF2-40B4-BE49-F238E27FC236}">
                <a16:creationId xmlns:a16="http://schemas.microsoft.com/office/drawing/2014/main" id="{EC43F13B-70AE-4A79-BEC3-FD5269489949}"/>
              </a:ext>
              <a:ext uri="{C183D7F6-B498-43B3-948B-1728B52AA6E4}">
                <adec:decorative xmlns:adec="http://schemas.microsoft.com/office/drawing/2017/decorative" val="1"/>
              </a:ext>
            </a:extLst>
          </p:cNvPr>
          <p:cNvSpPr/>
          <p:nvPr/>
        </p:nvSpPr>
        <p:spPr>
          <a:xfrm>
            <a:off x="798293" y="3010636"/>
            <a:ext cx="2289057" cy="711362"/>
          </a:xfrm>
          <a:prstGeom prst="borderCallout1">
            <a:avLst>
              <a:gd name="adj1" fmla="val 50597"/>
              <a:gd name="adj2" fmla="val 102591"/>
              <a:gd name="adj3" fmla="val 96799"/>
              <a:gd name="adj4" fmla="val 15264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How is the agent currently performing?</a:t>
            </a:r>
          </a:p>
        </p:txBody>
      </p:sp>
      <p:sp>
        <p:nvSpPr>
          <p:cNvPr id="3" name="Callout: Line 2">
            <a:extLst>
              <a:ext uri="{FF2B5EF4-FFF2-40B4-BE49-F238E27FC236}">
                <a16:creationId xmlns:a16="http://schemas.microsoft.com/office/drawing/2014/main" id="{1DFCA2A8-129A-7DD8-4F14-4280C6829F08}"/>
              </a:ext>
              <a:ext uri="{C183D7F6-B498-43B3-948B-1728B52AA6E4}">
                <adec:decorative xmlns:adec="http://schemas.microsoft.com/office/drawing/2017/decorative" val="1"/>
              </a:ext>
            </a:extLst>
          </p:cNvPr>
          <p:cNvSpPr/>
          <p:nvPr/>
        </p:nvSpPr>
        <p:spPr>
          <a:xfrm>
            <a:off x="798293" y="4183072"/>
            <a:ext cx="2289057" cy="922328"/>
          </a:xfrm>
          <a:prstGeom prst="borderCallout1">
            <a:avLst>
              <a:gd name="adj1" fmla="val 45008"/>
              <a:gd name="adj2" fmla="val 104907"/>
              <a:gd name="adj3" fmla="val 55745"/>
              <a:gd name="adj4" fmla="val 15169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Updates how the performance element chooses actions.</a:t>
            </a:r>
          </a:p>
        </p:txBody>
      </p:sp>
      <p:sp>
        <p:nvSpPr>
          <p:cNvPr id="8" name="Callout: Line 7">
            <a:extLst>
              <a:ext uri="{FF2B5EF4-FFF2-40B4-BE49-F238E27FC236}">
                <a16:creationId xmlns:a16="http://schemas.microsoft.com/office/drawing/2014/main" id="{4E3F4BEC-90AE-4251-9F62-1458F9DFAFAE}"/>
              </a:ext>
              <a:ext uri="{C183D7F6-B498-43B3-948B-1728B52AA6E4}">
                <adec:decorative xmlns:adec="http://schemas.microsoft.com/office/drawing/2017/decorative" val="1"/>
              </a:ext>
            </a:extLst>
          </p:cNvPr>
          <p:cNvSpPr/>
          <p:nvPr/>
        </p:nvSpPr>
        <p:spPr>
          <a:xfrm>
            <a:off x="798293" y="5398398"/>
            <a:ext cx="2289057" cy="778565"/>
          </a:xfrm>
          <a:prstGeom prst="borderCallout1">
            <a:avLst>
              <a:gd name="adj1" fmla="val 20790"/>
              <a:gd name="adj2" fmla="val 104328"/>
              <a:gd name="adj3" fmla="val 12883"/>
              <a:gd name="adj4" fmla="val 15244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Generate actions for exploration (try new actions)</a:t>
            </a:r>
          </a:p>
        </p:txBody>
      </p:sp>
    </p:spTree>
    <p:extLst>
      <p:ext uri="{BB962C8B-B14F-4D97-AF65-F5344CB8AC3E}">
        <p14:creationId xmlns:p14="http://schemas.microsoft.com/office/powerpoint/2010/main" val="4545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2CE14C01-388F-8B0F-7297-AA9A2BD018C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D7FFF3A-8091-1116-8942-54C867B83843}"/>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Examples</a:t>
            </a:r>
          </a:p>
        </p:txBody>
      </p:sp>
      <p:sp>
        <p:nvSpPr>
          <p:cNvPr id="5" name="Text Placeholder 4">
            <a:extLst>
              <a:ext uri="{FF2B5EF4-FFF2-40B4-BE49-F238E27FC236}">
                <a16:creationId xmlns:a16="http://schemas.microsoft.com/office/drawing/2014/main" id="{164C3007-2B06-A401-D41E-F379A8700030}"/>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614852117"/>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Smart Thermostat: What Type of Agent is it?</a:t>
            </a:r>
          </a:p>
        </p:txBody>
      </p:sp>
      <p:pic>
        <p:nvPicPr>
          <p:cNvPr id="4" name="Picture 3" descr="Foto of a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151428" y="1078290"/>
            <a:ext cx="2682136" cy="153658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58D5326-8ECE-462C-B003-A9E569C57869}"/>
              </a:ext>
              <a:ext uri="{C183D7F6-B498-43B3-948B-1728B52AA6E4}">
                <adec:decorative xmlns:adec="http://schemas.microsoft.com/office/drawing/2017/decorative" val="1"/>
              </a:ext>
            </a:extLst>
          </p:cNvPr>
          <p:cNvSpPr txBox="1"/>
          <p:nvPr/>
        </p:nvSpPr>
        <p:spPr>
          <a:xfrm>
            <a:off x="3985963" y="1113472"/>
            <a:ext cx="1529687" cy="1477328"/>
          </a:xfrm>
          <a:prstGeom prst="rect">
            <a:avLst/>
          </a:prstGeom>
          <a:noFill/>
        </p:spPr>
        <p:txBody>
          <a:bodyPr wrap="square" rtlCol="0">
            <a:spAutoFit/>
          </a:bodyPr>
          <a:lstStyle/>
          <a:p>
            <a:r>
              <a:rPr lang="en-US" dirty="0"/>
              <a:t>Change temperature when you are too cold/warm</a:t>
            </a:r>
          </a:p>
        </p:txBody>
      </p:sp>
      <p:sp>
        <p:nvSpPr>
          <p:cNvPr id="13" name="TextBox 12">
            <a:extLst>
              <a:ext uri="{FF2B5EF4-FFF2-40B4-BE49-F238E27FC236}">
                <a16:creationId xmlns:a16="http://schemas.microsoft.com/office/drawing/2014/main" id="{38AD3B03-FCF7-47AA-AA67-307CD5852DA4}"/>
              </a:ext>
            </a:extLst>
          </p:cNvPr>
          <p:cNvSpPr txBox="1"/>
          <p:nvPr/>
        </p:nvSpPr>
        <p:spPr>
          <a:xfrm rot="20753926">
            <a:off x="5603643" y="1526796"/>
            <a:ext cx="2232965" cy="9541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2800" b="1" dirty="0"/>
              <a:t>Simple Reflex Agent?</a:t>
            </a:r>
          </a:p>
        </p:txBody>
      </p:sp>
      <p:grpSp>
        <p:nvGrpSpPr>
          <p:cNvPr id="3" name="Group 2">
            <a:extLst>
              <a:ext uri="{FF2B5EF4-FFF2-40B4-BE49-F238E27FC236}">
                <a16:creationId xmlns:a16="http://schemas.microsoft.com/office/drawing/2014/main" id="{47C10D90-3EB1-7E9E-EB61-36A8C576D246}"/>
              </a:ext>
              <a:ext uri="{C183D7F6-B498-43B3-948B-1728B52AA6E4}">
                <adec:decorative xmlns:adec="http://schemas.microsoft.com/office/drawing/2017/decorative" val="1"/>
              </a:ext>
            </a:extLst>
          </p:cNvPr>
          <p:cNvGrpSpPr/>
          <p:nvPr/>
        </p:nvGrpSpPr>
        <p:grpSpPr>
          <a:xfrm>
            <a:off x="1151428" y="2928612"/>
            <a:ext cx="3429000" cy="3517056"/>
            <a:chOff x="4800600" y="2743200"/>
            <a:chExt cx="3429000" cy="3517056"/>
          </a:xfrm>
        </p:grpSpPr>
        <p:sp>
          <p:nvSpPr>
            <p:cNvPr id="5" name="Rectangle 4">
              <a:extLst>
                <a:ext uri="{FF2B5EF4-FFF2-40B4-BE49-F238E27FC236}">
                  <a16:creationId xmlns:a16="http://schemas.microsoft.com/office/drawing/2014/main" id="{EBD32C4C-2783-DD45-45AE-60D6A3FE698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AE61E32C-37FD-F321-482C-C78FFE0FA284}"/>
                </a:ext>
              </a:extLst>
            </p:cNvPr>
            <p:cNvSpPr/>
            <p:nvPr/>
          </p:nvSpPr>
          <p:spPr>
            <a:xfrm>
              <a:off x="5486402" y="2743200"/>
              <a:ext cx="1842684" cy="369332"/>
            </a:xfrm>
            <a:prstGeom prst="rect">
              <a:avLst/>
            </a:prstGeom>
          </p:spPr>
          <p:txBody>
            <a:bodyPr wrap="none">
              <a:spAutoFit/>
            </a:bodyPr>
            <a:lstStyle/>
            <a:p>
              <a:r>
                <a:rPr lang="en-US" dirty="0"/>
                <a:t>Smart thermostat</a:t>
              </a:r>
            </a:p>
          </p:txBody>
        </p:sp>
        <p:sp>
          <p:nvSpPr>
            <p:cNvPr id="8" name="TextBox 7">
              <a:extLst>
                <a:ext uri="{FF2B5EF4-FFF2-40B4-BE49-F238E27FC236}">
                  <a16:creationId xmlns:a16="http://schemas.microsoft.com/office/drawing/2014/main" id="{785BCCFC-B6A7-EAA0-60E6-8EF2C97F9A68}"/>
                </a:ext>
              </a:extLst>
            </p:cNvPr>
            <p:cNvSpPr txBox="1"/>
            <p:nvPr/>
          </p:nvSpPr>
          <p:spPr>
            <a:xfrm>
              <a:off x="4800600" y="3004066"/>
              <a:ext cx="1981199" cy="2923877"/>
            </a:xfrm>
            <a:prstGeom prst="rect">
              <a:avLst/>
            </a:prstGeom>
            <a:noFill/>
          </p:spPr>
          <p:txBody>
            <a:bodyPr wrap="square" rtlCol="0">
              <a:spAutoFit/>
            </a:bodyPr>
            <a:lstStyle/>
            <a:p>
              <a:r>
                <a:rPr lang="en-US" sz="1600" b="1" dirty="0"/>
                <a:t>Percepts</a:t>
              </a:r>
            </a:p>
            <a:p>
              <a:r>
                <a:rPr lang="en-US" sz="1400" dirty="0"/>
                <a:t>Sensors</a:t>
              </a:r>
            </a:p>
            <a:p>
              <a:pPr marL="285750" indent="-285750">
                <a:buFont typeface="Arial" panose="020B0604020202020204" pitchFamily="34" charset="0"/>
                <a:buChar char="•"/>
              </a:pPr>
              <a:r>
                <a:rPr lang="en-US" sz="1400" dirty="0"/>
                <a:t>Temp: deg. F</a:t>
              </a:r>
            </a:p>
            <a:p>
              <a:pPr marL="285750" indent="-285750">
                <a:buFont typeface="Arial" panose="020B0604020202020204" pitchFamily="34" charset="0"/>
                <a:buChar char="•"/>
              </a:pPr>
              <a:r>
                <a:rPr lang="en-US" sz="1400" dirty="0"/>
                <a:t>Someone walking by</a:t>
              </a:r>
            </a:p>
            <a:p>
              <a:pPr marL="285750" indent="-285750">
                <a:buFont typeface="Arial" panose="020B0604020202020204" pitchFamily="34" charset="0"/>
                <a:buChar char="•"/>
              </a:pPr>
              <a:r>
                <a:rPr lang="en-US" sz="1400" dirty="0"/>
                <a:t>Someone changes temp.</a:t>
              </a:r>
            </a:p>
            <a:p>
              <a:pPr marL="285750" indent="-285750">
                <a:buFont typeface="Arial" panose="020B0604020202020204" pitchFamily="34" charset="0"/>
                <a:buChar char="•"/>
              </a:pPr>
              <a:endParaRPr lang="en-US" sz="1400" dirty="0"/>
            </a:p>
            <a:p>
              <a:r>
                <a:rPr lang="en-US" sz="1400" dirty="0"/>
                <a:t>Internet</a:t>
              </a:r>
            </a:p>
            <a:p>
              <a:pPr marL="285750" indent="-285750">
                <a:buFont typeface="Arial" panose="020B0604020202020204" pitchFamily="34" charset="0"/>
                <a:buChar char="•"/>
              </a:pPr>
              <a:r>
                <a:rPr lang="en-US" sz="1400" dirty="0"/>
                <a:t>Outside temp.</a:t>
              </a:r>
            </a:p>
            <a:p>
              <a:pPr marL="285750" indent="-285750">
                <a:buFont typeface="Arial" panose="020B0604020202020204" pitchFamily="34" charset="0"/>
                <a:buChar char="•"/>
              </a:pPr>
              <a:r>
                <a:rPr lang="en-US" sz="1400" dirty="0"/>
                <a:t>Weather report</a:t>
              </a:r>
            </a:p>
            <a:p>
              <a:pPr marL="285750" indent="-285750">
                <a:buFont typeface="Arial" panose="020B0604020202020204" pitchFamily="34" charset="0"/>
                <a:buChar char="•"/>
              </a:pPr>
              <a:r>
                <a:rPr lang="en-US" sz="1400" dirty="0"/>
                <a:t>Energy curtailment</a:t>
              </a:r>
            </a:p>
            <a:p>
              <a:pPr marL="285750" indent="-285750">
                <a:buFont typeface="Arial" panose="020B0604020202020204" pitchFamily="34" charset="0"/>
                <a:buChar char="•"/>
              </a:pPr>
              <a:r>
                <a:rPr lang="en-US" sz="1400" dirty="0"/>
                <a:t>Day &amp; time</a:t>
              </a:r>
            </a:p>
            <a:p>
              <a:pPr marL="285750" indent="-285750">
                <a:buFont typeface="Arial" panose="020B0604020202020204" pitchFamily="34" charset="0"/>
                <a:buChar char="•"/>
              </a:pPr>
              <a:r>
                <a:rPr lang="en-US" sz="1400" dirty="0"/>
                <a:t>…</a:t>
              </a:r>
            </a:p>
          </p:txBody>
        </p:sp>
        <p:sp>
          <p:nvSpPr>
            <p:cNvPr id="10" name="TextBox 9">
              <a:extLst>
                <a:ext uri="{FF2B5EF4-FFF2-40B4-BE49-F238E27FC236}">
                  <a16:creationId xmlns:a16="http://schemas.microsoft.com/office/drawing/2014/main" id="{750C528B-BADB-9060-3A78-24A89D310B30}"/>
                </a:ext>
              </a:extLst>
            </p:cNvPr>
            <p:cNvSpPr txBox="1"/>
            <p:nvPr/>
          </p:nvSpPr>
          <p:spPr>
            <a:xfrm>
              <a:off x="6699912" y="3090157"/>
              <a:ext cx="1529688" cy="3170099"/>
            </a:xfrm>
            <a:prstGeom prst="rect">
              <a:avLst/>
            </a:prstGeom>
            <a:noFill/>
          </p:spPr>
          <p:txBody>
            <a:bodyPr wrap="square" rtlCol="0">
              <a:spAutoFit/>
            </a:bodyPr>
            <a:lstStyle/>
            <a:p>
              <a:r>
                <a:rPr lang="en-US" sz="1600" b="1" dirty="0"/>
                <a:t>States</a:t>
              </a:r>
            </a:p>
            <a:p>
              <a:r>
                <a:rPr lang="en-US" sz="1400" dirty="0"/>
                <a:t>Factored states</a:t>
              </a:r>
            </a:p>
            <a:p>
              <a:pPr marL="285750" indent="-285750">
                <a:buFont typeface="Arial" panose="020B0604020202020204" pitchFamily="34" charset="0"/>
                <a:buChar char="•"/>
              </a:pPr>
              <a:r>
                <a:rPr lang="en-US" sz="1400" dirty="0"/>
                <a:t>Estimated time to cool the house</a:t>
              </a:r>
            </a:p>
            <a:p>
              <a:pPr marL="285750" indent="-285750">
                <a:buFont typeface="Arial" panose="020B0604020202020204" pitchFamily="34" charset="0"/>
                <a:buChar char="•"/>
              </a:pPr>
              <a:r>
                <a:rPr lang="en-US" sz="1400" dirty="0"/>
                <a:t>Someone home?</a:t>
              </a:r>
            </a:p>
            <a:p>
              <a:pPr marL="285750" indent="-285750">
                <a:buFont typeface="Arial" panose="020B0604020202020204" pitchFamily="34" charset="0"/>
                <a:buChar char="•"/>
              </a:pPr>
              <a:r>
                <a:rPr lang="en-US" sz="1400" dirty="0"/>
                <a:t>How long till someone is coming home?</a:t>
              </a:r>
            </a:p>
            <a:p>
              <a:pPr marL="285750" indent="-285750">
                <a:buFont typeface="Arial" panose="020B0604020202020204" pitchFamily="34" charset="0"/>
                <a:buChar char="•"/>
              </a:pPr>
              <a:r>
                <a:rPr lang="en-US" sz="1400" dirty="0"/>
                <a:t>Schedule</a:t>
              </a:r>
            </a:p>
            <a:p>
              <a:pPr marL="285750" indent="-285750">
                <a:buFont typeface="Arial" panose="020B0604020202020204" pitchFamily="34" charset="0"/>
                <a:buChar char="•"/>
              </a:pPr>
              <a:r>
                <a:rPr lang="en-US" sz="1400" dirty="0"/>
                <a:t>….</a:t>
              </a:r>
            </a:p>
            <a:p>
              <a:endParaRPr lang="en-US" sz="1600" b="1" dirty="0"/>
            </a:p>
          </p:txBody>
        </p:sp>
        <p:cxnSp>
          <p:nvCxnSpPr>
            <p:cNvPr id="17" name="Straight Connector 16">
              <a:extLst>
                <a:ext uri="{FF2B5EF4-FFF2-40B4-BE49-F238E27FC236}">
                  <a16:creationId xmlns:a16="http://schemas.microsoft.com/office/drawing/2014/main" id="{97C013D6-10AF-5560-44AF-9F6FB04BA049}"/>
                </a:ext>
              </a:extLst>
            </p:cNvPr>
            <p:cNvCxnSpPr/>
            <p:nvPr/>
          </p:nvCxnSpPr>
          <p:spPr>
            <a:xfrm>
              <a:off x="6705600" y="3429000"/>
              <a:ext cx="0" cy="252626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9" name="TextBox 18">
            <a:extLst>
              <a:ext uri="{FF2B5EF4-FFF2-40B4-BE49-F238E27FC236}">
                <a16:creationId xmlns:a16="http://schemas.microsoft.com/office/drawing/2014/main" id="{165BEDD3-FA9B-DB1D-D491-3A93CCCDA962}"/>
              </a:ext>
            </a:extLst>
          </p:cNvPr>
          <p:cNvSpPr txBox="1"/>
          <p:nvPr/>
        </p:nvSpPr>
        <p:spPr>
          <a:xfrm rot="1490344">
            <a:off x="5034977" y="2951947"/>
            <a:ext cx="2232965" cy="95410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2800" b="1" dirty="0"/>
              <a:t>Model-based Reflex Agent?</a:t>
            </a:r>
          </a:p>
        </p:txBody>
      </p:sp>
      <p:sp>
        <p:nvSpPr>
          <p:cNvPr id="16" name="TextBox 15">
            <a:extLst>
              <a:ext uri="{FF2B5EF4-FFF2-40B4-BE49-F238E27FC236}">
                <a16:creationId xmlns:a16="http://schemas.microsoft.com/office/drawing/2014/main" id="{2BCB7D46-DF1E-4981-B53C-BCE34BDB13CA}"/>
              </a:ext>
            </a:extLst>
          </p:cNvPr>
          <p:cNvSpPr txBox="1"/>
          <p:nvPr/>
        </p:nvSpPr>
        <p:spPr>
          <a:xfrm rot="18844977">
            <a:off x="6416542" y="3673300"/>
            <a:ext cx="2565126"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3600" b="1" dirty="0"/>
              <a:t>Goal-based?</a:t>
            </a:r>
          </a:p>
        </p:txBody>
      </p:sp>
      <p:sp>
        <p:nvSpPr>
          <p:cNvPr id="18" name="TextBox 17">
            <a:extLst>
              <a:ext uri="{FF2B5EF4-FFF2-40B4-BE49-F238E27FC236}">
                <a16:creationId xmlns:a16="http://schemas.microsoft.com/office/drawing/2014/main" id="{87680BDF-1CAB-4A7C-B54C-C6EABE0BE124}"/>
              </a:ext>
            </a:extLst>
          </p:cNvPr>
          <p:cNvSpPr txBox="1"/>
          <p:nvPr/>
        </p:nvSpPr>
        <p:spPr>
          <a:xfrm rot="756261">
            <a:off x="4973903" y="5022633"/>
            <a:ext cx="2861681"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3600" b="1" dirty="0"/>
              <a:t>Utility-based?</a:t>
            </a:r>
          </a:p>
        </p:txBody>
      </p:sp>
      <p:sp>
        <p:nvSpPr>
          <p:cNvPr id="11" name="TextBox 10">
            <a:extLst>
              <a:ext uri="{FF2B5EF4-FFF2-40B4-BE49-F238E27FC236}">
                <a16:creationId xmlns:a16="http://schemas.microsoft.com/office/drawing/2014/main" id="{FD845BD7-D1C9-34BB-6BD7-A53C1E1C485D}"/>
              </a:ext>
            </a:extLst>
          </p:cNvPr>
          <p:cNvSpPr txBox="1"/>
          <p:nvPr/>
        </p:nvSpPr>
        <p:spPr>
          <a:xfrm rot="21151107">
            <a:off x="6518945" y="5908163"/>
            <a:ext cx="2047355"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r>
              <a:rPr lang="en-US" sz="3600" b="1" dirty="0"/>
              <a:t>Learning?</a:t>
            </a:r>
          </a:p>
        </p:txBody>
      </p:sp>
    </p:spTree>
    <p:extLst>
      <p:ext uri="{BB962C8B-B14F-4D97-AF65-F5344CB8AC3E}">
        <p14:creationId xmlns:p14="http://schemas.microsoft.com/office/powerpoint/2010/main" val="4125485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BE47-1D1C-44B5-8446-587B6530CC91}"/>
              </a:ext>
            </a:extLst>
          </p:cNvPr>
          <p:cNvSpPr>
            <a:spLocks noGrp="1"/>
          </p:cNvSpPr>
          <p:nvPr>
            <p:ph type="title"/>
          </p:nvPr>
        </p:nvSpPr>
        <p:spPr/>
        <p:txBody>
          <a:bodyPr/>
          <a:lstStyle/>
          <a:p>
            <a:r>
              <a:rPr lang="en-US" dirty="0"/>
              <a:t>Example: Modern Vacuum Robot</a:t>
            </a:r>
          </a:p>
        </p:txBody>
      </p:sp>
      <p:sp>
        <p:nvSpPr>
          <p:cNvPr id="3" name="Content Placeholder 2">
            <a:extLst>
              <a:ext uri="{FF2B5EF4-FFF2-40B4-BE49-F238E27FC236}">
                <a16:creationId xmlns:a16="http://schemas.microsoft.com/office/drawing/2014/main" id="{547CF5C4-8471-4844-A31E-73B7D267F154}"/>
              </a:ext>
            </a:extLst>
          </p:cNvPr>
          <p:cNvSpPr>
            <a:spLocks noGrp="1"/>
          </p:cNvSpPr>
          <p:nvPr>
            <p:ph idx="1"/>
          </p:nvPr>
        </p:nvSpPr>
        <p:spPr>
          <a:xfrm>
            <a:off x="762000" y="1666229"/>
            <a:ext cx="2743200" cy="4351338"/>
          </a:xfrm>
        </p:spPr>
        <p:txBody>
          <a:bodyPr>
            <a:normAutofit/>
          </a:bodyPr>
          <a:lstStyle/>
          <a:p>
            <a:pPr marL="0" indent="0">
              <a:buNone/>
            </a:pPr>
            <a:r>
              <a:rPr lang="en-US" dirty="0"/>
              <a:t>Features are:</a:t>
            </a:r>
          </a:p>
          <a:p>
            <a:r>
              <a:rPr lang="en-US" dirty="0"/>
              <a:t>Control via App</a:t>
            </a:r>
          </a:p>
          <a:p>
            <a:r>
              <a:rPr lang="en-US" dirty="0"/>
              <a:t>Cleaning Modes</a:t>
            </a:r>
          </a:p>
          <a:p>
            <a:r>
              <a:rPr lang="en-US" dirty="0"/>
              <a:t>Navigation</a:t>
            </a:r>
          </a:p>
          <a:p>
            <a:r>
              <a:rPr lang="en-US" dirty="0"/>
              <a:t>Mapping</a:t>
            </a:r>
          </a:p>
          <a:p>
            <a:r>
              <a:rPr lang="en-US" dirty="0"/>
              <a:t>Boundary blockers</a:t>
            </a:r>
          </a:p>
          <a:p>
            <a:pPr marL="0" indent="0">
              <a:buNone/>
            </a:pPr>
            <a:endParaRPr lang="en-US" dirty="0"/>
          </a:p>
        </p:txBody>
      </p:sp>
      <p:pic>
        <p:nvPicPr>
          <p:cNvPr id="4" name="Picture 3">
            <a:extLst>
              <a:ext uri="{FF2B5EF4-FFF2-40B4-BE49-F238E27FC236}">
                <a16:creationId xmlns:a16="http://schemas.microsoft.com/office/drawing/2014/main" id="{75132EF9-B0A2-4037-8D0E-42458B0470CD}"/>
              </a:ext>
              <a:ext uri="{C183D7F6-B498-43B3-948B-1728B52AA6E4}">
                <adec:decorative xmlns:adec="http://schemas.microsoft.com/office/drawing/2017/decorative" val="1"/>
              </a:ext>
            </a:extLst>
          </p:cNvPr>
          <p:cNvPicPr>
            <a:picLocks noChangeAspect="1"/>
          </p:cNvPicPr>
          <p:nvPr/>
        </p:nvPicPr>
        <p:blipFill rotWithShape="1">
          <a:blip r:embed="rId2"/>
          <a:srcRect l="6875" t="8450" r="37500" b="14843"/>
          <a:stretch/>
        </p:blipFill>
        <p:spPr>
          <a:xfrm>
            <a:off x="3733800" y="1828799"/>
            <a:ext cx="5086350" cy="3657601"/>
          </a:xfrm>
          <a:prstGeom prst="rect">
            <a:avLst/>
          </a:prstGeom>
        </p:spPr>
      </p:pic>
      <p:sp>
        <p:nvSpPr>
          <p:cNvPr id="5" name="Rectangle 4">
            <a:extLst>
              <a:ext uri="{FF2B5EF4-FFF2-40B4-BE49-F238E27FC236}">
                <a16:creationId xmlns:a16="http://schemas.microsoft.com/office/drawing/2014/main" id="{53B8DAC9-A88F-4BA2-BF06-135DCF2303C7}"/>
              </a:ext>
            </a:extLst>
          </p:cNvPr>
          <p:cNvSpPr/>
          <p:nvPr/>
        </p:nvSpPr>
        <p:spPr>
          <a:xfrm>
            <a:off x="4267200" y="5786735"/>
            <a:ext cx="4495800" cy="461665"/>
          </a:xfrm>
          <a:prstGeom prst="rect">
            <a:avLst/>
          </a:prstGeom>
        </p:spPr>
        <p:txBody>
          <a:bodyPr wrap="square">
            <a:spAutoFit/>
          </a:bodyPr>
          <a:lstStyle/>
          <a:p>
            <a:r>
              <a:rPr lang="en-US" sz="1200" dirty="0"/>
              <a:t>Source: </a:t>
            </a:r>
            <a:r>
              <a:rPr lang="en-US" sz="1200" dirty="0">
                <a:hlinkClick r:id="rId3"/>
              </a:rPr>
              <a:t>https://www.techhive.com/article/3269782/best-robot-vacuum-cleaners.html</a:t>
            </a:r>
            <a:r>
              <a:rPr lang="en-US" sz="1200" dirty="0"/>
              <a:t> </a:t>
            </a:r>
          </a:p>
        </p:txBody>
      </p:sp>
    </p:spTree>
    <p:extLst>
      <p:ext uri="{BB962C8B-B14F-4D97-AF65-F5344CB8AC3E}">
        <p14:creationId xmlns:p14="http://schemas.microsoft.com/office/powerpoint/2010/main" val="366897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a:t>
            </a:r>
          </a:p>
        </p:txBody>
      </p:sp>
      <p:graphicFrame>
        <p:nvGraphicFramePr>
          <p:cNvPr id="4" name="Content Placeholder 3" descr="Four empty tables for the PEAS description. ">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192887676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B1F2B4B-F5D4-8A70-3612-234CA2AA6369}"/>
              </a:ext>
              <a:ext uri="{C183D7F6-B498-43B3-948B-1728B52AA6E4}">
                <adec:decorative xmlns:adec="http://schemas.microsoft.com/office/drawing/2017/decorative" val="1"/>
              </a:ext>
            </a:extLst>
          </p:cNvPr>
          <p:cNvPicPr>
            <a:picLocks noChangeAspect="1"/>
          </p:cNvPicPr>
          <p:nvPr/>
        </p:nvPicPr>
        <p:blipFill rotWithShape="1">
          <a:blip r:embed="rId7"/>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1555730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 Solution</a:t>
            </a:r>
          </a:p>
        </p:txBody>
      </p:sp>
      <p:sp>
        <p:nvSpPr>
          <p:cNvPr id="7" name="Freeform: Shape 6">
            <a:extLst>
              <a:ext uri="{FF2B5EF4-FFF2-40B4-BE49-F238E27FC236}">
                <a16:creationId xmlns:a16="http://schemas.microsoft.com/office/drawing/2014/main" id="{5700C74F-6A74-5F4E-D6BF-3940F1BEC6A7}"/>
              </a:ext>
            </a:extLst>
          </p:cNvPr>
          <p:cNvSpPr/>
          <p:nvPr/>
        </p:nvSpPr>
        <p:spPr>
          <a:xfrm>
            <a:off x="631615"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Performance measure</a:t>
            </a:r>
            <a:endParaRPr lang="en-US" sz="1700" kern="1200"/>
          </a:p>
        </p:txBody>
      </p:sp>
      <p:sp>
        <p:nvSpPr>
          <p:cNvPr id="8" name="Freeform: Shape 7">
            <a:extLst>
              <a:ext uri="{FF2B5EF4-FFF2-40B4-BE49-F238E27FC236}">
                <a16:creationId xmlns:a16="http://schemas.microsoft.com/office/drawing/2014/main" id="{89C01146-783C-3B68-C2A5-05B2BF8A02B4}"/>
              </a:ext>
            </a:extLst>
          </p:cNvPr>
          <p:cNvSpPr/>
          <p:nvPr/>
        </p:nvSpPr>
        <p:spPr>
          <a:xfrm>
            <a:off x="631615"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Time to clean 95%</a:t>
            </a:r>
          </a:p>
          <a:p>
            <a:pPr marL="171450" lvl="1" indent="-171450" algn="l" defTabSz="755650">
              <a:lnSpc>
                <a:spcPct val="90000"/>
              </a:lnSpc>
              <a:spcBef>
                <a:spcPct val="0"/>
              </a:spcBef>
              <a:spcAft>
                <a:spcPct val="15000"/>
              </a:spcAft>
              <a:buChar char="•"/>
            </a:pPr>
            <a:r>
              <a:rPr lang="en-US" sz="1700" kern="1200" dirty="0"/>
              <a:t>Does it get stuck?</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p:txBody>
      </p:sp>
      <p:sp>
        <p:nvSpPr>
          <p:cNvPr id="9" name="Freeform: Shape 8">
            <a:extLst>
              <a:ext uri="{FF2B5EF4-FFF2-40B4-BE49-F238E27FC236}">
                <a16:creationId xmlns:a16="http://schemas.microsoft.com/office/drawing/2014/main" id="{3E17F6F6-B7B0-66AE-2E0C-96F608A53977}"/>
              </a:ext>
            </a:extLst>
          </p:cNvPr>
          <p:cNvSpPr/>
          <p:nvPr/>
        </p:nvSpPr>
        <p:spPr>
          <a:xfrm>
            <a:off x="2664211"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Environment</a:t>
            </a:r>
            <a:endParaRPr lang="en-US" sz="1700" kern="1200" dirty="0"/>
          </a:p>
        </p:txBody>
      </p:sp>
      <p:sp>
        <p:nvSpPr>
          <p:cNvPr id="10" name="Freeform: Shape 9">
            <a:extLst>
              <a:ext uri="{FF2B5EF4-FFF2-40B4-BE49-F238E27FC236}">
                <a16:creationId xmlns:a16="http://schemas.microsoft.com/office/drawing/2014/main" id="{474C7339-3BA9-1B8C-8D19-7AC0FC6462A8}"/>
              </a:ext>
            </a:extLst>
          </p:cNvPr>
          <p:cNvSpPr/>
          <p:nvPr/>
        </p:nvSpPr>
        <p:spPr>
          <a:xfrm>
            <a:off x="2664211"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Rooms</a:t>
            </a:r>
          </a:p>
          <a:p>
            <a:pPr marL="171450" lvl="1" indent="-171450" algn="l" defTabSz="755650">
              <a:lnSpc>
                <a:spcPct val="90000"/>
              </a:lnSpc>
              <a:spcBef>
                <a:spcPct val="0"/>
              </a:spcBef>
              <a:spcAft>
                <a:spcPct val="15000"/>
              </a:spcAft>
              <a:buChar char="•"/>
            </a:pPr>
            <a:r>
              <a:rPr lang="en-US" sz="1700" kern="1200" dirty="0"/>
              <a:t>Obstacles</a:t>
            </a:r>
          </a:p>
          <a:p>
            <a:pPr marL="171450" lvl="1" indent="-171450" algn="l" defTabSz="755650">
              <a:lnSpc>
                <a:spcPct val="90000"/>
              </a:lnSpc>
              <a:spcBef>
                <a:spcPct val="0"/>
              </a:spcBef>
              <a:spcAft>
                <a:spcPct val="15000"/>
              </a:spcAft>
              <a:buChar char="•"/>
            </a:pPr>
            <a:r>
              <a:rPr lang="en-US" sz="1700" kern="1200" dirty="0"/>
              <a:t>Dirt</a:t>
            </a:r>
          </a:p>
          <a:p>
            <a:pPr marL="171450" lvl="1" indent="-171450" algn="l" defTabSz="755650">
              <a:lnSpc>
                <a:spcPct val="90000"/>
              </a:lnSpc>
              <a:spcBef>
                <a:spcPct val="0"/>
              </a:spcBef>
              <a:spcAft>
                <a:spcPct val="15000"/>
              </a:spcAft>
              <a:buChar char="•"/>
            </a:pPr>
            <a:r>
              <a:rPr lang="en-US" sz="1700" kern="1200" dirty="0"/>
              <a:t>People/pets</a:t>
            </a:r>
          </a:p>
          <a:p>
            <a:pPr marL="171450" lvl="1" indent="-171450" algn="l" defTabSz="755650">
              <a:lnSpc>
                <a:spcPct val="90000"/>
              </a:lnSpc>
              <a:spcBef>
                <a:spcPct val="0"/>
              </a:spcBef>
              <a:spcAft>
                <a:spcPct val="15000"/>
              </a:spcAft>
              <a:buChar char="•"/>
            </a:pPr>
            <a:r>
              <a:rPr lang="en-US" sz="1700" kern="1200" dirty="0"/>
              <a:t>…</a:t>
            </a:r>
          </a:p>
        </p:txBody>
      </p:sp>
      <p:sp>
        <p:nvSpPr>
          <p:cNvPr id="11" name="Freeform: Shape 10">
            <a:extLst>
              <a:ext uri="{FF2B5EF4-FFF2-40B4-BE49-F238E27FC236}">
                <a16:creationId xmlns:a16="http://schemas.microsoft.com/office/drawing/2014/main" id="{02AD9BBB-C885-D245-7A3A-6BB13CFB3B90}"/>
              </a:ext>
            </a:extLst>
          </p:cNvPr>
          <p:cNvSpPr/>
          <p:nvPr/>
        </p:nvSpPr>
        <p:spPr>
          <a:xfrm>
            <a:off x="4696808"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Actuators</a:t>
            </a:r>
            <a:endParaRPr lang="en-US" sz="1700" kern="1200" dirty="0"/>
          </a:p>
        </p:txBody>
      </p:sp>
      <p:sp>
        <p:nvSpPr>
          <p:cNvPr id="12" name="Freeform: Shape 11">
            <a:extLst>
              <a:ext uri="{FF2B5EF4-FFF2-40B4-BE49-F238E27FC236}">
                <a16:creationId xmlns:a16="http://schemas.microsoft.com/office/drawing/2014/main" id="{64758F43-56D2-8C84-6989-66E11F53FCB6}"/>
              </a:ext>
            </a:extLst>
          </p:cNvPr>
          <p:cNvSpPr/>
          <p:nvPr/>
        </p:nvSpPr>
        <p:spPr>
          <a:xfrm>
            <a:off x="4696808"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Wheels</a:t>
            </a:r>
          </a:p>
          <a:p>
            <a:pPr marL="171450" lvl="1" indent="-171450" algn="l" defTabSz="755650">
              <a:lnSpc>
                <a:spcPct val="90000"/>
              </a:lnSpc>
              <a:spcBef>
                <a:spcPct val="0"/>
              </a:spcBef>
              <a:spcAft>
                <a:spcPct val="15000"/>
              </a:spcAft>
              <a:buChar char="•"/>
            </a:pPr>
            <a:r>
              <a:rPr lang="en-US" sz="1700" kern="1200" dirty="0"/>
              <a:t>Brushes</a:t>
            </a:r>
          </a:p>
          <a:p>
            <a:pPr marL="171450" lvl="1" indent="-171450" algn="l" defTabSz="755650">
              <a:lnSpc>
                <a:spcPct val="90000"/>
              </a:lnSpc>
              <a:spcBef>
                <a:spcPct val="0"/>
              </a:spcBef>
              <a:spcAft>
                <a:spcPct val="15000"/>
              </a:spcAft>
              <a:buChar char="•"/>
            </a:pPr>
            <a:r>
              <a:rPr lang="en-US" sz="1700" kern="1200" dirty="0"/>
              <a:t>Blower</a:t>
            </a:r>
          </a:p>
          <a:p>
            <a:pPr marL="171450" lvl="1" indent="-171450" algn="l" defTabSz="755650">
              <a:lnSpc>
                <a:spcPct val="90000"/>
              </a:lnSpc>
              <a:spcBef>
                <a:spcPct val="0"/>
              </a:spcBef>
              <a:spcAft>
                <a:spcPct val="15000"/>
              </a:spcAft>
              <a:buChar char="•"/>
            </a:pPr>
            <a:r>
              <a:rPr lang="en-US" sz="1700" kern="1200" dirty="0"/>
              <a:t>Sound</a:t>
            </a:r>
          </a:p>
          <a:p>
            <a:pPr marL="171450" lvl="1" indent="-171450" algn="l" defTabSz="755650">
              <a:lnSpc>
                <a:spcPct val="90000"/>
              </a:lnSpc>
              <a:spcBef>
                <a:spcPct val="0"/>
              </a:spcBef>
              <a:spcAft>
                <a:spcPct val="15000"/>
              </a:spcAft>
              <a:buChar char="•"/>
            </a:pPr>
            <a:r>
              <a:rPr lang="en-US" sz="1700" kern="1200" dirty="0"/>
              <a:t>Communicate to server/app</a:t>
            </a:r>
          </a:p>
        </p:txBody>
      </p:sp>
      <p:sp>
        <p:nvSpPr>
          <p:cNvPr id="13" name="Freeform: Shape 12">
            <a:extLst>
              <a:ext uri="{FF2B5EF4-FFF2-40B4-BE49-F238E27FC236}">
                <a16:creationId xmlns:a16="http://schemas.microsoft.com/office/drawing/2014/main" id="{9BFB6711-E7B9-A42D-9AA6-FA1C0281283A}"/>
              </a:ext>
            </a:extLst>
          </p:cNvPr>
          <p:cNvSpPr/>
          <p:nvPr/>
        </p:nvSpPr>
        <p:spPr>
          <a:xfrm>
            <a:off x="6729405"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Sensors</a:t>
            </a:r>
            <a:endParaRPr lang="en-US" sz="1700" kern="1200" dirty="0"/>
          </a:p>
        </p:txBody>
      </p:sp>
      <p:sp>
        <p:nvSpPr>
          <p:cNvPr id="14" name="Freeform: Shape 13">
            <a:extLst>
              <a:ext uri="{FF2B5EF4-FFF2-40B4-BE49-F238E27FC236}">
                <a16:creationId xmlns:a16="http://schemas.microsoft.com/office/drawing/2014/main" id="{2CAD45CB-AD12-A7F2-4A16-B2D1F5620BD2}"/>
              </a:ext>
            </a:extLst>
          </p:cNvPr>
          <p:cNvSpPr/>
          <p:nvPr/>
        </p:nvSpPr>
        <p:spPr>
          <a:xfrm>
            <a:off x="6729405"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Bumper</a:t>
            </a:r>
          </a:p>
          <a:p>
            <a:pPr marL="171450" lvl="1" indent="-171450" algn="l" defTabSz="755650">
              <a:lnSpc>
                <a:spcPct val="90000"/>
              </a:lnSpc>
              <a:spcBef>
                <a:spcPct val="0"/>
              </a:spcBef>
              <a:spcAft>
                <a:spcPct val="15000"/>
              </a:spcAft>
              <a:buChar char="•"/>
            </a:pPr>
            <a:r>
              <a:rPr lang="en-US" sz="1700" kern="1200" dirty="0"/>
              <a:t>Cameras/dirt sensor</a:t>
            </a:r>
          </a:p>
          <a:p>
            <a:pPr marL="171450" lvl="1" indent="-171450" algn="l" defTabSz="755650">
              <a:lnSpc>
                <a:spcPct val="90000"/>
              </a:lnSpc>
              <a:spcBef>
                <a:spcPct val="0"/>
              </a:spcBef>
              <a:spcAft>
                <a:spcPct val="15000"/>
              </a:spcAft>
              <a:buChar char="•"/>
            </a:pPr>
            <a:r>
              <a:rPr lang="en-US" sz="1700" kern="1200" dirty="0"/>
              <a:t>Laser</a:t>
            </a:r>
          </a:p>
          <a:p>
            <a:pPr marL="171450" lvl="1" indent="-171450" algn="l" defTabSz="755650">
              <a:lnSpc>
                <a:spcPct val="90000"/>
              </a:lnSpc>
              <a:spcBef>
                <a:spcPct val="0"/>
              </a:spcBef>
              <a:spcAft>
                <a:spcPct val="15000"/>
              </a:spcAft>
              <a:buChar char="•"/>
            </a:pPr>
            <a:r>
              <a:rPr lang="en-US" sz="1700" kern="1200" dirty="0"/>
              <a:t>Motor sensor (overheating)</a:t>
            </a:r>
          </a:p>
          <a:p>
            <a:pPr marL="171450" lvl="1" indent="-171450" algn="l" defTabSz="755650">
              <a:lnSpc>
                <a:spcPct val="90000"/>
              </a:lnSpc>
              <a:spcBef>
                <a:spcPct val="0"/>
              </a:spcBef>
              <a:spcAft>
                <a:spcPct val="15000"/>
              </a:spcAft>
              <a:buChar char="•"/>
            </a:pPr>
            <a:r>
              <a:rPr lang="en-US" sz="1700" kern="1200" dirty="0"/>
              <a:t>Cliff detection</a:t>
            </a:r>
          </a:p>
          <a:p>
            <a:pPr marL="171450" lvl="1" indent="-171450" algn="l" defTabSz="755650">
              <a:lnSpc>
                <a:spcPct val="90000"/>
              </a:lnSpc>
              <a:spcBef>
                <a:spcPct val="0"/>
              </a:spcBef>
              <a:spcAft>
                <a:spcPct val="15000"/>
              </a:spcAft>
              <a:buChar char="•"/>
            </a:pPr>
            <a:r>
              <a:rPr lang="en-US" sz="1700" kern="1200" dirty="0"/>
              <a:t>Home base locator</a:t>
            </a:r>
          </a:p>
          <a:p>
            <a:pPr marL="171450" lvl="1" indent="-171450" algn="l" defTabSz="755650">
              <a:lnSpc>
                <a:spcPct val="90000"/>
              </a:lnSpc>
              <a:spcBef>
                <a:spcPct val="0"/>
              </a:spcBef>
              <a:spcAft>
                <a:spcPct val="15000"/>
              </a:spcAft>
              <a:buChar char="•"/>
            </a:pPr>
            <a:endParaRPr lang="en-US" sz="1700" kern="1200" dirty="0"/>
          </a:p>
        </p:txBody>
      </p:sp>
      <p:pic>
        <p:nvPicPr>
          <p:cNvPr id="5" name="Picture 4">
            <a:extLst>
              <a:ext uri="{FF2B5EF4-FFF2-40B4-BE49-F238E27FC236}">
                <a16:creationId xmlns:a16="http://schemas.microsoft.com/office/drawing/2014/main" id="{A4B96C03-BBD8-FF05-EB55-5EFA783F2E6D}"/>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239000" y="227806"/>
            <a:ext cx="1638300" cy="1600201"/>
          </a:xfrm>
          <a:prstGeom prst="rect">
            <a:avLst/>
          </a:prstGeom>
        </p:spPr>
      </p:pic>
      <p:sp>
        <p:nvSpPr>
          <p:cNvPr id="6" name="TextBox 5">
            <a:extLst>
              <a:ext uri="{FF2B5EF4-FFF2-40B4-BE49-F238E27FC236}">
                <a16:creationId xmlns:a16="http://schemas.microsoft.com/office/drawing/2014/main" id="{E39F17AB-207A-54F4-C49D-F376E50B1276}"/>
              </a:ext>
            </a:extLst>
          </p:cNvPr>
          <p:cNvSpPr txBox="1"/>
          <p:nvPr/>
        </p:nvSpPr>
        <p:spPr>
          <a:xfrm>
            <a:off x="685800" y="5883211"/>
            <a:ext cx="678180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Note</a:t>
            </a:r>
            <a:r>
              <a:rPr lang="en-US" dirty="0"/>
              <a:t>: The PEAS description describes the task, but not how it is solved.</a:t>
            </a:r>
          </a:p>
        </p:txBody>
      </p:sp>
    </p:spTree>
    <p:extLst>
      <p:ext uri="{BB962C8B-B14F-4D97-AF65-F5344CB8AC3E}">
        <p14:creationId xmlns:p14="http://schemas.microsoft.com/office/powerpoint/2010/main" val="175304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What Type of Intelligent Agent is a </a:t>
            </a:r>
            <a:br>
              <a:rPr lang="en-US" dirty="0"/>
            </a:br>
            <a:r>
              <a:rPr lang="en-US" dirty="0"/>
              <a:t>Modern Robot Vacuum? </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918892484"/>
              </p:ext>
            </p:extLst>
          </p:nvPr>
        </p:nvGraphicFramePr>
        <p:xfrm>
          <a:off x="628650" y="1668462"/>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Lst>
          </p:cNvPr>
          <p:cNvSpPr txBox="1"/>
          <p:nvPr/>
        </p:nvSpPr>
        <p:spPr>
          <a:xfrm>
            <a:off x="5410200" y="1996837"/>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199" y="29898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Lst>
          </p:cNvPr>
          <p:cNvSpPr txBox="1"/>
          <p:nvPr/>
        </p:nvSpPr>
        <p:spPr>
          <a:xfrm>
            <a:off x="5416378" y="3746895"/>
            <a:ext cx="3200400" cy="923330"/>
          </a:xfrm>
          <a:prstGeom prst="rect">
            <a:avLst/>
          </a:prstGeom>
          <a:noFill/>
        </p:spPr>
        <p:txBody>
          <a:bodyPr wrap="square" rtlCol="0">
            <a:spAutoFit/>
          </a:bodyPr>
          <a:lstStyle/>
          <a:p>
            <a:r>
              <a:rPr lang="en-US" dirty="0"/>
              <a:t>Does it store state information? How would states be defined (atomic/factored)?</a:t>
            </a:r>
          </a:p>
        </p:txBody>
      </p:sp>
      <p:sp>
        <p:nvSpPr>
          <p:cNvPr id="3" name="TextBox 2">
            <a:extLst>
              <a:ext uri="{FF2B5EF4-FFF2-40B4-BE49-F238E27FC236}">
                <a16:creationId xmlns:a16="http://schemas.microsoft.com/office/drawing/2014/main" id="{FD6EAA75-C94E-4445-AD1B-F468B33665DD}"/>
              </a:ext>
            </a:extLst>
          </p:cNvPr>
          <p:cNvSpPr txBox="1"/>
          <p:nvPr/>
        </p:nvSpPr>
        <p:spPr>
          <a:xfrm>
            <a:off x="5410199" y="4754295"/>
            <a:ext cx="3200401" cy="646331"/>
          </a:xfrm>
          <a:prstGeom prst="rect">
            <a:avLst/>
          </a:prstGeom>
          <a:noFill/>
        </p:spPr>
        <p:txBody>
          <a:bodyPr wrap="square" rtlCol="0">
            <a:spAutoFit/>
          </a:bodyPr>
          <a:lstStyle/>
          <a:p>
            <a:r>
              <a:rPr lang="en-US" dirty="0"/>
              <a:t>Does it use simple rules based only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567707"/>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grpSp>
        <p:nvGrpSpPr>
          <p:cNvPr id="12" name="Group 11">
            <a:extLst>
              <a:ext uri="{FF2B5EF4-FFF2-40B4-BE49-F238E27FC236}">
                <a16:creationId xmlns:a16="http://schemas.microsoft.com/office/drawing/2014/main" id="{3C80410A-2FDB-E16D-D734-401410472D6F}"/>
              </a:ext>
              <a:ext uri="{C183D7F6-B498-43B3-948B-1728B52AA6E4}">
                <adec:decorative xmlns:adec="http://schemas.microsoft.com/office/drawing/2017/decorative" val="1"/>
              </a:ext>
            </a:extLst>
          </p:cNvPr>
          <p:cNvGrpSpPr/>
          <p:nvPr/>
        </p:nvGrpSpPr>
        <p:grpSpPr>
          <a:xfrm>
            <a:off x="6096000" y="5984480"/>
            <a:ext cx="2743200" cy="598587"/>
            <a:chOff x="4953000" y="6061025"/>
            <a:chExt cx="2743200" cy="598587"/>
          </a:xfrm>
        </p:grpSpPr>
        <p:sp>
          <p:nvSpPr>
            <p:cNvPr id="9" name="TextBox 8">
              <a:extLst>
                <a:ext uri="{FF2B5EF4-FFF2-40B4-BE49-F238E27FC236}">
                  <a16:creationId xmlns:a16="http://schemas.microsoft.com/office/drawing/2014/main" id="{767004E1-6956-1083-BCB6-C03D40552927}"/>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3657BB7C-5DFA-1ECE-7AAD-704282F2F1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6061025"/>
              <a:ext cx="598587" cy="598587"/>
            </a:xfrm>
            <a:prstGeom prst="rect">
              <a:avLst/>
            </a:prstGeom>
          </p:spPr>
        </p:pic>
      </p:grpSp>
      <p:pic>
        <p:nvPicPr>
          <p:cNvPr id="10" name="Picture 9">
            <a:extLst>
              <a:ext uri="{FF2B5EF4-FFF2-40B4-BE49-F238E27FC236}">
                <a16:creationId xmlns:a16="http://schemas.microsoft.com/office/drawing/2014/main" id="{CC59C3C4-E1FC-63F9-8E67-5C18D391678F}"/>
              </a:ext>
              <a:ext uri="{C183D7F6-B498-43B3-948B-1728B52AA6E4}">
                <adec:decorative xmlns:adec="http://schemas.microsoft.com/office/drawing/2017/decorative" val="1"/>
              </a:ext>
            </a:extLst>
          </p:cNvPr>
          <p:cNvPicPr>
            <a:picLocks noChangeAspect="1"/>
          </p:cNvPicPr>
          <p:nvPr/>
        </p:nvPicPr>
        <p:blipFill rotWithShape="1">
          <a:blip r:embed="rId9"/>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3695375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D64-71A1-0FC9-A4B8-803166224E72}"/>
              </a:ext>
            </a:extLst>
          </p:cNvPr>
          <p:cNvSpPr>
            <a:spLocks noGrp="1"/>
          </p:cNvSpPr>
          <p:nvPr>
            <p:ph type="title"/>
          </p:nvPr>
        </p:nvSpPr>
        <p:spPr/>
        <p:txBody>
          <a:bodyPr/>
          <a:lstStyle/>
          <a:p>
            <a:r>
              <a:rPr lang="en-US" dirty="0"/>
              <a:t>Example: Large Language Models</a:t>
            </a:r>
          </a:p>
        </p:txBody>
      </p:sp>
      <p:pic>
        <p:nvPicPr>
          <p:cNvPr id="7" name="Content Placeholder 6" descr="A screenshot of a shoet conversation wioth ChatGPT about the weather.">
            <a:extLst>
              <a:ext uri="{FF2B5EF4-FFF2-40B4-BE49-F238E27FC236}">
                <a16:creationId xmlns:a16="http://schemas.microsoft.com/office/drawing/2014/main" id="{B4ED022A-0D14-B608-A157-B5CA4FEBEB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90689"/>
            <a:ext cx="7467600" cy="4008191"/>
          </a:xfrm>
        </p:spPr>
      </p:pic>
      <p:pic>
        <p:nvPicPr>
          <p:cNvPr id="1026" name="Picture 2" descr="Image result for chatgpt ai">
            <a:extLst>
              <a:ext uri="{FF2B5EF4-FFF2-40B4-BE49-F238E27FC236}">
                <a16:creationId xmlns:a16="http://schemas.microsoft.com/office/drawing/2014/main" id="{7B854F5C-F02E-55D3-B81E-0C4136F64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50693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ChatGPT</a:t>
            </a:r>
          </a:p>
        </p:txBody>
      </p:sp>
      <p:graphicFrame>
        <p:nvGraphicFramePr>
          <p:cNvPr id="4" name="Content Placeholder 3" descr="Four empty tables for the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6322610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Image result for chatgpt ai">
            <a:extLst>
              <a:ext uri="{FF2B5EF4-FFF2-40B4-BE49-F238E27FC236}">
                <a16:creationId xmlns:a16="http://schemas.microsoft.com/office/drawing/2014/main" id="{E75EFC2A-A54F-3905-C9DA-2484E885BC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55436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203283"/>
            <a:ext cx="7886700" cy="1325563"/>
          </a:xfrm>
        </p:spPr>
        <p:txBody>
          <a:bodyPr/>
          <a:lstStyle/>
          <a:p>
            <a:r>
              <a:rPr lang="en-US" dirty="0"/>
              <a:t>What Type of Intelligent Agent is </a:t>
            </a:r>
            <a:br>
              <a:rPr lang="en-US" dirty="0"/>
            </a:br>
            <a:r>
              <a:rPr lang="en-US" dirty="0"/>
              <a:t>ChatGPT?</a:t>
            </a:r>
          </a:p>
        </p:txBody>
      </p:sp>
      <p:graphicFrame>
        <p:nvGraphicFramePr>
          <p:cNvPr id="2" name="Content Placeholder 1" descr="A figure showing the four types of agents covered so far.">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3851368334"/>
              </p:ext>
            </p:extLst>
          </p:nvPr>
        </p:nvGraphicFramePr>
        <p:xfrm>
          <a:off x="628650" y="137160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 uri="{C183D7F6-B498-43B3-948B-1728B52AA6E4}">
                <adec:decorative xmlns:adec="http://schemas.microsoft.com/office/drawing/2017/decorative" val="0"/>
              </a:ext>
            </a:extLst>
          </p:cNvPr>
          <p:cNvSpPr txBox="1"/>
          <p:nvPr/>
        </p:nvSpPr>
        <p:spPr>
          <a:xfrm>
            <a:off x="5410200" y="1743670"/>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200" y="28167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 uri="{C183D7F6-B498-43B3-948B-1728B52AA6E4}">
                <adec:decorative xmlns:adec="http://schemas.microsoft.com/office/drawing/2017/decorative" val="0"/>
              </a:ext>
            </a:extLst>
          </p:cNvPr>
          <p:cNvSpPr txBox="1"/>
          <p:nvPr/>
        </p:nvSpPr>
        <p:spPr>
          <a:xfrm>
            <a:off x="5416378" y="3450033"/>
            <a:ext cx="3200400" cy="923330"/>
          </a:xfrm>
          <a:prstGeom prst="rect">
            <a:avLst/>
          </a:prstGeom>
          <a:noFill/>
        </p:spPr>
        <p:txBody>
          <a:bodyPr wrap="square" rtlCol="0">
            <a:spAutoFit/>
          </a:bodyPr>
          <a:lstStyle/>
          <a:p>
            <a:r>
              <a:rPr lang="en-US" dirty="0"/>
              <a:t>Does it store state information? How would the state be defined (atomic/factored)?</a:t>
            </a:r>
          </a:p>
        </p:txBody>
      </p:sp>
      <p:sp>
        <p:nvSpPr>
          <p:cNvPr id="12" name="TextBox 11">
            <a:extLst>
              <a:ext uri="{FF2B5EF4-FFF2-40B4-BE49-F238E27FC236}">
                <a16:creationId xmlns:a16="http://schemas.microsoft.com/office/drawing/2014/main" id="{87D9E60E-0D36-43B2-AD16-3CEF05FCE73D}"/>
              </a:ext>
            </a:extLst>
          </p:cNvPr>
          <p:cNvSpPr txBox="1"/>
          <p:nvPr/>
        </p:nvSpPr>
        <p:spPr>
          <a:xfrm>
            <a:off x="5430442" y="4497634"/>
            <a:ext cx="3200401" cy="646331"/>
          </a:xfrm>
          <a:prstGeom prst="rect">
            <a:avLst/>
          </a:prstGeom>
          <a:noFill/>
        </p:spPr>
        <p:txBody>
          <a:bodyPr wrap="square" rtlCol="0">
            <a:spAutoFit/>
          </a:bodyPr>
          <a:lstStyle/>
          <a:p>
            <a:r>
              <a:rPr lang="en-US" dirty="0"/>
              <a:t>Does it use simple rules based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270845"/>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sp>
        <p:nvSpPr>
          <p:cNvPr id="5" name="TextBox 4">
            <a:extLst>
              <a:ext uri="{FF2B5EF4-FFF2-40B4-BE49-F238E27FC236}">
                <a16:creationId xmlns:a16="http://schemas.microsoft.com/office/drawing/2014/main" id="{A8325A0F-73C1-1416-1EF6-38EAC1EA1501}"/>
              </a:ext>
              <a:ext uri="{C183D7F6-B498-43B3-948B-1728B52AA6E4}">
                <adec:decorative xmlns:adec="http://schemas.microsoft.com/office/drawing/2017/decorative" val="0"/>
              </a:ext>
            </a:extLst>
          </p:cNvPr>
          <p:cNvSpPr txBox="1"/>
          <p:nvPr/>
        </p:nvSpPr>
        <p:spPr>
          <a:xfrm>
            <a:off x="4845782" y="5401270"/>
            <a:ext cx="3900555" cy="923330"/>
          </a:xfrm>
          <a:prstGeom prst="rect">
            <a:avLst/>
          </a:prstGeom>
          <a:noFill/>
        </p:spPr>
        <p:txBody>
          <a:bodyPr wrap="none" rtlCol="0">
            <a:spAutoFit/>
          </a:bodyPr>
          <a:lstStyle/>
          <a:p>
            <a:r>
              <a:rPr lang="en-US" dirty="0"/>
              <a:t>Answer the following questions:</a:t>
            </a:r>
          </a:p>
          <a:p>
            <a:pPr marL="285750" indent="-285750">
              <a:buFont typeface="Arial" panose="020B0604020202020204" pitchFamily="34" charset="0"/>
              <a:buChar char="•"/>
            </a:pPr>
            <a:r>
              <a:rPr lang="en-US" dirty="0"/>
              <a:t>Does ChatGPT pass the Touring test?</a:t>
            </a:r>
          </a:p>
          <a:p>
            <a:pPr marL="285750" indent="-285750">
              <a:buFont typeface="Arial" panose="020B0604020202020204" pitchFamily="34" charset="0"/>
              <a:buChar char="•"/>
            </a:pPr>
            <a:r>
              <a:rPr lang="en-US" dirty="0"/>
              <a:t>Is ChatGPT a rational agent? Why?</a:t>
            </a:r>
          </a:p>
        </p:txBody>
      </p:sp>
      <p:grpSp>
        <p:nvGrpSpPr>
          <p:cNvPr id="9" name="Group 8">
            <a:extLst>
              <a:ext uri="{FF2B5EF4-FFF2-40B4-BE49-F238E27FC236}">
                <a16:creationId xmlns:a16="http://schemas.microsoft.com/office/drawing/2014/main" id="{007C13B2-6714-4C9A-E926-072509D0D5A3}"/>
              </a:ext>
              <a:ext uri="{C183D7F6-B498-43B3-948B-1728B52AA6E4}">
                <adec:decorative xmlns:adec="http://schemas.microsoft.com/office/drawing/2017/decorative" val="1"/>
              </a:ext>
            </a:extLst>
          </p:cNvPr>
          <p:cNvGrpSpPr/>
          <p:nvPr/>
        </p:nvGrpSpPr>
        <p:grpSpPr>
          <a:xfrm>
            <a:off x="628650" y="5645725"/>
            <a:ext cx="2743200" cy="598587"/>
            <a:chOff x="4953000" y="6061025"/>
            <a:chExt cx="2743200" cy="598587"/>
          </a:xfrm>
        </p:grpSpPr>
        <p:sp>
          <p:nvSpPr>
            <p:cNvPr id="10" name="TextBox 9">
              <a:extLst>
                <a:ext uri="{FF2B5EF4-FFF2-40B4-BE49-F238E27FC236}">
                  <a16:creationId xmlns:a16="http://schemas.microsoft.com/office/drawing/2014/main" id="{291D4210-7422-9287-6F9D-9A13DA619BAB}"/>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2AE57B08-C432-056F-FB0F-EEC37883A3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6061025"/>
              <a:ext cx="598587" cy="598587"/>
            </a:xfrm>
            <a:prstGeom prst="rect">
              <a:avLst/>
            </a:prstGeom>
          </p:spPr>
        </p:pic>
      </p:grpSp>
      <p:sp>
        <p:nvSpPr>
          <p:cNvPr id="13" name="TextBox 12">
            <a:extLst>
              <a:ext uri="{FF2B5EF4-FFF2-40B4-BE49-F238E27FC236}">
                <a16:creationId xmlns:a16="http://schemas.microsoft.com/office/drawing/2014/main" id="{464D35B4-5A35-D41F-B659-CA1DADAC225F}"/>
              </a:ext>
            </a:extLst>
          </p:cNvPr>
          <p:cNvSpPr txBox="1"/>
          <p:nvPr/>
        </p:nvSpPr>
        <p:spPr>
          <a:xfrm>
            <a:off x="1676400" y="6437253"/>
            <a:ext cx="5867400" cy="369332"/>
          </a:xfrm>
          <a:prstGeom prst="rect">
            <a:avLst/>
          </a:prstGeom>
          <a:noFill/>
        </p:spPr>
        <p:txBody>
          <a:bodyPr wrap="square" rtlCol="0">
            <a:spAutoFit/>
          </a:bodyPr>
          <a:lstStyle/>
          <a:p>
            <a:pPr algn="ctr"/>
            <a:r>
              <a:rPr lang="en-US" dirty="0"/>
              <a:t>We will talk about knowledge-based agents later.</a:t>
            </a:r>
          </a:p>
        </p:txBody>
      </p:sp>
      <p:pic>
        <p:nvPicPr>
          <p:cNvPr id="14" name="Picture 2">
            <a:extLst>
              <a:ext uri="{FF2B5EF4-FFF2-40B4-BE49-F238E27FC236}">
                <a16:creationId xmlns:a16="http://schemas.microsoft.com/office/drawing/2014/main" id="{760E40C1-D2A1-F5D7-9D07-9E9BD32A9E9E}"/>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494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365126"/>
            <a:ext cx="7886700" cy="1939037"/>
          </a:xfrm>
        </p:spPr>
        <p:txBody>
          <a:bodyPr>
            <a:normAutofit/>
          </a:bodyPr>
          <a:lstStyle/>
          <a:p>
            <a:r>
              <a:rPr lang="en-US" dirty="0"/>
              <a:t>Intelligent Systems a </a:t>
            </a:r>
            <a:br>
              <a:rPr lang="en-US" dirty="0"/>
            </a:br>
            <a:r>
              <a:rPr lang="en-US" dirty="0"/>
              <a:t>Sets of Agents:</a:t>
            </a:r>
            <a:br>
              <a:rPr lang="en-US" dirty="0"/>
            </a:br>
            <a:r>
              <a:rPr lang="en-US" dirty="0"/>
              <a:t>Self-driving Car</a:t>
            </a:r>
          </a:p>
        </p:txBody>
      </p:sp>
      <p:graphicFrame>
        <p:nvGraphicFramePr>
          <p:cNvPr id="2" name="Content Placeholder 1" descr="A figure with the four types of intelligent agents covered so far. ">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2702058631"/>
              </p:ext>
            </p:extLst>
          </p:nvPr>
        </p:nvGraphicFramePr>
        <p:xfrm>
          <a:off x="228600" y="3040062"/>
          <a:ext cx="6034060" cy="3513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D499C2C-DA7C-4702-8951-9F3A8E6E1800}"/>
              </a:ext>
            </a:extLst>
          </p:cNvPr>
          <p:cNvSpPr txBox="1"/>
          <p:nvPr/>
        </p:nvSpPr>
        <p:spPr>
          <a:xfrm>
            <a:off x="3871986" y="3363605"/>
            <a:ext cx="3990874" cy="584775"/>
          </a:xfrm>
          <a:prstGeom prst="rect">
            <a:avLst/>
          </a:prstGeom>
          <a:noFill/>
        </p:spPr>
        <p:txBody>
          <a:bodyPr wrap="square" rtlCol="0">
            <a:spAutoFit/>
          </a:bodyPr>
          <a:lstStyle/>
          <a:p>
            <a:pPr lvl="0"/>
            <a:r>
              <a:rPr lang="en-US" sz="1600" dirty="0"/>
              <a:t>Make sure the passenger has a pleasant drive (not too much sudden breaking = utility)</a:t>
            </a:r>
          </a:p>
        </p:txBody>
      </p:sp>
      <p:sp>
        <p:nvSpPr>
          <p:cNvPr id="7" name="TextBox 6">
            <a:extLst>
              <a:ext uri="{FF2B5EF4-FFF2-40B4-BE49-F238E27FC236}">
                <a16:creationId xmlns:a16="http://schemas.microsoft.com/office/drawing/2014/main" id="{9AC301F9-4D8F-484A-8F4D-6A05CB5B419A}"/>
              </a:ext>
            </a:extLst>
          </p:cNvPr>
          <p:cNvSpPr txBox="1"/>
          <p:nvPr/>
        </p:nvSpPr>
        <p:spPr>
          <a:xfrm>
            <a:off x="3867866" y="4192539"/>
            <a:ext cx="3073798" cy="338554"/>
          </a:xfrm>
          <a:prstGeom prst="rect">
            <a:avLst/>
          </a:prstGeom>
          <a:noFill/>
        </p:spPr>
        <p:txBody>
          <a:bodyPr wrap="square" rtlCol="0">
            <a:spAutoFit/>
          </a:bodyPr>
          <a:lstStyle/>
          <a:p>
            <a:pPr lvl="0"/>
            <a:r>
              <a:rPr lang="en-US" sz="1600" dirty="0"/>
              <a:t>Plan the route to the destination.</a:t>
            </a:r>
          </a:p>
        </p:txBody>
      </p:sp>
      <p:sp>
        <p:nvSpPr>
          <p:cNvPr id="9" name="TextBox 8">
            <a:extLst>
              <a:ext uri="{FF2B5EF4-FFF2-40B4-BE49-F238E27FC236}">
                <a16:creationId xmlns:a16="http://schemas.microsoft.com/office/drawing/2014/main" id="{FD8E073D-E3E3-3462-E5CB-9681F2508B4E}"/>
              </a:ext>
            </a:extLst>
          </p:cNvPr>
          <p:cNvSpPr txBox="1"/>
          <p:nvPr/>
        </p:nvSpPr>
        <p:spPr>
          <a:xfrm>
            <a:off x="3867866" y="4671762"/>
            <a:ext cx="4263007" cy="830997"/>
          </a:xfrm>
          <a:prstGeom prst="rect">
            <a:avLst/>
          </a:prstGeom>
          <a:noFill/>
        </p:spPr>
        <p:txBody>
          <a:bodyPr wrap="square" rtlCol="0">
            <a:spAutoFit/>
          </a:bodyPr>
          <a:lstStyle/>
          <a:p>
            <a:pPr lvl="0"/>
            <a:r>
              <a:rPr lang="en-US" sz="1600" dirty="0"/>
              <a:t>Remember where every other car is and calculate where they will be in the next few seconds.</a:t>
            </a:r>
          </a:p>
        </p:txBody>
      </p:sp>
      <p:sp>
        <p:nvSpPr>
          <p:cNvPr id="3" name="TextBox 2">
            <a:extLst>
              <a:ext uri="{FF2B5EF4-FFF2-40B4-BE49-F238E27FC236}">
                <a16:creationId xmlns:a16="http://schemas.microsoft.com/office/drawing/2014/main" id="{FD6EAA75-C94E-4445-AD1B-F468B33665DD}"/>
              </a:ext>
            </a:extLst>
          </p:cNvPr>
          <p:cNvSpPr txBox="1"/>
          <p:nvPr/>
        </p:nvSpPr>
        <p:spPr>
          <a:xfrm>
            <a:off x="3867867" y="5475770"/>
            <a:ext cx="3430733" cy="584775"/>
          </a:xfrm>
          <a:prstGeom prst="rect">
            <a:avLst/>
          </a:prstGeom>
          <a:noFill/>
        </p:spPr>
        <p:txBody>
          <a:bodyPr wrap="square" rtlCol="0">
            <a:spAutoFit/>
          </a:bodyPr>
          <a:lstStyle/>
          <a:p>
            <a:pPr lvl="0"/>
            <a:r>
              <a:rPr lang="en-US" sz="1600" dirty="0"/>
              <a:t>React to unforeseen issues like a child running in front of the car quickly.</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328388" y="4602412"/>
            <a:ext cx="2818899"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It should learn!</a:t>
            </a:r>
          </a:p>
        </p:txBody>
      </p:sp>
      <p:pic>
        <p:nvPicPr>
          <p:cNvPr id="5" name="Picture 2">
            <a:extLst>
              <a:ext uri="{FF2B5EF4-FFF2-40B4-BE49-F238E27FC236}">
                <a16:creationId xmlns:a16="http://schemas.microsoft.com/office/drawing/2014/main" id="{2E922884-3303-24F6-3C7C-5BBCF646CEC4}"/>
              </a:ext>
              <a:ext uri="{C183D7F6-B498-43B3-948B-1728B52AA6E4}">
                <adec:decorative xmlns:adec="http://schemas.microsoft.com/office/drawing/2017/decorative" val="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8945" b="37618"/>
          <a:stretch/>
        </p:blipFill>
        <p:spPr bwMode="auto">
          <a:xfrm>
            <a:off x="4757194" y="258804"/>
            <a:ext cx="4114800" cy="23648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89A5416-8469-7953-E766-1113C06E1061}"/>
              </a:ext>
              <a:ext uri="{C183D7F6-B498-43B3-948B-1728B52AA6E4}">
                <adec:decorative xmlns:adec="http://schemas.microsoft.com/office/drawing/2017/decorative" val="1"/>
              </a:ext>
            </a:extLst>
          </p:cNvPr>
          <p:cNvSpPr txBox="1"/>
          <p:nvPr/>
        </p:nvSpPr>
        <p:spPr>
          <a:xfrm>
            <a:off x="7848600" y="3386840"/>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High-level planning</a:t>
            </a:r>
          </a:p>
        </p:txBody>
      </p:sp>
      <p:sp>
        <p:nvSpPr>
          <p:cNvPr id="11" name="TextBox 10">
            <a:extLst>
              <a:ext uri="{FF2B5EF4-FFF2-40B4-BE49-F238E27FC236}">
                <a16:creationId xmlns:a16="http://schemas.microsoft.com/office/drawing/2014/main" id="{77EFB179-2170-5402-86C0-9DA1CDB16EDA}"/>
              </a:ext>
              <a:ext uri="{C183D7F6-B498-43B3-948B-1728B52AA6E4}">
                <adec:decorative xmlns:adec="http://schemas.microsoft.com/office/drawing/2017/decorative" val="1"/>
              </a:ext>
            </a:extLst>
          </p:cNvPr>
          <p:cNvSpPr txBox="1"/>
          <p:nvPr/>
        </p:nvSpPr>
        <p:spPr>
          <a:xfrm>
            <a:off x="7848600" y="5529842"/>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Low-level planning</a:t>
            </a:r>
          </a:p>
        </p:txBody>
      </p:sp>
      <p:sp>
        <p:nvSpPr>
          <p:cNvPr id="12" name="Arrow: Down 11">
            <a:extLst>
              <a:ext uri="{FF2B5EF4-FFF2-40B4-BE49-F238E27FC236}">
                <a16:creationId xmlns:a16="http://schemas.microsoft.com/office/drawing/2014/main" id="{4D9655BA-E88B-1661-20F9-6B465FC08F36}"/>
              </a:ext>
              <a:ext uri="{C183D7F6-B498-43B3-948B-1728B52AA6E4}">
                <adec:decorative xmlns:adec="http://schemas.microsoft.com/office/drawing/2017/decorative" val="1"/>
              </a:ext>
            </a:extLst>
          </p:cNvPr>
          <p:cNvSpPr/>
          <p:nvPr/>
        </p:nvSpPr>
        <p:spPr>
          <a:xfrm>
            <a:off x="8001000" y="4181581"/>
            <a:ext cx="877950" cy="1228619"/>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6669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68B1FED8-1A4F-6C4A-DEDB-F24B271DA35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4E509558-1420-3BC3-D9B5-A9301E2C4F66}"/>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Wrapup</a:t>
            </a:r>
          </a:p>
        </p:txBody>
      </p:sp>
      <p:sp>
        <p:nvSpPr>
          <p:cNvPr id="6" name="Text Placeholder 5">
            <a:extLst>
              <a:ext uri="{FF2B5EF4-FFF2-40B4-BE49-F238E27FC236}">
                <a16:creationId xmlns:a16="http://schemas.microsoft.com/office/drawing/2014/main" id="{07252A95-0A7C-E171-0F0F-E25B70D9AA27}"/>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284125111"/>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639B-EEB4-275D-2212-14D5667FF898}"/>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4183EA64-5E81-A429-F540-83CCE85A3AF3}"/>
              </a:ext>
            </a:extLst>
          </p:cNvPr>
          <p:cNvSpPr>
            <a:spLocks noGrp="1" noChangeArrowheads="1"/>
          </p:cNvSpPr>
          <p:nvPr>
            <p:ph type="title"/>
          </p:nvPr>
        </p:nvSpPr>
        <p:spPr>
          <a:xfrm>
            <a:off x="628650" y="365126"/>
            <a:ext cx="5162550" cy="1325563"/>
          </a:xfrm>
        </p:spPr>
        <p:txBody>
          <a:bodyPr/>
          <a:lstStyle/>
          <a:p>
            <a:r>
              <a:rPr lang="en-US" dirty="0"/>
              <a:t>Important Environment Types Revisited</a:t>
            </a:r>
          </a:p>
        </p:txBody>
      </p:sp>
      <p:cxnSp>
        <p:nvCxnSpPr>
          <p:cNvPr id="6" name="Straight Connector 5">
            <a:extLst>
              <a:ext uri="{FF2B5EF4-FFF2-40B4-BE49-F238E27FC236}">
                <a16:creationId xmlns:a16="http://schemas.microsoft.com/office/drawing/2014/main" id="{CFCC5FBD-5113-542F-263D-F6A5FC1F4D9B}"/>
              </a:ext>
              <a:ext uri="{C183D7F6-B498-43B3-948B-1728B52AA6E4}">
                <adec:decorative xmlns:adec="http://schemas.microsoft.com/office/drawing/2017/decorative" val="1"/>
              </a:ext>
            </a:extLst>
          </p:cNvPr>
          <p:cNvCxnSpPr/>
          <p:nvPr/>
        </p:nvCxnSpPr>
        <p:spPr>
          <a:xfrm>
            <a:off x="496491" y="3535846"/>
            <a:ext cx="792480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 name="Group 1">
            <a:extLst>
              <a:ext uri="{FF2B5EF4-FFF2-40B4-BE49-F238E27FC236}">
                <a16:creationId xmlns:a16="http://schemas.microsoft.com/office/drawing/2014/main" id="{B4EC3CAA-0F17-393E-D945-CDA56B70AA55}"/>
              </a:ext>
            </a:extLst>
          </p:cNvPr>
          <p:cNvGrpSpPr/>
          <p:nvPr/>
        </p:nvGrpSpPr>
        <p:grpSpPr>
          <a:xfrm>
            <a:off x="422656" y="1981200"/>
            <a:ext cx="7935567" cy="1418757"/>
            <a:chOff x="422656" y="1981200"/>
            <a:chExt cx="7935567" cy="1418757"/>
          </a:xfrm>
        </p:grpSpPr>
        <p:sp>
          <p:nvSpPr>
            <p:cNvPr id="7" name="TextBox 6">
              <a:extLst>
                <a:ext uri="{FF2B5EF4-FFF2-40B4-BE49-F238E27FC236}">
                  <a16:creationId xmlns:a16="http://schemas.microsoft.com/office/drawing/2014/main" id="{AB7D9275-A093-9438-1831-775CEF49E280}"/>
                </a:ext>
              </a:extLst>
            </p:cNvPr>
            <p:cNvSpPr txBox="1"/>
            <p:nvPr/>
          </p:nvSpPr>
          <p:spPr>
            <a:xfrm>
              <a:off x="922735" y="1981200"/>
              <a:ext cx="3124200" cy="1384995"/>
            </a:xfrm>
            <a:prstGeom prst="rect">
              <a:avLst/>
            </a:prstGeom>
            <a:noFill/>
          </p:spPr>
          <p:txBody>
            <a:bodyPr wrap="square">
              <a:spAutoFit/>
            </a:bodyPr>
            <a:lstStyle/>
            <a:p>
              <a:r>
                <a:rPr lang="en-US" sz="1400" b="1" dirty="0">
                  <a:solidFill>
                    <a:srgbClr val="FF0000"/>
                  </a:solidFill>
                </a:rPr>
                <a:t>Fully observable: </a:t>
              </a:r>
              <a:r>
                <a:rPr lang="en-US" sz="1400" dirty="0"/>
                <a:t>The agent has access to the complete current </a:t>
              </a:r>
              <a:r>
                <a:rPr lang="en-US" sz="1400" b="1" dirty="0"/>
                <a:t>state </a:t>
              </a:r>
              <a:r>
                <a:rPr lang="en-US" sz="1400" dirty="0"/>
                <a:t>of the environment. </a:t>
              </a:r>
              <a:br>
                <a:rPr lang="en-US" sz="1400" dirty="0"/>
              </a:br>
              <a:r>
                <a:rPr lang="en-US" sz="1400" dirty="0"/>
                <a:t>It has deterministic percepts that are 100% reliable.</a:t>
              </a:r>
            </a:p>
            <a:p>
              <a:pPr marL="0" indent="0">
                <a:buNone/>
              </a:pPr>
              <a:endParaRPr lang="en-US" sz="1400" b="1" dirty="0">
                <a:solidFill>
                  <a:srgbClr val="FF0000"/>
                </a:solidFill>
              </a:endParaRPr>
            </a:p>
          </p:txBody>
        </p:sp>
        <p:sp>
          <p:nvSpPr>
            <p:cNvPr id="3" name="TextBox 2">
              <a:extLst>
                <a:ext uri="{FF2B5EF4-FFF2-40B4-BE49-F238E27FC236}">
                  <a16:creationId xmlns:a16="http://schemas.microsoft.com/office/drawing/2014/main" id="{DA5A99D2-DBCA-F975-9400-EA69F8E5B146}"/>
                </a:ext>
              </a:extLst>
            </p:cNvPr>
            <p:cNvSpPr txBox="1"/>
            <p:nvPr/>
          </p:nvSpPr>
          <p:spPr>
            <a:xfrm>
              <a:off x="4094560" y="2021254"/>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73BCD054-D3C1-1A6E-BA7E-A99E78CFF527}"/>
                </a:ext>
              </a:extLst>
            </p:cNvPr>
            <p:cNvSpPr txBox="1"/>
            <p:nvPr/>
          </p:nvSpPr>
          <p:spPr>
            <a:xfrm>
              <a:off x="4862547" y="2014962"/>
              <a:ext cx="3495676" cy="1384995"/>
            </a:xfrm>
            <a:prstGeom prst="rect">
              <a:avLst/>
            </a:prstGeom>
            <a:noFill/>
          </p:spPr>
          <p:txBody>
            <a:bodyPr wrap="square">
              <a:spAutoFit/>
            </a:bodyPr>
            <a:lstStyle/>
            <a:p>
              <a:r>
                <a:rPr lang="en-US" sz="1400" b="1" dirty="0">
                  <a:solidFill>
                    <a:srgbClr val="FF0000"/>
                  </a:solidFill>
                </a:rPr>
                <a:t>Partially observable: </a:t>
              </a:r>
              <a:r>
                <a:rPr lang="en-US" sz="1400" dirty="0"/>
                <a:t>The agent’s sensors provide incomplete or noisy information about the </a:t>
              </a:r>
              <a:r>
                <a:rPr lang="en-US" sz="1400" b="1" dirty="0"/>
                <a:t>state</a:t>
              </a:r>
              <a:r>
                <a:rPr lang="en-US" sz="1400" dirty="0"/>
                <a:t> of the environment.</a:t>
              </a:r>
              <a:br>
                <a:rPr lang="en-US" sz="1400" dirty="0"/>
              </a:br>
              <a:r>
                <a:rPr lang="en-US" sz="1400" dirty="0"/>
                <a:t>Noisy information means unreliable stochastic percepts (aka a stochastic sensor model)</a:t>
              </a:r>
            </a:p>
          </p:txBody>
        </p:sp>
        <p:sp>
          <p:nvSpPr>
            <p:cNvPr id="8" name="TextBox 7">
              <a:extLst>
                <a:ext uri="{FF2B5EF4-FFF2-40B4-BE49-F238E27FC236}">
                  <a16:creationId xmlns:a16="http://schemas.microsoft.com/office/drawing/2014/main" id="{B5E075A3-9D5F-AD76-CCFE-E5CC4C911BEA}"/>
                </a:ext>
                <a:ext uri="{C183D7F6-B498-43B3-948B-1728B52AA6E4}">
                  <adec:decorative xmlns:adec="http://schemas.microsoft.com/office/drawing/2017/decorative" val="1"/>
                </a:ext>
              </a:extLst>
            </p:cNvPr>
            <p:cNvSpPr txBox="1"/>
            <p:nvPr/>
          </p:nvSpPr>
          <p:spPr>
            <a:xfrm rot="16200000">
              <a:off x="275853" y="2352723"/>
              <a:ext cx="662938" cy="369332"/>
            </a:xfrm>
            <a:prstGeom prst="rect">
              <a:avLst/>
            </a:prstGeom>
            <a:noFill/>
          </p:spPr>
          <p:txBody>
            <a:bodyPr wrap="none" rtlCol="0">
              <a:spAutoFit/>
            </a:bodyPr>
            <a:lstStyle/>
            <a:p>
              <a:r>
                <a:rPr lang="en-US" dirty="0"/>
                <a:t>State</a:t>
              </a:r>
            </a:p>
          </p:txBody>
        </p:sp>
      </p:grpSp>
      <p:grpSp>
        <p:nvGrpSpPr>
          <p:cNvPr id="21" name="Group 20">
            <a:extLst>
              <a:ext uri="{FF2B5EF4-FFF2-40B4-BE49-F238E27FC236}">
                <a16:creationId xmlns:a16="http://schemas.microsoft.com/office/drawing/2014/main" id="{9856D0BF-7646-C918-A594-415467595596}"/>
              </a:ext>
            </a:extLst>
          </p:cNvPr>
          <p:cNvGrpSpPr/>
          <p:nvPr/>
        </p:nvGrpSpPr>
        <p:grpSpPr>
          <a:xfrm>
            <a:off x="417889" y="3690996"/>
            <a:ext cx="8268911" cy="2085649"/>
            <a:chOff x="417889" y="3690996"/>
            <a:chExt cx="8268911" cy="2085649"/>
          </a:xfrm>
        </p:grpSpPr>
        <p:sp>
          <p:nvSpPr>
            <p:cNvPr id="11" name="TextBox 10">
              <a:extLst>
                <a:ext uri="{FF2B5EF4-FFF2-40B4-BE49-F238E27FC236}">
                  <a16:creationId xmlns:a16="http://schemas.microsoft.com/office/drawing/2014/main" id="{DD8323B0-5128-032E-1E85-CB3D5DD61D51}"/>
                </a:ext>
              </a:extLst>
            </p:cNvPr>
            <p:cNvSpPr txBox="1"/>
            <p:nvPr/>
          </p:nvSpPr>
          <p:spPr>
            <a:xfrm>
              <a:off x="904952" y="3737895"/>
              <a:ext cx="3352800" cy="1169551"/>
            </a:xfrm>
            <a:prstGeom prst="rect">
              <a:avLst/>
            </a:prstGeom>
            <a:noFill/>
          </p:spPr>
          <p:txBody>
            <a:bodyPr wrap="square">
              <a:spAutoFit/>
            </a:bodyPr>
            <a:lstStyle/>
            <a:p>
              <a:pPr marL="0" indent="0">
                <a:buNone/>
              </a:pPr>
              <a:r>
                <a:rPr lang="en-US" sz="1400" b="1" dirty="0">
                  <a:solidFill>
                    <a:srgbClr val="FF0000"/>
                  </a:solidFill>
                </a:rPr>
                <a:t>Deterministic: </a:t>
              </a:r>
            </a:p>
            <a:p>
              <a:r>
                <a:rPr lang="en-US" sz="1400" dirty="0"/>
                <a:t>Deterministic </a:t>
              </a:r>
              <a:r>
                <a:rPr lang="en-US" sz="1400" b="1" dirty="0"/>
                <a:t>transition function</a:t>
              </a:r>
              <a:r>
                <a:rPr lang="en-US" sz="1400" dirty="0"/>
                <a:t>: Changes in the environment are completely determined by the current state of the environment and the agent’s action.</a:t>
              </a:r>
            </a:p>
          </p:txBody>
        </p:sp>
        <p:sp>
          <p:nvSpPr>
            <p:cNvPr id="4" name="TextBox 3">
              <a:extLst>
                <a:ext uri="{FF2B5EF4-FFF2-40B4-BE49-F238E27FC236}">
                  <a16:creationId xmlns:a16="http://schemas.microsoft.com/office/drawing/2014/main" id="{EBB1364B-968D-ED21-F335-F7B024829714}"/>
                </a:ext>
              </a:extLst>
            </p:cNvPr>
            <p:cNvSpPr txBox="1"/>
            <p:nvPr/>
          </p:nvSpPr>
          <p:spPr>
            <a:xfrm>
              <a:off x="4094560" y="4085120"/>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F2FCE8FC-9E62-EE31-4861-AC71C50C1CDC}"/>
                </a:ext>
              </a:extLst>
            </p:cNvPr>
            <p:cNvSpPr txBox="1"/>
            <p:nvPr/>
          </p:nvSpPr>
          <p:spPr>
            <a:xfrm>
              <a:off x="4862547" y="3764446"/>
              <a:ext cx="3807619" cy="1169551"/>
            </a:xfrm>
            <a:prstGeom prst="rect">
              <a:avLst/>
            </a:prstGeom>
            <a:noFill/>
          </p:spPr>
          <p:txBody>
            <a:bodyPr wrap="square">
              <a:spAutoFit/>
            </a:bodyPr>
            <a:lstStyle/>
            <a:p>
              <a:pPr marL="0" indent="0">
                <a:buNone/>
              </a:pPr>
              <a:r>
                <a:rPr lang="en-US" sz="1400" b="1" dirty="0">
                  <a:solidFill>
                    <a:srgbClr val="FF0000"/>
                  </a:solidFill>
                </a:rPr>
                <a:t>Stochastic: </a:t>
              </a:r>
            </a:p>
            <a:p>
              <a:r>
                <a:rPr lang="en-US" sz="1400" dirty="0"/>
                <a:t>Stochastic </a:t>
              </a:r>
              <a:r>
                <a:rPr lang="en-US" sz="1400" b="1" dirty="0"/>
                <a:t>transition functions </a:t>
              </a:r>
              <a:r>
                <a:rPr lang="en-US" sz="1400" dirty="0"/>
                <a:t>lead to belief states, transition probabilities, and a Markov process.</a:t>
              </a:r>
              <a:br>
                <a:rPr lang="en-US" sz="1400" dirty="0"/>
              </a:br>
              <a:endParaRPr lang="en-US" sz="1400" dirty="0"/>
            </a:p>
          </p:txBody>
        </p:sp>
        <p:sp>
          <p:nvSpPr>
            <p:cNvPr id="15" name="TextBox 14">
              <a:extLst>
                <a:ext uri="{FF2B5EF4-FFF2-40B4-BE49-F238E27FC236}">
                  <a16:creationId xmlns:a16="http://schemas.microsoft.com/office/drawing/2014/main" id="{8204FDAA-09CB-73F1-EF15-FF80E9C4A775}"/>
                </a:ext>
              </a:extLst>
            </p:cNvPr>
            <p:cNvSpPr txBox="1"/>
            <p:nvPr/>
          </p:nvSpPr>
          <p:spPr>
            <a:xfrm>
              <a:off x="953690" y="5253425"/>
              <a:ext cx="3192066" cy="523220"/>
            </a:xfrm>
            <a:prstGeom prst="rect">
              <a:avLst/>
            </a:prstGeom>
            <a:noFill/>
          </p:spPr>
          <p:txBody>
            <a:bodyPr wrap="square">
              <a:spAutoFit/>
            </a:bodyPr>
            <a:lstStyle/>
            <a:p>
              <a:pPr marL="0" indent="0">
                <a:buNone/>
              </a:pPr>
              <a:r>
                <a:rPr lang="en-US" sz="1400" b="1" dirty="0">
                  <a:solidFill>
                    <a:srgbClr val="FF0000"/>
                  </a:solidFill>
                </a:rPr>
                <a:t>Known:</a:t>
              </a:r>
              <a:r>
                <a:rPr lang="en-US" sz="1400" dirty="0"/>
                <a:t> The agent knows the </a:t>
              </a:r>
              <a:r>
                <a:rPr lang="en-US" sz="1400" b="1" dirty="0"/>
                <a:t>transition function</a:t>
              </a:r>
              <a:r>
                <a:rPr lang="en-US" sz="1400" dirty="0"/>
                <a:t>. </a:t>
              </a:r>
              <a:endParaRPr lang="en-US" sz="1400" b="1" dirty="0">
                <a:solidFill>
                  <a:srgbClr val="FF0000"/>
                </a:solidFill>
              </a:endParaRPr>
            </a:p>
          </p:txBody>
        </p:sp>
        <p:sp>
          <p:nvSpPr>
            <p:cNvPr id="5" name="TextBox 4">
              <a:extLst>
                <a:ext uri="{FF2B5EF4-FFF2-40B4-BE49-F238E27FC236}">
                  <a16:creationId xmlns:a16="http://schemas.microsoft.com/office/drawing/2014/main" id="{AE07F09B-82D0-48BD-9B11-F3F2FE5F2E32}"/>
                </a:ext>
              </a:extLst>
            </p:cNvPr>
            <p:cNvSpPr txBox="1"/>
            <p:nvPr/>
          </p:nvSpPr>
          <p:spPr>
            <a:xfrm>
              <a:off x="4145756" y="5307802"/>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765089CE-5BB5-7C3D-334D-0E3700D5A807}"/>
                </a:ext>
              </a:extLst>
            </p:cNvPr>
            <p:cNvSpPr txBox="1"/>
            <p:nvPr/>
          </p:nvSpPr>
          <p:spPr>
            <a:xfrm>
              <a:off x="4879182" y="5223896"/>
              <a:ext cx="3807618" cy="523220"/>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needs to </a:t>
              </a:r>
              <a:r>
                <a:rPr lang="en-US" sz="1400" b="1" dirty="0"/>
                <a:t>learn the transition function</a:t>
              </a:r>
              <a:r>
                <a:rPr lang="en-US" sz="1400" dirty="0"/>
                <a:t> by trying actions. </a:t>
              </a:r>
              <a:endParaRPr lang="en-US" sz="1400" b="1" dirty="0">
                <a:solidFill>
                  <a:srgbClr val="FF0000"/>
                </a:solidFill>
              </a:endParaRPr>
            </a:p>
          </p:txBody>
        </p:sp>
        <p:sp>
          <p:nvSpPr>
            <p:cNvPr id="10" name="TextBox 9">
              <a:extLst>
                <a:ext uri="{FF2B5EF4-FFF2-40B4-BE49-F238E27FC236}">
                  <a16:creationId xmlns:a16="http://schemas.microsoft.com/office/drawing/2014/main" id="{62D5A2EE-6B79-EECB-9619-215DB867FE83}"/>
                </a:ext>
                <a:ext uri="{C183D7F6-B498-43B3-948B-1728B52AA6E4}">
                  <adec:decorative xmlns:adec="http://schemas.microsoft.com/office/drawing/2017/decorative" val="1"/>
                </a:ext>
              </a:extLst>
            </p:cNvPr>
            <p:cNvSpPr txBox="1"/>
            <p:nvPr/>
          </p:nvSpPr>
          <p:spPr>
            <a:xfrm rot="16200000">
              <a:off x="-387556" y="4496441"/>
              <a:ext cx="1980222" cy="369332"/>
            </a:xfrm>
            <a:prstGeom prst="rect">
              <a:avLst/>
            </a:prstGeom>
            <a:noFill/>
          </p:spPr>
          <p:txBody>
            <a:bodyPr wrap="none" rtlCol="0">
              <a:spAutoFit/>
            </a:bodyPr>
            <a:lstStyle/>
            <a:p>
              <a:r>
                <a:rPr lang="en-US" dirty="0"/>
                <a:t>Transition Function</a:t>
              </a:r>
            </a:p>
          </p:txBody>
        </p:sp>
      </p:grpSp>
      <p:grpSp>
        <p:nvGrpSpPr>
          <p:cNvPr id="20" name="Group 19">
            <a:extLst>
              <a:ext uri="{FF2B5EF4-FFF2-40B4-BE49-F238E27FC236}">
                <a16:creationId xmlns:a16="http://schemas.microsoft.com/office/drawing/2014/main" id="{207B8A2F-46B9-9861-E858-496E79EE854C}"/>
              </a:ext>
              <a:ext uri="{C183D7F6-B498-43B3-948B-1728B52AA6E4}">
                <adec:decorative xmlns:adec="http://schemas.microsoft.com/office/drawing/2017/decorative" val="1"/>
              </a:ext>
            </a:extLst>
          </p:cNvPr>
          <p:cNvGrpSpPr/>
          <p:nvPr/>
        </p:nvGrpSpPr>
        <p:grpSpPr>
          <a:xfrm>
            <a:off x="6048824" y="79317"/>
            <a:ext cx="2842942" cy="1654346"/>
            <a:chOff x="6048824" y="79317"/>
            <a:chExt cx="2842942" cy="1654346"/>
          </a:xfrm>
        </p:grpSpPr>
        <p:grpSp>
          <p:nvGrpSpPr>
            <p:cNvPr id="12" name="Group 11">
              <a:extLst>
                <a:ext uri="{FF2B5EF4-FFF2-40B4-BE49-F238E27FC236}">
                  <a16:creationId xmlns:a16="http://schemas.microsoft.com/office/drawing/2014/main" id="{39D7A7F6-E6F6-A8FB-9F8D-3540E4C595ED}"/>
                </a:ext>
              </a:extLst>
            </p:cNvPr>
            <p:cNvGrpSpPr/>
            <p:nvPr/>
          </p:nvGrpSpPr>
          <p:grpSpPr>
            <a:xfrm>
              <a:off x="6048824" y="79317"/>
              <a:ext cx="2667000" cy="1600199"/>
              <a:chOff x="4038600" y="1850416"/>
              <a:chExt cx="4489155" cy="2492984"/>
            </a:xfrm>
          </p:grpSpPr>
          <p:pic>
            <p:nvPicPr>
              <p:cNvPr id="14" name="Picture 6">
                <a:extLst>
                  <a:ext uri="{FF2B5EF4-FFF2-40B4-BE49-F238E27FC236}">
                    <a16:creationId xmlns:a16="http://schemas.microsoft.com/office/drawing/2014/main" id="{2C9F2178-55A3-8A62-BA69-C711110450F0}"/>
                  </a:ex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16" name="Speech Bubble: Rectangle 15">
                <a:extLst>
                  <a:ext uri="{FF2B5EF4-FFF2-40B4-BE49-F238E27FC236}">
                    <a16:creationId xmlns:a16="http://schemas.microsoft.com/office/drawing/2014/main" id="{916DD505-2875-F66B-D669-6DCA699F0CD4}"/>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State</a:t>
                </a:r>
              </a:p>
            </p:txBody>
          </p:sp>
          <p:sp>
            <p:nvSpPr>
              <p:cNvPr id="18" name="Speech Bubble: Rectangle 17">
                <a:extLst>
                  <a:ext uri="{FF2B5EF4-FFF2-40B4-BE49-F238E27FC236}">
                    <a16:creationId xmlns:a16="http://schemas.microsoft.com/office/drawing/2014/main" id="{CCB4ADA2-91A3-8B68-C059-A370A7563EEB}"/>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Action/</a:t>
                </a:r>
                <a:br>
                  <a:rPr lang="en-US" sz="900" dirty="0"/>
                </a:br>
                <a:r>
                  <a:rPr lang="en-US" sz="900" dirty="0"/>
                  <a:t>Transition</a:t>
                </a:r>
              </a:p>
            </p:txBody>
          </p:sp>
        </p:grpSp>
        <p:sp>
          <p:nvSpPr>
            <p:cNvPr id="19" name="TextBox 18">
              <a:extLst>
                <a:ext uri="{FF2B5EF4-FFF2-40B4-BE49-F238E27FC236}">
                  <a16:creationId xmlns:a16="http://schemas.microsoft.com/office/drawing/2014/main" id="{5200659B-F546-DF96-BAB6-E86AAA6C32C4}"/>
                </a:ext>
              </a:extLst>
            </p:cNvPr>
            <p:cNvSpPr txBox="1"/>
            <p:nvPr/>
          </p:nvSpPr>
          <p:spPr>
            <a:xfrm>
              <a:off x="7647563" y="1487442"/>
              <a:ext cx="1244203" cy="246221"/>
            </a:xfrm>
            <a:prstGeom prst="rect">
              <a:avLst/>
            </a:prstGeom>
            <a:noFill/>
          </p:spPr>
          <p:txBody>
            <a:bodyPr wrap="square" rtlCol="0">
              <a:spAutoFit/>
            </a:bodyPr>
            <a:lstStyle/>
            <a:p>
              <a:r>
                <a:rPr lang="en-US" sz="1000" dirty="0"/>
                <a:t>Transition model</a:t>
              </a:r>
            </a:p>
          </p:txBody>
        </p:sp>
      </p:grpSp>
    </p:spTree>
    <p:extLst>
      <p:ext uri="{BB962C8B-B14F-4D97-AF65-F5344CB8AC3E}">
        <p14:creationId xmlns:p14="http://schemas.microsoft.com/office/powerpoint/2010/main" val="236998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A091-7A9D-43C8-B799-9E4500334F6D}"/>
              </a:ext>
            </a:extLst>
          </p:cNvPr>
          <p:cNvSpPr>
            <a:spLocks noGrp="1"/>
          </p:cNvSpPr>
          <p:nvPr>
            <p:ph type="title"/>
          </p:nvPr>
        </p:nvSpPr>
        <p:spPr/>
        <p:txBody>
          <a:bodyPr/>
          <a:lstStyle/>
          <a:p>
            <a:r>
              <a:rPr lang="en-US" dirty="0"/>
              <a:t>AI Areas</a:t>
            </a:r>
          </a:p>
        </p:txBody>
      </p:sp>
      <p:graphicFrame>
        <p:nvGraphicFramePr>
          <p:cNvPr id="9" name="Diagram 8" descr="A figure showing 6 areas of AI.">
            <a:extLst>
              <a:ext uri="{FF2B5EF4-FFF2-40B4-BE49-F238E27FC236}">
                <a16:creationId xmlns:a16="http://schemas.microsoft.com/office/drawing/2014/main" id="{CCBFF7E7-4B86-4FBC-9B7B-0E358EC4A089}"/>
              </a:ext>
            </a:extLst>
          </p:cNvPr>
          <p:cNvGraphicFramePr/>
          <p:nvPr>
            <p:extLst>
              <p:ext uri="{D42A27DB-BD31-4B8C-83A1-F6EECF244321}">
                <p14:modId xmlns:p14="http://schemas.microsoft.com/office/powerpoint/2010/main" val="870501306"/>
              </p:ext>
            </p:extLst>
          </p:nvPr>
        </p:nvGraphicFramePr>
        <p:xfrm>
          <a:off x="533400" y="1981200"/>
          <a:ext cx="8077200" cy="4732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11">
            <a:extLst>
              <a:ext uri="{FF2B5EF4-FFF2-40B4-BE49-F238E27FC236}">
                <a16:creationId xmlns:a16="http://schemas.microsoft.com/office/drawing/2014/main" id="{DFA38611-24A5-4DD0-9D3B-BE7BCA59F6AC}"/>
              </a:ext>
            </a:extLst>
          </p:cNvPr>
          <p:cNvSpPr>
            <a:spLocks noGrp="1"/>
          </p:cNvSpPr>
          <p:nvPr>
            <p:ph idx="1"/>
          </p:nvPr>
        </p:nvSpPr>
        <p:spPr/>
        <p:txBody>
          <a:bodyPr>
            <a:normAutofit/>
          </a:bodyPr>
          <a:lstStyle/>
          <a:p>
            <a:pPr marL="0" indent="0">
              <a:buNone/>
            </a:pPr>
            <a:r>
              <a:rPr lang="en-US" sz="2400" dirty="0"/>
              <a:t>Intelligent agents inspire the research areas of modern AI</a:t>
            </a:r>
          </a:p>
          <a:p>
            <a:pPr marL="0" indent="0">
              <a:buNone/>
            </a:pPr>
            <a:endParaRPr lang="en-US" sz="2400" dirty="0"/>
          </a:p>
        </p:txBody>
      </p:sp>
    </p:spTree>
    <p:extLst>
      <p:ext uri="{BB962C8B-B14F-4D97-AF65-F5344CB8AC3E}">
        <p14:creationId xmlns:p14="http://schemas.microsoft.com/office/powerpoint/2010/main" val="1113422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2A73B-D412-FDFC-4998-25EDCCCEE290}"/>
              </a:ext>
            </a:extLst>
          </p:cNvPr>
          <p:cNvSpPr>
            <a:spLocks noGrp="1"/>
          </p:cNvSpPr>
          <p:nvPr>
            <p:ph type="title"/>
          </p:nvPr>
        </p:nvSpPr>
        <p:spPr>
          <a:xfrm>
            <a:off x="3973321" y="329184"/>
            <a:ext cx="4688333" cy="1783080"/>
          </a:xfrm>
        </p:spPr>
        <p:txBody>
          <a:bodyPr anchor="b">
            <a:normAutofit/>
          </a:bodyPr>
          <a:lstStyle/>
          <a:p>
            <a:r>
              <a:rPr lang="en-US" sz="4700" dirty="0"/>
              <a:t>What You </a:t>
            </a:r>
            <a:br>
              <a:rPr lang="en-US" sz="4700" dirty="0"/>
            </a:br>
            <a:r>
              <a:rPr lang="en-US" sz="4700" dirty="0"/>
              <a:t>Should Know</a:t>
            </a:r>
          </a:p>
        </p:txBody>
      </p:sp>
      <p:pic>
        <p:nvPicPr>
          <p:cNvPr id="13" name="Picture 12" descr="Sticky notes with question marks">
            <a:extLst>
              <a:ext uri="{FF2B5EF4-FFF2-40B4-BE49-F238E27FC236}">
                <a16:creationId xmlns:a16="http://schemas.microsoft.com/office/drawing/2014/main" id="{79E4DD96-5C40-0592-4C78-6B3CF88279C9}"/>
              </a:ext>
            </a:extLst>
          </p:cNvPr>
          <p:cNvPicPr>
            <a:picLocks noChangeAspect="1"/>
          </p:cNvPicPr>
          <p:nvPr/>
        </p:nvPicPr>
        <p:blipFill>
          <a:blip r:embed="rId2"/>
          <a:srcRect l="34224" r="31778"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45B0B4-FFD9-07E3-AB53-016FA1892E11}"/>
                  </a:ext>
                </a:extLst>
              </p:cNvPr>
              <p:cNvSpPr>
                <a:spLocks noGrp="1"/>
              </p:cNvSpPr>
              <p:nvPr>
                <p:ph idx="1"/>
              </p:nvPr>
            </p:nvSpPr>
            <p:spPr>
              <a:xfrm>
                <a:off x="3973321" y="2706624"/>
                <a:ext cx="4688333" cy="3483864"/>
              </a:xfrm>
            </p:spPr>
            <p:txBody>
              <a:bodyPr>
                <a:normAutofit/>
              </a:bodyPr>
              <a:lstStyle/>
              <a:p>
                <a:r>
                  <a:rPr lang="en-US" sz="1900" dirty="0"/>
                  <a:t>What an </a:t>
                </a:r>
                <a:r>
                  <a:rPr lang="en-US" sz="1900" b="1" dirty="0"/>
                  <a:t>agent function </a:t>
                </a:r>
                <a:br>
                  <a:rPr lang="en-US" sz="1900" dirty="0"/>
                </a:br>
                <a14:m>
                  <m:oMath xmlns:m="http://schemas.openxmlformats.org/officeDocument/2006/math">
                    <m:r>
                      <a:rPr lang="en-US" sz="1900" i="1">
                        <a:latin typeface="Cambria Math" panose="02040503050406030204" pitchFamily="18" charset="0"/>
                      </a:rPr>
                      <m:t>𝑎</m:t>
                    </m:r>
                    <m:r>
                      <a:rPr lang="en-US" sz="1900" b="0" i="1" smtClean="0">
                        <a:latin typeface="Cambria Math" panose="02040503050406030204" pitchFamily="18" charset="0"/>
                      </a:rPr>
                      <m:t>𝑐𝑡𝑖𝑜𝑛</m:t>
                    </m:r>
                    <m:r>
                      <a:rPr lang="en-US" sz="1900" i="1">
                        <a:latin typeface="Cambria Math" panose="02040503050406030204" pitchFamily="18" charset="0"/>
                      </a:rPr>
                      <m:t> = </m:t>
                    </m:r>
                    <m:r>
                      <a:rPr lang="en-US" sz="1900" i="1">
                        <a:latin typeface="Cambria Math" panose="02040503050406030204" pitchFamily="18" charset="0"/>
                      </a:rPr>
                      <m:t>𝑓</m:t>
                    </m:r>
                    <m:d>
                      <m:dPr>
                        <m:ctrlPr>
                          <a:rPr lang="en-US" sz="1900" i="1">
                            <a:latin typeface="Cambria Math" panose="02040503050406030204" pitchFamily="18" charset="0"/>
                          </a:rPr>
                        </m:ctrlPr>
                      </m:dPr>
                      <m:e>
                        <m:r>
                          <a:rPr lang="en-US" sz="1900" i="1">
                            <a:latin typeface="Cambria Math" panose="02040503050406030204" pitchFamily="18" charset="0"/>
                          </a:rPr>
                          <m:t>𝑝𝑒𝑟𝑐𝑒𝑝𝑡𝑠</m:t>
                        </m:r>
                      </m:e>
                    </m:d>
                  </m:oMath>
                </a14:m>
                <a:br>
                  <a:rPr lang="en-US" sz="1900" dirty="0"/>
                </a:br>
                <a:r>
                  <a:rPr lang="en-US" sz="1900" dirty="0"/>
                  <a:t>is and how it interacts with the environment.</a:t>
                </a:r>
              </a:p>
              <a:p>
                <a:r>
                  <a:rPr lang="en-US" sz="1900" dirty="0"/>
                  <a:t>What are </a:t>
                </a:r>
                <a:r>
                  <a:rPr lang="en-US" sz="1900" b="1" dirty="0"/>
                  <a:t>states</a:t>
                </a:r>
                <a:r>
                  <a:rPr lang="en-US" sz="1900" dirty="0"/>
                  <a:t> and what is the </a:t>
                </a:r>
                <a:r>
                  <a:rPr lang="en-US" sz="1900" b="1" dirty="0"/>
                  <a:t>transition function</a:t>
                </a:r>
                <a:r>
                  <a:rPr lang="en-US" sz="1900" dirty="0"/>
                  <a:t>?</a:t>
                </a:r>
              </a:p>
              <a:p>
                <a:r>
                  <a:rPr lang="en-US" sz="1900" dirty="0"/>
                  <a:t>How </a:t>
                </a:r>
                <a:r>
                  <a:rPr lang="en-US" sz="1900" b="1" dirty="0"/>
                  <a:t>environments</a:t>
                </a:r>
                <a:r>
                  <a:rPr lang="en-US" sz="1900" dirty="0"/>
                  <a:t> differ in terms of observability, uncertainty (stochastic behavior), and if the transition function is known.</a:t>
                </a:r>
              </a:p>
              <a:p>
                <a:r>
                  <a:rPr lang="en-US" sz="1900" dirty="0"/>
                  <a:t>How to identify different</a:t>
                </a:r>
                <a:r>
                  <a:rPr lang="en-US" sz="1900" b="1" dirty="0"/>
                  <a:t> types of agents</a:t>
                </a:r>
                <a:r>
                  <a:rPr lang="en-US" sz="1900" dirty="0"/>
                  <a:t>.</a:t>
                </a:r>
              </a:p>
              <a:p>
                <a:endParaRPr lang="en-US" sz="1900" dirty="0"/>
              </a:p>
            </p:txBody>
          </p:sp>
        </mc:Choice>
        <mc:Fallback xmlns="">
          <p:sp>
            <p:nvSpPr>
              <p:cNvPr id="3" name="Content Placeholder 2">
                <a:extLst>
                  <a:ext uri="{FF2B5EF4-FFF2-40B4-BE49-F238E27FC236}">
                    <a16:creationId xmlns:a16="http://schemas.microsoft.com/office/drawing/2014/main" id="{7745B0B4-FFD9-07E3-AB53-016FA1892E11}"/>
                  </a:ext>
                </a:extLst>
              </p:cNvPr>
              <p:cNvSpPr>
                <a:spLocks noGrp="1" noRot="1" noChangeAspect="1" noMove="1" noResize="1" noEditPoints="1" noAdjustHandles="1" noChangeArrowheads="1" noChangeShapeType="1" noTextEdit="1"/>
              </p:cNvSpPr>
              <p:nvPr>
                <p:ph idx="1"/>
              </p:nvPr>
            </p:nvSpPr>
            <p:spPr>
              <a:xfrm>
                <a:off x="3973321" y="2706624"/>
                <a:ext cx="4688333" cy="3483864"/>
              </a:xfrm>
              <a:blipFill>
                <a:blip r:embed="rId3"/>
                <a:stretch>
                  <a:fillRect l="-1040" t="-1748"/>
                </a:stretch>
              </a:blipFill>
            </p:spPr>
            <p:txBody>
              <a:bodyPr/>
              <a:lstStyle/>
              <a:p>
                <a:r>
                  <a:rPr lang="en-US">
                    <a:noFill/>
                  </a:rPr>
                  <a:t> </a:t>
                </a:r>
              </a:p>
            </p:txBody>
          </p:sp>
        </mc:Fallback>
      </mc:AlternateContent>
    </p:spTree>
    <p:extLst>
      <p:ext uri="{BB962C8B-B14F-4D97-AF65-F5344CB8AC3E}">
        <p14:creationId xmlns:p14="http://schemas.microsoft.com/office/powerpoint/2010/main" val="12308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AI_high_contrast">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F9ED5"/>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AI_theme</Template>
  <TotalTime>26236</TotalTime>
  <Words>3716</Words>
  <Application>Microsoft Office PowerPoint</Application>
  <PresentationFormat>On-screen Show (4:3)</PresentationFormat>
  <Paragraphs>620</Paragraphs>
  <Slides>48</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Cambria Math</vt:lpstr>
      <vt:lpstr>Courier New</vt:lpstr>
      <vt:lpstr>Office Theme</vt:lpstr>
      <vt:lpstr>CS 5/7320  Artificial Intelligence  Intelligent Agents AIMA Chapter 2</vt:lpstr>
      <vt:lpstr>Outline</vt:lpstr>
      <vt:lpstr>Outline: What is an Intelligent Agent</vt:lpstr>
      <vt:lpstr>What is an Agents?</vt:lpstr>
      <vt:lpstr>Agent Function and Agent Program</vt:lpstr>
      <vt:lpstr>Example: Vacuum-cleaner World</vt:lpstr>
      <vt:lpstr>Outline: Rationality</vt:lpstr>
      <vt:lpstr>Rational Agents: What is Good Behavior?</vt:lpstr>
      <vt:lpstr>Rational Agents</vt:lpstr>
      <vt:lpstr>Example: Performance Measure for the  Vacuum-cleaner World</vt:lpstr>
      <vt:lpstr>Outline: PEAS</vt:lpstr>
      <vt:lpstr>Problem Specification: PEAS</vt:lpstr>
      <vt:lpstr>Example: Automated Taxi Driver</vt:lpstr>
      <vt:lpstr>Example: Spam Filter</vt:lpstr>
      <vt:lpstr>Outline: Environment Types</vt:lpstr>
      <vt:lpstr>The Environment</vt:lpstr>
      <vt:lpstr>Environment Types: Observability</vt:lpstr>
      <vt:lpstr>Environment Types: Stochasticity</vt:lpstr>
      <vt:lpstr>Special Case of Stochastic Environments: Strategic Environment</vt:lpstr>
      <vt:lpstr>Environment Types: Knowledge</vt:lpstr>
      <vt:lpstr>More Environment Types</vt:lpstr>
      <vt:lpstr>Examples of Different Environments</vt:lpstr>
      <vt:lpstr>Outline: Agent Types</vt:lpstr>
      <vt:lpstr>Designing a Rational Agent</vt:lpstr>
      <vt:lpstr>Hierarchy of Agent Types</vt:lpstr>
      <vt:lpstr>Simple Reflex Agent</vt:lpstr>
      <vt:lpstr>Model-based Reflex Agent</vt:lpstr>
      <vt:lpstr>State Representation</vt:lpstr>
      <vt:lpstr>Transition Function</vt:lpstr>
      <vt:lpstr>Old-school vs. Smart Thermostat</vt:lpstr>
      <vt:lpstr>Old-school vs. Smart Thermostat: Solution</vt:lpstr>
      <vt:lpstr>Goal-based Agent</vt:lpstr>
      <vt:lpstr>Utility-based Agent</vt:lpstr>
      <vt:lpstr>Agents that Learn</vt:lpstr>
      <vt:lpstr>Examples</vt:lpstr>
      <vt:lpstr>Smart Thermostat: What Type of Agent is it?</vt:lpstr>
      <vt:lpstr>Example: Modern Vacuum Robot</vt:lpstr>
      <vt:lpstr>PEAS Description of a  Modern Robot Vacuum</vt:lpstr>
      <vt:lpstr>PEAS Description of a  Modern Robot Vacuum: Solution</vt:lpstr>
      <vt:lpstr>What Type of Intelligent Agent is a  Modern Robot Vacuum? </vt:lpstr>
      <vt:lpstr>Example: Large Language Models</vt:lpstr>
      <vt:lpstr>PEAS Description of ChatGPT</vt:lpstr>
      <vt:lpstr>What Type of Intelligent Agent is  ChatGPT?</vt:lpstr>
      <vt:lpstr>Intelligent Systems a  Sets of Agents: Self-driving Car</vt:lpstr>
      <vt:lpstr>Wrapup</vt:lpstr>
      <vt:lpstr>Important Environment Types Revisited</vt:lpstr>
      <vt:lpstr>AI Areas</vt:lpstr>
      <vt:lpstr>What You  Should Know</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Hahsler, Michael</cp:lastModifiedBy>
  <cp:revision>255</cp:revision>
  <cp:lastPrinted>2021-08-30T18:56:39Z</cp:lastPrinted>
  <dcterms:created xsi:type="dcterms:W3CDTF">2003-12-17T02:32:09Z</dcterms:created>
  <dcterms:modified xsi:type="dcterms:W3CDTF">2026-09-03T15:27:40Z</dcterms:modified>
</cp:coreProperties>
</file>