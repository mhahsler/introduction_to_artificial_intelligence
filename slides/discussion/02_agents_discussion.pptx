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30"/>
  </p:notesMasterIdLst>
  <p:sldIdLst>
    <p:sldId id="257" r:id="rId2"/>
    <p:sldId id="804" r:id="rId3"/>
    <p:sldId id="260" r:id="rId4"/>
    <p:sldId id="288" r:id="rId5"/>
    <p:sldId id="805" r:id="rId6"/>
    <p:sldId id="813" r:id="rId7"/>
    <p:sldId id="817" r:id="rId8"/>
    <p:sldId id="816" r:id="rId9"/>
    <p:sldId id="803" r:id="rId10"/>
    <p:sldId id="801" r:id="rId11"/>
    <p:sldId id="318" r:id="rId12"/>
    <p:sldId id="296" r:id="rId13"/>
    <p:sldId id="293" r:id="rId14"/>
    <p:sldId id="818" r:id="rId15"/>
    <p:sldId id="811" r:id="rId16"/>
    <p:sldId id="808" r:id="rId17"/>
    <p:sldId id="305" r:id="rId18"/>
    <p:sldId id="278" r:id="rId19"/>
    <p:sldId id="280" r:id="rId20"/>
    <p:sldId id="809" r:id="rId21"/>
    <p:sldId id="320" r:id="rId22"/>
    <p:sldId id="807" r:id="rId23"/>
    <p:sldId id="295" r:id="rId24"/>
    <p:sldId id="810" r:id="rId25"/>
    <p:sldId id="298" r:id="rId26"/>
    <p:sldId id="802" r:id="rId27"/>
    <p:sldId id="321" r:id="rId28"/>
    <p:sldId id="812" r:id="rId29"/>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477" autoAdjust="0"/>
  </p:normalViewPr>
  <p:slideViewPr>
    <p:cSldViewPr>
      <p:cViewPr varScale="1">
        <p:scale>
          <a:sx n="90" d="100"/>
          <a:sy n="90" d="100"/>
        </p:scale>
        <p:origin x="1680"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3">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591CF20-E38B-470F-ADB9-0E408539A816}" type="doc">
      <dgm:prSet loTypeId="urn:microsoft.com/office/officeart/2005/8/layout/hList1" loCatId="list" qsTypeId="urn:microsoft.com/office/officeart/2005/8/quickstyle/simple1#1" qsCatId="simple" csTypeId="urn:microsoft.com/office/officeart/2005/8/colors/accent1_2#1" csCatId="accent1" phldr="1"/>
      <dgm:spPr/>
      <dgm:t>
        <a:bodyPr/>
        <a:lstStyle/>
        <a:p>
          <a:endParaRPr lang="en-US"/>
        </a:p>
      </dgm:t>
    </dgm:pt>
    <dgm:pt modelId="{68943606-CA28-4782-8232-95AB8616BAD2}">
      <dgm:prSet/>
      <dgm:spPr/>
      <dgm:t>
        <a:bodyPr/>
        <a:lstStyle/>
        <a:p>
          <a:r>
            <a:rPr lang="en-US" b="1"/>
            <a:t>Performance measure</a:t>
          </a:r>
          <a:endParaRPr lang="en-US"/>
        </a:p>
      </dgm:t>
    </dgm:pt>
    <dgm:pt modelId="{676B489B-9AA3-44DD-9BE5-9D47C15ACFCD}" type="parTrans" cxnId="{8BCE5B36-B777-474D-890D-FE339B0902D4}">
      <dgm:prSet/>
      <dgm:spPr/>
      <dgm:t>
        <a:bodyPr/>
        <a:lstStyle/>
        <a:p>
          <a:endParaRPr lang="en-US"/>
        </a:p>
      </dgm:t>
    </dgm:pt>
    <dgm:pt modelId="{F32ADC98-C909-41E5-91A2-1952AAB3B088}" type="sibTrans" cxnId="{8BCE5B36-B777-474D-890D-FE339B0902D4}">
      <dgm:prSet/>
      <dgm:spPr/>
      <dgm:t>
        <a:bodyPr/>
        <a:lstStyle/>
        <a:p>
          <a:endParaRPr lang="en-US"/>
        </a:p>
      </dgm:t>
    </dgm:pt>
    <dgm:pt modelId="{58A56870-94C5-474F-A11F-B059F85D051B}">
      <dgm:prSet/>
      <dgm:spPr/>
      <dgm:t>
        <a:bodyPr/>
        <a:lstStyle/>
        <a:p>
          <a:r>
            <a:rPr lang="en-US" b="1"/>
            <a:t>Environment</a:t>
          </a:r>
          <a:endParaRPr lang="en-US"/>
        </a:p>
      </dgm:t>
    </dgm:pt>
    <dgm:pt modelId="{C14F31F7-7F6D-4E53-9E55-3AF1CB4916C0}" type="parTrans" cxnId="{6593B099-4683-4CE5-BBC3-FA3EEE9DBA90}">
      <dgm:prSet/>
      <dgm:spPr/>
      <dgm:t>
        <a:bodyPr/>
        <a:lstStyle/>
        <a:p>
          <a:endParaRPr lang="en-US"/>
        </a:p>
      </dgm:t>
    </dgm:pt>
    <dgm:pt modelId="{FD0CD066-B96F-4B22-9616-AEFC906D0365}" type="sibTrans" cxnId="{6593B099-4683-4CE5-BBC3-FA3EEE9DBA90}">
      <dgm:prSet/>
      <dgm:spPr/>
      <dgm:t>
        <a:bodyPr/>
        <a:lstStyle/>
        <a:p>
          <a:endParaRPr lang="en-US"/>
        </a:p>
      </dgm:t>
    </dgm:pt>
    <dgm:pt modelId="{7D8F34D2-ACF5-4A51-B24D-609C41730628}">
      <dgm:prSet/>
      <dgm:spPr/>
      <dgm:t>
        <a:bodyPr/>
        <a:lstStyle/>
        <a:p>
          <a:r>
            <a:rPr lang="en-US" b="1"/>
            <a:t>Actuators</a:t>
          </a:r>
          <a:endParaRPr lang="en-US"/>
        </a:p>
      </dgm:t>
    </dgm:pt>
    <dgm:pt modelId="{538793FA-12F5-487C-A939-B1DC05160418}" type="parTrans" cxnId="{8EDF021A-0EDD-4FB5-9107-0D2E7B05FC2D}">
      <dgm:prSet/>
      <dgm:spPr/>
      <dgm:t>
        <a:bodyPr/>
        <a:lstStyle/>
        <a:p>
          <a:endParaRPr lang="en-US"/>
        </a:p>
      </dgm:t>
    </dgm:pt>
    <dgm:pt modelId="{73ABE292-2B32-41AF-ADF7-3E2FAF127215}" type="sibTrans" cxnId="{8EDF021A-0EDD-4FB5-9107-0D2E7B05FC2D}">
      <dgm:prSet/>
      <dgm:spPr/>
      <dgm:t>
        <a:bodyPr/>
        <a:lstStyle/>
        <a:p>
          <a:endParaRPr lang="en-US"/>
        </a:p>
      </dgm:t>
    </dgm:pt>
    <dgm:pt modelId="{F0F72F2C-A2DF-4546-B5A6-BD3771EF4984}">
      <dgm:prSet/>
      <dgm:spPr/>
      <dgm:t>
        <a:bodyPr/>
        <a:lstStyle/>
        <a:p>
          <a:r>
            <a:rPr lang="en-US" b="1" dirty="0"/>
            <a:t>Sensors</a:t>
          </a:r>
          <a:endParaRPr lang="en-US" dirty="0"/>
        </a:p>
      </dgm:t>
    </dgm:pt>
    <dgm:pt modelId="{A2250B20-5406-4F3F-A64D-6152F8E74E44}" type="parTrans" cxnId="{ECAC54A8-C412-40AA-800C-9D5DFD92070E}">
      <dgm:prSet/>
      <dgm:spPr/>
      <dgm:t>
        <a:bodyPr/>
        <a:lstStyle/>
        <a:p>
          <a:endParaRPr lang="en-US"/>
        </a:p>
      </dgm:t>
    </dgm:pt>
    <dgm:pt modelId="{F55E5FBB-56F5-4E60-80C1-C4231D568744}" type="sibTrans" cxnId="{ECAC54A8-C412-40AA-800C-9D5DFD92070E}">
      <dgm:prSet/>
      <dgm:spPr/>
      <dgm:t>
        <a:bodyPr/>
        <a:lstStyle/>
        <a:p>
          <a:endParaRPr lang="en-US"/>
        </a:p>
      </dgm:t>
    </dgm:pt>
    <dgm:pt modelId="{89163186-37C1-4843-B458-2A19FB9611F7}">
      <dgm:prSet/>
      <dgm:spPr/>
      <dgm:t>
        <a:bodyPr/>
        <a:lstStyle/>
        <a:p>
          <a:endParaRPr lang="en-US" dirty="0"/>
        </a:p>
      </dgm:t>
    </dgm:pt>
    <dgm:pt modelId="{CE390AD7-6EAC-4B2A-A0B3-4431016328FB}" type="parTrans" cxnId="{531C7B11-D634-4346-A156-C5416AC37C18}">
      <dgm:prSet/>
      <dgm:spPr/>
      <dgm:t>
        <a:bodyPr/>
        <a:lstStyle/>
        <a:p>
          <a:endParaRPr lang="en-US"/>
        </a:p>
      </dgm:t>
    </dgm:pt>
    <dgm:pt modelId="{B95E093C-6075-4146-A969-88CF9ED7FB30}" type="sibTrans" cxnId="{531C7B11-D634-4346-A156-C5416AC37C18}">
      <dgm:prSet/>
      <dgm:spPr/>
      <dgm:t>
        <a:bodyPr/>
        <a:lstStyle/>
        <a:p>
          <a:endParaRPr lang="en-US"/>
        </a:p>
      </dgm:t>
    </dgm:pt>
    <dgm:pt modelId="{F23D6484-47D4-4AEA-A7CB-EBFE13BFCE61}">
      <dgm:prSet/>
      <dgm:spPr/>
      <dgm:t>
        <a:bodyPr/>
        <a:lstStyle/>
        <a:p>
          <a:endParaRPr lang="en-US"/>
        </a:p>
      </dgm:t>
    </dgm:pt>
    <dgm:pt modelId="{E2706514-B950-432E-9BD8-03BC2B699B97}" type="parTrans" cxnId="{65C82421-950A-48F2-A1E0-7BAA176A1C2D}">
      <dgm:prSet/>
      <dgm:spPr/>
      <dgm:t>
        <a:bodyPr/>
        <a:lstStyle/>
        <a:p>
          <a:endParaRPr lang="en-US"/>
        </a:p>
      </dgm:t>
    </dgm:pt>
    <dgm:pt modelId="{6BD6171C-52A5-46CB-A615-A37CD5216BDD}" type="sibTrans" cxnId="{65C82421-950A-48F2-A1E0-7BAA176A1C2D}">
      <dgm:prSet/>
      <dgm:spPr/>
      <dgm:t>
        <a:bodyPr/>
        <a:lstStyle/>
        <a:p>
          <a:endParaRPr lang="en-US"/>
        </a:p>
      </dgm:t>
    </dgm:pt>
    <dgm:pt modelId="{EB8085AD-DE66-444E-AD31-AF2B51224948}">
      <dgm:prSet/>
      <dgm:spPr/>
      <dgm:t>
        <a:bodyPr/>
        <a:lstStyle/>
        <a:p>
          <a:endParaRPr lang="en-US"/>
        </a:p>
      </dgm:t>
    </dgm:pt>
    <dgm:pt modelId="{7324D38C-F909-4853-AC69-CD5F884A3506}" type="parTrans" cxnId="{1F321E2E-F382-48C4-BF5C-0F1A65DF633E}">
      <dgm:prSet/>
      <dgm:spPr/>
      <dgm:t>
        <a:bodyPr/>
        <a:lstStyle/>
        <a:p>
          <a:endParaRPr lang="en-US"/>
        </a:p>
      </dgm:t>
    </dgm:pt>
    <dgm:pt modelId="{F9636DD4-8012-49A4-ADC8-6A5BC035C76C}" type="sibTrans" cxnId="{1F321E2E-F382-48C4-BF5C-0F1A65DF633E}">
      <dgm:prSet/>
      <dgm:spPr/>
      <dgm:t>
        <a:bodyPr/>
        <a:lstStyle/>
        <a:p>
          <a:endParaRPr lang="en-US"/>
        </a:p>
      </dgm:t>
    </dgm:pt>
    <dgm:pt modelId="{45665F0C-EAF5-45B7-A68A-7B0907A7A880}">
      <dgm:prSet/>
      <dgm:spPr/>
      <dgm:t>
        <a:bodyPr/>
        <a:lstStyle/>
        <a:p>
          <a:endParaRPr lang="en-US" dirty="0"/>
        </a:p>
      </dgm:t>
    </dgm:pt>
    <dgm:pt modelId="{C9D7E885-9399-43F2-BE71-804B9A543661}" type="parTrans" cxnId="{5CF8B778-55A6-4250-BA6C-F997D4251452}">
      <dgm:prSet/>
      <dgm:spPr/>
      <dgm:t>
        <a:bodyPr/>
        <a:lstStyle/>
        <a:p>
          <a:endParaRPr lang="en-US"/>
        </a:p>
      </dgm:t>
    </dgm:pt>
    <dgm:pt modelId="{A7A1FFF5-3905-479F-98D4-8225F687C015}" type="sibTrans" cxnId="{5CF8B778-55A6-4250-BA6C-F997D4251452}">
      <dgm:prSet/>
      <dgm:spPr/>
      <dgm:t>
        <a:bodyPr/>
        <a:lstStyle/>
        <a:p>
          <a:endParaRPr lang="en-US"/>
        </a:p>
      </dgm:t>
    </dgm:pt>
    <dgm:pt modelId="{49C5FFFF-65EC-40FE-928F-5B41816F342F}">
      <dgm:prSet/>
      <dgm:spPr/>
      <dgm:t>
        <a:bodyPr/>
        <a:lstStyle/>
        <a:p>
          <a:endParaRPr lang="en-US" dirty="0"/>
        </a:p>
      </dgm:t>
    </dgm:pt>
    <dgm:pt modelId="{CF86A3FC-EB4C-4FFB-B7AF-4E7241742D40}" type="parTrans" cxnId="{7D4CFF5B-D761-4865-AA94-6DB96C1F5B62}">
      <dgm:prSet/>
      <dgm:spPr/>
      <dgm:t>
        <a:bodyPr/>
        <a:lstStyle/>
        <a:p>
          <a:endParaRPr lang="en-US"/>
        </a:p>
      </dgm:t>
    </dgm:pt>
    <dgm:pt modelId="{EC03FE70-288C-4653-989C-45F4E8674DA9}" type="sibTrans" cxnId="{7D4CFF5B-D761-4865-AA94-6DB96C1F5B62}">
      <dgm:prSet/>
      <dgm:spPr/>
      <dgm:t>
        <a:bodyPr/>
        <a:lstStyle/>
        <a:p>
          <a:endParaRPr lang="en-US"/>
        </a:p>
      </dgm:t>
    </dgm:pt>
    <dgm:pt modelId="{B820DC56-E227-4433-A539-4581081CFA6E}">
      <dgm:prSet/>
      <dgm:spPr/>
      <dgm:t>
        <a:bodyPr/>
        <a:lstStyle/>
        <a:p>
          <a:endParaRPr lang="en-US" dirty="0"/>
        </a:p>
      </dgm:t>
    </dgm:pt>
    <dgm:pt modelId="{4A84B0A2-67D6-46A6-90B5-AAD80D996EEF}" type="parTrans" cxnId="{7FA464D8-6F8A-4841-97A5-2A8D7B18EEEF}">
      <dgm:prSet/>
      <dgm:spPr/>
      <dgm:t>
        <a:bodyPr/>
        <a:lstStyle/>
        <a:p>
          <a:endParaRPr lang="en-US"/>
        </a:p>
      </dgm:t>
    </dgm:pt>
    <dgm:pt modelId="{8AC9B9D2-DF15-4CBB-9DB9-83E408C61826}" type="sibTrans" cxnId="{7FA464D8-6F8A-4841-97A5-2A8D7B18EEEF}">
      <dgm:prSet/>
      <dgm:spPr/>
      <dgm:t>
        <a:bodyPr/>
        <a:lstStyle/>
        <a:p>
          <a:endParaRPr lang="en-US"/>
        </a:p>
      </dgm:t>
    </dgm:pt>
    <dgm:pt modelId="{BD8CF55D-251C-4BD5-BF48-8B2ED62B4272}">
      <dgm:prSet/>
      <dgm:spPr/>
      <dgm:t>
        <a:bodyPr/>
        <a:lstStyle/>
        <a:p>
          <a:endParaRPr lang="en-US" dirty="0"/>
        </a:p>
      </dgm:t>
    </dgm:pt>
    <dgm:pt modelId="{5F9EA069-D971-45C6-94C8-D9790BA6E9C4}" type="parTrans" cxnId="{E289D1A5-E6A1-41D7-9797-1CBE7F8CBAF1}">
      <dgm:prSet/>
      <dgm:spPr/>
      <dgm:t>
        <a:bodyPr/>
        <a:lstStyle/>
        <a:p>
          <a:endParaRPr lang="en-US"/>
        </a:p>
      </dgm:t>
    </dgm:pt>
    <dgm:pt modelId="{4A979BA2-DB90-4F6F-A1D4-DA7B12A11966}" type="sibTrans" cxnId="{E289D1A5-E6A1-41D7-9797-1CBE7F8CBAF1}">
      <dgm:prSet/>
      <dgm:spPr/>
      <dgm:t>
        <a:bodyPr/>
        <a:lstStyle/>
        <a:p>
          <a:endParaRPr lang="en-US"/>
        </a:p>
      </dgm:t>
    </dgm:pt>
    <dgm:pt modelId="{F8AFD55B-38B9-439F-982C-D5407EB1213F}">
      <dgm:prSet/>
      <dgm:spPr/>
      <dgm:t>
        <a:bodyPr/>
        <a:lstStyle/>
        <a:p>
          <a:endParaRPr lang="en-US" dirty="0"/>
        </a:p>
      </dgm:t>
    </dgm:pt>
    <dgm:pt modelId="{E1C875B3-F2C4-4C2B-8DC2-0EBD9C74554B}" type="parTrans" cxnId="{57AD331F-9F90-4E1B-86D1-299AB0A132E6}">
      <dgm:prSet/>
      <dgm:spPr/>
      <dgm:t>
        <a:bodyPr/>
        <a:lstStyle/>
        <a:p>
          <a:endParaRPr lang="en-US"/>
        </a:p>
      </dgm:t>
    </dgm:pt>
    <dgm:pt modelId="{EF1EAC35-38FC-4C81-BA67-FD92DA4F547F}" type="sibTrans" cxnId="{57AD331F-9F90-4E1B-86D1-299AB0A132E6}">
      <dgm:prSet/>
      <dgm:spPr/>
      <dgm:t>
        <a:bodyPr/>
        <a:lstStyle/>
        <a:p>
          <a:endParaRPr lang="en-US"/>
        </a:p>
      </dgm:t>
    </dgm:pt>
    <dgm:pt modelId="{72F092A1-3B55-4AF9-BB8D-2692568648C3}" type="pres">
      <dgm:prSet presAssocID="{B591CF20-E38B-470F-ADB9-0E408539A816}" presName="Name0" presStyleCnt="0">
        <dgm:presLayoutVars>
          <dgm:dir/>
          <dgm:animLvl val="lvl"/>
          <dgm:resizeHandles val="exact"/>
        </dgm:presLayoutVars>
      </dgm:prSet>
      <dgm:spPr/>
    </dgm:pt>
    <dgm:pt modelId="{07C34D83-3094-4FD8-AF53-7B4F0466A48D}" type="pres">
      <dgm:prSet presAssocID="{68943606-CA28-4782-8232-95AB8616BAD2}" presName="composite" presStyleCnt="0"/>
      <dgm:spPr/>
    </dgm:pt>
    <dgm:pt modelId="{60D9E2F1-B549-4EF6-9A39-54153CB848BF}" type="pres">
      <dgm:prSet presAssocID="{68943606-CA28-4782-8232-95AB8616BAD2}" presName="parTx" presStyleLbl="alignNode1" presStyleIdx="0" presStyleCnt="4">
        <dgm:presLayoutVars>
          <dgm:chMax val="0"/>
          <dgm:chPref val="0"/>
          <dgm:bulletEnabled val="1"/>
        </dgm:presLayoutVars>
      </dgm:prSet>
      <dgm:spPr/>
    </dgm:pt>
    <dgm:pt modelId="{AE9246A3-3980-441E-8C93-893085D8CE26}" type="pres">
      <dgm:prSet presAssocID="{68943606-CA28-4782-8232-95AB8616BAD2}" presName="desTx" presStyleLbl="alignAccFollowNode1" presStyleIdx="0" presStyleCnt="4">
        <dgm:presLayoutVars>
          <dgm:bulletEnabled val="1"/>
        </dgm:presLayoutVars>
      </dgm:prSet>
      <dgm:spPr/>
    </dgm:pt>
    <dgm:pt modelId="{A4E5F21F-8483-482A-B577-134ACFDB9B9E}" type="pres">
      <dgm:prSet presAssocID="{F32ADC98-C909-41E5-91A2-1952AAB3B088}" presName="space" presStyleCnt="0"/>
      <dgm:spPr/>
    </dgm:pt>
    <dgm:pt modelId="{7288A2BB-75A7-4488-8F75-4BC6D89E9768}" type="pres">
      <dgm:prSet presAssocID="{58A56870-94C5-474F-A11F-B059F85D051B}" presName="composite" presStyleCnt="0"/>
      <dgm:spPr/>
    </dgm:pt>
    <dgm:pt modelId="{5AAEAC57-C5CF-4BF7-B78E-013E1F7A0946}" type="pres">
      <dgm:prSet presAssocID="{58A56870-94C5-474F-A11F-B059F85D051B}" presName="parTx" presStyleLbl="alignNode1" presStyleIdx="1" presStyleCnt="4">
        <dgm:presLayoutVars>
          <dgm:chMax val="0"/>
          <dgm:chPref val="0"/>
          <dgm:bulletEnabled val="1"/>
        </dgm:presLayoutVars>
      </dgm:prSet>
      <dgm:spPr/>
    </dgm:pt>
    <dgm:pt modelId="{DD58FCCA-5A53-48EF-830C-01A1BC2DEC5F}" type="pres">
      <dgm:prSet presAssocID="{58A56870-94C5-474F-A11F-B059F85D051B}" presName="desTx" presStyleLbl="alignAccFollowNode1" presStyleIdx="1" presStyleCnt="4">
        <dgm:presLayoutVars>
          <dgm:bulletEnabled val="1"/>
        </dgm:presLayoutVars>
      </dgm:prSet>
      <dgm:spPr/>
    </dgm:pt>
    <dgm:pt modelId="{18DB903B-07DD-486D-A4B9-BC4325B28247}" type="pres">
      <dgm:prSet presAssocID="{FD0CD066-B96F-4B22-9616-AEFC906D0365}" presName="space" presStyleCnt="0"/>
      <dgm:spPr/>
    </dgm:pt>
    <dgm:pt modelId="{3E978AA7-ADC8-41B0-8320-DE84F788EBE3}" type="pres">
      <dgm:prSet presAssocID="{7D8F34D2-ACF5-4A51-B24D-609C41730628}" presName="composite" presStyleCnt="0"/>
      <dgm:spPr/>
    </dgm:pt>
    <dgm:pt modelId="{2D001E74-0AE6-4A24-B178-617FDC7EFAEB}" type="pres">
      <dgm:prSet presAssocID="{7D8F34D2-ACF5-4A51-B24D-609C41730628}" presName="parTx" presStyleLbl="alignNode1" presStyleIdx="2" presStyleCnt="4">
        <dgm:presLayoutVars>
          <dgm:chMax val="0"/>
          <dgm:chPref val="0"/>
          <dgm:bulletEnabled val="1"/>
        </dgm:presLayoutVars>
      </dgm:prSet>
      <dgm:spPr/>
    </dgm:pt>
    <dgm:pt modelId="{C7F39890-5C8D-48FD-9A3D-71E6A4C3F357}" type="pres">
      <dgm:prSet presAssocID="{7D8F34D2-ACF5-4A51-B24D-609C41730628}" presName="desTx" presStyleLbl="alignAccFollowNode1" presStyleIdx="2" presStyleCnt="4">
        <dgm:presLayoutVars>
          <dgm:bulletEnabled val="1"/>
        </dgm:presLayoutVars>
      </dgm:prSet>
      <dgm:spPr/>
    </dgm:pt>
    <dgm:pt modelId="{5F376750-33CC-45A6-93BB-8929160531C0}" type="pres">
      <dgm:prSet presAssocID="{73ABE292-2B32-41AF-ADF7-3E2FAF127215}" presName="space" presStyleCnt="0"/>
      <dgm:spPr/>
    </dgm:pt>
    <dgm:pt modelId="{E6C8BDA2-4ADF-4F7E-A8ED-69DD98127150}" type="pres">
      <dgm:prSet presAssocID="{F0F72F2C-A2DF-4546-B5A6-BD3771EF4984}" presName="composite" presStyleCnt="0"/>
      <dgm:spPr/>
    </dgm:pt>
    <dgm:pt modelId="{ED723AC5-A2E2-4B16-BEA7-A94A2BECAD1C}" type="pres">
      <dgm:prSet presAssocID="{F0F72F2C-A2DF-4546-B5A6-BD3771EF4984}" presName="parTx" presStyleLbl="alignNode1" presStyleIdx="3" presStyleCnt="4">
        <dgm:presLayoutVars>
          <dgm:chMax val="0"/>
          <dgm:chPref val="0"/>
          <dgm:bulletEnabled val="1"/>
        </dgm:presLayoutVars>
      </dgm:prSet>
      <dgm:spPr/>
    </dgm:pt>
    <dgm:pt modelId="{C961A285-B32F-4EA0-A7A2-A0725D9D4CB3}" type="pres">
      <dgm:prSet presAssocID="{F0F72F2C-A2DF-4546-B5A6-BD3771EF4984}" presName="desTx" presStyleLbl="alignAccFollowNode1" presStyleIdx="3" presStyleCnt="4" custLinFactNeighborY="-630">
        <dgm:presLayoutVars>
          <dgm:bulletEnabled val="1"/>
        </dgm:presLayoutVars>
      </dgm:prSet>
      <dgm:spPr/>
    </dgm:pt>
  </dgm:ptLst>
  <dgm:cxnLst>
    <dgm:cxn modelId="{34F7950D-0038-442E-B60E-69971E8B40AC}" type="presOf" srcId="{58A56870-94C5-474F-A11F-B059F85D051B}" destId="{5AAEAC57-C5CF-4BF7-B78E-013E1F7A0946}" srcOrd="0" destOrd="0" presId="urn:microsoft.com/office/officeart/2005/8/layout/hList1"/>
    <dgm:cxn modelId="{531C7B11-D634-4346-A156-C5416AC37C18}" srcId="{68943606-CA28-4782-8232-95AB8616BAD2}" destId="{89163186-37C1-4843-B458-2A19FB9611F7}" srcOrd="7" destOrd="0" parTransId="{CE390AD7-6EAC-4B2A-A0B3-4431016328FB}" sibTransId="{B95E093C-6075-4146-A969-88CF9ED7FB30}"/>
    <dgm:cxn modelId="{8EDF021A-0EDD-4FB5-9107-0D2E7B05FC2D}" srcId="{B591CF20-E38B-470F-ADB9-0E408539A816}" destId="{7D8F34D2-ACF5-4A51-B24D-609C41730628}" srcOrd="2" destOrd="0" parTransId="{538793FA-12F5-487C-A939-B1DC05160418}" sibTransId="{73ABE292-2B32-41AF-ADF7-3E2FAF127215}"/>
    <dgm:cxn modelId="{57AD331F-9F90-4E1B-86D1-299AB0A132E6}" srcId="{68943606-CA28-4782-8232-95AB8616BAD2}" destId="{F8AFD55B-38B9-439F-982C-D5407EB1213F}" srcOrd="6" destOrd="0" parTransId="{E1C875B3-F2C4-4C2B-8DC2-0EBD9C74554B}" sibTransId="{EF1EAC35-38FC-4C81-BA67-FD92DA4F547F}"/>
    <dgm:cxn modelId="{65C82421-950A-48F2-A1E0-7BAA176A1C2D}" srcId="{68943606-CA28-4782-8232-95AB8616BAD2}" destId="{F23D6484-47D4-4AEA-A7CB-EBFE13BFCE61}" srcOrd="0" destOrd="0" parTransId="{E2706514-B950-432E-9BD8-03BC2B699B97}" sibTransId="{6BD6171C-52A5-46CB-A615-A37CD5216BDD}"/>
    <dgm:cxn modelId="{04BD272A-78AE-46A0-BC4A-995E602572B7}" type="presOf" srcId="{F0F72F2C-A2DF-4546-B5A6-BD3771EF4984}" destId="{ED723AC5-A2E2-4B16-BEA7-A94A2BECAD1C}" srcOrd="0" destOrd="0" presId="urn:microsoft.com/office/officeart/2005/8/layout/hList1"/>
    <dgm:cxn modelId="{1F321E2E-F382-48C4-BF5C-0F1A65DF633E}" srcId="{68943606-CA28-4782-8232-95AB8616BAD2}" destId="{EB8085AD-DE66-444E-AD31-AF2B51224948}" srcOrd="1" destOrd="0" parTransId="{7324D38C-F909-4853-AC69-CD5F884A3506}" sibTransId="{F9636DD4-8012-49A4-ADC8-6A5BC035C76C}"/>
    <dgm:cxn modelId="{8BCE5B36-B777-474D-890D-FE339B0902D4}" srcId="{B591CF20-E38B-470F-ADB9-0E408539A816}" destId="{68943606-CA28-4782-8232-95AB8616BAD2}" srcOrd="0" destOrd="0" parTransId="{676B489B-9AA3-44DD-9BE5-9D47C15ACFCD}" sibTransId="{F32ADC98-C909-41E5-91A2-1952AAB3B088}"/>
    <dgm:cxn modelId="{E555B439-B27F-4E20-8A5B-0DF40C9297D6}" type="presOf" srcId="{B820DC56-E227-4433-A539-4581081CFA6E}" destId="{AE9246A3-3980-441E-8C93-893085D8CE26}" srcOrd="0" destOrd="4" presId="urn:microsoft.com/office/officeart/2005/8/layout/hList1"/>
    <dgm:cxn modelId="{CDA3D040-0317-4025-877C-6FFBAC638E9E}" type="presOf" srcId="{F23D6484-47D4-4AEA-A7CB-EBFE13BFCE61}" destId="{AE9246A3-3980-441E-8C93-893085D8CE26}" srcOrd="0" destOrd="0" presId="urn:microsoft.com/office/officeart/2005/8/layout/hList1"/>
    <dgm:cxn modelId="{7D4CFF5B-D761-4865-AA94-6DB96C1F5B62}" srcId="{68943606-CA28-4782-8232-95AB8616BAD2}" destId="{49C5FFFF-65EC-40FE-928F-5B41816F342F}" srcOrd="3" destOrd="0" parTransId="{CF86A3FC-EB4C-4FFB-B7AF-4E7241742D40}" sibTransId="{EC03FE70-288C-4653-989C-45F4E8674DA9}"/>
    <dgm:cxn modelId="{69431E46-552C-438C-8C44-8DB3D6B356B6}" type="presOf" srcId="{7D8F34D2-ACF5-4A51-B24D-609C41730628}" destId="{2D001E74-0AE6-4A24-B178-617FDC7EFAEB}" srcOrd="0" destOrd="0" presId="urn:microsoft.com/office/officeart/2005/8/layout/hList1"/>
    <dgm:cxn modelId="{AFD4246B-59B6-4334-9B07-6E245EC15866}" type="presOf" srcId="{68943606-CA28-4782-8232-95AB8616BAD2}" destId="{60D9E2F1-B549-4EF6-9A39-54153CB848BF}" srcOrd="0" destOrd="0" presId="urn:microsoft.com/office/officeart/2005/8/layout/hList1"/>
    <dgm:cxn modelId="{5CF8B778-55A6-4250-BA6C-F997D4251452}" srcId="{68943606-CA28-4782-8232-95AB8616BAD2}" destId="{45665F0C-EAF5-45B7-A68A-7B0907A7A880}" srcOrd="2" destOrd="0" parTransId="{C9D7E885-9399-43F2-BE71-804B9A543661}" sibTransId="{A7A1FFF5-3905-479F-98D4-8225F687C015}"/>
    <dgm:cxn modelId="{6593B099-4683-4CE5-BBC3-FA3EEE9DBA90}" srcId="{B591CF20-E38B-470F-ADB9-0E408539A816}" destId="{58A56870-94C5-474F-A11F-B059F85D051B}" srcOrd="1" destOrd="0" parTransId="{C14F31F7-7F6D-4E53-9E55-3AF1CB4916C0}" sibTransId="{FD0CD066-B96F-4B22-9616-AEFC906D0365}"/>
    <dgm:cxn modelId="{E289D1A5-E6A1-41D7-9797-1CBE7F8CBAF1}" srcId="{68943606-CA28-4782-8232-95AB8616BAD2}" destId="{BD8CF55D-251C-4BD5-BF48-8B2ED62B4272}" srcOrd="5" destOrd="0" parTransId="{5F9EA069-D971-45C6-94C8-D9790BA6E9C4}" sibTransId="{4A979BA2-DB90-4F6F-A1D4-DA7B12A11966}"/>
    <dgm:cxn modelId="{ECAC54A8-C412-40AA-800C-9D5DFD92070E}" srcId="{B591CF20-E38B-470F-ADB9-0E408539A816}" destId="{F0F72F2C-A2DF-4546-B5A6-BD3771EF4984}" srcOrd="3" destOrd="0" parTransId="{A2250B20-5406-4F3F-A64D-6152F8E74E44}" sibTransId="{F55E5FBB-56F5-4E60-80C1-C4231D568744}"/>
    <dgm:cxn modelId="{BF6659BE-F99C-4BFF-A2A2-D65FB7E24687}" type="presOf" srcId="{BD8CF55D-251C-4BD5-BF48-8B2ED62B4272}" destId="{AE9246A3-3980-441E-8C93-893085D8CE26}" srcOrd="0" destOrd="5" presId="urn:microsoft.com/office/officeart/2005/8/layout/hList1"/>
    <dgm:cxn modelId="{4C6C92BF-25FE-40DD-8747-54962B351127}" type="presOf" srcId="{F8AFD55B-38B9-439F-982C-D5407EB1213F}" destId="{AE9246A3-3980-441E-8C93-893085D8CE26}" srcOrd="0" destOrd="6" presId="urn:microsoft.com/office/officeart/2005/8/layout/hList1"/>
    <dgm:cxn modelId="{899A5FC8-399E-42E0-B833-C6DD1A58A213}" type="presOf" srcId="{49C5FFFF-65EC-40FE-928F-5B41816F342F}" destId="{AE9246A3-3980-441E-8C93-893085D8CE26}" srcOrd="0" destOrd="3" presId="urn:microsoft.com/office/officeart/2005/8/layout/hList1"/>
    <dgm:cxn modelId="{919B78D7-3423-4261-90CD-FD30B295DE6E}" type="presOf" srcId="{EB8085AD-DE66-444E-AD31-AF2B51224948}" destId="{AE9246A3-3980-441E-8C93-893085D8CE26}" srcOrd="0" destOrd="1" presId="urn:microsoft.com/office/officeart/2005/8/layout/hList1"/>
    <dgm:cxn modelId="{7FA464D8-6F8A-4841-97A5-2A8D7B18EEEF}" srcId="{68943606-CA28-4782-8232-95AB8616BAD2}" destId="{B820DC56-E227-4433-A539-4581081CFA6E}" srcOrd="4" destOrd="0" parTransId="{4A84B0A2-67D6-46A6-90B5-AAD80D996EEF}" sibTransId="{8AC9B9D2-DF15-4CBB-9DB9-83E408C61826}"/>
    <dgm:cxn modelId="{9DC4D9DE-E4D5-41F9-BE0D-436F3B8081E6}" type="presOf" srcId="{B591CF20-E38B-470F-ADB9-0E408539A816}" destId="{72F092A1-3B55-4AF9-BB8D-2692568648C3}" srcOrd="0" destOrd="0" presId="urn:microsoft.com/office/officeart/2005/8/layout/hList1"/>
    <dgm:cxn modelId="{D94306E8-F073-4174-8622-4AFE36423D97}" type="presOf" srcId="{45665F0C-EAF5-45B7-A68A-7B0907A7A880}" destId="{AE9246A3-3980-441E-8C93-893085D8CE26}" srcOrd="0" destOrd="2" presId="urn:microsoft.com/office/officeart/2005/8/layout/hList1"/>
    <dgm:cxn modelId="{0F0E2AF2-736F-4889-A368-366565A9465D}" type="presOf" srcId="{89163186-37C1-4843-B458-2A19FB9611F7}" destId="{AE9246A3-3980-441E-8C93-893085D8CE26}" srcOrd="0" destOrd="7" presId="urn:microsoft.com/office/officeart/2005/8/layout/hList1"/>
    <dgm:cxn modelId="{9BAE90C9-4755-4951-8333-E57977CCB9A6}" type="presParOf" srcId="{72F092A1-3B55-4AF9-BB8D-2692568648C3}" destId="{07C34D83-3094-4FD8-AF53-7B4F0466A48D}" srcOrd="0" destOrd="0" presId="urn:microsoft.com/office/officeart/2005/8/layout/hList1"/>
    <dgm:cxn modelId="{1D0A0445-3789-47A4-9041-61850394D549}" type="presParOf" srcId="{07C34D83-3094-4FD8-AF53-7B4F0466A48D}" destId="{60D9E2F1-B549-4EF6-9A39-54153CB848BF}" srcOrd="0" destOrd="0" presId="urn:microsoft.com/office/officeart/2005/8/layout/hList1"/>
    <dgm:cxn modelId="{20C15D1F-99BE-4A50-B549-282067652CB3}" type="presParOf" srcId="{07C34D83-3094-4FD8-AF53-7B4F0466A48D}" destId="{AE9246A3-3980-441E-8C93-893085D8CE26}" srcOrd="1" destOrd="0" presId="urn:microsoft.com/office/officeart/2005/8/layout/hList1"/>
    <dgm:cxn modelId="{1E3EC2D9-FF6B-40D8-AEB6-11722D2A22A6}" type="presParOf" srcId="{72F092A1-3B55-4AF9-BB8D-2692568648C3}" destId="{A4E5F21F-8483-482A-B577-134ACFDB9B9E}" srcOrd="1" destOrd="0" presId="urn:microsoft.com/office/officeart/2005/8/layout/hList1"/>
    <dgm:cxn modelId="{238DD060-F5D0-4C7E-942E-6806726E9CE2}" type="presParOf" srcId="{72F092A1-3B55-4AF9-BB8D-2692568648C3}" destId="{7288A2BB-75A7-4488-8F75-4BC6D89E9768}" srcOrd="2" destOrd="0" presId="urn:microsoft.com/office/officeart/2005/8/layout/hList1"/>
    <dgm:cxn modelId="{FC1284C6-0CF1-43AC-BFE6-984C1978BD7C}" type="presParOf" srcId="{7288A2BB-75A7-4488-8F75-4BC6D89E9768}" destId="{5AAEAC57-C5CF-4BF7-B78E-013E1F7A0946}" srcOrd="0" destOrd="0" presId="urn:microsoft.com/office/officeart/2005/8/layout/hList1"/>
    <dgm:cxn modelId="{58548CBC-8838-47B9-82FC-259242D12A4A}" type="presParOf" srcId="{7288A2BB-75A7-4488-8F75-4BC6D89E9768}" destId="{DD58FCCA-5A53-48EF-830C-01A1BC2DEC5F}" srcOrd="1" destOrd="0" presId="urn:microsoft.com/office/officeart/2005/8/layout/hList1"/>
    <dgm:cxn modelId="{9AEF40A5-5090-4C1D-9D89-736CC8D7BCF6}" type="presParOf" srcId="{72F092A1-3B55-4AF9-BB8D-2692568648C3}" destId="{18DB903B-07DD-486D-A4B9-BC4325B28247}" srcOrd="3" destOrd="0" presId="urn:microsoft.com/office/officeart/2005/8/layout/hList1"/>
    <dgm:cxn modelId="{1804578A-C382-44F0-BB05-88C0B5DBB87B}" type="presParOf" srcId="{72F092A1-3B55-4AF9-BB8D-2692568648C3}" destId="{3E978AA7-ADC8-41B0-8320-DE84F788EBE3}" srcOrd="4" destOrd="0" presId="urn:microsoft.com/office/officeart/2005/8/layout/hList1"/>
    <dgm:cxn modelId="{1D71DBD6-3F4C-48EE-BE50-4A0267448349}" type="presParOf" srcId="{3E978AA7-ADC8-41B0-8320-DE84F788EBE3}" destId="{2D001E74-0AE6-4A24-B178-617FDC7EFAEB}" srcOrd="0" destOrd="0" presId="urn:microsoft.com/office/officeart/2005/8/layout/hList1"/>
    <dgm:cxn modelId="{4D9F151F-5372-4AD1-BE3B-FED95413F8AD}" type="presParOf" srcId="{3E978AA7-ADC8-41B0-8320-DE84F788EBE3}" destId="{C7F39890-5C8D-48FD-9A3D-71E6A4C3F357}" srcOrd="1" destOrd="0" presId="urn:microsoft.com/office/officeart/2005/8/layout/hList1"/>
    <dgm:cxn modelId="{0D242EA3-2BB8-4177-865F-908D9655E6BB}" type="presParOf" srcId="{72F092A1-3B55-4AF9-BB8D-2692568648C3}" destId="{5F376750-33CC-45A6-93BB-8929160531C0}" srcOrd="5" destOrd="0" presId="urn:microsoft.com/office/officeart/2005/8/layout/hList1"/>
    <dgm:cxn modelId="{6FF7D304-C155-4EF9-AA91-70321F3F61E8}" type="presParOf" srcId="{72F092A1-3B55-4AF9-BB8D-2692568648C3}" destId="{E6C8BDA2-4ADF-4F7E-A8ED-69DD98127150}" srcOrd="6" destOrd="0" presId="urn:microsoft.com/office/officeart/2005/8/layout/hList1"/>
    <dgm:cxn modelId="{B4976196-DF51-46BF-B687-AD375B21432C}" type="presParOf" srcId="{E6C8BDA2-4ADF-4F7E-A8ED-69DD98127150}" destId="{ED723AC5-A2E2-4B16-BEA7-A94A2BECAD1C}" srcOrd="0" destOrd="0" presId="urn:microsoft.com/office/officeart/2005/8/layout/hList1"/>
    <dgm:cxn modelId="{4AFF7409-DC74-4567-9D49-65C815B1B5D1}" type="presParOf" srcId="{E6C8BDA2-4ADF-4F7E-A8ED-69DD98127150}" destId="{C961A285-B32F-4EA0-A7A2-A0725D9D4CB3}"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591CF20-E38B-470F-ADB9-0E408539A816}" type="doc">
      <dgm:prSet loTypeId="urn:microsoft.com/office/officeart/2005/8/layout/hList1" loCatId="list" qsTypeId="urn:microsoft.com/office/officeart/2005/8/quickstyle/simple1#2" qsCatId="simple" csTypeId="urn:microsoft.com/office/officeart/2005/8/colors/accent1_2#2" csCatId="accent1" phldr="1"/>
      <dgm:spPr/>
      <dgm:t>
        <a:bodyPr/>
        <a:lstStyle/>
        <a:p>
          <a:endParaRPr lang="en-US"/>
        </a:p>
      </dgm:t>
    </dgm:pt>
    <dgm:pt modelId="{68943606-CA28-4782-8232-95AB8616BAD2}">
      <dgm:prSet/>
      <dgm:spPr/>
      <dgm:t>
        <a:bodyPr/>
        <a:lstStyle/>
        <a:p>
          <a:r>
            <a:rPr lang="en-US" b="1"/>
            <a:t>Performance measure</a:t>
          </a:r>
          <a:endParaRPr lang="en-US"/>
        </a:p>
      </dgm:t>
    </dgm:pt>
    <dgm:pt modelId="{676B489B-9AA3-44DD-9BE5-9D47C15ACFCD}" type="parTrans" cxnId="{8BCE5B36-B777-474D-890D-FE339B0902D4}">
      <dgm:prSet/>
      <dgm:spPr/>
      <dgm:t>
        <a:bodyPr/>
        <a:lstStyle/>
        <a:p>
          <a:endParaRPr lang="en-US"/>
        </a:p>
      </dgm:t>
    </dgm:pt>
    <dgm:pt modelId="{F32ADC98-C909-41E5-91A2-1952AAB3B088}" type="sibTrans" cxnId="{8BCE5B36-B777-474D-890D-FE339B0902D4}">
      <dgm:prSet/>
      <dgm:spPr/>
      <dgm:t>
        <a:bodyPr/>
        <a:lstStyle/>
        <a:p>
          <a:endParaRPr lang="en-US"/>
        </a:p>
      </dgm:t>
    </dgm:pt>
    <dgm:pt modelId="{B8F46C62-824E-4968-9874-EAE0BD4DEC06}">
      <dgm:prSet/>
      <dgm:spPr/>
      <dgm:t>
        <a:bodyPr/>
        <a:lstStyle/>
        <a:p>
          <a:r>
            <a:rPr lang="en-US" dirty="0"/>
            <a:t>Safe</a:t>
          </a:r>
        </a:p>
      </dgm:t>
    </dgm:pt>
    <dgm:pt modelId="{2CB3CFE6-48C9-4764-BE98-1DFCB01931D2}" type="parTrans" cxnId="{C49E96B9-6082-4869-BC9C-F094F52923B2}">
      <dgm:prSet/>
      <dgm:spPr/>
      <dgm:t>
        <a:bodyPr/>
        <a:lstStyle/>
        <a:p>
          <a:endParaRPr lang="en-US"/>
        </a:p>
      </dgm:t>
    </dgm:pt>
    <dgm:pt modelId="{CC392892-33EB-4DAB-95D8-04EC6A85112E}" type="sibTrans" cxnId="{C49E96B9-6082-4869-BC9C-F094F52923B2}">
      <dgm:prSet/>
      <dgm:spPr/>
      <dgm:t>
        <a:bodyPr/>
        <a:lstStyle/>
        <a:p>
          <a:endParaRPr lang="en-US"/>
        </a:p>
      </dgm:t>
    </dgm:pt>
    <dgm:pt modelId="{58A56870-94C5-474F-A11F-B059F85D051B}">
      <dgm:prSet/>
      <dgm:spPr/>
      <dgm:t>
        <a:bodyPr/>
        <a:lstStyle/>
        <a:p>
          <a:r>
            <a:rPr lang="en-US" b="1"/>
            <a:t>Environment</a:t>
          </a:r>
          <a:endParaRPr lang="en-US"/>
        </a:p>
      </dgm:t>
    </dgm:pt>
    <dgm:pt modelId="{C14F31F7-7F6D-4E53-9E55-3AF1CB4916C0}" type="parTrans" cxnId="{6593B099-4683-4CE5-BBC3-FA3EEE9DBA90}">
      <dgm:prSet/>
      <dgm:spPr/>
      <dgm:t>
        <a:bodyPr/>
        <a:lstStyle/>
        <a:p>
          <a:endParaRPr lang="en-US"/>
        </a:p>
      </dgm:t>
    </dgm:pt>
    <dgm:pt modelId="{FD0CD066-B96F-4B22-9616-AEFC906D0365}" type="sibTrans" cxnId="{6593B099-4683-4CE5-BBC3-FA3EEE9DBA90}">
      <dgm:prSet/>
      <dgm:spPr/>
      <dgm:t>
        <a:bodyPr/>
        <a:lstStyle/>
        <a:p>
          <a:endParaRPr lang="en-US"/>
        </a:p>
      </dgm:t>
    </dgm:pt>
    <dgm:pt modelId="{99690A0C-B363-44CA-B8D2-E1E8D3F4850C}">
      <dgm:prSet/>
      <dgm:spPr/>
      <dgm:t>
        <a:bodyPr/>
        <a:lstStyle/>
        <a:p>
          <a:r>
            <a:rPr lang="en-US" dirty="0"/>
            <a:t>Roads</a:t>
          </a:r>
        </a:p>
      </dgm:t>
    </dgm:pt>
    <dgm:pt modelId="{4129AA71-9DFC-4B1A-9E74-FAE90BAD1635}" type="parTrans" cxnId="{CEF9423A-8323-4FA6-9433-09CDA70E8829}">
      <dgm:prSet/>
      <dgm:spPr/>
      <dgm:t>
        <a:bodyPr/>
        <a:lstStyle/>
        <a:p>
          <a:endParaRPr lang="en-US"/>
        </a:p>
      </dgm:t>
    </dgm:pt>
    <dgm:pt modelId="{22B365A6-AF06-4542-A330-D109C89F66BB}" type="sibTrans" cxnId="{CEF9423A-8323-4FA6-9433-09CDA70E8829}">
      <dgm:prSet/>
      <dgm:spPr/>
      <dgm:t>
        <a:bodyPr/>
        <a:lstStyle/>
        <a:p>
          <a:endParaRPr lang="en-US"/>
        </a:p>
      </dgm:t>
    </dgm:pt>
    <dgm:pt modelId="{7D8F34D2-ACF5-4A51-B24D-609C41730628}">
      <dgm:prSet/>
      <dgm:spPr/>
      <dgm:t>
        <a:bodyPr/>
        <a:lstStyle/>
        <a:p>
          <a:r>
            <a:rPr lang="en-US" b="1"/>
            <a:t>Actuators</a:t>
          </a:r>
          <a:endParaRPr lang="en-US"/>
        </a:p>
      </dgm:t>
    </dgm:pt>
    <dgm:pt modelId="{538793FA-12F5-487C-A939-B1DC05160418}" type="parTrans" cxnId="{8EDF021A-0EDD-4FB5-9107-0D2E7B05FC2D}">
      <dgm:prSet/>
      <dgm:spPr/>
      <dgm:t>
        <a:bodyPr/>
        <a:lstStyle/>
        <a:p>
          <a:endParaRPr lang="en-US"/>
        </a:p>
      </dgm:t>
    </dgm:pt>
    <dgm:pt modelId="{73ABE292-2B32-41AF-ADF7-3E2FAF127215}" type="sibTrans" cxnId="{8EDF021A-0EDD-4FB5-9107-0D2E7B05FC2D}">
      <dgm:prSet/>
      <dgm:spPr/>
      <dgm:t>
        <a:bodyPr/>
        <a:lstStyle/>
        <a:p>
          <a:endParaRPr lang="en-US"/>
        </a:p>
      </dgm:t>
    </dgm:pt>
    <dgm:pt modelId="{E64BC63D-3F14-4150-9DA0-E7EC0FD6EA76}">
      <dgm:prSet/>
      <dgm:spPr/>
      <dgm:t>
        <a:bodyPr/>
        <a:lstStyle/>
        <a:p>
          <a:r>
            <a:rPr lang="en-US" dirty="0"/>
            <a:t>Steering wheel</a:t>
          </a:r>
        </a:p>
      </dgm:t>
    </dgm:pt>
    <dgm:pt modelId="{D507EDFD-DDCC-4F7A-8C9A-BB646694064C}" type="parTrans" cxnId="{35A2ED99-0F87-403A-BB22-400B56925B24}">
      <dgm:prSet/>
      <dgm:spPr/>
      <dgm:t>
        <a:bodyPr/>
        <a:lstStyle/>
        <a:p>
          <a:endParaRPr lang="en-US"/>
        </a:p>
      </dgm:t>
    </dgm:pt>
    <dgm:pt modelId="{1E441C76-492B-41CE-8558-DC1206CC67E0}" type="sibTrans" cxnId="{35A2ED99-0F87-403A-BB22-400B56925B24}">
      <dgm:prSet/>
      <dgm:spPr/>
      <dgm:t>
        <a:bodyPr/>
        <a:lstStyle/>
        <a:p>
          <a:endParaRPr lang="en-US"/>
        </a:p>
      </dgm:t>
    </dgm:pt>
    <dgm:pt modelId="{F0F72F2C-A2DF-4546-B5A6-BD3771EF4984}">
      <dgm:prSet/>
      <dgm:spPr/>
      <dgm:t>
        <a:bodyPr/>
        <a:lstStyle/>
        <a:p>
          <a:r>
            <a:rPr lang="en-US" b="1"/>
            <a:t>Sensors</a:t>
          </a:r>
          <a:endParaRPr lang="en-US"/>
        </a:p>
      </dgm:t>
    </dgm:pt>
    <dgm:pt modelId="{A2250B20-5406-4F3F-A64D-6152F8E74E44}" type="parTrans" cxnId="{ECAC54A8-C412-40AA-800C-9D5DFD92070E}">
      <dgm:prSet/>
      <dgm:spPr/>
      <dgm:t>
        <a:bodyPr/>
        <a:lstStyle/>
        <a:p>
          <a:endParaRPr lang="en-US"/>
        </a:p>
      </dgm:t>
    </dgm:pt>
    <dgm:pt modelId="{F55E5FBB-56F5-4E60-80C1-C4231D568744}" type="sibTrans" cxnId="{ECAC54A8-C412-40AA-800C-9D5DFD92070E}">
      <dgm:prSet/>
      <dgm:spPr/>
      <dgm:t>
        <a:bodyPr/>
        <a:lstStyle/>
        <a:p>
          <a:endParaRPr lang="en-US"/>
        </a:p>
      </dgm:t>
    </dgm:pt>
    <dgm:pt modelId="{DD1E0D02-53B6-4AD7-9E54-A7D0795D9AC8}">
      <dgm:prSet/>
      <dgm:spPr/>
      <dgm:t>
        <a:bodyPr/>
        <a:lstStyle/>
        <a:p>
          <a:r>
            <a:rPr lang="en-US" dirty="0"/>
            <a:t>Cameras</a:t>
          </a:r>
        </a:p>
      </dgm:t>
    </dgm:pt>
    <dgm:pt modelId="{8AB55934-9679-48B3-8F3D-EF7ADD4036C3}" type="parTrans" cxnId="{FC336D05-F568-4DE0-B477-723ADFAAF844}">
      <dgm:prSet/>
      <dgm:spPr/>
      <dgm:t>
        <a:bodyPr/>
        <a:lstStyle/>
        <a:p>
          <a:endParaRPr lang="en-US"/>
        </a:p>
      </dgm:t>
    </dgm:pt>
    <dgm:pt modelId="{C916A12B-4192-4C19-B375-74438A211E52}" type="sibTrans" cxnId="{FC336D05-F568-4DE0-B477-723ADFAAF844}">
      <dgm:prSet/>
      <dgm:spPr/>
      <dgm:t>
        <a:bodyPr/>
        <a:lstStyle/>
        <a:p>
          <a:endParaRPr lang="en-US"/>
        </a:p>
      </dgm:t>
    </dgm:pt>
    <dgm:pt modelId="{DF6124A1-3345-4DD8-BC99-57CC98D42921}">
      <dgm:prSet/>
      <dgm:spPr/>
      <dgm:t>
        <a:bodyPr/>
        <a:lstStyle/>
        <a:p>
          <a:r>
            <a:rPr lang="en-US" dirty="0"/>
            <a:t>other traffic </a:t>
          </a:r>
        </a:p>
      </dgm:t>
    </dgm:pt>
    <dgm:pt modelId="{B2CF88B5-7EDE-493B-BD6B-5AEDE5AD63C3}" type="parTrans" cxnId="{FD61894F-8043-4A82-ACC3-2DFBCBC2A0D4}">
      <dgm:prSet/>
      <dgm:spPr/>
      <dgm:t>
        <a:bodyPr/>
        <a:lstStyle/>
        <a:p>
          <a:endParaRPr lang="en-US"/>
        </a:p>
      </dgm:t>
    </dgm:pt>
    <dgm:pt modelId="{DD8425FA-9779-48FA-B6DE-876CC72153C2}" type="sibTrans" cxnId="{FD61894F-8043-4A82-ACC3-2DFBCBC2A0D4}">
      <dgm:prSet/>
      <dgm:spPr/>
      <dgm:t>
        <a:bodyPr/>
        <a:lstStyle/>
        <a:p>
          <a:endParaRPr lang="en-US"/>
        </a:p>
      </dgm:t>
    </dgm:pt>
    <dgm:pt modelId="{9C367CD2-D072-49AB-867B-391044203855}">
      <dgm:prSet/>
      <dgm:spPr/>
      <dgm:t>
        <a:bodyPr/>
        <a:lstStyle/>
        <a:p>
          <a:r>
            <a:rPr lang="en-US" dirty="0"/>
            <a:t>pedestrians </a:t>
          </a:r>
        </a:p>
      </dgm:t>
    </dgm:pt>
    <dgm:pt modelId="{6C95B9D7-E884-46BD-8470-A1194B51F200}" type="parTrans" cxnId="{C447BAC2-4786-419F-B53F-EFF1E6ADE9AE}">
      <dgm:prSet/>
      <dgm:spPr/>
      <dgm:t>
        <a:bodyPr/>
        <a:lstStyle/>
        <a:p>
          <a:endParaRPr lang="en-US"/>
        </a:p>
      </dgm:t>
    </dgm:pt>
    <dgm:pt modelId="{A08C7584-BAB8-4646-8AFE-FAB8A7E8F7C9}" type="sibTrans" cxnId="{C447BAC2-4786-419F-B53F-EFF1E6ADE9AE}">
      <dgm:prSet/>
      <dgm:spPr/>
      <dgm:t>
        <a:bodyPr/>
        <a:lstStyle/>
        <a:p>
          <a:endParaRPr lang="en-US"/>
        </a:p>
      </dgm:t>
    </dgm:pt>
    <dgm:pt modelId="{DD1BEDFC-A663-4738-AD6F-17B6C957FB47}">
      <dgm:prSet/>
      <dgm:spPr/>
      <dgm:t>
        <a:bodyPr/>
        <a:lstStyle/>
        <a:p>
          <a:r>
            <a:rPr lang="en-US" dirty="0"/>
            <a:t>customers</a:t>
          </a:r>
        </a:p>
      </dgm:t>
    </dgm:pt>
    <dgm:pt modelId="{35D7AF1B-BEAD-46E0-B245-02424470071F}" type="parTrans" cxnId="{48689EAC-A261-40BA-A1A5-CB22F9FE8A8D}">
      <dgm:prSet/>
      <dgm:spPr/>
      <dgm:t>
        <a:bodyPr/>
        <a:lstStyle/>
        <a:p>
          <a:endParaRPr lang="en-US"/>
        </a:p>
      </dgm:t>
    </dgm:pt>
    <dgm:pt modelId="{2F4948BD-94FC-4845-BB51-D445A3BA9467}" type="sibTrans" cxnId="{48689EAC-A261-40BA-A1A5-CB22F9FE8A8D}">
      <dgm:prSet/>
      <dgm:spPr/>
      <dgm:t>
        <a:bodyPr/>
        <a:lstStyle/>
        <a:p>
          <a:endParaRPr lang="en-US"/>
        </a:p>
      </dgm:t>
    </dgm:pt>
    <dgm:pt modelId="{9A11CB0E-7A9F-418B-B52F-5FF51A0720B3}">
      <dgm:prSet/>
      <dgm:spPr/>
      <dgm:t>
        <a:bodyPr/>
        <a:lstStyle/>
        <a:p>
          <a:r>
            <a:rPr lang="en-US" dirty="0"/>
            <a:t> accelerator</a:t>
          </a:r>
        </a:p>
      </dgm:t>
    </dgm:pt>
    <dgm:pt modelId="{D82F122F-2114-4A78-B503-1BCAE13F0CFE}" type="parTrans" cxnId="{54A43A4A-E4A0-41A0-BB5B-DADB5F86B1ED}">
      <dgm:prSet/>
      <dgm:spPr/>
      <dgm:t>
        <a:bodyPr/>
        <a:lstStyle/>
        <a:p>
          <a:endParaRPr lang="en-US"/>
        </a:p>
      </dgm:t>
    </dgm:pt>
    <dgm:pt modelId="{6363FDCA-AD41-4E6F-B7CD-3B5CA6CE6F9E}" type="sibTrans" cxnId="{54A43A4A-E4A0-41A0-BB5B-DADB5F86B1ED}">
      <dgm:prSet/>
      <dgm:spPr/>
      <dgm:t>
        <a:bodyPr/>
        <a:lstStyle/>
        <a:p>
          <a:endParaRPr lang="en-US"/>
        </a:p>
      </dgm:t>
    </dgm:pt>
    <dgm:pt modelId="{5C75ABEB-F4BA-400B-B9F2-F23F97463A7D}">
      <dgm:prSet/>
      <dgm:spPr/>
      <dgm:t>
        <a:bodyPr/>
        <a:lstStyle/>
        <a:p>
          <a:r>
            <a:rPr lang="en-US" dirty="0"/>
            <a:t>brake</a:t>
          </a:r>
        </a:p>
      </dgm:t>
    </dgm:pt>
    <dgm:pt modelId="{1368C5A2-5807-4015-8DBD-5E11DE44C67B}" type="parTrans" cxnId="{BF05AB9A-7570-4D63-ABEA-4404AAD630F8}">
      <dgm:prSet/>
      <dgm:spPr/>
      <dgm:t>
        <a:bodyPr/>
        <a:lstStyle/>
        <a:p>
          <a:endParaRPr lang="en-US"/>
        </a:p>
      </dgm:t>
    </dgm:pt>
    <dgm:pt modelId="{F1B09895-4F3F-4648-8678-0901A19C201C}" type="sibTrans" cxnId="{BF05AB9A-7570-4D63-ABEA-4404AAD630F8}">
      <dgm:prSet/>
      <dgm:spPr/>
      <dgm:t>
        <a:bodyPr/>
        <a:lstStyle/>
        <a:p>
          <a:endParaRPr lang="en-US"/>
        </a:p>
      </dgm:t>
    </dgm:pt>
    <dgm:pt modelId="{6D83297A-5466-4684-943E-3E98C96EF1EE}">
      <dgm:prSet/>
      <dgm:spPr/>
      <dgm:t>
        <a:bodyPr/>
        <a:lstStyle/>
        <a:p>
          <a:r>
            <a:rPr lang="en-US" dirty="0"/>
            <a:t>signal</a:t>
          </a:r>
        </a:p>
      </dgm:t>
    </dgm:pt>
    <dgm:pt modelId="{BC1E25D6-BD75-417A-B2A6-8F1FA60783C2}" type="parTrans" cxnId="{D440DBE2-A604-4C8D-A12C-4A65FE82D34C}">
      <dgm:prSet/>
      <dgm:spPr/>
      <dgm:t>
        <a:bodyPr/>
        <a:lstStyle/>
        <a:p>
          <a:endParaRPr lang="en-US"/>
        </a:p>
      </dgm:t>
    </dgm:pt>
    <dgm:pt modelId="{EBBEC456-5F41-4249-BE51-C1D1B5004384}" type="sibTrans" cxnId="{D440DBE2-A604-4C8D-A12C-4A65FE82D34C}">
      <dgm:prSet/>
      <dgm:spPr/>
      <dgm:t>
        <a:bodyPr/>
        <a:lstStyle/>
        <a:p>
          <a:endParaRPr lang="en-US"/>
        </a:p>
      </dgm:t>
    </dgm:pt>
    <dgm:pt modelId="{7DC30BB8-E413-4267-9B01-D0C398158CB3}">
      <dgm:prSet/>
      <dgm:spPr/>
      <dgm:t>
        <a:bodyPr/>
        <a:lstStyle/>
        <a:p>
          <a:r>
            <a:rPr lang="en-US" dirty="0"/>
            <a:t>horn</a:t>
          </a:r>
        </a:p>
      </dgm:t>
    </dgm:pt>
    <dgm:pt modelId="{D559063E-990A-4AEA-A4CF-1715F0D301DE}" type="parTrans" cxnId="{A2258A4A-D5EA-4DF1-9992-4421E3494DBB}">
      <dgm:prSet/>
      <dgm:spPr/>
      <dgm:t>
        <a:bodyPr/>
        <a:lstStyle/>
        <a:p>
          <a:endParaRPr lang="en-US"/>
        </a:p>
      </dgm:t>
    </dgm:pt>
    <dgm:pt modelId="{C50021D0-A180-4E4B-80B2-135BF7DCB95E}" type="sibTrans" cxnId="{A2258A4A-D5EA-4DF1-9992-4421E3494DBB}">
      <dgm:prSet/>
      <dgm:spPr/>
      <dgm:t>
        <a:bodyPr/>
        <a:lstStyle/>
        <a:p>
          <a:endParaRPr lang="en-US"/>
        </a:p>
      </dgm:t>
    </dgm:pt>
    <dgm:pt modelId="{D864C7AA-F3B5-4FB5-8B92-D746FB5CC396}">
      <dgm:prSet/>
      <dgm:spPr/>
      <dgm:t>
        <a:bodyPr/>
        <a:lstStyle/>
        <a:p>
          <a:r>
            <a:rPr lang="en-US" dirty="0"/>
            <a:t>sonar</a:t>
          </a:r>
        </a:p>
      </dgm:t>
    </dgm:pt>
    <dgm:pt modelId="{09BBFD11-618B-4F3B-99DE-CD19ED65A989}" type="parTrans" cxnId="{75512185-0EA6-4209-A574-E797EFCD5CD1}">
      <dgm:prSet/>
      <dgm:spPr/>
      <dgm:t>
        <a:bodyPr/>
        <a:lstStyle/>
        <a:p>
          <a:endParaRPr lang="en-US"/>
        </a:p>
      </dgm:t>
    </dgm:pt>
    <dgm:pt modelId="{DA9592DB-3C12-4258-86C8-FA80B554B696}" type="sibTrans" cxnId="{75512185-0EA6-4209-A574-E797EFCD5CD1}">
      <dgm:prSet/>
      <dgm:spPr/>
      <dgm:t>
        <a:bodyPr/>
        <a:lstStyle/>
        <a:p>
          <a:endParaRPr lang="en-US"/>
        </a:p>
      </dgm:t>
    </dgm:pt>
    <dgm:pt modelId="{3C0CB938-E1F9-4A85-988C-3B8227DC8B4B}">
      <dgm:prSet/>
      <dgm:spPr/>
      <dgm:t>
        <a:bodyPr/>
        <a:lstStyle/>
        <a:p>
          <a:r>
            <a:rPr lang="en-US" dirty="0"/>
            <a:t>speedometer</a:t>
          </a:r>
        </a:p>
      </dgm:t>
    </dgm:pt>
    <dgm:pt modelId="{A5B266FE-63B3-4277-B6BB-068B18E40705}" type="parTrans" cxnId="{38E5410E-DF0D-42F8-B3CC-C07FC3B042E8}">
      <dgm:prSet/>
      <dgm:spPr/>
      <dgm:t>
        <a:bodyPr/>
        <a:lstStyle/>
        <a:p>
          <a:endParaRPr lang="en-US"/>
        </a:p>
      </dgm:t>
    </dgm:pt>
    <dgm:pt modelId="{E3633988-5154-4E7D-A927-75167A27E844}" type="sibTrans" cxnId="{38E5410E-DF0D-42F8-B3CC-C07FC3B042E8}">
      <dgm:prSet/>
      <dgm:spPr/>
      <dgm:t>
        <a:bodyPr/>
        <a:lstStyle/>
        <a:p>
          <a:endParaRPr lang="en-US"/>
        </a:p>
      </dgm:t>
    </dgm:pt>
    <dgm:pt modelId="{F6530794-3DBF-46C1-88C9-5A35FFF151CC}">
      <dgm:prSet/>
      <dgm:spPr/>
      <dgm:t>
        <a:bodyPr/>
        <a:lstStyle/>
        <a:p>
          <a:r>
            <a:rPr lang="en-US" dirty="0"/>
            <a:t>GPS</a:t>
          </a:r>
        </a:p>
      </dgm:t>
    </dgm:pt>
    <dgm:pt modelId="{11C96B7B-1D95-4292-A36F-3D42FCE18E74}" type="parTrans" cxnId="{E3722183-5FAF-40CE-B1E2-A53CE3A059AD}">
      <dgm:prSet/>
      <dgm:spPr/>
      <dgm:t>
        <a:bodyPr/>
        <a:lstStyle/>
        <a:p>
          <a:endParaRPr lang="en-US"/>
        </a:p>
      </dgm:t>
    </dgm:pt>
    <dgm:pt modelId="{346DD7CA-A3A0-476B-AAE6-A24F60B9D00E}" type="sibTrans" cxnId="{E3722183-5FAF-40CE-B1E2-A53CE3A059AD}">
      <dgm:prSet/>
      <dgm:spPr/>
      <dgm:t>
        <a:bodyPr/>
        <a:lstStyle/>
        <a:p>
          <a:endParaRPr lang="en-US"/>
        </a:p>
      </dgm:t>
    </dgm:pt>
    <dgm:pt modelId="{21162962-6786-44EB-A9D2-2F7790A21F41}">
      <dgm:prSet/>
      <dgm:spPr/>
      <dgm:t>
        <a:bodyPr/>
        <a:lstStyle/>
        <a:p>
          <a:r>
            <a:rPr lang="en-US" dirty="0"/>
            <a:t>Odometer</a:t>
          </a:r>
        </a:p>
      </dgm:t>
    </dgm:pt>
    <dgm:pt modelId="{47233D5B-E9B2-4D60-B376-CF04884B51B9}" type="parTrans" cxnId="{40250FED-1A2F-4AA8-8F2A-0EF8818B3709}">
      <dgm:prSet/>
      <dgm:spPr/>
      <dgm:t>
        <a:bodyPr/>
        <a:lstStyle/>
        <a:p>
          <a:endParaRPr lang="en-US"/>
        </a:p>
      </dgm:t>
    </dgm:pt>
    <dgm:pt modelId="{50D4FACE-998D-4AFD-89CD-B45654BFC73E}" type="sibTrans" cxnId="{40250FED-1A2F-4AA8-8F2A-0EF8818B3709}">
      <dgm:prSet/>
      <dgm:spPr/>
      <dgm:t>
        <a:bodyPr/>
        <a:lstStyle/>
        <a:p>
          <a:endParaRPr lang="en-US"/>
        </a:p>
      </dgm:t>
    </dgm:pt>
    <dgm:pt modelId="{189A2302-4677-49D0-AE47-D22C388BCC37}">
      <dgm:prSet/>
      <dgm:spPr/>
      <dgm:t>
        <a:bodyPr/>
        <a:lstStyle/>
        <a:p>
          <a:r>
            <a:rPr lang="en-US" dirty="0"/>
            <a:t>engine sensors</a:t>
          </a:r>
        </a:p>
      </dgm:t>
    </dgm:pt>
    <dgm:pt modelId="{428254E7-4FD6-4AE4-8293-4E3606176277}" type="parTrans" cxnId="{97729DF5-01F4-465F-8C51-9A008C0EA5E3}">
      <dgm:prSet/>
      <dgm:spPr/>
      <dgm:t>
        <a:bodyPr/>
        <a:lstStyle/>
        <a:p>
          <a:endParaRPr lang="en-US"/>
        </a:p>
      </dgm:t>
    </dgm:pt>
    <dgm:pt modelId="{56608371-3ECA-4DB0-A88B-1A4EAF471740}" type="sibTrans" cxnId="{97729DF5-01F4-465F-8C51-9A008C0EA5E3}">
      <dgm:prSet/>
      <dgm:spPr/>
      <dgm:t>
        <a:bodyPr/>
        <a:lstStyle/>
        <a:p>
          <a:endParaRPr lang="en-US"/>
        </a:p>
      </dgm:t>
    </dgm:pt>
    <dgm:pt modelId="{8F516D2D-FEA4-4674-AF1A-D637805EDA26}">
      <dgm:prSet/>
      <dgm:spPr/>
      <dgm:t>
        <a:bodyPr/>
        <a:lstStyle/>
        <a:p>
          <a:r>
            <a:rPr lang="en-US" dirty="0"/>
            <a:t>keyboard</a:t>
          </a:r>
        </a:p>
      </dgm:t>
    </dgm:pt>
    <dgm:pt modelId="{068BBA74-775E-4CF5-B332-08FFEEEF0A62}" type="parTrans" cxnId="{3E6A58AF-E0EF-493A-8F94-A6D38021D78D}">
      <dgm:prSet/>
      <dgm:spPr/>
      <dgm:t>
        <a:bodyPr/>
        <a:lstStyle/>
        <a:p>
          <a:endParaRPr lang="en-US"/>
        </a:p>
      </dgm:t>
    </dgm:pt>
    <dgm:pt modelId="{2EBF07E9-56E4-4763-8933-E168742C6A90}" type="sibTrans" cxnId="{3E6A58AF-E0EF-493A-8F94-A6D38021D78D}">
      <dgm:prSet/>
      <dgm:spPr/>
      <dgm:t>
        <a:bodyPr/>
        <a:lstStyle/>
        <a:p>
          <a:endParaRPr lang="en-US"/>
        </a:p>
      </dgm:t>
    </dgm:pt>
    <dgm:pt modelId="{45414D11-1BF0-4CF1-8CE9-FBBD0212AC0C}">
      <dgm:prSet/>
      <dgm:spPr/>
      <dgm:t>
        <a:bodyPr/>
        <a:lstStyle/>
        <a:p>
          <a:r>
            <a:rPr lang="en-US" dirty="0"/>
            <a:t>fast</a:t>
          </a:r>
        </a:p>
      </dgm:t>
    </dgm:pt>
    <dgm:pt modelId="{D8C0E80B-773A-420B-A445-F39D40B352B0}" type="parTrans" cxnId="{6B65B0B0-652A-4897-A84A-EAD2A87184B3}">
      <dgm:prSet/>
      <dgm:spPr/>
      <dgm:t>
        <a:bodyPr/>
        <a:lstStyle/>
        <a:p>
          <a:endParaRPr lang="en-US"/>
        </a:p>
      </dgm:t>
    </dgm:pt>
    <dgm:pt modelId="{12CDF185-6A7B-4B6E-8F91-40D1B1E50119}" type="sibTrans" cxnId="{6B65B0B0-652A-4897-A84A-EAD2A87184B3}">
      <dgm:prSet/>
      <dgm:spPr/>
      <dgm:t>
        <a:bodyPr/>
        <a:lstStyle/>
        <a:p>
          <a:endParaRPr lang="en-US"/>
        </a:p>
      </dgm:t>
    </dgm:pt>
    <dgm:pt modelId="{AD432868-1EAB-4C98-962D-445EBBB17DAB}">
      <dgm:prSet/>
      <dgm:spPr/>
      <dgm:t>
        <a:bodyPr/>
        <a:lstStyle/>
        <a:p>
          <a:r>
            <a:rPr lang="en-US" dirty="0"/>
            <a:t>comfortable trip</a:t>
          </a:r>
        </a:p>
      </dgm:t>
    </dgm:pt>
    <dgm:pt modelId="{ED793CCE-CEDB-45C7-A6F9-E33D4573EEB3}" type="parTrans" cxnId="{250D8AAD-7D20-4CCE-987D-E6708FD478F6}">
      <dgm:prSet/>
      <dgm:spPr/>
      <dgm:t>
        <a:bodyPr/>
        <a:lstStyle/>
        <a:p>
          <a:endParaRPr lang="en-US"/>
        </a:p>
      </dgm:t>
    </dgm:pt>
    <dgm:pt modelId="{FEE79E8E-9317-4FE9-B85A-5B22B3F776E4}" type="sibTrans" cxnId="{250D8AAD-7D20-4CCE-987D-E6708FD478F6}">
      <dgm:prSet/>
      <dgm:spPr/>
      <dgm:t>
        <a:bodyPr/>
        <a:lstStyle/>
        <a:p>
          <a:endParaRPr lang="en-US"/>
        </a:p>
      </dgm:t>
    </dgm:pt>
    <dgm:pt modelId="{5DDA9325-C541-4D95-81B3-DD33236F8A32}">
      <dgm:prSet/>
      <dgm:spPr/>
      <dgm:t>
        <a:bodyPr/>
        <a:lstStyle/>
        <a:p>
          <a:r>
            <a:rPr lang="en-US" dirty="0"/>
            <a:t>legal</a:t>
          </a:r>
        </a:p>
      </dgm:t>
    </dgm:pt>
    <dgm:pt modelId="{55E2083E-CFF0-48CE-B1ED-DC3642271197}" type="parTrans" cxnId="{9D6E2248-D5BA-4C1F-B11B-B5CF7585895A}">
      <dgm:prSet/>
      <dgm:spPr/>
      <dgm:t>
        <a:bodyPr/>
        <a:lstStyle/>
        <a:p>
          <a:endParaRPr lang="en-US"/>
        </a:p>
      </dgm:t>
    </dgm:pt>
    <dgm:pt modelId="{99FF603F-12C2-4C14-86AC-A5BC011E2CA2}" type="sibTrans" cxnId="{9D6E2248-D5BA-4C1F-B11B-B5CF7585895A}">
      <dgm:prSet/>
      <dgm:spPr/>
      <dgm:t>
        <a:bodyPr/>
        <a:lstStyle/>
        <a:p>
          <a:endParaRPr lang="en-US"/>
        </a:p>
      </dgm:t>
    </dgm:pt>
    <dgm:pt modelId="{94886888-C8A6-4C56-BBA6-E7CC0F8C0407}">
      <dgm:prSet/>
      <dgm:spPr/>
      <dgm:t>
        <a:bodyPr/>
        <a:lstStyle/>
        <a:p>
          <a:r>
            <a:rPr lang="en-US" dirty="0"/>
            <a:t>maximize profits</a:t>
          </a:r>
        </a:p>
      </dgm:t>
    </dgm:pt>
    <dgm:pt modelId="{9DB34B4A-8C65-437B-A054-138BEFBA812E}" type="parTrans" cxnId="{B14B02AA-CC3E-4859-827C-DDF6AFBE6B4F}">
      <dgm:prSet/>
      <dgm:spPr/>
      <dgm:t>
        <a:bodyPr/>
        <a:lstStyle/>
        <a:p>
          <a:endParaRPr lang="en-US"/>
        </a:p>
      </dgm:t>
    </dgm:pt>
    <dgm:pt modelId="{0FAA5CD6-D920-4EDA-9CA9-60DBB404EACC}" type="sibTrans" cxnId="{B14B02AA-CC3E-4859-827C-DDF6AFBE6B4F}">
      <dgm:prSet/>
      <dgm:spPr/>
      <dgm:t>
        <a:bodyPr/>
        <a:lstStyle/>
        <a:p>
          <a:endParaRPr lang="en-US"/>
        </a:p>
      </dgm:t>
    </dgm:pt>
    <dgm:pt modelId="{72F092A1-3B55-4AF9-BB8D-2692568648C3}" type="pres">
      <dgm:prSet presAssocID="{B591CF20-E38B-470F-ADB9-0E408539A816}" presName="Name0" presStyleCnt="0">
        <dgm:presLayoutVars>
          <dgm:dir/>
          <dgm:animLvl val="lvl"/>
          <dgm:resizeHandles val="exact"/>
        </dgm:presLayoutVars>
      </dgm:prSet>
      <dgm:spPr/>
    </dgm:pt>
    <dgm:pt modelId="{07C34D83-3094-4FD8-AF53-7B4F0466A48D}" type="pres">
      <dgm:prSet presAssocID="{68943606-CA28-4782-8232-95AB8616BAD2}" presName="composite" presStyleCnt="0"/>
      <dgm:spPr/>
    </dgm:pt>
    <dgm:pt modelId="{60D9E2F1-B549-4EF6-9A39-54153CB848BF}" type="pres">
      <dgm:prSet presAssocID="{68943606-CA28-4782-8232-95AB8616BAD2}" presName="parTx" presStyleLbl="alignNode1" presStyleIdx="0" presStyleCnt="4">
        <dgm:presLayoutVars>
          <dgm:chMax val="0"/>
          <dgm:chPref val="0"/>
          <dgm:bulletEnabled val="1"/>
        </dgm:presLayoutVars>
      </dgm:prSet>
      <dgm:spPr/>
    </dgm:pt>
    <dgm:pt modelId="{AE9246A3-3980-441E-8C93-893085D8CE26}" type="pres">
      <dgm:prSet presAssocID="{68943606-CA28-4782-8232-95AB8616BAD2}" presName="desTx" presStyleLbl="alignAccFollowNode1" presStyleIdx="0" presStyleCnt="4">
        <dgm:presLayoutVars>
          <dgm:bulletEnabled val="1"/>
        </dgm:presLayoutVars>
      </dgm:prSet>
      <dgm:spPr/>
    </dgm:pt>
    <dgm:pt modelId="{A4E5F21F-8483-482A-B577-134ACFDB9B9E}" type="pres">
      <dgm:prSet presAssocID="{F32ADC98-C909-41E5-91A2-1952AAB3B088}" presName="space" presStyleCnt="0"/>
      <dgm:spPr/>
    </dgm:pt>
    <dgm:pt modelId="{7288A2BB-75A7-4488-8F75-4BC6D89E9768}" type="pres">
      <dgm:prSet presAssocID="{58A56870-94C5-474F-A11F-B059F85D051B}" presName="composite" presStyleCnt="0"/>
      <dgm:spPr/>
    </dgm:pt>
    <dgm:pt modelId="{5AAEAC57-C5CF-4BF7-B78E-013E1F7A0946}" type="pres">
      <dgm:prSet presAssocID="{58A56870-94C5-474F-A11F-B059F85D051B}" presName="parTx" presStyleLbl="alignNode1" presStyleIdx="1" presStyleCnt="4">
        <dgm:presLayoutVars>
          <dgm:chMax val="0"/>
          <dgm:chPref val="0"/>
          <dgm:bulletEnabled val="1"/>
        </dgm:presLayoutVars>
      </dgm:prSet>
      <dgm:spPr/>
    </dgm:pt>
    <dgm:pt modelId="{DD58FCCA-5A53-48EF-830C-01A1BC2DEC5F}" type="pres">
      <dgm:prSet presAssocID="{58A56870-94C5-474F-A11F-B059F85D051B}" presName="desTx" presStyleLbl="alignAccFollowNode1" presStyleIdx="1" presStyleCnt="4">
        <dgm:presLayoutVars>
          <dgm:bulletEnabled val="1"/>
        </dgm:presLayoutVars>
      </dgm:prSet>
      <dgm:spPr/>
    </dgm:pt>
    <dgm:pt modelId="{18DB903B-07DD-486D-A4B9-BC4325B28247}" type="pres">
      <dgm:prSet presAssocID="{FD0CD066-B96F-4B22-9616-AEFC906D0365}" presName="space" presStyleCnt="0"/>
      <dgm:spPr/>
    </dgm:pt>
    <dgm:pt modelId="{3E978AA7-ADC8-41B0-8320-DE84F788EBE3}" type="pres">
      <dgm:prSet presAssocID="{7D8F34D2-ACF5-4A51-B24D-609C41730628}" presName="composite" presStyleCnt="0"/>
      <dgm:spPr/>
    </dgm:pt>
    <dgm:pt modelId="{2D001E74-0AE6-4A24-B178-617FDC7EFAEB}" type="pres">
      <dgm:prSet presAssocID="{7D8F34D2-ACF5-4A51-B24D-609C41730628}" presName="parTx" presStyleLbl="alignNode1" presStyleIdx="2" presStyleCnt="4">
        <dgm:presLayoutVars>
          <dgm:chMax val="0"/>
          <dgm:chPref val="0"/>
          <dgm:bulletEnabled val="1"/>
        </dgm:presLayoutVars>
      </dgm:prSet>
      <dgm:spPr/>
    </dgm:pt>
    <dgm:pt modelId="{C7F39890-5C8D-48FD-9A3D-71E6A4C3F357}" type="pres">
      <dgm:prSet presAssocID="{7D8F34D2-ACF5-4A51-B24D-609C41730628}" presName="desTx" presStyleLbl="alignAccFollowNode1" presStyleIdx="2" presStyleCnt="4">
        <dgm:presLayoutVars>
          <dgm:bulletEnabled val="1"/>
        </dgm:presLayoutVars>
      </dgm:prSet>
      <dgm:spPr/>
    </dgm:pt>
    <dgm:pt modelId="{5F376750-33CC-45A6-93BB-8929160531C0}" type="pres">
      <dgm:prSet presAssocID="{73ABE292-2B32-41AF-ADF7-3E2FAF127215}" presName="space" presStyleCnt="0"/>
      <dgm:spPr/>
    </dgm:pt>
    <dgm:pt modelId="{E6C8BDA2-4ADF-4F7E-A8ED-69DD98127150}" type="pres">
      <dgm:prSet presAssocID="{F0F72F2C-A2DF-4546-B5A6-BD3771EF4984}" presName="composite" presStyleCnt="0"/>
      <dgm:spPr/>
    </dgm:pt>
    <dgm:pt modelId="{ED723AC5-A2E2-4B16-BEA7-A94A2BECAD1C}" type="pres">
      <dgm:prSet presAssocID="{F0F72F2C-A2DF-4546-B5A6-BD3771EF4984}" presName="parTx" presStyleLbl="alignNode1" presStyleIdx="3" presStyleCnt="4">
        <dgm:presLayoutVars>
          <dgm:chMax val="0"/>
          <dgm:chPref val="0"/>
          <dgm:bulletEnabled val="1"/>
        </dgm:presLayoutVars>
      </dgm:prSet>
      <dgm:spPr/>
    </dgm:pt>
    <dgm:pt modelId="{C961A285-B32F-4EA0-A7A2-A0725D9D4CB3}" type="pres">
      <dgm:prSet presAssocID="{F0F72F2C-A2DF-4546-B5A6-BD3771EF4984}" presName="desTx" presStyleLbl="alignAccFollowNode1" presStyleIdx="3" presStyleCnt="4">
        <dgm:presLayoutVars>
          <dgm:bulletEnabled val="1"/>
        </dgm:presLayoutVars>
      </dgm:prSet>
      <dgm:spPr/>
    </dgm:pt>
  </dgm:ptLst>
  <dgm:cxnLst>
    <dgm:cxn modelId="{FC336D05-F568-4DE0-B477-723ADFAAF844}" srcId="{F0F72F2C-A2DF-4546-B5A6-BD3771EF4984}" destId="{DD1E0D02-53B6-4AD7-9E54-A7D0795D9AC8}" srcOrd="0" destOrd="0" parTransId="{8AB55934-9679-48B3-8F3D-EF7ADD4036C3}" sibTransId="{C916A12B-4192-4C19-B375-74438A211E52}"/>
    <dgm:cxn modelId="{B9E97409-F6B4-4950-A7AC-482F093584DD}" type="presOf" srcId="{7DC30BB8-E413-4267-9B01-D0C398158CB3}" destId="{C7F39890-5C8D-48FD-9A3D-71E6A4C3F357}" srcOrd="0" destOrd="4" presId="urn:microsoft.com/office/officeart/2005/8/layout/hList1"/>
    <dgm:cxn modelId="{D706BA09-82AD-4D88-A870-01ECD20FFDC4}" type="presOf" srcId="{5DDA9325-C541-4D95-81B3-DD33236F8A32}" destId="{AE9246A3-3980-441E-8C93-893085D8CE26}" srcOrd="0" destOrd="2" presId="urn:microsoft.com/office/officeart/2005/8/layout/hList1"/>
    <dgm:cxn modelId="{0B6F590C-C015-4853-86A3-1DD6DE4A6A14}" type="presOf" srcId="{F6530794-3DBF-46C1-88C9-5A35FFF151CC}" destId="{C961A285-B32F-4EA0-A7A2-A0725D9D4CB3}" srcOrd="0" destOrd="3" presId="urn:microsoft.com/office/officeart/2005/8/layout/hList1"/>
    <dgm:cxn modelId="{38E5410E-DF0D-42F8-B3CC-C07FC3B042E8}" srcId="{F0F72F2C-A2DF-4546-B5A6-BD3771EF4984}" destId="{3C0CB938-E1F9-4A85-988C-3B8227DC8B4B}" srcOrd="2" destOrd="0" parTransId="{A5B266FE-63B3-4277-B6BB-068B18E40705}" sibTransId="{E3633988-5154-4E7D-A927-75167A27E844}"/>
    <dgm:cxn modelId="{8EDF021A-0EDD-4FB5-9107-0D2E7B05FC2D}" srcId="{B591CF20-E38B-470F-ADB9-0E408539A816}" destId="{7D8F34D2-ACF5-4A51-B24D-609C41730628}" srcOrd="2" destOrd="0" parTransId="{538793FA-12F5-487C-A939-B1DC05160418}" sibTransId="{73ABE292-2B32-41AF-ADF7-3E2FAF127215}"/>
    <dgm:cxn modelId="{6BF34E20-8AF7-42C1-96B4-92680917B7C6}" type="presOf" srcId="{9A11CB0E-7A9F-418B-B52F-5FF51A0720B3}" destId="{C7F39890-5C8D-48FD-9A3D-71E6A4C3F357}" srcOrd="0" destOrd="1" presId="urn:microsoft.com/office/officeart/2005/8/layout/hList1"/>
    <dgm:cxn modelId="{C12B2C21-4E3B-4DB7-8417-DB8E13AB34B4}" type="presOf" srcId="{D864C7AA-F3B5-4FB5-8B92-D746FB5CC396}" destId="{C961A285-B32F-4EA0-A7A2-A0725D9D4CB3}" srcOrd="0" destOrd="1" presId="urn:microsoft.com/office/officeart/2005/8/layout/hList1"/>
    <dgm:cxn modelId="{A3568A25-7CC0-46DA-AA41-FCACAC0C3840}" type="presOf" srcId="{7D8F34D2-ACF5-4A51-B24D-609C41730628}" destId="{2D001E74-0AE6-4A24-B178-617FDC7EFAEB}" srcOrd="0" destOrd="0" presId="urn:microsoft.com/office/officeart/2005/8/layout/hList1"/>
    <dgm:cxn modelId="{8BCE5B36-B777-474D-890D-FE339B0902D4}" srcId="{B591CF20-E38B-470F-ADB9-0E408539A816}" destId="{68943606-CA28-4782-8232-95AB8616BAD2}" srcOrd="0" destOrd="0" parTransId="{676B489B-9AA3-44DD-9BE5-9D47C15ACFCD}" sibTransId="{F32ADC98-C909-41E5-91A2-1952AAB3B088}"/>
    <dgm:cxn modelId="{DB190E3A-B7E8-41D8-A549-2EFF30D0262F}" type="presOf" srcId="{E64BC63D-3F14-4150-9DA0-E7EC0FD6EA76}" destId="{C7F39890-5C8D-48FD-9A3D-71E6A4C3F357}" srcOrd="0" destOrd="0" presId="urn:microsoft.com/office/officeart/2005/8/layout/hList1"/>
    <dgm:cxn modelId="{CEF9423A-8323-4FA6-9433-09CDA70E8829}" srcId="{58A56870-94C5-474F-A11F-B059F85D051B}" destId="{99690A0C-B363-44CA-B8D2-E1E8D3F4850C}" srcOrd="0" destOrd="0" parTransId="{4129AA71-9DFC-4B1A-9E74-FAE90BAD1635}" sibTransId="{22B365A6-AF06-4542-A330-D109C89F66BB}"/>
    <dgm:cxn modelId="{2F9D925C-8CE8-4686-97AD-DF95CEBE0121}" type="presOf" srcId="{F0F72F2C-A2DF-4546-B5A6-BD3771EF4984}" destId="{ED723AC5-A2E2-4B16-BEA7-A94A2BECAD1C}" srcOrd="0" destOrd="0" presId="urn:microsoft.com/office/officeart/2005/8/layout/hList1"/>
    <dgm:cxn modelId="{8DD96B64-C426-4F02-B8AA-70C50DD3BA1C}" type="presOf" srcId="{3C0CB938-E1F9-4A85-988C-3B8227DC8B4B}" destId="{C961A285-B32F-4EA0-A7A2-A0725D9D4CB3}" srcOrd="0" destOrd="2" presId="urn:microsoft.com/office/officeart/2005/8/layout/hList1"/>
    <dgm:cxn modelId="{9D6E2248-D5BA-4C1F-B11B-B5CF7585895A}" srcId="{68943606-CA28-4782-8232-95AB8616BAD2}" destId="{5DDA9325-C541-4D95-81B3-DD33236F8A32}" srcOrd="2" destOrd="0" parTransId="{55E2083E-CFF0-48CE-B1ED-DC3642271197}" sibTransId="{99FF603F-12C2-4C14-86AC-A5BC011E2CA2}"/>
    <dgm:cxn modelId="{54A43A4A-E4A0-41A0-BB5B-DADB5F86B1ED}" srcId="{7D8F34D2-ACF5-4A51-B24D-609C41730628}" destId="{9A11CB0E-7A9F-418B-B52F-5FF51A0720B3}" srcOrd="1" destOrd="0" parTransId="{D82F122F-2114-4A78-B503-1BCAE13F0CFE}" sibTransId="{6363FDCA-AD41-4E6F-B7CD-3B5CA6CE6F9E}"/>
    <dgm:cxn modelId="{A2258A4A-D5EA-4DF1-9992-4421E3494DBB}" srcId="{7D8F34D2-ACF5-4A51-B24D-609C41730628}" destId="{7DC30BB8-E413-4267-9B01-D0C398158CB3}" srcOrd="4" destOrd="0" parTransId="{D559063E-990A-4AEA-A4CF-1715F0D301DE}" sibTransId="{C50021D0-A180-4E4B-80B2-135BF7DCB95E}"/>
    <dgm:cxn modelId="{7754F06A-0E62-45E8-8416-589BEEAC5CE0}" type="presOf" srcId="{DF6124A1-3345-4DD8-BC99-57CC98D42921}" destId="{DD58FCCA-5A53-48EF-830C-01A1BC2DEC5F}" srcOrd="0" destOrd="1" presId="urn:microsoft.com/office/officeart/2005/8/layout/hList1"/>
    <dgm:cxn modelId="{1C783D4D-52DC-4942-A906-97B20F8529C9}" type="presOf" srcId="{B591CF20-E38B-470F-ADB9-0E408539A816}" destId="{72F092A1-3B55-4AF9-BB8D-2692568648C3}" srcOrd="0" destOrd="0" presId="urn:microsoft.com/office/officeart/2005/8/layout/hList1"/>
    <dgm:cxn modelId="{5D9E5F6E-9C1E-4C9A-813A-5E429A25D801}" type="presOf" srcId="{5C75ABEB-F4BA-400B-B9F2-F23F97463A7D}" destId="{C7F39890-5C8D-48FD-9A3D-71E6A4C3F357}" srcOrd="0" destOrd="2" presId="urn:microsoft.com/office/officeart/2005/8/layout/hList1"/>
    <dgm:cxn modelId="{FD61894F-8043-4A82-ACC3-2DFBCBC2A0D4}" srcId="{58A56870-94C5-474F-A11F-B059F85D051B}" destId="{DF6124A1-3345-4DD8-BC99-57CC98D42921}" srcOrd="1" destOrd="0" parTransId="{B2CF88B5-7EDE-493B-BD6B-5AEDE5AD63C3}" sibTransId="{DD8425FA-9779-48FA-B6DE-876CC72153C2}"/>
    <dgm:cxn modelId="{14B65A70-0010-450D-9A93-77E8C795EE26}" type="presOf" srcId="{9C367CD2-D072-49AB-867B-391044203855}" destId="{DD58FCCA-5A53-48EF-830C-01A1BC2DEC5F}" srcOrd="0" destOrd="2" presId="urn:microsoft.com/office/officeart/2005/8/layout/hList1"/>
    <dgm:cxn modelId="{B29D3575-8DA3-4818-A7C1-01DEED2529C2}" type="presOf" srcId="{68943606-CA28-4782-8232-95AB8616BAD2}" destId="{60D9E2F1-B549-4EF6-9A39-54153CB848BF}" srcOrd="0" destOrd="0" presId="urn:microsoft.com/office/officeart/2005/8/layout/hList1"/>
    <dgm:cxn modelId="{E3722183-5FAF-40CE-B1E2-A53CE3A059AD}" srcId="{F0F72F2C-A2DF-4546-B5A6-BD3771EF4984}" destId="{F6530794-3DBF-46C1-88C9-5A35FFF151CC}" srcOrd="3" destOrd="0" parTransId="{11C96B7B-1D95-4292-A36F-3D42FCE18E74}" sibTransId="{346DD7CA-A3A0-476B-AAE6-A24F60B9D00E}"/>
    <dgm:cxn modelId="{CE2C7083-61BF-43F9-B05E-40549F90D2CC}" type="presOf" srcId="{45414D11-1BF0-4CF1-8CE9-FBBD0212AC0C}" destId="{AE9246A3-3980-441E-8C93-893085D8CE26}" srcOrd="0" destOrd="1" presId="urn:microsoft.com/office/officeart/2005/8/layout/hList1"/>
    <dgm:cxn modelId="{75512185-0EA6-4209-A574-E797EFCD5CD1}" srcId="{F0F72F2C-A2DF-4546-B5A6-BD3771EF4984}" destId="{D864C7AA-F3B5-4FB5-8B92-D746FB5CC396}" srcOrd="1" destOrd="0" parTransId="{09BBFD11-618B-4F3B-99DE-CD19ED65A989}" sibTransId="{DA9592DB-3C12-4258-86C8-FA80B554B696}"/>
    <dgm:cxn modelId="{58E03485-B8E2-4295-98B0-8005C4B8D99C}" type="presOf" srcId="{DD1E0D02-53B6-4AD7-9E54-A7D0795D9AC8}" destId="{C961A285-B32F-4EA0-A7A2-A0725D9D4CB3}" srcOrd="0" destOrd="0" presId="urn:microsoft.com/office/officeart/2005/8/layout/hList1"/>
    <dgm:cxn modelId="{A2BA158A-E6A7-4D32-9D81-6BF2951E8690}" type="presOf" srcId="{94886888-C8A6-4C56-BBA6-E7CC0F8C0407}" destId="{AE9246A3-3980-441E-8C93-893085D8CE26}" srcOrd="0" destOrd="4" presId="urn:microsoft.com/office/officeart/2005/8/layout/hList1"/>
    <dgm:cxn modelId="{6593B099-4683-4CE5-BBC3-FA3EEE9DBA90}" srcId="{B591CF20-E38B-470F-ADB9-0E408539A816}" destId="{58A56870-94C5-474F-A11F-B059F85D051B}" srcOrd="1" destOrd="0" parTransId="{C14F31F7-7F6D-4E53-9E55-3AF1CB4916C0}" sibTransId="{FD0CD066-B96F-4B22-9616-AEFC906D0365}"/>
    <dgm:cxn modelId="{35A2ED99-0F87-403A-BB22-400B56925B24}" srcId="{7D8F34D2-ACF5-4A51-B24D-609C41730628}" destId="{E64BC63D-3F14-4150-9DA0-E7EC0FD6EA76}" srcOrd="0" destOrd="0" parTransId="{D507EDFD-DDCC-4F7A-8C9A-BB646694064C}" sibTransId="{1E441C76-492B-41CE-8558-DC1206CC67E0}"/>
    <dgm:cxn modelId="{BF05AB9A-7570-4D63-ABEA-4404AAD630F8}" srcId="{7D8F34D2-ACF5-4A51-B24D-609C41730628}" destId="{5C75ABEB-F4BA-400B-B9F2-F23F97463A7D}" srcOrd="2" destOrd="0" parTransId="{1368C5A2-5807-4015-8DBD-5E11DE44C67B}" sibTransId="{F1B09895-4F3F-4648-8678-0901A19C201C}"/>
    <dgm:cxn modelId="{9EC6B59F-CBC9-4B5E-AD1A-6D913EE70336}" type="presOf" srcId="{8F516D2D-FEA4-4674-AF1A-D637805EDA26}" destId="{C961A285-B32F-4EA0-A7A2-A0725D9D4CB3}" srcOrd="0" destOrd="6" presId="urn:microsoft.com/office/officeart/2005/8/layout/hList1"/>
    <dgm:cxn modelId="{ECAC54A8-C412-40AA-800C-9D5DFD92070E}" srcId="{B591CF20-E38B-470F-ADB9-0E408539A816}" destId="{F0F72F2C-A2DF-4546-B5A6-BD3771EF4984}" srcOrd="3" destOrd="0" parTransId="{A2250B20-5406-4F3F-A64D-6152F8E74E44}" sibTransId="{F55E5FBB-56F5-4E60-80C1-C4231D568744}"/>
    <dgm:cxn modelId="{B14B02AA-CC3E-4859-827C-DDF6AFBE6B4F}" srcId="{68943606-CA28-4782-8232-95AB8616BAD2}" destId="{94886888-C8A6-4C56-BBA6-E7CC0F8C0407}" srcOrd="4" destOrd="0" parTransId="{9DB34B4A-8C65-437B-A054-138BEFBA812E}" sibTransId="{0FAA5CD6-D920-4EDA-9CA9-60DBB404EACC}"/>
    <dgm:cxn modelId="{48689EAC-A261-40BA-A1A5-CB22F9FE8A8D}" srcId="{58A56870-94C5-474F-A11F-B059F85D051B}" destId="{DD1BEDFC-A663-4738-AD6F-17B6C957FB47}" srcOrd="3" destOrd="0" parTransId="{35D7AF1B-BEAD-46E0-B245-02424470071F}" sibTransId="{2F4948BD-94FC-4845-BB51-D445A3BA9467}"/>
    <dgm:cxn modelId="{250D8AAD-7D20-4CCE-987D-E6708FD478F6}" srcId="{68943606-CA28-4782-8232-95AB8616BAD2}" destId="{AD432868-1EAB-4C98-962D-445EBBB17DAB}" srcOrd="3" destOrd="0" parTransId="{ED793CCE-CEDB-45C7-A6F9-E33D4573EEB3}" sibTransId="{FEE79E8E-9317-4FE9-B85A-5B22B3F776E4}"/>
    <dgm:cxn modelId="{3E6A58AF-E0EF-493A-8F94-A6D38021D78D}" srcId="{F0F72F2C-A2DF-4546-B5A6-BD3771EF4984}" destId="{8F516D2D-FEA4-4674-AF1A-D637805EDA26}" srcOrd="6" destOrd="0" parTransId="{068BBA74-775E-4CF5-B332-08FFEEEF0A62}" sibTransId="{2EBF07E9-56E4-4763-8933-E168742C6A90}"/>
    <dgm:cxn modelId="{6B65B0B0-652A-4897-A84A-EAD2A87184B3}" srcId="{68943606-CA28-4782-8232-95AB8616BAD2}" destId="{45414D11-1BF0-4CF1-8CE9-FBBD0212AC0C}" srcOrd="1" destOrd="0" parTransId="{D8C0E80B-773A-420B-A445-F39D40B352B0}" sibTransId="{12CDF185-6A7B-4B6E-8F91-40D1B1E50119}"/>
    <dgm:cxn modelId="{C49E96B9-6082-4869-BC9C-F094F52923B2}" srcId="{68943606-CA28-4782-8232-95AB8616BAD2}" destId="{B8F46C62-824E-4968-9874-EAE0BD4DEC06}" srcOrd="0" destOrd="0" parTransId="{2CB3CFE6-48C9-4764-BE98-1DFCB01931D2}" sibTransId="{CC392892-33EB-4DAB-95D8-04EC6A85112E}"/>
    <dgm:cxn modelId="{083E5DC0-50D4-468C-9894-D27A102FBB23}" type="presOf" srcId="{189A2302-4677-49D0-AE47-D22C388BCC37}" destId="{C961A285-B32F-4EA0-A7A2-A0725D9D4CB3}" srcOrd="0" destOrd="5" presId="urn:microsoft.com/office/officeart/2005/8/layout/hList1"/>
    <dgm:cxn modelId="{C447BAC2-4786-419F-B53F-EFF1E6ADE9AE}" srcId="{58A56870-94C5-474F-A11F-B059F85D051B}" destId="{9C367CD2-D072-49AB-867B-391044203855}" srcOrd="2" destOrd="0" parTransId="{6C95B9D7-E884-46BD-8470-A1194B51F200}" sibTransId="{A08C7584-BAB8-4646-8AFE-FAB8A7E8F7C9}"/>
    <dgm:cxn modelId="{8ED994C8-D4D7-4A61-9B30-C5491D25A385}" type="presOf" srcId="{58A56870-94C5-474F-A11F-B059F85D051B}" destId="{5AAEAC57-C5CF-4BF7-B78E-013E1F7A0946}" srcOrd="0" destOrd="0" presId="urn:microsoft.com/office/officeart/2005/8/layout/hList1"/>
    <dgm:cxn modelId="{8CE5FED1-62BD-4794-A2E5-16A21637A630}" type="presOf" srcId="{21162962-6786-44EB-A9D2-2F7790A21F41}" destId="{C961A285-B32F-4EA0-A7A2-A0725D9D4CB3}" srcOrd="0" destOrd="4" presId="urn:microsoft.com/office/officeart/2005/8/layout/hList1"/>
    <dgm:cxn modelId="{10DA63D4-5F0B-46D0-B1CF-5E4BE2796DF8}" type="presOf" srcId="{AD432868-1EAB-4C98-962D-445EBBB17DAB}" destId="{AE9246A3-3980-441E-8C93-893085D8CE26}" srcOrd="0" destOrd="3" presId="urn:microsoft.com/office/officeart/2005/8/layout/hList1"/>
    <dgm:cxn modelId="{1FDB05D8-040B-4195-A8E7-D686A7A35D7C}" type="presOf" srcId="{6D83297A-5466-4684-943E-3E98C96EF1EE}" destId="{C7F39890-5C8D-48FD-9A3D-71E6A4C3F357}" srcOrd="0" destOrd="3" presId="urn:microsoft.com/office/officeart/2005/8/layout/hList1"/>
    <dgm:cxn modelId="{8C930BDC-27AD-4ED8-80AB-612A639A6541}" type="presOf" srcId="{DD1BEDFC-A663-4738-AD6F-17B6C957FB47}" destId="{DD58FCCA-5A53-48EF-830C-01A1BC2DEC5F}" srcOrd="0" destOrd="3" presId="urn:microsoft.com/office/officeart/2005/8/layout/hList1"/>
    <dgm:cxn modelId="{D440DBE2-A604-4C8D-A12C-4A65FE82D34C}" srcId="{7D8F34D2-ACF5-4A51-B24D-609C41730628}" destId="{6D83297A-5466-4684-943E-3E98C96EF1EE}" srcOrd="3" destOrd="0" parTransId="{BC1E25D6-BD75-417A-B2A6-8F1FA60783C2}" sibTransId="{EBBEC456-5F41-4249-BE51-C1D1B5004384}"/>
    <dgm:cxn modelId="{0CD5A2E6-7F92-4843-9C07-A46FA109575F}" type="presOf" srcId="{B8F46C62-824E-4968-9874-EAE0BD4DEC06}" destId="{AE9246A3-3980-441E-8C93-893085D8CE26}" srcOrd="0" destOrd="0" presId="urn:microsoft.com/office/officeart/2005/8/layout/hList1"/>
    <dgm:cxn modelId="{40250FED-1A2F-4AA8-8F2A-0EF8818B3709}" srcId="{F0F72F2C-A2DF-4546-B5A6-BD3771EF4984}" destId="{21162962-6786-44EB-A9D2-2F7790A21F41}" srcOrd="4" destOrd="0" parTransId="{47233D5B-E9B2-4D60-B376-CF04884B51B9}" sibTransId="{50D4FACE-998D-4AFD-89CD-B45654BFC73E}"/>
    <dgm:cxn modelId="{97729DF5-01F4-465F-8C51-9A008C0EA5E3}" srcId="{F0F72F2C-A2DF-4546-B5A6-BD3771EF4984}" destId="{189A2302-4677-49D0-AE47-D22C388BCC37}" srcOrd="5" destOrd="0" parTransId="{428254E7-4FD6-4AE4-8293-4E3606176277}" sibTransId="{56608371-3ECA-4DB0-A88B-1A4EAF471740}"/>
    <dgm:cxn modelId="{05169EF6-F3CC-49A4-B3B7-43C562A8DAAF}" type="presOf" srcId="{99690A0C-B363-44CA-B8D2-E1E8D3F4850C}" destId="{DD58FCCA-5A53-48EF-830C-01A1BC2DEC5F}" srcOrd="0" destOrd="0" presId="urn:microsoft.com/office/officeart/2005/8/layout/hList1"/>
    <dgm:cxn modelId="{95BD295E-A9F6-466B-BA87-17C156C684A8}" type="presParOf" srcId="{72F092A1-3B55-4AF9-BB8D-2692568648C3}" destId="{07C34D83-3094-4FD8-AF53-7B4F0466A48D}" srcOrd="0" destOrd="0" presId="urn:microsoft.com/office/officeart/2005/8/layout/hList1"/>
    <dgm:cxn modelId="{39124E4D-991B-48AD-9D43-800FE2E95280}" type="presParOf" srcId="{07C34D83-3094-4FD8-AF53-7B4F0466A48D}" destId="{60D9E2F1-B549-4EF6-9A39-54153CB848BF}" srcOrd="0" destOrd="0" presId="urn:microsoft.com/office/officeart/2005/8/layout/hList1"/>
    <dgm:cxn modelId="{060EC04F-96E5-42BB-A1D3-47416D001379}" type="presParOf" srcId="{07C34D83-3094-4FD8-AF53-7B4F0466A48D}" destId="{AE9246A3-3980-441E-8C93-893085D8CE26}" srcOrd="1" destOrd="0" presId="urn:microsoft.com/office/officeart/2005/8/layout/hList1"/>
    <dgm:cxn modelId="{23D43B5E-FD6A-48DE-9172-8B409E54F52F}" type="presParOf" srcId="{72F092A1-3B55-4AF9-BB8D-2692568648C3}" destId="{A4E5F21F-8483-482A-B577-134ACFDB9B9E}" srcOrd="1" destOrd="0" presId="urn:microsoft.com/office/officeart/2005/8/layout/hList1"/>
    <dgm:cxn modelId="{039A9078-21F2-474D-99AB-DBEA5CCAEDCF}" type="presParOf" srcId="{72F092A1-3B55-4AF9-BB8D-2692568648C3}" destId="{7288A2BB-75A7-4488-8F75-4BC6D89E9768}" srcOrd="2" destOrd="0" presId="urn:microsoft.com/office/officeart/2005/8/layout/hList1"/>
    <dgm:cxn modelId="{F40448F3-24E0-4A57-BECA-2536A88F9490}" type="presParOf" srcId="{7288A2BB-75A7-4488-8F75-4BC6D89E9768}" destId="{5AAEAC57-C5CF-4BF7-B78E-013E1F7A0946}" srcOrd="0" destOrd="0" presId="urn:microsoft.com/office/officeart/2005/8/layout/hList1"/>
    <dgm:cxn modelId="{4CF875B8-E54F-4CE2-828F-1E9652E48DDD}" type="presParOf" srcId="{7288A2BB-75A7-4488-8F75-4BC6D89E9768}" destId="{DD58FCCA-5A53-48EF-830C-01A1BC2DEC5F}" srcOrd="1" destOrd="0" presId="urn:microsoft.com/office/officeart/2005/8/layout/hList1"/>
    <dgm:cxn modelId="{BB34AD1C-3258-41CA-91F9-9EB9065ED1A4}" type="presParOf" srcId="{72F092A1-3B55-4AF9-BB8D-2692568648C3}" destId="{18DB903B-07DD-486D-A4B9-BC4325B28247}" srcOrd="3" destOrd="0" presId="urn:microsoft.com/office/officeart/2005/8/layout/hList1"/>
    <dgm:cxn modelId="{962DA3F5-BEF3-4B69-925A-3008AB7E3388}" type="presParOf" srcId="{72F092A1-3B55-4AF9-BB8D-2692568648C3}" destId="{3E978AA7-ADC8-41B0-8320-DE84F788EBE3}" srcOrd="4" destOrd="0" presId="urn:microsoft.com/office/officeart/2005/8/layout/hList1"/>
    <dgm:cxn modelId="{306EA367-9481-4D9D-A5CB-AA0C68C2793A}" type="presParOf" srcId="{3E978AA7-ADC8-41B0-8320-DE84F788EBE3}" destId="{2D001E74-0AE6-4A24-B178-617FDC7EFAEB}" srcOrd="0" destOrd="0" presId="urn:microsoft.com/office/officeart/2005/8/layout/hList1"/>
    <dgm:cxn modelId="{DA74BB6D-2162-4AC2-91FE-F9D4EFCEE76C}" type="presParOf" srcId="{3E978AA7-ADC8-41B0-8320-DE84F788EBE3}" destId="{C7F39890-5C8D-48FD-9A3D-71E6A4C3F357}" srcOrd="1" destOrd="0" presId="urn:microsoft.com/office/officeart/2005/8/layout/hList1"/>
    <dgm:cxn modelId="{B5069C55-94FD-4EB1-8259-50B3B9C2F89B}" type="presParOf" srcId="{72F092A1-3B55-4AF9-BB8D-2692568648C3}" destId="{5F376750-33CC-45A6-93BB-8929160531C0}" srcOrd="5" destOrd="0" presId="urn:microsoft.com/office/officeart/2005/8/layout/hList1"/>
    <dgm:cxn modelId="{5D6841DA-03A2-4C0F-886F-836A4E5BC923}" type="presParOf" srcId="{72F092A1-3B55-4AF9-BB8D-2692568648C3}" destId="{E6C8BDA2-4ADF-4F7E-A8ED-69DD98127150}" srcOrd="6" destOrd="0" presId="urn:microsoft.com/office/officeart/2005/8/layout/hList1"/>
    <dgm:cxn modelId="{24F46604-49E6-41F6-A88C-9A56AF657262}" type="presParOf" srcId="{E6C8BDA2-4ADF-4F7E-A8ED-69DD98127150}" destId="{ED723AC5-A2E2-4B16-BEA7-A94A2BECAD1C}" srcOrd="0" destOrd="0" presId="urn:microsoft.com/office/officeart/2005/8/layout/hList1"/>
    <dgm:cxn modelId="{958CE51C-3395-4421-B46E-894501ADEF0E}" type="presParOf" srcId="{E6C8BDA2-4ADF-4F7E-A8ED-69DD98127150}" destId="{C961A285-B32F-4EA0-A7A2-A0725D9D4CB3}"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9AFE723-49AB-449E-B50F-EA8C2BF37A40}" type="doc">
      <dgm:prSet loTypeId="urn:microsoft.com/office/officeart/2005/8/layout/pyramid2" loCatId="pyramid" qsTypeId="urn:microsoft.com/office/officeart/2005/8/quickstyle/simple5#1" qsCatId="simple" csTypeId="urn:microsoft.com/office/officeart/2005/8/colors/accent1_2#3" csCatId="accent1" phldr="1"/>
      <dgm:spPr/>
      <dgm:t>
        <a:bodyPr/>
        <a:lstStyle/>
        <a:p>
          <a:endParaRPr lang="en-US"/>
        </a:p>
      </dgm:t>
    </dgm:pt>
    <dgm:pt modelId="{A0E3FCFC-BB2B-4439-83FF-36BF448BD06A}">
      <dgm:prSet/>
      <dgm:spPr/>
      <dgm:t>
        <a:bodyPr/>
        <a:lstStyle/>
        <a:p>
          <a:r>
            <a:rPr lang="en-US" dirty="0"/>
            <a:t>Utility-based agents</a:t>
          </a:r>
        </a:p>
      </dgm:t>
    </dgm:pt>
    <dgm:pt modelId="{766B9DF4-1C2B-47FF-8B2C-C87F104DADB1}" type="parTrans" cxnId="{5D1D656F-442B-41DC-B5FB-EC817B242166}">
      <dgm:prSet/>
      <dgm:spPr/>
      <dgm:t>
        <a:bodyPr/>
        <a:lstStyle/>
        <a:p>
          <a:endParaRPr lang="en-US"/>
        </a:p>
      </dgm:t>
    </dgm:pt>
    <dgm:pt modelId="{B179EBFF-74FB-4F9A-8211-FCA2E7054372}" type="sibTrans" cxnId="{5D1D656F-442B-41DC-B5FB-EC817B242166}">
      <dgm:prSet/>
      <dgm:spPr/>
      <dgm:t>
        <a:bodyPr/>
        <a:lstStyle/>
        <a:p>
          <a:endParaRPr lang="en-US"/>
        </a:p>
      </dgm:t>
    </dgm:pt>
    <dgm:pt modelId="{83B41E69-333C-420C-BE24-7412C78078A0}">
      <dgm:prSet/>
      <dgm:spPr/>
      <dgm:t>
        <a:bodyPr/>
        <a:lstStyle/>
        <a:p>
          <a:r>
            <a:rPr lang="en-US" dirty="0"/>
            <a:t>Simple reflex agents</a:t>
          </a:r>
        </a:p>
      </dgm:t>
    </dgm:pt>
    <dgm:pt modelId="{CD0808E1-62F1-42F3-B0B9-76A7FF862A23}" type="parTrans" cxnId="{AABD6FDE-5BBB-469A-864E-D15AACD350E8}">
      <dgm:prSet/>
      <dgm:spPr/>
      <dgm:t>
        <a:bodyPr/>
        <a:lstStyle/>
        <a:p>
          <a:endParaRPr lang="en-US"/>
        </a:p>
      </dgm:t>
    </dgm:pt>
    <dgm:pt modelId="{B97B47CC-D836-4357-8FE0-0228F8261E47}" type="sibTrans" cxnId="{AABD6FDE-5BBB-469A-864E-D15AACD350E8}">
      <dgm:prSet/>
      <dgm:spPr/>
      <dgm:t>
        <a:bodyPr/>
        <a:lstStyle/>
        <a:p>
          <a:endParaRPr lang="en-US"/>
        </a:p>
      </dgm:t>
    </dgm:pt>
    <dgm:pt modelId="{A961D3C2-FCC5-41AA-942B-B9A11E84A7FC}">
      <dgm:prSet/>
      <dgm:spPr/>
      <dgm:t>
        <a:bodyPr/>
        <a:lstStyle/>
        <a:p>
          <a:r>
            <a:rPr lang="en-US" dirty="0"/>
            <a:t>Goal-based agents</a:t>
          </a:r>
        </a:p>
      </dgm:t>
    </dgm:pt>
    <dgm:pt modelId="{43381F9A-2939-4072-9FE0-CC4B57BCCDB3}" type="parTrans" cxnId="{6B42274A-1F6A-4F30-ABF9-F9E1D521E09C}">
      <dgm:prSet/>
      <dgm:spPr/>
      <dgm:t>
        <a:bodyPr/>
        <a:lstStyle/>
        <a:p>
          <a:endParaRPr lang="en-US"/>
        </a:p>
      </dgm:t>
    </dgm:pt>
    <dgm:pt modelId="{DF69E99E-2046-4701-93B5-B7A014CC0A99}" type="sibTrans" cxnId="{6B42274A-1F6A-4F30-ABF9-F9E1D521E09C}">
      <dgm:prSet/>
      <dgm:spPr/>
      <dgm:t>
        <a:bodyPr/>
        <a:lstStyle/>
        <a:p>
          <a:endParaRPr lang="en-US"/>
        </a:p>
      </dgm:t>
    </dgm:pt>
    <dgm:pt modelId="{3FA1C433-C911-46BA-A591-2B3A5AF1361F}">
      <dgm:prSet/>
      <dgm:spPr/>
      <dgm:t>
        <a:bodyPr/>
        <a:lstStyle/>
        <a:p>
          <a:r>
            <a:rPr lang="en-US"/>
            <a:t>Model-based reflex agents</a:t>
          </a:r>
          <a:endParaRPr lang="en-US" dirty="0"/>
        </a:p>
      </dgm:t>
    </dgm:pt>
    <dgm:pt modelId="{2BBFE6E3-37F8-4618-9894-6A0583820894}" type="parTrans" cxnId="{8DD365E2-3BE6-4CF1-833F-42E307DFC473}">
      <dgm:prSet/>
      <dgm:spPr/>
      <dgm:t>
        <a:bodyPr/>
        <a:lstStyle/>
        <a:p>
          <a:endParaRPr lang="en-US"/>
        </a:p>
      </dgm:t>
    </dgm:pt>
    <dgm:pt modelId="{9ECBCE8D-FE96-44B5-9DED-E937F9C00A0A}" type="sibTrans" cxnId="{8DD365E2-3BE6-4CF1-833F-42E307DFC473}">
      <dgm:prSet/>
      <dgm:spPr/>
      <dgm:t>
        <a:bodyPr/>
        <a:lstStyle/>
        <a:p>
          <a:endParaRPr lang="en-US"/>
        </a:p>
      </dgm:t>
    </dgm:pt>
    <dgm:pt modelId="{8E76272A-CE3E-4D12-B983-8FB136F6A52B}" type="pres">
      <dgm:prSet presAssocID="{39AFE723-49AB-449E-B50F-EA8C2BF37A40}" presName="compositeShape" presStyleCnt="0">
        <dgm:presLayoutVars>
          <dgm:dir/>
          <dgm:resizeHandles/>
        </dgm:presLayoutVars>
      </dgm:prSet>
      <dgm:spPr/>
    </dgm:pt>
    <dgm:pt modelId="{421772EB-A28C-4249-9248-E9285A7294E2}" type="pres">
      <dgm:prSet presAssocID="{39AFE723-49AB-449E-B50F-EA8C2BF37A40}" presName="pyramid" presStyleLbl="node1" presStyleIdx="0" presStyleCnt="1" custAng="10800000" custLinFactNeighborX="-33562"/>
      <dgm:spPr/>
    </dgm:pt>
    <dgm:pt modelId="{67A66B3D-BAEA-4734-81A4-3FA61A2837F6}" type="pres">
      <dgm:prSet presAssocID="{39AFE723-49AB-449E-B50F-EA8C2BF37A40}" presName="theList" presStyleCnt="0"/>
      <dgm:spPr/>
    </dgm:pt>
    <dgm:pt modelId="{128154D5-B7B6-4090-B776-DC63838EC167}" type="pres">
      <dgm:prSet presAssocID="{A0E3FCFC-BB2B-4439-83FF-36BF448BD06A}" presName="aNode" presStyleLbl="fgAcc1" presStyleIdx="0" presStyleCnt="4" custLinFactNeighborX="-68069">
        <dgm:presLayoutVars>
          <dgm:bulletEnabled val="1"/>
        </dgm:presLayoutVars>
      </dgm:prSet>
      <dgm:spPr/>
    </dgm:pt>
    <dgm:pt modelId="{5956F3D9-764E-468B-BBEC-69595642B66D}" type="pres">
      <dgm:prSet presAssocID="{A0E3FCFC-BB2B-4439-83FF-36BF448BD06A}" presName="aSpace" presStyleCnt="0"/>
      <dgm:spPr/>
    </dgm:pt>
    <dgm:pt modelId="{E9E54B10-0E80-4EC7-BDC9-1B1E1CD3F5FC}" type="pres">
      <dgm:prSet presAssocID="{A961D3C2-FCC5-41AA-942B-B9A11E84A7FC}" presName="aNode" presStyleLbl="fgAcc1" presStyleIdx="1" presStyleCnt="4" custLinFactNeighborX="-68069">
        <dgm:presLayoutVars>
          <dgm:bulletEnabled val="1"/>
        </dgm:presLayoutVars>
      </dgm:prSet>
      <dgm:spPr/>
    </dgm:pt>
    <dgm:pt modelId="{2533FDDA-1140-4423-8215-A249C25D2753}" type="pres">
      <dgm:prSet presAssocID="{A961D3C2-FCC5-41AA-942B-B9A11E84A7FC}" presName="aSpace" presStyleCnt="0"/>
      <dgm:spPr/>
    </dgm:pt>
    <dgm:pt modelId="{B5BCA4F7-7F6F-43C2-84D5-1C28E4BBCA24}" type="pres">
      <dgm:prSet presAssocID="{3FA1C433-C911-46BA-A591-2B3A5AF1361F}" presName="aNode" presStyleLbl="fgAcc1" presStyleIdx="2" presStyleCnt="4" custLinFactNeighborX="-68069">
        <dgm:presLayoutVars>
          <dgm:bulletEnabled val="1"/>
        </dgm:presLayoutVars>
      </dgm:prSet>
      <dgm:spPr/>
    </dgm:pt>
    <dgm:pt modelId="{53133F68-D5DF-411C-9C30-07A43607D1F3}" type="pres">
      <dgm:prSet presAssocID="{3FA1C433-C911-46BA-A591-2B3A5AF1361F}" presName="aSpace" presStyleCnt="0"/>
      <dgm:spPr/>
    </dgm:pt>
    <dgm:pt modelId="{54EC23F3-F115-4CD3-9500-0768D2AE6E17}" type="pres">
      <dgm:prSet presAssocID="{83B41E69-333C-420C-BE24-7412C78078A0}" presName="aNode" presStyleLbl="fgAcc1" presStyleIdx="3" presStyleCnt="4" custLinFactNeighborX="-68069">
        <dgm:presLayoutVars>
          <dgm:bulletEnabled val="1"/>
        </dgm:presLayoutVars>
      </dgm:prSet>
      <dgm:spPr/>
    </dgm:pt>
    <dgm:pt modelId="{6655755C-E94F-4B60-8554-ED3FF4C2751D}" type="pres">
      <dgm:prSet presAssocID="{83B41E69-333C-420C-BE24-7412C78078A0}" presName="aSpace" presStyleCnt="0"/>
      <dgm:spPr/>
    </dgm:pt>
  </dgm:ptLst>
  <dgm:cxnLst>
    <dgm:cxn modelId="{BF411309-3728-401B-B2E2-18B9E61AD4AC}" type="presOf" srcId="{39AFE723-49AB-449E-B50F-EA8C2BF37A40}" destId="{8E76272A-CE3E-4D12-B983-8FB136F6A52B}" srcOrd="0" destOrd="0" presId="urn:microsoft.com/office/officeart/2005/8/layout/pyramid2"/>
    <dgm:cxn modelId="{920EA31B-541E-49E6-809A-BCBB111A1103}" type="presOf" srcId="{A0E3FCFC-BB2B-4439-83FF-36BF448BD06A}" destId="{128154D5-B7B6-4090-B776-DC63838EC167}" srcOrd="0" destOrd="0" presId="urn:microsoft.com/office/officeart/2005/8/layout/pyramid2"/>
    <dgm:cxn modelId="{434AD221-AB5B-46B2-99A0-00E3ECBF59EE}" type="presOf" srcId="{A961D3C2-FCC5-41AA-942B-B9A11E84A7FC}" destId="{E9E54B10-0E80-4EC7-BDC9-1B1E1CD3F5FC}" srcOrd="0" destOrd="0" presId="urn:microsoft.com/office/officeart/2005/8/layout/pyramid2"/>
    <dgm:cxn modelId="{6B42274A-1F6A-4F30-ABF9-F9E1D521E09C}" srcId="{39AFE723-49AB-449E-B50F-EA8C2BF37A40}" destId="{A961D3C2-FCC5-41AA-942B-B9A11E84A7FC}" srcOrd="1" destOrd="0" parTransId="{43381F9A-2939-4072-9FE0-CC4B57BCCDB3}" sibTransId="{DF69E99E-2046-4701-93B5-B7A014CC0A99}"/>
    <dgm:cxn modelId="{2EE2DC6A-1EE2-4C45-84DD-742A29B2986D}" type="presOf" srcId="{3FA1C433-C911-46BA-A591-2B3A5AF1361F}" destId="{B5BCA4F7-7F6F-43C2-84D5-1C28E4BBCA24}" srcOrd="0" destOrd="0" presId="urn:microsoft.com/office/officeart/2005/8/layout/pyramid2"/>
    <dgm:cxn modelId="{5D1D656F-442B-41DC-B5FB-EC817B242166}" srcId="{39AFE723-49AB-449E-B50F-EA8C2BF37A40}" destId="{A0E3FCFC-BB2B-4439-83FF-36BF448BD06A}" srcOrd="0" destOrd="0" parTransId="{766B9DF4-1C2B-47FF-8B2C-C87F104DADB1}" sibTransId="{B179EBFF-74FB-4F9A-8211-FCA2E7054372}"/>
    <dgm:cxn modelId="{93D348BB-E399-4FB3-8121-AADDE2F2F3BC}" type="presOf" srcId="{83B41E69-333C-420C-BE24-7412C78078A0}" destId="{54EC23F3-F115-4CD3-9500-0768D2AE6E17}" srcOrd="0" destOrd="0" presId="urn:microsoft.com/office/officeart/2005/8/layout/pyramid2"/>
    <dgm:cxn modelId="{AABD6FDE-5BBB-469A-864E-D15AACD350E8}" srcId="{39AFE723-49AB-449E-B50F-EA8C2BF37A40}" destId="{83B41E69-333C-420C-BE24-7412C78078A0}" srcOrd="3" destOrd="0" parTransId="{CD0808E1-62F1-42F3-B0B9-76A7FF862A23}" sibTransId="{B97B47CC-D836-4357-8FE0-0228F8261E47}"/>
    <dgm:cxn modelId="{8DD365E2-3BE6-4CF1-833F-42E307DFC473}" srcId="{39AFE723-49AB-449E-B50F-EA8C2BF37A40}" destId="{3FA1C433-C911-46BA-A591-2B3A5AF1361F}" srcOrd="2" destOrd="0" parTransId="{2BBFE6E3-37F8-4618-9894-6A0583820894}" sibTransId="{9ECBCE8D-FE96-44B5-9DED-E937F9C00A0A}"/>
    <dgm:cxn modelId="{CE4C16C8-42C6-47BD-8A40-5E40AEF78345}" type="presParOf" srcId="{8E76272A-CE3E-4D12-B983-8FB136F6A52B}" destId="{421772EB-A28C-4249-9248-E9285A7294E2}" srcOrd="0" destOrd="0" presId="urn:microsoft.com/office/officeart/2005/8/layout/pyramid2"/>
    <dgm:cxn modelId="{C6CC6D46-78F8-433E-B09A-58F090B2D8AE}" type="presParOf" srcId="{8E76272A-CE3E-4D12-B983-8FB136F6A52B}" destId="{67A66B3D-BAEA-4734-81A4-3FA61A2837F6}" srcOrd="1" destOrd="0" presId="urn:microsoft.com/office/officeart/2005/8/layout/pyramid2"/>
    <dgm:cxn modelId="{E0DCF367-FA15-426B-AC84-1DA1AF10DD50}" type="presParOf" srcId="{67A66B3D-BAEA-4734-81A4-3FA61A2837F6}" destId="{128154D5-B7B6-4090-B776-DC63838EC167}" srcOrd="0" destOrd="0" presId="urn:microsoft.com/office/officeart/2005/8/layout/pyramid2"/>
    <dgm:cxn modelId="{966C702C-A5E8-40A7-82BA-BF82257B9AF4}" type="presParOf" srcId="{67A66B3D-BAEA-4734-81A4-3FA61A2837F6}" destId="{5956F3D9-764E-468B-BBEC-69595642B66D}" srcOrd="1" destOrd="0" presId="urn:microsoft.com/office/officeart/2005/8/layout/pyramid2"/>
    <dgm:cxn modelId="{3AFCA90A-2D3B-4996-BBAF-57C16663BFC3}" type="presParOf" srcId="{67A66B3D-BAEA-4734-81A4-3FA61A2837F6}" destId="{E9E54B10-0E80-4EC7-BDC9-1B1E1CD3F5FC}" srcOrd="2" destOrd="0" presId="urn:microsoft.com/office/officeart/2005/8/layout/pyramid2"/>
    <dgm:cxn modelId="{4B7DFE7B-FEE8-41D8-ADA2-B7D3C55EE716}" type="presParOf" srcId="{67A66B3D-BAEA-4734-81A4-3FA61A2837F6}" destId="{2533FDDA-1140-4423-8215-A249C25D2753}" srcOrd="3" destOrd="0" presId="urn:microsoft.com/office/officeart/2005/8/layout/pyramid2"/>
    <dgm:cxn modelId="{5CA14DAA-7480-46BA-92F7-BCE363E8F8C0}" type="presParOf" srcId="{67A66B3D-BAEA-4734-81A4-3FA61A2837F6}" destId="{B5BCA4F7-7F6F-43C2-84D5-1C28E4BBCA24}" srcOrd="4" destOrd="0" presId="urn:microsoft.com/office/officeart/2005/8/layout/pyramid2"/>
    <dgm:cxn modelId="{27DA79F0-2BB0-47DF-9B4F-F0D382BA6389}" type="presParOf" srcId="{67A66B3D-BAEA-4734-81A4-3FA61A2837F6}" destId="{53133F68-D5DF-411C-9C30-07A43607D1F3}" srcOrd="5" destOrd="0" presId="urn:microsoft.com/office/officeart/2005/8/layout/pyramid2"/>
    <dgm:cxn modelId="{4F7F22DC-E7BD-4FEC-9BA2-62932197447B}" type="presParOf" srcId="{67A66B3D-BAEA-4734-81A4-3FA61A2837F6}" destId="{54EC23F3-F115-4CD3-9500-0768D2AE6E17}" srcOrd="6" destOrd="0" presId="urn:microsoft.com/office/officeart/2005/8/layout/pyramid2"/>
    <dgm:cxn modelId="{98C07E9B-82C9-4BD7-A0AE-C8CDB00B6325}" type="presParOf" srcId="{67A66B3D-BAEA-4734-81A4-3FA61A2837F6}" destId="{6655755C-E94F-4B60-8554-ED3FF4C2751D}" srcOrd="7" destOrd="0" presId="urn:microsoft.com/office/officeart/2005/8/layout/pyramid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D9E2F1-B549-4EF6-9A39-54153CB848BF}">
      <dsp:nvSpPr>
        <dsp:cNvPr id="0" name=""/>
        <dsp:cNvSpPr/>
      </dsp:nvSpPr>
      <dsp:spPr>
        <a:xfrm>
          <a:off x="2965" y="47601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Performance measure</a:t>
          </a:r>
          <a:endParaRPr lang="en-US" sz="1900" kern="1200"/>
        </a:p>
      </dsp:txBody>
      <dsp:txXfrm>
        <a:off x="2965" y="476011"/>
        <a:ext cx="1782979" cy="687255"/>
      </dsp:txXfrm>
    </dsp:sp>
    <dsp:sp modelId="{AE9246A3-3980-441E-8C93-893085D8CE26}">
      <dsp:nvSpPr>
        <dsp:cNvPr id="0" name=""/>
        <dsp:cNvSpPr/>
      </dsp:nvSpPr>
      <dsp:spPr>
        <a:xfrm>
          <a:off x="2965" y="1163266"/>
          <a:ext cx="1782979" cy="271205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endParaRPr lang="en-US" sz="1900" kern="1200"/>
        </a:p>
        <a:p>
          <a:pPr marL="171450" lvl="1" indent="-171450" algn="l" defTabSz="844550">
            <a:lnSpc>
              <a:spcPct val="90000"/>
            </a:lnSpc>
            <a:spcBef>
              <a:spcPct val="0"/>
            </a:spcBef>
            <a:spcAft>
              <a:spcPct val="15000"/>
            </a:spcAft>
            <a:buChar char="•"/>
          </a:pPr>
          <a:endParaRPr lang="en-US" sz="1900" kern="120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dsp:txBody>
      <dsp:txXfrm>
        <a:off x="2965" y="1163266"/>
        <a:ext cx="1782979" cy="2712059"/>
      </dsp:txXfrm>
    </dsp:sp>
    <dsp:sp modelId="{5AAEAC57-C5CF-4BF7-B78E-013E1F7A0946}">
      <dsp:nvSpPr>
        <dsp:cNvPr id="0" name=""/>
        <dsp:cNvSpPr/>
      </dsp:nvSpPr>
      <dsp:spPr>
        <a:xfrm>
          <a:off x="2035561" y="47601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Environment</a:t>
          </a:r>
          <a:endParaRPr lang="en-US" sz="1900" kern="1200"/>
        </a:p>
      </dsp:txBody>
      <dsp:txXfrm>
        <a:off x="2035561" y="476011"/>
        <a:ext cx="1782979" cy="687255"/>
      </dsp:txXfrm>
    </dsp:sp>
    <dsp:sp modelId="{DD58FCCA-5A53-48EF-830C-01A1BC2DEC5F}">
      <dsp:nvSpPr>
        <dsp:cNvPr id="0" name=""/>
        <dsp:cNvSpPr/>
      </dsp:nvSpPr>
      <dsp:spPr>
        <a:xfrm>
          <a:off x="2035561" y="1163266"/>
          <a:ext cx="1782979" cy="271205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2D001E74-0AE6-4A24-B178-617FDC7EFAEB}">
      <dsp:nvSpPr>
        <dsp:cNvPr id="0" name=""/>
        <dsp:cNvSpPr/>
      </dsp:nvSpPr>
      <dsp:spPr>
        <a:xfrm>
          <a:off x="4068158" y="47601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Actuators</a:t>
          </a:r>
          <a:endParaRPr lang="en-US" sz="1900" kern="1200"/>
        </a:p>
      </dsp:txBody>
      <dsp:txXfrm>
        <a:off x="4068158" y="476011"/>
        <a:ext cx="1782979" cy="687255"/>
      </dsp:txXfrm>
    </dsp:sp>
    <dsp:sp modelId="{C7F39890-5C8D-48FD-9A3D-71E6A4C3F357}">
      <dsp:nvSpPr>
        <dsp:cNvPr id="0" name=""/>
        <dsp:cNvSpPr/>
      </dsp:nvSpPr>
      <dsp:spPr>
        <a:xfrm>
          <a:off x="4068158" y="1163266"/>
          <a:ext cx="1782979" cy="271205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D723AC5-A2E2-4B16-BEA7-A94A2BECAD1C}">
      <dsp:nvSpPr>
        <dsp:cNvPr id="0" name=""/>
        <dsp:cNvSpPr/>
      </dsp:nvSpPr>
      <dsp:spPr>
        <a:xfrm>
          <a:off x="6100755" y="47601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dirty="0"/>
            <a:t>Sensors</a:t>
          </a:r>
          <a:endParaRPr lang="en-US" sz="1900" kern="1200" dirty="0"/>
        </a:p>
      </dsp:txBody>
      <dsp:txXfrm>
        <a:off x="6100755" y="476011"/>
        <a:ext cx="1782979" cy="687255"/>
      </dsp:txXfrm>
    </dsp:sp>
    <dsp:sp modelId="{C961A285-B32F-4EA0-A7A2-A0725D9D4CB3}">
      <dsp:nvSpPr>
        <dsp:cNvPr id="0" name=""/>
        <dsp:cNvSpPr/>
      </dsp:nvSpPr>
      <dsp:spPr>
        <a:xfrm>
          <a:off x="6100755" y="1146180"/>
          <a:ext cx="1782979" cy="271205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D9E2F1-B549-4EF6-9A39-54153CB848BF}">
      <dsp:nvSpPr>
        <dsp:cNvPr id="0" name=""/>
        <dsp:cNvSpPr/>
      </dsp:nvSpPr>
      <dsp:spPr>
        <a:xfrm>
          <a:off x="2965" y="505348"/>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Performance measure</a:t>
          </a:r>
          <a:endParaRPr lang="en-US" sz="1900" kern="1200"/>
        </a:p>
      </dsp:txBody>
      <dsp:txXfrm>
        <a:off x="2965" y="505348"/>
        <a:ext cx="1782979" cy="687255"/>
      </dsp:txXfrm>
    </dsp:sp>
    <dsp:sp modelId="{AE9246A3-3980-441E-8C93-893085D8CE26}">
      <dsp:nvSpPr>
        <dsp:cNvPr id="0" name=""/>
        <dsp:cNvSpPr/>
      </dsp:nvSpPr>
      <dsp:spPr>
        <a:xfrm>
          <a:off x="2965" y="1192603"/>
          <a:ext cx="1782979" cy="265338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Safe</a:t>
          </a:r>
        </a:p>
        <a:p>
          <a:pPr marL="171450" lvl="1" indent="-171450" algn="l" defTabSz="844550">
            <a:lnSpc>
              <a:spcPct val="90000"/>
            </a:lnSpc>
            <a:spcBef>
              <a:spcPct val="0"/>
            </a:spcBef>
            <a:spcAft>
              <a:spcPct val="15000"/>
            </a:spcAft>
            <a:buChar char="•"/>
          </a:pPr>
          <a:r>
            <a:rPr lang="en-US" sz="1900" kern="1200" dirty="0"/>
            <a:t>fast</a:t>
          </a:r>
        </a:p>
        <a:p>
          <a:pPr marL="171450" lvl="1" indent="-171450" algn="l" defTabSz="844550">
            <a:lnSpc>
              <a:spcPct val="90000"/>
            </a:lnSpc>
            <a:spcBef>
              <a:spcPct val="0"/>
            </a:spcBef>
            <a:spcAft>
              <a:spcPct val="15000"/>
            </a:spcAft>
            <a:buChar char="•"/>
          </a:pPr>
          <a:r>
            <a:rPr lang="en-US" sz="1900" kern="1200" dirty="0"/>
            <a:t>legal</a:t>
          </a:r>
        </a:p>
        <a:p>
          <a:pPr marL="171450" lvl="1" indent="-171450" algn="l" defTabSz="844550">
            <a:lnSpc>
              <a:spcPct val="90000"/>
            </a:lnSpc>
            <a:spcBef>
              <a:spcPct val="0"/>
            </a:spcBef>
            <a:spcAft>
              <a:spcPct val="15000"/>
            </a:spcAft>
            <a:buChar char="•"/>
          </a:pPr>
          <a:r>
            <a:rPr lang="en-US" sz="1900" kern="1200" dirty="0"/>
            <a:t>comfortable trip</a:t>
          </a:r>
        </a:p>
        <a:p>
          <a:pPr marL="171450" lvl="1" indent="-171450" algn="l" defTabSz="844550">
            <a:lnSpc>
              <a:spcPct val="90000"/>
            </a:lnSpc>
            <a:spcBef>
              <a:spcPct val="0"/>
            </a:spcBef>
            <a:spcAft>
              <a:spcPct val="15000"/>
            </a:spcAft>
            <a:buChar char="•"/>
          </a:pPr>
          <a:r>
            <a:rPr lang="en-US" sz="1900" kern="1200" dirty="0"/>
            <a:t>maximize profits</a:t>
          </a:r>
        </a:p>
      </dsp:txBody>
      <dsp:txXfrm>
        <a:off x="2965" y="1192603"/>
        <a:ext cx="1782979" cy="2653385"/>
      </dsp:txXfrm>
    </dsp:sp>
    <dsp:sp modelId="{5AAEAC57-C5CF-4BF7-B78E-013E1F7A0946}">
      <dsp:nvSpPr>
        <dsp:cNvPr id="0" name=""/>
        <dsp:cNvSpPr/>
      </dsp:nvSpPr>
      <dsp:spPr>
        <a:xfrm>
          <a:off x="2035561" y="505348"/>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Environment</a:t>
          </a:r>
          <a:endParaRPr lang="en-US" sz="1900" kern="1200"/>
        </a:p>
      </dsp:txBody>
      <dsp:txXfrm>
        <a:off x="2035561" y="505348"/>
        <a:ext cx="1782979" cy="687255"/>
      </dsp:txXfrm>
    </dsp:sp>
    <dsp:sp modelId="{DD58FCCA-5A53-48EF-830C-01A1BC2DEC5F}">
      <dsp:nvSpPr>
        <dsp:cNvPr id="0" name=""/>
        <dsp:cNvSpPr/>
      </dsp:nvSpPr>
      <dsp:spPr>
        <a:xfrm>
          <a:off x="2035561" y="1192603"/>
          <a:ext cx="1782979" cy="265338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Roads</a:t>
          </a:r>
        </a:p>
        <a:p>
          <a:pPr marL="171450" lvl="1" indent="-171450" algn="l" defTabSz="844550">
            <a:lnSpc>
              <a:spcPct val="90000"/>
            </a:lnSpc>
            <a:spcBef>
              <a:spcPct val="0"/>
            </a:spcBef>
            <a:spcAft>
              <a:spcPct val="15000"/>
            </a:spcAft>
            <a:buChar char="•"/>
          </a:pPr>
          <a:r>
            <a:rPr lang="en-US" sz="1900" kern="1200" dirty="0"/>
            <a:t>other traffic </a:t>
          </a:r>
        </a:p>
        <a:p>
          <a:pPr marL="171450" lvl="1" indent="-171450" algn="l" defTabSz="844550">
            <a:lnSpc>
              <a:spcPct val="90000"/>
            </a:lnSpc>
            <a:spcBef>
              <a:spcPct val="0"/>
            </a:spcBef>
            <a:spcAft>
              <a:spcPct val="15000"/>
            </a:spcAft>
            <a:buChar char="•"/>
          </a:pPr>
          <a:r>
            <a:rPr lang="en-US" sz="1900" kern="1200" dirty="0"/>
            <a:t>pedestrians </a:t>
          </a:r>
        </a:p>
        <a:p>
          <a:pPr marL="171450" lvl="1" indent="-171450" algn="l" defTabSz="844550">
            <a:lnSpc>
              <a:spcPct val="90000"/>
            </a:lnSpc>
            <a:spcBef>
              <a:spcPct val="0"/>
            </a:spcBef>
            <a:spcAft>
              <a:spcPct val="15000"/>
            </a:spcAft>
            <a:buChar char="•"/>
          </a:pPr>
          <a:r>
            <a:rPr lang="en-US" sz="1900" kern="1200" dirty="0"/>
            <a:t>customers</a:t>
          </a:r>
        </a:p>
      </dsp:txBody>
      <dsp:txXfrm>
        <a:off x="2035561" y="1192603"/>
        <a:ext cx="1782979" cy="2653385"/>
      </dsp:txXfrm>
    </dsp:sp>
    <dsp:sp modelId="{2D001E74-0AE6-4A24-B178-617FDC7EFAEB}">
      <dsp:nvSpPr>
        <dsp:cNvPr id="0" name=""/>
        <dsp:cNvSpPr/>
      </dsp:nvSpPr>
      <dsp:spPr>
        <a:xfrm>
          <a:off x="4068158" y="505348"/>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Actuators</a:t>
          </a:r>
          <a:endParaRPr lang="en-US" sz="1900" kern="1200"/>
        </a:p>
      </dsp:txBody>
      <dsp:txXfrm>
        <a:off x="4068158" y="505348"/>
        <a:ext cx="1782979" cy="687255"/>
      </dsp:txXfrm>
    </dsp:sp>
    <dsp:sp modelId="{C7F39890-5C8D-48FD-9A3D-71E6A4C3F357}">
      <dsp:nvSpPr>
        <dsp:cNvPr id="0" name=""/>
        <dsp:cNvSpPr/>
      </dsp:nvSpPr>
      <dsp:spPr>
        <a:xfrm>
          <a:off x="4068158" y="1192603"/>
          <a:ext cx="1782979" cy="265338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Steering wheel</a:t>
          </a:r>
        </a:p>
        <a:p>
          <a:pPr marL="171450" lvl="1" indent="-171450" algn="l" defTabSz="844550">
            <a:lnSpc>
              <a:spcPct val="90000"/>
            </a:lnSpc>
            <a:spcBef>
              <a:spcPct val="0"/>
            </a:spcBef>
            <a:spcAft>
              <a:spcPct val="15000"/>
            </a:spcAft>
            <a:buChar char="•"/>
          </a:pPr>
          <a:r>
            <a:rPr lang="en-US" sz="1900" kern="1200" dirty="0"/>
            <a:t> accelerator</a:t>
          </a:r>
        </a:p>
        <a:p>
          <a:pPr marL="171450" lvl="1" indent="-171450" algn="l" defTabSz="844550">
            <a:lnSpc>
              <a:spcPct val="90000"/>
            </a:lnSpc>
            <a:spcBef>
              <a:spcPct val="0"/>
            </a:spcBef>
            <a:spcAft>
              <a:spcPct val="15000"/>
            </a:spcAft>
            <a:buChar char="•"/>
          </a:pPr>
          <a:r>
            <a:rPr lang="en-US" sz="1900" kern="1200" dirty="0"/>
            <a:t>brake</a:t>
          </a:r>
        </a:p>
        <a:p>
          <a:pPr marL="171450" lvl="1" indent="-171450" algn="l" defTabSz="844550">
            <a:lnSpc>
              <a:spcPct val="90000"/>
            </a:lnSpc>
            <a:spcBef>
              <a:spcPct val="0"/>
            </a:spcBef>
            <a:spcAft>
              <a:spcPct val="15000"/>
            </a:spcAft>
            <a:buChar char="•"/>
          </a:pPr>
          <a:r>
            <a:rPr lang="en-US" sz="1900" kern="1200" dirty="0"/>
            <a:t>signal</a:t>
          </a:r>
        </a:p>
        <a:p>
          <a:pPr marL="171450" lvl="1" indent="-171450" algn="l" defTabSz="844550">
            <a:lnSpc>
              <a:spcPct val="90000"/>
            </a:lnSpc>
            <a:spcBef>
              <a:spcPct val="0"/>
            </a:spcBef>
            <a:spcAft>
              <a:spcPct val="15000"/>
            </a:spcAft>
            <a:buChar char="•"/>
          </a:pPr>
          <a:r>
            <a:rPr lang="en-US" sz="1900" kern="1200" dirty="0"/>
            <a:t>horn</a:t>
          </a:r>
        </a:p>
      </dsp:txBody>
      <dsp:txXfrm>
        <a:off x="4068158" y="1192603"/>
        <a:ext cx="1782979" cy="2653385"/>
      </dsp:txXfrm>
    </dsp:sp>
    <dsp:sp modelId="{ED723AC5-A2E2-4B16-BEA7-A94A2BECAD1C}">
      <dsp:nvSpPr>
        <dsp:cNvPr id="0" name=""/>
        <dsp:cNvSpPr/>
      </dsp:nvSpPr>
      <dsp:spPr>
        <a:xfrm>
          <a:off x="6100755" y="505348"/>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Sensors</a:t>
          </a:r>
          <a:endParaRPr lang="en-US" sz="1900" kern="1200"/>
        </a:p>
      </dsp:txBody>
      <dsp:txXfrm>
        <a:off x="6100755" y="505348"/>
        <a:ext cx="1782979" cy="687255"/>
      </dsp:txXfrm>
    </dsp:sp>
    <dsp:sp modelId="{C961A285-B32F-4EA0-A7A2-A0725D9D4CB3}">
      <dsp:nvSpPr>
        <dsp:cNvPr id="0" name=""/>
        <dsp:cNvSpPr/>
      </dsp:nvSpPr>
      <dsp:spPr>
        <a:xfrm>
          <a:off x="6100755" y="1192603"/>
          <a:ext cx="1782979" cy="265338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Cameras</a:t>
          </a:r>
        </a:p>
        <a:p>
          <a:pPr marL="171450" lvl="1" indent="-171450" algn="l" defTabSz="844550">
            <a:lnSpc>
              <a:spcPct val="90000"/>
            </a:lnSpc>
            <a:spcBef>
              <a:spcPct val="0"/>
            </a:spcBef>
            <a:spcAft>
              <a:spcPct val="15000"/>
            </a:spcAft>
            <a:buChar char="•"/>
          </a:pPr>
          <a:r>
            <a:rPr lang="en-US" sz="1900" kern="1200" dirty="0"/>
            <a:t>sonar</a:t>
          </a:r>
        </a:p>
        <a:p>
          <a:pPr marL="171450" lvl="1" indent="-171450" algn="l" defTabSz="844550">
            <a:lnSpc>
              <a:spcPct val="90000"/>
            </a:lnSpc>
            <a:spcBef>
              <a:spcPct val="0"/>
            </a:spcBef>
            <a:spcAft>
              <a:spcPct val="15000"/>
            </a:spcAft>
            <a:buChar char="•"/>
          </a:pPr>
          <a:r>
            <a:rPr lang="en-US" sz="1900" kern="1200" dirty="0"/>
            <a:t>speedometer</a:t>
          </a:r>
        </a:p>
        <a:p>
          <a:pPr marL="171450" lvl="1" indent="-171450" algn="l" defTabSz="844550">
            <a:lnSpc>
              <a:spcPct val="90000"/>
            </a:lnSpc>
            <a:spcBef>
              <a:spcPct val="0"/>
            </a:spcBef>
            <a:spcAft>
              <a:spcPct val="15000"/>
            </a:spcAft>
            <a:buChar char="•"/>
          </a:pPr>
          <a:r>
            <a:rPr lang="en-US" sz="1900" kern="1200" dirty="0"/>
            <a:t>GPS</a:t>
          </a:r>
        </a:p>
        <a:p>
          <a:pPr marL="171450" lvl="1" indent="-171450" algn="l" defTabSz="844550">
            <a:lnSpc>
              <a:spcPct val="90000"/>
            </a:lnSpc>
            <a:spcBef>
              <a:spcPct val="0"/>
            </a:spcBef>
            <a:spcAft>
              <a:spcPct val="15000"/>
            </a:spcAft>
            <a:buChar char="•"/>
          </a:pPr>
          <a:r>
            <a:rPr lang="en-US" sz="1900" kern="1200" dirty="0"/>
            <a:t>Odometer</a:t>
          </a:r>
        </a:p>
        <a:p>
          <a:pPr marL="171450" lvl="1" indent="-171450" algn="l" defTabSz="844550">
            <a:lnSpc>
              <a:spcPct val="90000"/>
            </a:lnSpc>
            <a:spcBef>
              <a:spcPct val="0"/>
            </a:spcBef>
            <a:spcAft>
              <a:spcPct val="15000"/>
            </a:spcAft>
            <a:buChar char="•"/>
          </a:pPr>
          <a:r>
            <a:rPr lang="en-US" sz="1900" kern="1200" dirty="0"/>
            <a:t>engine sensors</a:t>
          </a:r>
        </a:p>
        <a:p>
          <a:pPr marL="171450" lvl="1" indent="-171450" algn="l" defTabSz="844550">
            <a:lnSpc>
              <a:spcPct val="90000"/>
            </a:lnSpc>
            <a:spcBef>
              <a:spcPct val="0"/>
            </a:spcBef>
            <a:spcAft>
              <a:spcPct val="15000"/>
            </a:spcAft>
            <a:buChar char="•"/>
          </a:pPr>
          <a:r>
            <a:rPr lang="en-US" sz="1900" kern="1200" dirty="0"/>
            <a:t>keyboard</a:t>
          </a:r>
        </a:p>
      </dsp:txBody>
      <dsp:txXfrm>
        <a:off x="6100755" y="1192603"/>
        <a:ext cx="1782979" cy="265338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1772EB-A28C-4249-9248-E9285A7294E2}">
      <dsp:nvSpPr>
        <dsp:cNvPr id="0" name=""/>
        <dsp:cNvSpPr/>
      </dsp:nvSpPr>
      <dsp:spPr>
        <a:xfrm rot="10800000">
          <a:off x="0" y="0"/>
          <a:ext cx="4351338" cy="4351338"/>
        </a:xfrm>
        <a:prstGeom prst="triangle">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128154D5-B7B6-4090-B776-DC63838EC167}">
      <dsp:nvSpPr>
        <dsp:cNvPr id="0" name=""/>
        <dsp:cNvSpPr/>
      </dsp:nvSpPr>
      <dsp:spPr>
        <a:xfrm>
          <a:off x="1691756" y="435558"/>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Utility-based agents</a:t>
          </a:r>
        </a:p>
      </dsp:txBody>
      <dsp:txXfrm>
        <a:off x="1729509" y="473311"/>
        <a:ext cx="2752863" cy="697876"/>
      </dsp:txXfrm>
    </dsp:sp>
    <dsp:sp modelId="{E9E54B10-0E80-4EC7-BDC9-1B1E1CD3F5FC}">
      <dsp:nvSpPr>
        <dsp:cNvPr id="0" name=""/>
        <dsp:cNvSpPr/>
      </dsp:nvSpPr>
      <dsp:spPr>
        <a:xfrm>
          <a:off x="1691756" y="1305613"/>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Goal-based agents</a:t>
          </a:r>
        </a:p>
      </dsp:txBody>
      <dsp:txXfrm>
        <a:off x="1729509" y="1343366"/>
        <a:ext cx="2752863" cy="697876"/>
      </dsp:txXfrm>
    </dsp:sp>
    <dsp:sp modelId="{B5BCA4F7-7F6F-43C2-84D5-1C28E4BBCA24}">
      <dsp:nvSpPr>
        <dsp:cNvPr id="0" name=""/>
        <dsp:cNvSpPr/>
      </dsp:nvSpPr>
      <dsp:spPr>
        <a:xfrm>
          <a:off x="1691756" y="2175669"/>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Model-based reflex agents</a:t>
          </a:r>
          <a:endParaRPr lang="en-US" sz="1900" kern="1200" dirty="0"/>
        </a:p>
      </dsp:txBody>
      <dsp:txXfrm>
        <a:off x="1729509" y="2213422"/>
        <a:ext cx="2752863" cy="697876"/>
      </dsp:txXfrm>
    </dsp:sp>
    <dsp:sp modelId="{54EC23F3-F115-4CD3-9500-0768D2AE6E17}">
      <dsp:nvSpPr>
        <dsp:cNvPr id="0" name=""/>
        <dsp:cNvSpPr/>
      </dsp:nvSpPr>
      <dsp:spPr>
        <a:xfrm>
          <a:off x="1691756" y="3045724"/>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Simple reflex agents</a:t>
          </a:r>
        </a:p>
      </dsp:txBody>
      <dsp:txXfrm>
        <a:off x="1729509" y="3083477"/>
        <a:ext cx="2752863" cy="697876"/>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yramid2">
  <dgm:title val=""/>
  <dgm:desc val=""/>
  <dgm:catLst>
    <dgm:cat type="pyramid" pri="3000"/>
    <dgm:cat type="list" pri="21000"/>
    <dgm:cat type="convert" pri="17000"/>
  </dgm:catLst>
  <dgm:sampData useDef="1">
    <dgm:dataModel>
      <dgm:ptLst/>
      <dgm:bg/>
      <dgm:whole/>
    </dgm:dataModel>
  </dgm:sampData>
  <dgm:styleData useDef="1">
    <dgm:dataModel>
      <dgm:ptLst/>
      <dgm:bg/>
      <dgm:whole/>
    </dgm:dataModel>
  </dgm:styleData>
  <dgm:clrData useDef="1">
    <dgm:dataModel>
      <dgm:ptLst/>
      <dgm:bg/>
      <dgm:whole/>
    </dgm:dataModel>
  </dgm:clrData>
  <dgm:layoutNode name="compositeShape">
    <dgm:alg type="composite"/>
    <dgm:shape xmlns:r="http://schemas.openxmlformats.org/officeDocument/2006/relationships" r:blip="">
      <dgm:adjLst/>
    </dgm:shape>
    <dgm:presOf/>
    <dgm:varLst>
      <dgm:dir/>
      <dgm:resizeHandles/>
    </dgm:varLst>
    <dgm:choose name="Name0">
      <dgm:if name="Name1" func="var" arg="dir" op="equ" val="norm">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l" for="ch" forName="theList" refType="w" refFor="ch" refForName="pyramid" fact="0.5"/>
          <dgm:constr type="h" for="des" forName="aSpace" refType="h" fact="0.1"/>
        </dgm:constrLst>
      </dgm:if>
      <dgm:else name="Name2">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r" for="ch" forName="theList" refType="w" refFor="ch" refForName="pyramid" fact="0.5"/>
          <dgm:constr type="h" for="des" forName="aSpace" refType="h" fact="0.1"/>
        </dgm:constrLst>
      </dgm:else>
    </dgm:choose>
    <dgm:ruleLst/>
    <dgm:choose name="Name3">
      <dgm:if name="Name4" axis="ch" ptType="node" func="cnt" op="gte" val="1">
        <dgm:layoutNode name="pyramid" styleLbl="node1">
          <dgm:alg type="sp"/>
          <dgm:shape xmlns:r="http://schemas.openxmlformats.org/officeDocument/2006/relationships" type="triangle" r:blip="">
            <dgm:adjLst/>
          </dgm:shape>
          <dgm:presOf/>
          <dgm:constrLst/>
          <dgm:ruleLst/>
        </dgm:layoutNode>
        <dgm:layoutNode name="theList">
          <dgm:alg type="lin">
            <dgm:param type="linDir" val="fromT"/>
          </dgm:alg>
          <dgm:shape xmlns:r="http://schemas.openxmlformats.org/officeDocument/2006/relationships" r:blip="">
            <dgm:adjLst/>
          </dgm:shape>
          <dgm:presOf/>
          <dgm:constrLst>
            <dgm:constr type="w" for="ch" forName="aNode" refType="w"/>
            <dgm:constr type="h" for="ch" forName="aNode" refType="h"/>
            <dgm:constr type="primFontSz" for="ch" ptType="node" op="equ"/>
          </dgm:constrLst>
          <dgm:ruleLst/>
          <dgm:forEach name="aNodeForEach" axis="ch" ptType="node">
            <dgm:layoutNode name="aNode" styleLbl="fgAcc1">
              <dgm:varLst>
                <dgm:bulletEnabled val="1"/>
              </dgm:varLst>
              <dgm:alg type="tx"/>
              <dgm:shape xmlns:r="http://schemas.openxmlformats.org/officeDocument/2006/relationships" type="roundRect" r:blip="">
                <dgm:adjLst/>
              </dgm:shape>
              <dgm:presOf axis="desOrSelf" ptType="node"/>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aSpace">
              <dgm:alg type="sp"/>
              <dgm:shape xmlns:r="http://schemas.openxmlformats.org/officeDocument/2006/relationships" r:blip="">
                <dgm:adjLst/>
              </dgm:shape>
              <dgm:presOf/>
              <dgm:constrLst/>
              <dgm:ruleLst/>
            </dgm:layoutNode>
          </dgm:forEach>
        </dgm:layoutNode>
      </dgm:if>
      <dgm:else name="Name5"/>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5#1">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0060"/>
          </a:xfrm>
          <a:prstGeom prst="rect">
            <a:avLst/>
          </a:prstGeom>
        </p:spPr>
        <p:txBody>
          <a:bodyPr vert="horz" lIns="96661" tIns="48331" rIns="96661" bIns="48331" rtlCol="0"/>
          <a:lstStyle>
            <a:lvl1pPr algn="r">
              <a:defRPr sz="1300"/>
            </a:lvl1pPr>
          </a:lstStyle>
          <a:p>
            <a:fld id="{C590261E-DED2-4ECB-93F0-6041BFF84361}" type="datetimeFigureOut">
              <a:rPr lang="en-US" smtClean="0"/>
              <a:pPr/>
              <a:t>9/3/2026</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560570"/>
            <a:ext cx="5852160" cy="4320540"/>
          </a:xfrm>
          <a:prstGeom prst="rect">
            <a:avLst/>
          </a:prstGeom>
        </p:spPr>
        <p:txBody>
          <a:bodyPr vert="horz" lIns="96661" tIns="48331" rIns="96661" bIns="48331"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0060"/>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0060"/>
          </a:xfrm>
          <a:prstGeom prst="rect">
            <a:avLst/>
          </a:prstGeom>
        </p:spPr>
        <p:txBody>
          <a:bodyPr vert="horz" lIns="96661" tIns="48331" rIns="96661" bIns="48331" rtlCol="0" anchor="b"/>
          <a:lstStyle>
            <a:lvl1pPr algn="r">
              <a:defRPr sz="1300"/>
            </a:lvl1pPr>
          </a:lstStyle>
          <a:p>
            <a:fld id="{2754576A-F041-465B-B05C-90CC0BF4FA50}"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4</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err="1"/>
              <a:t>ExpectedUtility</a:t>
            </a:r>
            <a:r>
              <a:rPr lang="en-US" baseline="0" dirty="0"/>
              <a:t>(action) = </a:t>
            </a:r>
            <a:r>
              <a:rPr lang="en-US" baseline="0" dirty="0" err="1"/>
              <a:t>sum_outcomes</a:t>
            </a:r>
            <a:r>
              <a:rPr lang="en-US" baseline="0" dirty="0"/>
              <a:t> Utility(outcome) * P(outcome)</a:t>
            </a:r>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5</a:t>
            </a:fld>
            <a:endParaRPr lang="en-US"/>
          </a:p>
        </p:txBody>
      </p:sp>
    </p:spTree>
    <p:extLst>
      <p:ext uri="{BB962C8B-B14F-4D97-AF65-F5344CB8AC3E}">
        <p14:creationId xmlns:p14="http://schemas.microsoft.com/office/powerpoint/2010/main" val="39642429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7389A-3918-3C41-4920-588DB7E377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0ACE2-F481-518C-B9E7-DDE65A7002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52636E-08DA-74CD-5B0B-EDDB3AEF2E7C}"/>
              </a:ext>
            </a:extLst>
          </p:cNvPr>
          <p:cNvSpPr>
            <a:spLocks noGrp="1"/>
          </p:cNvSpPr>
          <p:nvPr>
            <p:ph type="body" idx="1"/>
          </p:nvPr>
        </p:nvSpPr>
        <p:spPr/>
        <p:txBody>
          <a:bodyPr>
            <a:normAutofit/>
          </a:bodyPr>
          <a:lstStyle/>
          <a:p>
            <a:endParaRPr lang="en-US"/>
          </a:p>
        </p:txBody>
      </p:sp>
      <p:sp>
        <p:nvSpPr>
          <p:cNvPr id="4" name="Slide Number Placeholder 3">
            <a:extLst>
              <a:ext uri="{FF2B5EF4-FFF2-40B4-BE49-F238E27FC236}">
                <a16:creationId xmlns:a16="http://schemas.microsoft.com/office/drawing/2014/main" id="{B714D026-1CAE-49B0-35BA-61226F2EA2B4}"/>
              </a:ext>
            </a:extLst>
          </p:cNvPr>
          <p:cNvSpPr>
            <a:spLocks noGrp="1"/>
          </p:cNvSpPr>
          <p:nvPr>
            <p:ph type="sldNum" sz="quarter" idx="10"/>
          </p:nvPr>
        </p:nvSpPr>
        <p:spPr/>
        <p:txBody>
          <a:bodyPr/>
          <a:lstStyle/>
          <a:p>
            <a:fld id="{2754576A-F041-465B-B05C-90CC0BF4FA50}" type="slidenum">
              <a:rPr lang="en-US" smtClean="0"/>
              <a:pPr/>
              <a:t>7</a:t>
            </a:fld>
            <a:endParaRPr lang="en-US"/>
          </a:p>
        </p:txBody>
      </p:sp>
    </p:spTree>
    <p:extLst>
      <p:ext uri="{BB962C8B-B14F-4D97-AF65-F5344CB8AC3E}">
        <p14:creationId xmlns:p14="http://schemas.microsoft.com/office/powerpoint/2010/main" val="19835026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FF82C-88FD-7643-0C8D-B6665F82D5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AF4857-557F-4C97-CE8A-772D0E0ABD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EB3BD2-0CFF-5B21-6911-20BCADE2A808}"/>
              </a:ext>
            </a:extLst>
          </p:cNvPr>
          <p:cNvSpPr>
            <a:spLocks noGrp="1"/>
          </p:cNvSpPr>
          <p:nvPr>
            <p:ph type="body" idx="1"/>
          </p:nvPr>
        </p:nvSpPr>
        <p:spPr/>
        <p:txBody>
          <a:bodyPr>
            <a:normAutofit/>
          </a:bodyPr>
          <a:lstStyle/>
          <a:p>
            <a:endParaRPr lang="en-US"/>
          </a:p>
        </p:txBody>
      </p:sp>
      <p:sp>
        <p:nvSpPr>
          <p:cNvPr id="4" name="Slide Number Placeholder 3">
            <a:extLst>
              <a:ext uri="{FF2B5EF4-FFF2-40B4-BE49-F238E27FC236}">
                <a16:creationId xmlns:a16="http://schemas.microsoft.com/office/drawing/2014/main" id="{5EC2FA18-B9F4-CE6E-8891-A477B2C0A450}"/>
              </a:ext>
            </a:extLst>
          </p:cNvPr>
          <p:cNvSpPr>
            <a:spLocks noGrp="1"/>
          </p:cNvSpPr>
          <p:nvPr>
            <p:ph type="sldNum" sz="quarter" idx="10"/>
          </p:nvPr>
        </p:nvSpPr>
        <p:spPr/>
        <p:txBody>
          <a:bodyPr/>
          <a:lstStyle/>
          <a:p>
            <a:fld id="{2754576A-F041-465B-B05C-90CC0BF4FA50}" type="slidenum">
              <a:rPr lang="en-US" smtClean="0"/>
              <a:pPr/>
              <a:t>8</a:t>
            </a:fld>
            <a:endParaRPr lang="en-US"/>
          </a:p>
        </p:txBody>
      </p:sp>
    </p:spTree>
    <p:extLst>
      <p:ext uri="{BB962C8B-B14F-4D97-AF65-F5344CB8AC3E}">
        <p14:creationId xmlns:p14="http://schemas.microsoft.com/office/powerpoint/2010/main" val="35486358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err="1"/>
              <a:t>ExpectedUtility</a:t>
            </a:r>
            <a:r>
              <a:rPr lang="en-US" baseline="0" dirty="0"/>
              <a:t>(action) = </a:t>
            </a:r>
            <a:r>
              <a:rPr lang="en-US" baseline="0" dirty="0" err="1"/>
              <a:t>sum_outcomes</a:t>
            </a:r>
            <a:r>
              <a:rPr lang="en-US" baseline="0" dirty="0"/>
              <a:t> Utility(outcome) * P(outcome)</a:t>
            </a:r>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11</a:t>
            </a:fld>
            <a:endParaRPr lang="en-US"/>
          </a:p>
        </p:txBody>
      </p:sp>
    </p:spTree>
    <p:extLst>
      <p:ext uri="{BB962C8B-B14F-4D97-AF65-F5344CB8AC3E}">
        <p14:creationId xmlns:p14="http://schemas.microsoft.com/office/powerpoint/2010/main" val="39642429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17</a:t>
            </a:fld>
            <a:endParaRPr lang="en-US"/>
          </a:p>
        </p:txBody>
      </p:sp>
    </p:spTree>
    <p:extLst>
      <p:ext uri="{BB962C8B-B14F-4D97-AF65-F5344CB8AC3E}">
        <p14:creationId xmlns:p14="http://schemas.microsoft.com/office/powerpoint/2010/main" val="17932646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18</a:t>
            </a:fld>
            <a:endParaRPr lang="en-US"/>
          </a:p>
        </p:txBody>
      </p:sp>
    </p:spTree>
    <p:extLst>
      <p:ext uri="{BB962C8B-B14F-4D97-AF65-F5344CB8AC3E}">
        <p14:creationId xmlns:p14="http://schemas.microsoft.com/office/powerpoint/2010/main" val="4987525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19</a:t>
            </a:fld>
            <a:endParaRPr lang="en-US"/>
          </a:p>
        </p:txBody>
      </p:sp>
    </p:spTree>
    <p:extLst>
      <p:ext uri="{BB962C8B-B14F-4D97-AF65-F5344CB8AC3E}">
        <p14:creationId xmlns:p14="http://schemas.microsoft.com/office/powerpoint/2010/main" val="8379786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754576A-F041-465B-B05C-90CC0BF4FA50}" type="slidenum">
              <a:rPr lang="en-US" smtClean="0"/>
              <a:pPr/>
              <a:t>20</a:t>
            </a:fld>
            <a:endParaRPr lang="en-US"/>
          </a:p>
        </p:txBody>
      </p:sp>
    </p:spTree>
    <p:extLst>
      <p:ext uri="{BB962C8B-B14F-4D97-AF65-F5344CB8AC3E}">
        <p14:creationId xmlns:p14="http://schemas.microsoft.com/office/powerpoint/2010/main" val="30072577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754576A-F041-465B-B05C-90CC0BF4FA50}" type="slidenum">
              <a:rPr lang="en-US" smtClean="0"/>
              <a:pPr/>
              <a:t>21</a:t>
            </a:fld>
            <a:endParaRPr lang="en-US"/>
          </a:p>
        </p:txBody>
      </p:sp>
    </p:spTree>
    <p:extLst>
      <p:ext uri="{BB962C8B-B14F-4D97-AF65-F5344CB8AC3E}">
        <p14:creationId xmlns:p14="http://schemas.microsoft.com/office/powerpoint/2010/main" val="29702351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754576A-F041-465B-B05C-90CC0BF4FA50}" type="slidenum">
              <a:rPr lang="en-US" smtClean="0"/>
              <a:pPr/>
              <a:t>23</a:t>
            </a:fld>
            <a:endParaRPr lang="en-US"/>
          </a:p>
        </p:txBody>
      </p:sp>
    </p:spTree>
    <p:extLst>
      <p:ext uri="{BB962C8B-B14F-4D97-AF65-F5344CB8AC3E}">
        <p14:creationId xmlns:p14="http://schemas.microsoft.com/office/powerpoint/2010/main" val="30072577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06778-3054-78D5-57A0-73256BE6DC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3C843D-D88A-5F90-1AD3-B55393302E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1E7DC6-987E-8539-96C2-4020344BFF9C}"/>
              </a:ext>
            </a:extLst>
          </p:cNvPr>
          <p:cNvSpPr>
            <a:spLocks noGrp="1"/>
          </p:cNvSpPr>
          <p:nvPr>
            <p:ph type="body" idx="1"/>
          </p:nvPr>
        </p:nvSpPr>
        <p:spPr/>
        <p:txBody>
          <a:bodyPr>
            <a:normAutofit/>
          </a:bodyPr>
          <a:lstStyle/>
          <a:p>
            <a:endParaRPr lang="en-US"/>
          </a:p>
        </p:txBody>
      </p:sp>
      <p:sp>
        <p:nvSpPr>
          <p:cNvPr id="4" name="Slide Number Placeholder 3">
            <a:extLst>
              <a:ext uri="{FF2B5EF4-FFF2-40B4-BE49-F238E27FC236}">
                <a16:creationId xmlns:a16="http://schemas.microsoft.com/office/drawing/2014/main" id="{E42496BA-6FAC-3D6C-2ACA-3AD73A41737A}"/>
              </a:ext>
            </a:extLst>
          </p:cNvPr>
          <p:cNvSpPr>
            <a:spLocks noGrp="1"/>
          </p:cNvSpPr>
          <p:nvPr>
            <p:ph type="sldNum" sz="quarter" idx="10"/>
          </p:nvPr>
        </p:nvSpPr>
        <p:spPr/>
        <p:txBody>
          <a:bodyPr/>
          <a:lstStyle/>
          <a:p>
            <a:fld id="{2754576A-F041-465B-B05C-90CC0BF4FA50}" type="slidenum">
              <a:rPr lang="en-US" smtClean="0"/>
              <a:pPr/>
              <a:t>24</a:t>
            </a:fld>
            <a:endParaRPr lang="en-US"/>
          </a:p>
        </p:txBody>
      </p:sp>
    </p:spTree>
    <p:extLst>
      <p:ext uri="{BB962C8B-B14F-4D97-AF65-F5344CB8AC3E}">
        <p14:creationId xmlns:p14="http://schemas.microsoft.com/office/powerpoint/2010/main" val="11818881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25</a:t>
            </a:fld>
            <a:endParaRPr lang="en-US"/>
          </a:p>
        </p:txBody>
      </p:sp>
    </p:spTree>
    <p:extLst>
      <p:ext uri="{BB962C8B-B14F-4D97-AF65-F5344CB8AC3E}">
        <p14:creationId xmlns:p14="http://schemas.microsoft.com/office/powerpoint/2010/main" val="24472438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43A0A1-3327-45CE-8A21-0BF59E3A9C67}"/>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83E0102D-83A5-4E73-A95C-4D3778785FC1}"/>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104584AD-FB15-4D4C-88DE-F352529B24DC}"/>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7920771D-B2B7-4DDB-877A-898A10F451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EC21AC-5AFD-4F2C-8A31-C0113410E034}"/>
              </a:ext>
            </a:extLst>
          </p:cNvPr>
          <p:cNvSpPr>
            <a:spLocks noGrp="1"/>
          </p:cNvSpPr>
          <p:nvPr>
            <p:ph type="sldNum" sz="quarter" idx="12"/>
          </p:nvPr>
        </p:nvSpPr>
        <p:spPr/>
        <p:txBody>
          <a:bodyPr/>
          <a:lstStyle/>
          <a:p>
            <a:fld id="{74041002-DB11-4CB5-8D08-702C16F0A10E}" type="slidenum">
              <a:rPr lang="en-US" smtClean="0"/>
              <a:pPr/>
              <a:t>‹#›</a:t>
            </a:fld>
            <a:endParaRPr lang="en-US"/>
          </a:p>
        </p:txBody>
      </p:sp>
    </p:spTree>
    <p:extLst>
      <p:ext uri="{BB962C8B-B14F-4D97-AF65-F5344CB8AC3E}">
        <p14:creationId xmlns:p14="http://schemas.microsoft.com/office/powerpoint/2010/main" val="27701419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C4AC9-C37B-4E02-A225-58C9FBB9A2E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6FE8FA6-09EB-4014-B26B-31EC25B4D34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CF4D38-A032-4754-A488-4CD20CEBC8D6}"/>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A68D13E9-ECF5-4999-AEC3-C0A8301B4DC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DABB79-3EF9-4AAE-BBF6-6AA392DABFEB}"/>
              </a:ext>
            </a:extLst>
          </p:cNvPr>
          <p:cNvSpPr>
            <a:spLocks noGrp="1"/>
          </p:cNvSpPr>
          <p:nvPr>
            <p:ph type="sldNum" sz="quarter" idx="12"/>
          </p:nvPr>
        </p:nvSpPr>
        <p:spPr/>
        <p:txBody>
          <a:bodyPr/>
          <a:lstStyle/>
          <a:p>
            <a:fld id="{6F5C59D9-7B0B-4A47-B130-1CDBC65A3C5C}" type="slidenum">
              <a:rPr lang="en-US" smtClean="0"/>
              <a:pPr/>
              <a:t>‹#›</a:t>
            </a:fld>
            <a:endParaRPr lang="en-US"/>
          </a:p>
        </p:txBody>
      </p:sp>
    </p:spTree>
    <p:extLst>
      <p:ext uri="{BB962C8B-B14F-4D97-AF65-F5344CB8AC3E}">
        <p14:creationId xmlns:p14="http://schemas.microsoft.com/office/powerpoint/2010/main" val="22802885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7AF54D-79F1-4FBB-B3D9-325206B99F29}"/>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6C14BE77-C158-434B-B162-FE8ABAFFD638}"/>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22C29E0-AEC0-4E60-A102-F17F3531786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4A6ADECA-9481-4613-821B-D1554DA9C22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956AD3-074F-4112-901E-6AC9E271A2F1}"/>
              </a:ext>
            </a:extLst>
          </p:cNvPr>
          <p:cNvSpPr>
            <a:spLocks noGrp="1"/>
          </p:cNvSpPr>
          <p:nvPr>
            <p:ph type="sldNum" sz="quarter" idx="12"/>
          </p:nvPr>
        </p:nvSpPr>
        <p:spPr/>
        <p:txBody>
          <a:bodyPr/>
          <a:lstStyle/>
          <a:p>
            <a:fld id="{E3362B86-7F7E-4139-B376-4AD4B8D85F65}" type="slidenum">
              <a:rPr lang="en-US" smtClean="0"/>
              <a:pPr/>
              <a:t>‹#›</a:t>
            </a:fld>
            <a:endParaRPr lang="en-US"/>
          </a:p>
        </p:txBody>
      </p:sp>
    </p:spTree>
    <p:extLst>
      <p:ext uri="{BB962C8B-B14F-4D97-AF65-F5344CB8AC3E}">
        <p14:creationId xmlns:p14="http://schemas.microsoft.com/office/powerpoint/2010/main" val="1764768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3D92B-30D0-4376-8CE9-BE73BCA0F13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8459DD5-3ACF-4231-89D2-E4FB0944C477}"/>
              </a:ext>
            </a:extLst>
          </p:cNvPr>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ADF2D3-5819-4C97-8B69-9A645A431297}"/>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648A80-B2A6-4D5F-AFE2-7EC14D5B399C}"/>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64885392-3AD1-4B9F-BDE7-E811EE4B8A9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F553B12-6FF9-461B-B662-2E287CEE3061}"/>
              </a:ext>
            </a:extLst>
          </p:cNvPr>
          <p:cNvSpPr>
            <a:spLocks noGrp="1"/>
          </p:cNvSpPr>
          <p:nvPr>
            <p:ph type="sldNum" sz="quarter" idx="12"/>
          </p:nvPr>
        </p:nvSpPr>
        <p:spPr/>
        <p:txBody>
          <a:bodyPr/>
          <a:lstStyle/>
          <a:p>
            <a:fld id="{63CE097A-0202-40AA-A458-179EE75DF308}" type="slidenum">
              <a:rPr lang="en-US" smtClean="0"/>
              <a:pPr/>
              <a:t>‹#›</a:t>
            </a:fld>
            <a:endParaRPr lang="en-US"/>
          </a:p>
        </p:txBody>
      </p:sp>
    </p:spTree>
    <p:extLst>
      <p:ext uri="{BB962C8B-B14F-4D97-AF65-F5344CB8AC3E}">
        <p14:creationId xmlns:p14="http://schemas.microsoft.com/office/powerpoint/2010/main" val="16478130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67D962-2DDE-4D90-AFEB-0AF259A4F7DD}"/>
              </a:ext>
            </a:extLst>
          </p:cNvPr>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9808309-9304-455B-99E4-537464DDD40A}"/>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F0520CD4-2875-48EA-8AF9-496D552469D7}"/>
              </a:ext>
            </a:extLst>
          </p:cNvPr>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95F9376-4868-43F4-9A2A-6951C726B354}"/>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1A610D3E-B0F9-4C1C-A524-F283922CCD23}"/>
              </a:ext>
            </a:extLst>
          </p:cNvPr>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64893AB-4DA9-4155-BA7D-0DA93AAAC2D3}"/>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A7EE904F-BEB5-427E-91C5-C887D1E5225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8F287E9-DB2B-46C3-9DB2-0902398D45B4}"/>
              </a:ext>
            </a:extLst>
          </p:cNvPr>
          <p:cNvSpPr>
            <a:spLocks noGrp="1"/>
          </p:cNvSpPr>
          <p:nvPr>
            <p:ph type="sldNum" sz="quarter" idx="12"/>
          </p:nvPr>
        </p:nvSpPr>
        <p:spPr/>
        <p:txBody>
          <a:bodyPr/>
          <a:lstStyle/>
          <a:p>
            <a:fld id="{ED15B2DA-E7BB-48C3-84E0-E007D0828B96}" type="slidenum">
              <a:rPr lang="en-US" smtClean="0"/>
              <a:pPr/>
              <a:t>‹#›</a:t>
            </a:fld>
            <a:endParaRPr lang="en-US"/>
          </a:p>
        </p:txBody>
      </p:sp>
    </p:spTree>
    <p:extLst>
      <p:ext uri="{BB962C8B-B14F-4D97-AF65-F5344CB8AC3E}">
        <p14:creationId xmlns:p14="http://schemas.microsoft.com/office/powerpoint/2010/main" val="25026055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314B55-C98C-44F3-9E04-75CA1C02A29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5F07777-7DFE-488E-8FF0-AF885700A5DD}"/>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D42283B2-F1D4-4B18-BA20-EDC87441451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41D0810-F107-4148-B946-E0FB8D886496}"/>
              </a:ext>
            </a:extLst>
          </p:cNvPr>
          <p:cNvSpPr>
            <a:spLocks noGrp="1"/>
          </p:cNvSpPr>
          <p:nvPr>
            <p:ph type="sldNum" sz="quarter" idx="12"/>
          </p:nvPr>
        </p:nvSpPr>
        <p:spPr/>
        <p:txBody>
          <a:bodyPr/>
          <a:lstStyle/>
          <a:p>
            <a:fld id="{583E5F97-0747-4E28-9EC3-9A00DB5D1CC0}" type="slidenum">
              <a:rPr lang="en-US" smtClean="0"/>
              <a:pPr/>
              <a:t>‹#›</a:t>
            </a:fld>
            <a:endParaRPr lang="en-US"/>
          </a:p>
        </p:txBody>
      </p:sp>
    </p:spTree>
    <p:extLst>
      <p:ext uri="{BB962C8B-B14F-4D97-AF65-F5344CB8AC3E}">
        <p14:creationId xmlns:p14="http://schemas.microsoft.com/office/powerpoint/2010/main" val="7163733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9460C90-643E-4B39-97AA-545987962D70}"/>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D0E9D3B7-E3D2-4F0F-8BEB-D0F893F106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5BA60A5-4025-415E-8277-A6F9F70B50CF}"/>
              </a:ext>
            </a:extLst>
          </p:cNvPr>
          <p:cNvSpPr>
            <a:spLocks noGrp="1"/>
          </p:cNvSpPr>
          <p:nvPr>
            <p:ph type="sldNum" sz="quarter" idx="12"/>
          </p:nvPr>
        </p:nvSpPr>
        <p:spPr/>
        <p:txBody>
          <a:bodyPr/>
          <a:lstStyle/>
          <a:p>
            <a:fld id="{01594F5C-90A9-4417-807B-514F8236606C}" type="slidenum">
              <a:rPr lang="en-US" smtClean="0"/>
              <a:pPr/>
              <a:t>‹#›</a:t>
            </a:fld>
            <a:endParaRPr lang="en-US"/>
          </a:p>
        </p:txBody>
      </p:sp>
    </p:spTree>
    <p:extLst>
      <p:ext uri="{BB962C8B-B14F-4D97-AF65-F5344CB8AC3E}">
        <p14:creationId xmlns:p14="http://schemas.microsoft.com/office/powerpoint/2010/main" val="21544047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E4D8C-EFCC-475C-979B-F8686ADCDF75}"/>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0DC78DC2-BF0A-4078-947A-D8BA3118ADE9}"/>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FFA89E1-4D67-4703-8094-BE925CD311D1}"/>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470F72F9-138A-4D27-94F5-B2810AD7A96D}"/>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E207353E-3E74-4855-8A3A-D4B22FCAF5E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463FEAA-5B95-4BF6-9ABB-74AAB8A9BB14}"/>
              </a:ext>
            </a:extLst>
          </p:cNvPr>
          <p:cNvSpPr>
            <a:spLocks noGrp="1"/>
          </p:cNvSpPr>
          <p:nvPr>
            <p:ph type="sldNum" sz="quarter" idx="12"/>
          </p:nvPr>
        </p:nvSpPr>
        <p:spPr/>
        <p:txBody>
          <a:bodyPr/>
          <a:lstStyle/>
          <a:p>
            <a:fld id="{71FBFBB7-A63E-4184-8C27-28D5A1B90F77}" type="slidenum">
              <a:rPr lang="en-US" smtClean="0"/>
              <a:pPr/>
              <a:t>‹#›</a:t>
            </a:fld>
            <a:endParaRPr lang="en-US"/>
          </a:p>
        </p:txBody>
      </p:sp>
    </p:spTree>
    <p:extLst>
      <p:ext uri="{BB962C8B-B14F-4D97-AF65-F5344CB8AC3E}">
        <p14:creationId xmlns:p14="http://schemas.microsoft.com/office/powerpoint/2010/main" val="37058223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34127-5359-425B-85D2-0A5D7A6D9617}"/>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88AC3F76-0F9D-44B8-B320-5527EED139D9}"/>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844369F9-7A97-46E8-AFA9-C7017F9427C4}"/>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593C1D6-5D11-4968-B679-3E1CC6CFCF82}"/>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58A93109-6D71-4EA2-B07F-91E5CB6290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44AD4A7-BF84-4397-B385-2AD7820F1432}"/>
              </a:ext>
            </a:extLst>
          </p:cNvPr>
          <p:cNvSpPr>
            <a:spLocks noGrp="1"/>
          </p:cNvSpPr>
          <p:nvPr>
            <p:ph type="sldNum" sz="quarter" idx="12"/>
          </p:nvPr>
        </p:nvSpPr>
        <p:spPr/>
        <p:txBody>
          <a:bodyPr/>
          <a:lstStyle/>
          <a:p>
            <a:fld id="{47486196-CF52-4FC7-AF29-4DD7E56B5403}" type="slidenum">
              <a:rPr lang="en-US" smtClean="0"/>
              <a:pPr/>
              <a:t>‹#›</a:t>
            </a:fld>
            <a:endParaRPr lang="en-US"/>
          </a:p>
        </p:txBody>
      </p:sp>
    </p:spTree>
    <p:extLst>
      <p:ext uri="{BB962C8B-B14F-4D97-AF65-F5344CB8AC3E}">
        <p14:creationId xmlns:p14="http://schemas.microsoft.com/office/powerpoint/2010/main" val="30888451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A5E47-C049-4A0A-B554-59FD1CB64C7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8CFED5F-110F-447A-A8E7-7207F8E1732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DD629D5-90EF-4646-954E-2A913ABEC5F0}"/>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57DDEB13-434B-4FB2-BAAF-89B2739E81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B0EAE48-842D-41AF-92E2-D30DB1BA2963}"/>
              </a:ext>
            </a:extLst>
          </p:cNvPr>
          <p:cNvSpPr>
            <a:spLocks noGrp="1"/>
          </p:cNvSpPr>
          <p:nvPr>
            <p:ph type="sldNum" sz="quarter" idx="12"/>
          </p:nvPr>
        </p:nvSpPr>
        <p:spPr/>
        <p:txBody>
          <a:bodyPr/>
          <a:lstStyle/>
          <a:p>
            <a:fld id="{811DA4DA-FE51-4727-A448-71DB39333978}" type="slidenum">
              <a:rPr lang="en-US" smtClean="0"/>
              <a:pPr/>
              <a:t>‹#›</a:t>
            </a:fld>
            <a:endParaRPr lang="en-US"/>
          </a:p>
        </p:txBody>
      </p:sp>
    </p:spTree>
    <p:extLst>
      <p:ext uri="{BB962C8B-B14F-4D97-AF65-F5344CB8AC3E}">
        <p14:creationId xmlns:p14="http://schemas.microsoft.com/office/powerpoint/2010/main" val="24732094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A76FEB-CDB4-462A-9F79-6A20CF7C08AC}"/>
              </a:ext>
            </a:extLst>
          </p:cNvPr>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D869DC8-76D3-4204-B2AE-EFC9BD3D08C8}"/>
              </a:ext>
            </a:extLst>
          </p:cNvPr>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DD1055-F71C-4DEB-9AFB-08AF80DE13A1}"/>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232A486D-6FB9-4790-90A1-36404733D2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FB8E9DA-F14C-4A2F-9EEE-9AE2AC984261}"/>
              </a:ext>
            </a:extLst>
          </p:cNvPr>
          <p:cNvSpPr>
            <a:spLocks noGrp="1"/>
          </p:cNvSpPr>
          <p:nvPr>
            <p:ph type="sldNum" sz="quarter" idx="12"/>
          </p:nvPr>
        </p:nvSpPr>
        <p:spPr/>
        <p:txBody>
          <a:bodyPr/>
          <a:lstStyle/>
          <a:p>
            <a:fld id="{FD447C27-FF74-4852-9465-57F11B88EDD0}" type="slidenum">
              <a:rPr lang="en-US" smtClean="0"/>
              <a:pPr/>
              <a:t>‹#›</a:t>
            </a:fld>
            <a:endParaRPr lang="en-US"/>
          </a:p>
        </p:txBody>
      </p:sp>
    </p:spTree>
    <p:extLst>
      <p:ext uri="{BB962C8B-B14F-4D97-AF65-F5344CB8AC3E}">
        <p14:creationId xmlns:p14="http://schemas.microsoft.com/office/powerpoint/2010/main" val="17005430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EAF2D2E-0472-425C-8625-002334FD0F42}"/>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60688C7-213E-4AC0-9CCB-4B37ADE783B8}"/>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AB2B9E-65CF-4896-9D56-89B327320924}"/>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5" name="Footer Placeholder 4">
            <a:extLst>
              <a:ext uri="{FF2B5EF4-FFF2-40B4-BE49-F238E27FC236}">
                <a16:creationId xmlns:a16="http://schemas.microsoft.com/office/drawing/2014/main" id="{5BDB68C1-3BE1-44E6-8C91-A93FE8D36155}"/>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0D742CE-0BD3-4D70-821B-CFCC3B8AA0BC}"/>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0764D00B-BD52-414C-8F65-9176DEBFB48D}" type="slidenum">
              <a:rPr lang="en-US" smtClean="0"/>
              <a:pPr/>
              <a:t>‹#›</a:t>
            </a:fld>
            <a:endParaRPr lang="en-US"/>
          </a:p>
        </p:txBody>
      </p:sp>
    </p:spTree>
    <p:extLst>
      <p:ext uri="{BB962C8B-B14F-4D97-AF65-F5344CB8AC3E}">
        <p14:creationId xmlns:p14="http://schemas.microsoft.com/office/powerpoint/2010/main" val="314200983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hyperlink" Target="http://creativecommons.org/licenses/by-sa/4.0/"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50.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image" Target="../media/image12.jp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14.jpe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1.jpeg"/></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21.jpe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21.jpe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4.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8" Type="http://schemas.openxmlformats.org/officeDocument/2006/relationships/image" Target="../media/image141.png"/><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160.png"/></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80.png"/></Relationships>
</file>

<file path=ppt/slides/_rels/slide19.xml.rels><?xml version="1.0" encoding="UTF-8" standalone="yes"?>
<Relationships xmlns="http://schemas.openxmlformats.org/package/2006/relationships"><Relationship Id="rId8" Type="http://schemas.openxmlformats.org/officeDocument/2006/relationships/image" Target="../media/image241.png"/><Relationship Id="rId3" Type="http://schemas.openxmlformats.org/officeDocument/2006/relationships/image" Target="../media/image24.png"/><Relationship Id="rId7" Type="http://schemas.openxmlformats.org/officeDocument/2006/relationships/image" Target="../media/image220.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30.png"/><Relationship Id="rId5" Type="http://schemas.openxmlformats.org/officeDocument/2006/relationships/image" Target="../media/image200.png"/><Relationship Id="rId4" Type="http://schemas.openxmlformats.org/officeDocument/2006/relationships/image" Target="../media/image221.png"/></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51.png"/></Relationships>
</file>

<file path=ppt/slides/_rels/slide21.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0.png"/></Relationships>
</file>

<file path=ppt/slides/_rels/slide22.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1.jpeg"/></Relationships>
</file>

<file path=ppt/slides/_rels/slide24.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21.jpeg"/></Relationships>
</file>

<file path=ppt/slides/_rels/slide25.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 Id="rId9" Type="http://schemas.openxmlformats.org/officeDocument/2006/relationships/image" Target="../media/image21.jpeg"/></Relationships>
</file>

<file path=ppt/slides/_rels/slide2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1" name="Rectangle 200">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AE5B7659-5440-4C5D-BF12-8650731C1C16}"/>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0697" r="20801" b="3654"/>
          <a:stretch/>
        </p:blipFill>
        <p:spPr bwMode="auto">
          <a:xfrm>
            <a:off x="2642616" y="10"/>
            <a:ext cx="6501384" cy="6857990"/>
          </a:xfrm>
          <a:prstGeom prst="rect">
            <a:avLst/>
          </a:prstGeom>
          <a:noFill/>
          <a:extLst>
            <a:ext uri="{909E8E84-426E-40DD-AFC4-6F175D3DCCD1}">
              <a14:hiddenFill xmlns:a14="http://schemas.microsoft.com/office/drawing/2010/main">
                <a:solidFill>
                  <a:srgbClr val="FFFFFF"/>
                </a:solidFill>
              </a14:hiddenFill>
            </a:ext>
          </a:extLst>
        </p:spPr>
      </p:pic>
      <p:sp>
        <p:nvSpPr>
          <p:cNvPr id="203" name="Rectangle 202">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7004404"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76" name="Rectangle 4"/>
          <p:cNvSpPr>
            <a:spLocks noGrp="1" noChangeArrowheads="1"/>
          </p:cNvSpPr>
          <p:nvPr>
            <p:ph type="ctrTitle"/>
          </p:nvPr>
        </p:nvSpPr>
        <p:spPr>
          <a:xfrm>
            <a:off x="358485" y="1122363"/>
            <a:ext cx="3017520" cy="3204134"/>
          </a:xfrm>
        </p:spPr>
        <p:txBody>
          <a:bodyPr anchor="b">
            <a:normAutofit/>
          </a:bodyPr>
          <a:lstStyle/>
          <a:p>
            <a:pPr algn="l"/>
            <a:r>
              <a:rPr lang="en-US" sz="2900" dirty="0"/>
              <a:t>CS 5/7320 </a:t>
            </a:r>
            <a:br>
              <a:rPr lang="en-US" sz="2900" dirty="0"/>
            </a:br>
            <a:r>
              <a:rPr lang="en-US" sz="2900" dirty="0"/>
              <a:t>Artificial Intelligence</a:t>
            </a:r>
            <a:br>
              <a:rPr lang="en-US" sz="2900" dirty="0"/>
            </a:br>
            <a:br>
              <a:rPr lang="en-US" sz="2900" dirty="0"/>
            </a:br>
            <a:r>
              <a:rPr lang="en-US" sz="2900" dirty="0"/>
              <a:t>Intelligent Agents</a:t>
            </a:r>
            <a:br>
              <a:rPr lang="en-US" sz="2900" dirty="0"/>
            </a:br>
            <a:r>
              <a:rPr lang="en-US" sz="2900" dirty="0"/>
              <a:t>AIMA Chapter 2</a:t>
            </a:r>
          </a:p>
        </p:txBody>
      </p:sp>
      <p:sp>
        <p:nvSpPr>
          <p:cNvPr id="2" name="TextBox 1">
            <a:extLst>
              <a:ext uri="{FF2B5EF4-FFF2-40B4-BE49-F238E27FC236}">
                <a16:creationId xmlns:a16="http://schemas.microsoft.com/office/drawing/2014/main" id="{B9FC7274-F5AC-E29D-A377-AAED5E7A3573}"/>
              </a:ext>
              <a:ext uri="{C183D7F6-B498-43B3-948B-1728B52AA6E4}">
                <adec:decorative xmlns:adec="http://schemas.microsoft.com/office/drawing/2017/decorative" val="1"/>
              </a:ext>
            </a:extLst>
          </p:cNvPr>
          <p:cNvSpPr txBox="1"/>
          <p:nvPr/>
        </p:nvSpPr>
        <p:spPr>
          <a:xfrm rot="2099715">
            <a:off x="1208326" y="632636"/>
            <a:ext cx="1828800" cy="538609"/>
          </a:xfrm>
          <a:prstGeom prst="rect">
            <a:avLst/>
          </a:prstGeom>
          <a:noFill/>
        </p:spPr>
        <p:txBody>
          <a:bodyPr wrap="square" rtlCol="0">
            <a:spAutoFit/>
          </a:bodyPr>
          <a:lstStyle/>
          <a:p>
            <a:pPr algn="ctr"/>
            <a:r>
              <a:rPr lang="en-US" sz="2900" b="1" dirty="0">
                <a:latin typeface="+mj-lt"/>
                <a:ea typeface="+mj-ea"/>
                <a:cs typeface="+mj-cs"/>
              </a:rPr>
              <a:t>Discussion</a:t>
            </a:r>
          </a:p>
        </p:txBody>
      </p:sp>
      <p:sp>
        <p:nvSpPr>
          <p:cNvPr id="8" name="Subtitle 1">
            <a:extLst>
              <a:ext uri="{FF2B5EF4-FFF2-40B4-BE49-F238E27FC236}">
                <a16:creationId xmlns:a16="http://schemas.microsoft.com/office/drawing/2014/main" id="{C67622BC-4AA0-4D26-8187-CF6FAE699224}"/>
              </a:ext>
            </a:extLst>
          </p:cNvPr>
          <p:cNvSpPr>
            <a:spLocks noGrp="1"/>
          </p:cNvSpPr>
          <p:nvPr>
            <p:ph type="subTitle" idx="1"/>
          </p:nvPr>
        </p:nvSpPr>
        <p:spPr>
          <a:xfrm>
            <a:off x="304800" y="4872922"/>
            <a:ext cx="3352800" cy="1208141"/>
          </a:xfrm>
        </p:spPr>
        <p:txBody>
          <a:bodyPr>
            <a:normAutofit/>
          </a:bodyPr>
          <a:lstStyle/>
          <a:p>
            <a:pPr algn="l"/>
            <a:r>
              <a:rPr lang="en-US" dirty="0"/>
              <a:t>Slides by Michael Hahsler</a:t>
            </a:r>
            <a:br>
              <a:rPr lang="en-US" sz="1700" dirty="0"/>
            </a:br>
            <a:r>
              <a:rPr lang="en-US" sz="1600" dirty="0"/>
              <a:t>with figures from the AIMA textbook. </a:t>
            </a:r>
            <a:r>
              <a:rPr lang="en-US" sz="1400" dirty="0"/>
              <a:t>	</a:t>
            </a:r>
            <a:r>
              <a:rPr lang="en-US" sz="1700" dirty="0"/>
              <a:t>	</a:t>
            </a:r>
          </a:p>
        </p:txBody>
      </p:sp>
      <p:sp>
        <p:nvSpPr>
          <p:cNvPr id="205" name="Rectangle 20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1653"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07" name="Rectangle 20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0771" y="4546920"/>
            <a:ext cx="298323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TextBox 18">
            <a:extLst>
              <a:ext uri="{FF2B5EF4-FFF2-40B4-BE49-F238E27FC236}">
                <a16:creationId xmlns:a16="http://schemas.microsoft.com/office/drawing/2014/main" id="{4C3C116D-ED66-40ED-AFB0-7D0CA9A0182C}"/>
              </a:ext>
              <a:ext uri="{C183D7F6-B498-43B3-948B-1728B52AA6E4}">
                <adec:decorative xmlns:adec="http://schemas.microsoft.com/office/drawing/2017/decorative" val="1"/>
              </a:ext>
            </a:extLst>
          </p:cNvPr>
          <p:cNvSpPr txBox="1"/>
          <p:nvPr/>
        </p:nvSpPr>
        <p:spPr>
          <a:xfrm>
            <a:off x="4648200" y="6324600"/>
            <a:ext cx="4381846" cy="461665"/>
          </a:xfrm>
          <a:prstGeom prst="rect">
            <a:avLst/>
          </a:prstGeom>
          <a:noFill/>
        </p:spPr>
        <p:txBody>
          <a:bodyPr wrap="square">
            <a:spAutoFit/>
          </a:bodyPr>
          <a:lstStyle/>
          <a:p>
            <a:pPr algn="r"/>
            <a:r>
              <a:rPr lang="en-US" sz="1200" dirty="0">
                <a:solidFill>
                  <a:schemeClr val="tx1">
                    <a:lumMod val="50000"/>
                  </a:schemeClr>
                </a:solidFill>
              </a:rPr>
              <a:t>Image: "Robot at the British Library Science Fiction Exhibition" </a:t>
            </a:r>
            <a:br>
              <a:rPr lang="en-US" sz="1200" dirty="0">
                <a:solidFill>
                  <a:schemeClr val="tx1">
                    <a:lumMod val="50000"/>
                  </a:schemeClr>
                </a:solidFill>
              </a:rPr>
            </a:br>
            <a:r>
              <a:rPr lang="en-US" sz="1200" dirty="0">
                <a:solidFill>
                  <a:schemeClr val="tx1">
                    <a:lumMod val="50000"/>
                  </a:schemeClr>
                </a:solidFill>
              </a:rPr>
              <a:t>by </a:t>
            </a:r>
            <a:r>
              <a:rPr lang="en-US" sz="1200" dirty="0" err="1">
                <a:solidFill>
                  <a:schemeClr val="tx1">
                    <a:lumMod val="50000"/>
                  </a:schemeClr>
                </a:solidFill>
              </a:rPr>
              <a:t>BadgerGravling</a:t>
            </a:r>
            <a:endParaRPr lang="en-US" sz="1200" dirty="0">
              <a:solidFill>
                <a:schemeClr val="tx1">
                  <a:lumMod val="50000"/>
                </a:schemeClr>
              </a:solidFill>
            </a:endParaRPr>
          </a:p>
        </p:txBody>
      </p:sp>
      <p:pic>
        <p:nvPicPr>
          <p:cNvPr id="1028" name="Picture 4">
            <a:extLst>
              <a:ext uri="{FF2B5EF4-FFF2-40B4-BE49-F238E27FC236}">
                <a16:creationId xmlns:a16="http://schemas.microsoft.com/office/drawing/2014/main" id="{2BB06AE9-068B-4E97-8907-09A9E5C5507E}"/>
              </a:ext>
              <a:ext uri="{C183D7F6-B498-43B3-948B-1728B52AA6E4}">
                <adec:decorative xmlns:adec="http://schemas.microsoft.com/office/drawing/2017/decorative" val="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8994" y="6388777"/>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92A124C9-205E-4ABC-890A-F9FADE29D6F7}"/>
              </a:ext>
            </a:extLst>
          </p:cNvPr>
          <p:cNvSpPr txBox="1"/>
          <p:nvPr/>
        </p:nvSpPr>
        <p:spPr>
          <a:xfrm>
            <a:off x="1219200" y="6279488"/>
            <a:ext cx="3017521" cy="430887"/>
          </a:xfrm>
          <a:prstGeom prst="rect">
            <a:avLst/>
          </a:prstGeom>
          <a:noFill/>
        </p:spPr>
        <p:txBody>
          <a:bodyPr wrap="square">
            <a:spAutoFit/>
          </a:bodyPr>
          <a:lstStyle/>
          <a:p>
            <a:r>
              <a:rPr lang="en-US" sz="1100" b="0" i="0" dirty="0">
                <a:solidFill>
                  <a:schemeClr val="tx1">
                    <a:lumMod val="50000"/>
                  </a:schemeClr>
                </a:solidFill>
                <a:effectLst/>
                <a:latin typeface="Calibri" panose="020F0502020204030204" pitchFamily="34" charset="0"/>
              </a:rPr>
              <a:t>This work is licensed under a </a:t>
            </a:r>
            <a:r>
              <a:rPr lang="en-US" sz="1100" b="0" i="0" strike="noStrike" dirty="0">
                <a:solidFill>
                  <a:schemeClr val="tx1">
                    <a:lumMod val="50000"/>
                  </a:schemeClr>
                </a:solidFill>
                <a:effectLst/>
                <a:latin typeface="Calibri" panose="020F0502020204030204" pitchFamily="34" charset="0"/>
                <a:hlinkClick r:id="rId5">
                  <a:extLst>
                    <a:ext uri="{A12FA001-AC4F-418D-AE19-62706E023703}">
                      <ahyp:hlinkClr xmlns:ahyp="http://schemas.microsoft.com/office/drawing/2018/hyperlinkcolor" val="tx"/>
                    </a:ext>
                  </a:extLst>
                </a:hlinkClick>
              </a:rPr>
              <a:t>Creative Commons Attribution-</a:t>
            </a:r>
            <a:r>
              <a:rPr lang="en-US" sz="1100" b="0" i="0" strike="noStrike" dirty="0" err="1">
                <a:solidFill>
                  <a:schemeClr val="tx1">
                    <a:lumMod val="50000"/>
                  </a:schemeClr>
                </a:solidFill>
                <a:effectLst/>
                <a:latin typeface="Calibri" panose="020F0502020204030204" pitchFamily="34" charset="0"/>
                <a:hlinkClick r:id="rId5">
                  <a:extLst>
                    <a:ext uri="{A12FA001-AC4F-418D-AE19-62706E023703}">
                      <ahyp:hlinkClr xmlns:ahyp="http://schemas.microsoft.com/office/drawing/2018/hyperlinkcolor" val="tx"/>
                    </a:ext>
                  </a:extLst>
                </a:hlinkClick>
              </a:rPr>
              <a:t>ShareAlike</a:t>
            </a:r>
            <a:r>
              <a:rPr lang="en-US" sz="1100" b="0" i="0" strike="noStrike" dirty="0">
                <a:solidFill>
                  <a:schemeClr val="tx1">
                    <a:lumMod val="50000"/>
                  </a:schemeClr>
                </a:solidFill>
                <a:effectLst/>
                <a:latin typeface="Calibri" panose="020F0502020204030204" pitchFamily="34" charset="0"/>
                <a:hlinkClick r:id="rId5">
                  <a:extLst>
                    <a:ext uri="{A12FA001-AC4F-418D-AE19-62706E023703}">
                      <ahyp:hlinkClr xmlns:ahyp="http://schemas.microsoft.com/office/drawing/2018/hyperlinkcolor" val="tx"/>
                    </a:ext>
                  </a:extLst>
                </a:hlinkClick>
              </a:rPr>
              <a:t> 4.0 International License</a:t>
            </a:r>
            <a:r>
              <a:rPr lang="en-US" sz="1100" b="0" i="0" dirty="0">
                <a:solidFill>
                  <a:schemeClr val="tx1">
                    <a:lumMod val="50000"/>
                  </a:schemeClr>
                </a:solidFill>
                <a:effectLst/>
                <a:latin typeface="Calibri" panose="020F0502020204030204" pitchFamily="34" charset="0"/>
              </a:rPr>
              <a:t>.</a:t>
            </a:r>
            <a:endParaRPr lang="en-US" sz="1100" dirty="0">
              <a:solidFill>
                <a:schemeClr val="tx1">
                  <a:lumMod val="50000"/>
                </a:schemeClr>
              </a:solidFill>
            </a:endParaRPr>
          </a:p>
        </p:txBody>
      </p:sp>
    </p:spTree>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14">
            <a:extLst>
              <a:ext uri="{FF2B5EF4-FFF2-40B4-BE49-F238E27FC236}">
                <a16:creationId xmlns:a16="http://schemas.microsoft.com/office/drawing/2014/main" id="{E4F041C0-7D5C-CB2F-92DA-37E6B770851E}"/>
              </a:ext>
              <a:ext uri="{C183D7F6-B498-43B3-948B-1728B52AA6E4}">
                <adec:decorative xmlns:adec="http://schemas.microsoft.com/office/drawing/2017/decorative" val="1"/>
              </a:ext>
            </a:extLst>
          </p:cNvPr>
          <p:cNvPicPr>
            <a:picLocks noChangeAspect="1" noChangeArrowheads="1"/>
          </p:cNvPicPr>
          <p:nvPr/>
        </p:nvPicPr>
        <p:blipFill rotWithShape="1">
          <a:blip r:embed="rId2" cstate="print">
            <a:alphaModFix amt="50000"/>
          </a:blip>
          <a:srcRect t="27493" b="22444"/>
          <a:stretch>
            <a:fillRect/>
          </a:stretch>
        </p:blipFill>
        <p:spPr bwMode="auto">
          <a:xfrm>
            <a:off x="20" y="1"/>
            <a:ext cx="9143980" cy="6857999"/>
          </a:xfrm>
          <a:prstGeom prst="rect">
            <a:avLst/>
          </a:prstGeom>
          <a:noFill/>
        </p:spPr>
      </p:pic>
      <p:sp>
        <p:nvSpPr>
          <p:cNvPr id="4" name="Title 3">
            <a:extLst>
              <a:ext uri="{FF2B5EF4-FFF2-40B4-BE49-F238E27FC236}">
                <a16:creationId xmlns:a16="http://schemas.microsoft.com/office/drawing/2014/main" id="{110C9F2C-5F20-241B-A7B4-23BCD535D7A9}"/>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defTabSz="914400"/>
            <a:r>
              <a:rPr lang="en-US" sz="6000" dirty="0">
                <a:solidFill>
                  <a:srgbClr val="FFFFFF"/>
                </a:solidFill>
              </a:rPr>
              <a:t>Module Review 1</a:t>
            </a:r>
          </a:p>
        </p:txBody>
      </p:sp>
      <p:sp>
        <p:nvSpPr>
          <p:cNvPr id="5" name="Text Placeholder 4">
            <a:extLst>
              <a:ext uri="{FF2B5EF4-FFF2-40B4-BE49-F238E27FC236}">
                <a16:creationId xmlns:a16="http://schemas.microsoft.com/office/drawing/2014/main" id="{702CF149-4E3E-4BC7-1591-E633BE8275BB}"/>
              </a:ext>
            </a:extLst>
          </p:cNvPr>
          <p:cNvSpPr>
            <a:spLocks noGrp="1"/>
          </p:cNvSpPr>
          <p:nvPr>
            <p:ph type="body" idx="1"/>
          </p:nvPr>
        </p:nvSpPr>
        <p:spPr>
          <a:xfrm>
            <a:off x="1143000" y="4159404"/>
            <a:ext cx="6858000" cy="1098395"/>
          </a:xfrm>
        </p:spPr>
        <p:txBody>
          <a:bodyPr vert="horz" lIns="91440" tIns="45720" rIns="91440" bIns="45720" rtlCol="0">
            <a:normAutofit/>
          </a:bodyPr>
          <a:lstStyle/>
          <a:p>
            <a:pPr algn="ctr" defTabSz="914400">
              <a:spcBef>
                <a:spcPts val="1000"/>
              </a:spcBef>
            </a:pPr>
            <a:endParaRPr lang="en-US" sz="2400">
              <a:solidFill>
                <a:srgbClr val="FFFFFF"/>
              </a:solidFill>
            </a:endParaRPr>
          </a:p>
        </p:txBody>
      </p:sp>
    </p:spTree>
    <p:extLst>
      <p:ext uri="{BB962C8B-B14F-4D97-AF65-F5344CB8AC3E}">
        <p14:creationId xmlns:p14="http://schemas.microsoft.com/office/powerpoint/2010/main" val="499141692"/>
      </p:ext>
    </p:extLst>
  </p:cSld>
  <p:clrMapOvr>
    <a:overrideClrMapping bg1="dk1" tx1="lt1" bg2="dk2" tx2="lt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DDCFE71-9CDB-A319-F442-B9F489FF5A63}"/>
              </a:ext>
              <a:ext uri="{C183D7F6-B498-43B3-948B-1728B52AA6E4}">
                <adec:decorative xmlns:adec="http://schemas.microsoft.com/office/drawing/2017/decorative" val="1"/>
              </a:ext>
            </a:extLst>
          </p:cNvPr>
          <p:cNvPicPr>
            <a:picLocks noChangeAspect="1" noChangeArrowheads="1"/>
          </p:cNvPicPr>
          <p:nvPr/>
        </p:nvPicPr>
        <p:blipFill>
          <a:blip r:embed="rId3" cstate="print"/>
          <a:srcRect/>
          <a:stretch>
            <a:fillRect/>
          </a:stretch>
        </p:blipFill>
        <p:spPr bwMode="auto">
          <a:xfrm>
            <a:off x="3048000" y="2133401"/>
            <a:ext cx="4953000" cy="2133799"/>
          </a:xfrm>
          <a:prstGeom prst="rect">
            <a:avLst/>
          </a:prstGeom>
          <a:noFill/>
          <a:ln w="9525">
            <a:noFill/>
            <a:miter lim="800000"/>
            <a:headEnd/>
            <a:tailEnd/>
          </a:ln>
        </p:spPr>
      </p:pic>
      <p:sp>
        <p:nvSpPr>
          <p:cNvPr id="6146" name="Rectangle 2"/>
          <p:cNvSpPr>
            <a:spLocks noGrp="1" noChangeArrowheads="1"/>
          </p:cNvSpPr>
          <p:nvPr>
            <p:ph type="title"/>
          </p:nvPr>
        </p:nvSpPr>
        <p:spPr/>
        <p:txBody>
          <a:bodyPr/>
          <a:lstStyle/>
          <a:p>
            <a:r>
              <a:rPr lang="en-US" dirty="0"/>
              <a:t>Agent Function and Agent Program</a:t>
            </a:r>
          </a:p>
        </p:txBody>
      </p:sp>
      <mc:AlternateContent xmlns:mc="http://schemas.openxmlformats.org/markup-compatibility/2006" xmlns:a14="http://schemas.microsoft.com/office/drawing/2010/main">
        <mc:Choice Requires="a14">
          <p:sp>
            <p:nvSpPr>
              <p:cNvPr id="6147" name="Rectangle 3"/>
              <p:cNvSpPr>
                <a:spLocks noGrp="1" noChangeArrowheads="1"/>
              </p:cNvSpPr>
              <p:nvPr>
                <p:ph idx="1"/>
              </p:nvPr>
            </p:nvSpPr>
            <p:spPr>
              <a:xfrm>
                <a:off x="628650" y="1524001"/>
                <a:ext cx="7753350" cy="3962399"/>
              </a:xfrm>
            </p:spPr>
            <p:txBody>
              <a:bodyPr>
                <a:normAutofit fontScale="62500" lnSpcReduction="20000"/>
              </a:bodyPr>
              <a:lstStyle/>
              <a:p>
                <a:pPr marL="0" indent="0">
                  <a:buNone/>
                </a:pPr>
                <a:r>
                  <a:rPr lang="en-US" sz="2800" dirty="0"/>
                  <a:t>The </a:t>
                </a:r>
                <a:r>
                  <a:rPr lang="en-US" sz="2800" dirty="0">
                    <a:solidFill>
                      <a:srgbClr val="FF0000"/>
                    </a:solidFill>
                  </a:rPr>
                  <a:t>agent</a:t>
                </a:r>
                <a:r>
                  <a:rPr lang="en-US" sz="2800" dirty="0"/>
                  <a:t> </a:t>
                </a:r>
                <a:r>
                  <a:rPr lang="en-US" sz="2800" dirty="0">
                    <a:solidFill>
                      <a:srgbClr val="FF0000"/>
                    </a:solidFill>
                  </a:rPr>
                  <a:t>function</a:t>
                </a:r>
                <a14:m>
                  <m:oMath xmlns:m="http://schemas.openxmlformats.org/officeDocument/2006/math">
                    <m:r>
                      <a:rPr lang="en-US" sz="2800" i="1">
                        <a:latin typeface="Cambria Math" panose="02040503050406030204" pitchFamily="18" charset="0"/>
                      </a:rPr>
                      <m:t> </m:t>
                    </m:r>
                  </m:oMath>
                </a14:m>
                <a:r>
                  <a:rPr lang="en-US" sz="2800" dirty="0"/>
                  <a:t>maps from the set of all possible </a:t>
                </a:r>
                <a:r>
                  <a:rPr lang="en-US" sz="2800" i="1" dirty="0"/>
                  <a:t>percept sequences </a:t>
                </a:r>
                <a14:m>
                  <m:oMath xmlns:m="http://schemas.openxmlformats.org/officeDocument/2006/math">
                    <m:sSup>
                      <m:sSupPr>
                        <m:ctrlPr>
                          <a:rPr lang="en-US" sz="2800" i="1">
                            <a:latin typeface="Cambria Math" panose="02040503050406030204" pitchFamily="18" charset="0"/>
                          </a:rPr>
                        </m:ctrlPr>
                      </m:sSupPr>
                      <m:e>
                        <m:r>
                          <a:rPr lang="en-US" sz="2800" i="1">
                            <a:latin typeface="Cambria Math" panose="02040503050406030204" pitchFamily="18" charset="0"/>
                          </a:rPr>
                          <m:t>𝑃</m:t>
                        </m:r>
                      </m:e>
                      <m:sup>
                        <m:r>
                          <a:rPr lang="en-US" sz="2800" i="1">
                            <a:latin typeface="Cambria Math" panose="02040503050406030204" pitchFamily="18" charset="0"/>
                          </a:rPr>
                          <m:t>∗</m:t>
                        </m:r>
                      </m:sup>
                    </m:sSup>
                    <m:r>
                      <a:rPr lang="en-US" sz="2800" i="1">
                        <a:latin typeface="Cambria Math" panose="02040503050406030204" pitchFamily="18" charset="0"/>
                      </a:rPr>
                      <m:t> </m:t>
                    </m:r>
                  </m:oMath>
                </a14:m>
                <a:r>
                  <a:rPr lang="en-US" sz="2800" dirty="0"/>
                  <a:t>to the</a:t>
                </a:r>
                <a:r>
                  <a:rPr lang="en-US" sz="2800" i="1" dirty="0"/>
                  <a:t> set of actions </a:t>
                </a:r>
                <a14:m>
                  <m:oMath xmlns:m="http://schemas.openxmlformats.org/officeDocument/2006/math">
                    <m:r>
                      <a:rPr lang="en-US" sz="2800" i="1">
                        <a:latin typeface="Cambria Math" panose="02040503050406030204" pitchFamily="18" charset="0"/>
                      </a:rPr>
                      <m:t>𝐴</m:t>
                    </m:r>
                    <m:r>
                      <a:rPr lang="en-US" sz="2800" i="1">
                        <a:latin typeface="Cambria Math" panose="02040503050406030204" pitchFamily="18" charset="0"/>
                      </a:rPr>
                      <m:t> </m:t>
                    </m:r>
                  </m:oMath>
                </a14:m>
                <a:r>
                  <a:rPr lang="en-US" sz="2800" dirty="0"/>
                  <a:t>formulated as an abstract mathematical function. </a:t>
                </a:r>
              </a:p>
              <a:p>
                <a:pPr marL="0" indent="0">
                  <a:buNone/>
                </a:pPr>
                <a:endParaRPr lang="en-US" sz="2800" dirty="0"/>
              </a:p>
              <a:p>
                <a:pPr marL="0" indent="0">
                  <a:buNone/>
                </a:pPr>
                <a:endParaRPr lang="en-US" sz="2800" dirty="0"/>
              </a:p>
              <a:p>
                <a:pPr marL="0" indent="0">
                  <a:buNone/>
                </a:pPr>
                <a:endParaRPr lang="en-US" sz="2800" dirty="0"/>
              </a:p>
              <a:p>
                <a:pPr marL="0" indent="0">
                  <a:buNone/>
                </a:pPr>
                <a:endParaRPr lang="en-US" sz="2800" dirty="0"/>
              </a:p>
              <a:p>
                <a:pPr marL="342900" lvl="1" indent="0">
                  <a:buNone/>
                </a:pPr>
                <a14:m>
                  <m:oMath xmlns:m="http://schemas.openxmlformats.org/officeDocument/2006/math">
                    <m:r>
                      <a:rPr lang="en-US" sz="3400" b="0" i="1" smtClean="0">
                        <a:latin typeface="Cambria Math" panose="02040503050406030204" pitchFamily="18" charset="0"/>
                      </a:rPr>
                      <m:t>𝑓</m:t>
                    </m:r>
                    <m:r>
                      <a:rPr lang="en-US" sz="3400" b="0" i="1" smtClean="0">
                        <a:latin typeface="Cambria Math" panose="02040503050406030204" pitchFamily="18" charset="0"/>
                      </a:rPr>
                      <m:t> : </m:t>
                    </m:r>
                    <m:sSup>
                      <m:sSupPr>
                        <m:ctrlPr>
                          <a:rPr lang="en-US" sz="3400" b="0" i="1" smtClean="0">
                            <a:latin typeface="Cambria Math" panose="02040503050406030204" pitchFamily="18" charset="0"/>
                          </a:rPr>
                        </m:ctrlPr>
                      </m:sSupPr>
                      <m:e>
                        <m:r>
                          <a:rPr lang="en-US" sz="3400" b="0" i="1" smtClean="0">
                            <a:latin typeface="Cambria Math" panose="02040503050406030204" pitchFamily="18" charset="0"/>
                          </a:rPr>
                          <m:t>𝑃</m:t>
                        </m:r>
                      </m:e>
                      <m:sup>
                        <m:r>
                          <a:rPr lang="en-US" sz="3400" b="0" i="1" smtClean="0">
                            <a:latin typeface="Cambria Math" panose="02040503050406030204" pitchFamily="18" charset="0"/>
                          </a:rPr>
                          <m:t>∗</m:t>
                        </m:r>
                      </m:sup>
                    </m:sSup>
                    <m:r>
                      <a:rPr lang="en-US" sz="3400" b="0" i="1" smtClean="0">
                        <a:latin typeface="Cambria Math" panose="02040503050406030204" pitchFamily="18" charset="0"/>
                      </a:rPr>
                      <m:t> →</m:t>
                    </m:r>
                    <m:r>
                      <a:rPr lang="en-US" sz="3400" b="0" i="1" smtClean="0">
                        <a:latin typeface="Cambria Math" panose="02040503050406030204" pitchFamily="18" charset="0"/>
                      </a:rPr>
                      <m:t>𝐴</m:t>
                    </m:r>
                  </m:oMath>
                </a14:m>
                <a:r>
                  <a:rPr lang="en-US" sz="2500" dirty="0"/>
                  <a:t>           </a:t>
                </a:r>
              </a:p>
              <a:p>
                <a:pPr marL="0" indent="0">
                  <a:buNone/>
                </a:pPr>
                <a:endParaRPr lang="en-US" sz="2800" dirty="0"/>
              </a:p>
              <a:p>
                <a:pPr marL="0" indent="0">
                  <a:buNone/>
                </a:pPr>
                <a:endParaRPr lang="en-US" sz="2800" dirty="0"/>
              </a:p>
              <a:p>
                <a:pPr marL="0" indent="0">
                  <a:buNone/>
                </a:pPr>
                <a:endParaRPr lang="en-US" sz="2800" dirty="0"/>
              </a:p>
              <a:p>
                <a:pPr marL="0" indent="0">
                  <a:buNone/>
                </a:pPr>
                <a:r>
                  <a:rPr lang="en-US" sz="2800" dirty="0"/>
                  <a:t>The </a:t>
                </a:r>
                <a:r>
                  <a:rPr lang="en-US" sz="2800" dirty="0">
                    <a:solidFill>
                      <a:srgbClr val="FF0000"/>
                    </a:solidFill>
                  </a:rPr>
                  <a:t>agent</a:t>
                </a:r>
                <a:r>
                  <a:rPr lang="en-US" sz="2800" dirty="0"/>
                  <a:t> </a:t>
                </a:r>
                <a:r>
                  <a:rPr lang="en-US" sz="2800" dirty="0">
                    <a:solidFill>
                      <a:srgbClr val="FF0000"/>
                    </a:solidFill>
                  </a:rPr>
                  <a:t>program</a:t>
                </a:r>
                <a:r>
                  <a:rPr lang="en-US" sz="2800" dirty="0"/>
                  <a:t> is a concrete implementation of this function for a given physical system.</a:t>
                </a:r>
              </a:p>
              <a:p>
                <a:pPr marL="0" indent="0">
                  <a:buNone/>
                </a:pPr>
                <a:endParaRPr lang="en-US" sz="2800" dirty="0"/>
              </a:p>
              <a:p>
                <a:pPr marL="0" indent="0">
                  <a:buNone/>
                </a:pPr>
                <a:r>
                  <a:rPr lang="en-US" sz="2800" dirty="0"/>
                  <a:t>Agent = architecture (hardware) + agent program (implementation of </a:t>
                </a:r>
                <a14:m>
                  <m:oMath xmlns:m="http://schemas.openxmlformats.org/officeDocument/2006/math">
                    <m:r>
                      <a:rPr lang="en-US" sz="2800" i="1">
                        <a:latin typeface="Cambria Math" panose="02040503050406030204" pitchFamily="18" charset="0"/>
                      </a:rPr>
                      <m:t>𝑓</m:t>
                    </m:r>
                  </m:oMath>
                </a14:m>
                <a:r>
                  <a:rPr lang="en-US" sz="2800" dirty="0"/>
                  <a:t>)</a:t>
                </a:r>
              </a:p>
            </p:txBody>
          </p:sp>
        </mc:Choice>
        <mc:Fallback xmlns="">
          <p:sp>
            <p:nvSpPr>
              <p:cNvPr id="6147" name="Rectangle 3"/>
              <p:cNvSpPr>
                <a:spLocks noGrp="1" noRot="1" noChangeAspect="1" noMove="1" noResize="1" noEditPoints="1" noAdjustHandles="1" noChangeArrowheads="1" noChangeShapeType="1" noTextEdit="1"/>
              </p:cNvSpPr>
              <p:nvPr>
                <p:ph idx="1"/>
              </p:nvPr>
            </p:nvSpPr>
            <p:spPr>
              <a:xfrm>
                <a:off x="628650" y="1524001"/>
                <a:ext cx="7753350" cy="3962399"/>
              </a:xfrm>
              <a:blipFill>
                <a:blip r:embed="rId4"/>
                <a:stretch>
                  <a:fillRect l="-629" t="-2462" b="-615"/>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A2EA5988-3EF3-423E-9255-6C4428FE792D}"/>
              </a:ext>
            </a:extLst>
          </p:cNvPr>
          <p:cNvSpPr txBox="1"/>
          <p:nvPr/>
        </p:nvSpPr>
        <p:spPr>
          <a:xfrm>
            <a:off x="1328057" y="5721945"/>
            <a:ext cx="2520370" cy="9233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none" rtlCol="0">
            <a:spAutoFit/>
          </a:bodyPr>
          <a:lstStyle/>
          <a:p>
            <a:pPr marL="285750" indent="-285750">
              <a:buFont typeface="Arial" panose="020B0604020202020204" pitchFamily="34" charset="0"/>
              <a:buChar char="•"/>
            </a:pPr>
            <a:r>
              <a:rPr lang="en-US" dirty="0"/>
              <a:t>Sensors</a:t>
            </a:r>
          </a:p>
          <a:p>
            <a:pPr marL="285750" indent="-285750">
              <a:buFont typeface="Arial" panose="020B0604020202020204" pitchFamily="34" charset="0"/>
              <a:buChar char="•"/>
            </a:pPr>
            <a:r>
              <a:rPr lang="en-US" dirty="0"/>
              <a:t>Memory</a:t>
            </a:r>
          </a:p>
          <a:p>
            <a:pPr marL="285750" indent="-285750">
              <a:buFont typeface="Arial" panose="020B0604020202020204" pitchFamily="34" charset="0"/>
              <a:buChar char="•"/>
            </a:pPr>
            <a:r>
              <a:rPr lang="en-US" dirty="0"/>
              <a:t>Computational power</a:t>
            </a:r>
          </a:p>
        </p:txBody>
      </p:sp>
      <p:sp>
        <p:nvSpPr>
          <p:cNvPr id="4" name="Arrow: Down 3">
            <a:extLst>
              <a:ext uri="{FF2B5EF4-FFF2-40B4-BE49-F238E27FC236}">
                <a16:creationId xmlns:a16="http://schemas.microsoft.com/office/drawing/2014/main" id="{C78490AF-4FEA-47BC-83F2-FBCDACE93FDE}"/>
              </a:ext>
              <a:ext uri="{C183D7F6-B498-43B3-948B-1728B52AA6E4}">
                <adec:decorative xmlns:adec="http://schemas.microsoft.com/office/drawing/2017/decorative" val="1"/>
              </a:ext>
            </a:extLst>
          </p:cNvPr>
          <p:cNvSpPr/>
          <p:nvPr/>
        </p:nvSpPr>
        <p:spPr>
          <a:xfrm>
            <a:off x="2435842" y="5388428"/>
            <a:ext cx="304800" cy="30509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587470C2-4341-7CA5-300A-0259AEE9A1CF}"/>
              </a:ext>
              <a:ext uri="{C183D7F6-B498-43B3-948B-1728B52AA6E4}">
                <adec:decorative xmlns:adec="http://schemas.microsoft.com/office/drawing/2017/decorative" val="1"/>
              </a:ext>
            </a:extLst>
          </p:cNvPr>
          <p:cNvSpPr/>
          <p:nvPr/>
        </p:nvSpPr>
        <p:spPr>
          <a:xfrm>
            <a:off x="6496566" y="2802596"/>
            <a:ext cx="858611" cy="36671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B5E80B8-B618-5127-170D-56D831FC7051}"/>
                  </a:ext>
                  <a:ext uri="{C183D7F6-B498-43B3-948B-1728B52AA6E4}">
                    <adec:decorative xmlns:adec="http://schemas.microsoft.com/office/drawing/2017/decorative" val="1"/>
                  </a:ext>
                </a:extLst>
              </p:cNvPr>
              <p:cNvSpPr txBox="1"/>
              <p:nvPr/>
            </p:nvSpPr>
            <p:spPr>
              <a:xfrm>
                <a:off x="6420366" y="2828539"/>
                <a:ext cx="1047234" cy="307777"/>
              </a:xfrm>
              <a:prstGeom prst="rect">
                <a:avLst/>
              </a:prstGeom>
              <a:noFill/>
            </p:spPr>
            <p:txBody>
              <a:bodyPr wrap="square">
                <a:spAutoFit/>
              </a:bodyPr>
              <a:lstStyle/>
              <a:p>
                <a:pPr marL="0" indent="0" algn="ctr">
                  <a:buNone/>
                </a:pPr>
                <a14:m>
                  <m:oMathPara xmlns:m="http://schemas.openxmlformats.org/officeDocument/2006/math">
                    <m:oMathParaPr>
                      <m:jc m:val="left"/>
                    </m:oMathParaPr>
                    <m:oMath>
                      <m:r>
                        <a:rPr lang="en-US" sz="1400" b="1" i="1" dirty="0" smtClean="0">
                          <a:solidFill>
                            <a:srgbClr val="FF0000"/>
                          </a:solidFill>
                          <a:latin typeface="Cambria Math" panose="02040503050406030204" pitchFamily="18" charset="0"/>
                        </a:rPr>
                        <m:t>𝒂</m:t>
                      </m:r>
                      <m:r>
                        <a:rPr lang="en-US" sz="1400" b="1" i="1" dirty="0" smtClean="0">
                          <a:solidFill>
                            <a:srgbClr val="FF0000"/>
                          </a:solidFill>
                          <a:latin typeface="Cambria Math" panose="02040503050406030204" pitchFamily="18" charset="0"/>
                        </a:rPr>
                        <m:t> = </m:t>
                      </m:r>
                      <m:r>
                        <a:rPr lang="en-US" sz="1400" b="1" i="1" dirty="0" smtClean="0">
                          <a:solidFill>
                            <a:srgbClr val="FF0000"/>
                          </a:solidFill>
                          <a:latin typeface="Cambria Math" panose="02040503050406030204" pitchFamily="18" charset="0"/>
                        </a:rPr>
                        <m:t>𝒇</m:t>
                      </m:r>
                      <m:r>
                        <a:rPr lang="en-US" sz="1400" b="1" i="1" dirty="0" smtClean="0">
                          <a:solidFill>
                            <a:srgbClr val="FF0000"/>
                          </a:solidFill>
                          <a:latin typeface="Cambria Math" panose="02040503050406030204" pitchFamily="18" charset="0"/>
                        </a:rPr>
                        <m:t>(</m:t>
                      </m:r>
                      <m:r>
                        <a:rPr lang="en-US" sz="1400" b="1" i="1" dirty="0" smtClean="0">
                          <a:solidFill>
                            <a:srgbClr val="FF0000"/>
                          </a:solidFill>
                          <a:latin typeface="Cambria Math" panose="02040503050406030204" pitchFamily="18" charset="0"/>
                        </a:rPr>
                        <m:t>𝒑</m:t>
                      </m:r>
                      <m:r>
                        <a:rPr lang="en-US" sz="1400" b="1" i="1" dirty="0" smtClean="0">
                          <a:solidFill>
                            <a:srgbClr val="FF0000"/>
                          </a:solidFill>
                          <a:latin typeface="Cambria Math" panose="02040503050406030204" pitchFamily="18" charset="0"/>
                        </a:rPr>
                        <m:t>)</m:t>
                      </m:r>
                    </m:oMath>
                  </m:oMathPara>
                </a14:m>
                <a:endParaRPr lang="en-US" sz="1400" b="1" dirty="0">
                  <a:solidFill>
                    <a:srgbClr val="FF0000"/>
                  </a:solidFill>
                </a:endParaRPr>
              </a:p>
            </p:txBody>
          </p:sp>
        </mc:Choice>
        <mc:Fallback xmlns="">
          <p:sp>
            <p:nvSpPr>
              <p:cNvPr id="6" name="TextBox 5">
                <a:extLst>
                  <a:ext uri="{FF2B5EF4-FFF2-40B4-BE49-F238E27FC236}">
                    <a16:creationId xmlns:a16="http://schemas.microsoft.com/office/drawing/2014/main" id="{DB5E80B8-B618-5127-170D-56D831FC7051}"/>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6420366" y="2828539"/>
                <a:ext cx="1047234" cy="307777"/>
              </a:xfrm>
              <a:prstGeom prst="rect">
                <a:avLst/>
              </a:prstGeom>
              <a:blipFill>
                <a:blip r:embed="rId5"/>
                <a:stretch>
                  <a:fillRect b="-8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95A021F-E12D-2F4E-E8D8-B959451272C3}"/>
                  </a:ext>
                  <a:ext uri="{C183D7F6-B498-43B3-948B-1728B52AA6E4}">
                    <adec:decorative xmlns:adec="http://schemas.microsoft.com/office/drawing/2017/decorative" val="1"/>
                  </a:ext>
                </a:extLst>
              </p:cNvPr>
              <p:cNvSpPr txBox="1"/>
              <p:nvPr/>
            </p:nvSpPr>
            <p:spPr>
              <a:xfrm>
                <a:off x="5486400" y="3485670"/>
                <a:ext cx="304800" cy="369332"/>
              </a:xfrm>
              <a:prstGeom prst="rect">
                <a:avLst/>
              </a:prstGeom>
              <a:noFill/>
            </p:spPr>
            <p:txBody>
              <a:bodyPr wrap="square">
                <a:spAutoFit/>
              </a:bodyPr>
              <a:lstStyle/>
              <a:p>
                <a:pPr/>
                <a14:m>
                  <m:oMathPara xmlns:m="http://schemas.openxmlformats.org/officeDocument/2006/math">
                    <m:oMath>
                      <m:r>
                        <a:rPr lang="en-US" sz="1800" b="1" i="1" dirty="0" smtClean="0">
                          <a:solidFill>
                            <a:srgbClr val="FF0000"/>
                          </a:solidFill>
                          <a:latin typeface="Cambria Math" panose="02040503050406030204" pitchFamily="18" charset="0"/>
                        </a:rPr>
                        <m:t>𝒂</m:t>
                      </m:r>
                    </m:oMath>
                  </m:oMathPara>
                </a14:m>
                <a:endParaRPr lang="en-US" dirty="0"/>
              </a:p>
            </p:txBody>
          </p:sp>
        </mc:Choice>
        <mc:Fallback xmlns="">
          <p:sp>
            <p:nvSpPr>
              <p:cNvPr id="10" name="TextBox 9">
                <a:extLst>
                  <a:ext uri="{FF2B5EF4-FFF2-40B4-BE49-F238E27FC236}">
                    <a16:creationId xmlns:a16="http://schemas.microsoft.com/office/drawing/2014/main" id="{F95A021F-E12D-2F4E-E8D8-B959451272C3}"/>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5486400" y="3485670"/>
                <a:ext cx="304800"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F99183F8-130C-455B-92FB-005B2F5EB2BB}"/>
                  </a:ext>
                  <a:ext uri="{C183D7F6-B498-43B3-948B-1728B52AA6E4}">
                    <adec:decorative xmlns:adec="http://schemas.microsoft.com/office/drawing/2017/decorative" val="1"/>
                  </a:ext>
                </a:extLst>
              </p:cNvPr>
              <p:cNvSpPr txBox="1"/>
              <p:nvPr/>
            </p:nvSpPr>
            <p:spPr>
              <a:xfrm>
                <a:off x="5486400" y="2256124"/>
                <a:ext cx="304800" cy="369332"/>
              </a:xfrm>
              <a:prstGeom prst="rect">
                <a:avLst/>
              </a:prstGeom>
              <a:noFill/>
            </p:spPr>
            <p:txBody>
              <a:bodyPr wrap="square">
                <a:spAutoFit/>
              </a:bodyPr>
              <a:lstStyle/>
              <a:p>
                <a:pPr/>
                <a14:m>
                  <m:oMathPara xmlns:m="http://schemas.openxmlformats.org/officeDocument/2006/math">
                    <m:oMath>
                      <m:r>
                        <a:rPr lang="en-US" sz="1800" b="1" i="1" dirty="0" smtClean="0">
                          <a:solidFill>
                            <a:srgbClr val="FF0000"/>
                          </a:solidFill>
                          <a:latin typeface="Cambria Math" panose="02040503050406030204" pitchFamily="18" charset="0"/>
                        </a:rPr>
                        <m:t>𝒑</m:t>
                      </m:r>
                    </m:oMath>
                  </m:oMathPara>
                </a14:m>
                <a:endParaRPr lang="en-US" dirty="0"/>
              </a:p>
            </p:txBody>
          </p:sp>
        </mc:Choice>
        <mc:Fallback xmlns="">
          <p:sp>
            <p:nvSpPr>
              <p:cNvPr id="11" name="TextBox 10">
                <a:extLst>
                  <a:ext uri="{FF2B5EF4-FFF2-40B4-BE49-F238E27FC236}">
                    <a16:creationId xmlns:a16="http://schemas.microsoft.com/office/drawing/2014/main" id="{F99183F8-130C-455B-92FB-005B2F5EB2BB}"/>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5486400" y="2256124"/>
                <a:ext cx="304800" cy="369332"/>
              </a:xfrm>
              <a:prstGeom prst="rect">
                <a:avLst/>
              </a:prstGeom>
              <a:blipFill>
                <a:blip r:embed="rId7"/>
                <a:stretch>
                  <a:fillRect r="-6000" b="-6557"/>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14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147">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147">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147">
                                            <p:txEl>
                                              <p:pRg st="11" end="1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7" grpId="0" uiExpand="1" build="p"/>
      <p:bldP spid="3" grpId="0" animBg="1"/>
      <p:bldP spid="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r>
              <a:rPr lang="en-US" dirty="0"/>
              <a:t>Example:</a:t>
            </a:r>
            <a:br>
              <a:rPr lang="en-US" dirty="0"/>
            </a:br>
            <a:r>
              <a:rPr lang="en-US" dirty="0"/>
              <a:t>Vacuum-cleaner World</a:t>
            </a:r>
          </a:p>
        </p:txBody>
      </p:sp>
      <p:sp>
        <p:nvSpPr>
          <p:cNvPr id="7171" name="Rectangle 3"/>
          <p:cNvSpPr>
            <a:spLocks noGrp="1" noChangeArrowheads="1"/>
          </p:cNvSpPr>
          <p:nvPr>
            <p:ph idx="1"/>
          </p:nvPr>
        </p:nvSpPr>
        <p:spPr>
          <a:xfrm>
            <a:off x="628650" y="1524000"/>
            <a:ext cx="3638551" cy="1981200"/>
          </a:xfrm>
        </p:spPr>
        <p:txBody>
          <a:bodyPr>
            <a:normAutofit/>
          </a:bodyPr>
          <a:lstStyle/>
          <a:p>
            <a:r>
              <a:rPr lang="en-US" b="1" dirty="0"/>
              <a:t>Percepts:</a:t>
            </a:r>
            <a:r>
              <a:rPr lang="en-US" dirty="0"/>
              <a:t> </a:t>
            </a:r>
            <a:br>
              <a:rPr lang="en-US" dirty="0"/>
            </a:br>
            <a:r>
              <a:rPr lang="en-US" dirty="0"/>
              <a:t>	Location and status, </a:t>
            </a:r>
            <a:br>
              <a:rPr lang="en-US" dirty="0"/>
            </a:br>
            <a:r>
              <a:rPr lang="en-US" dirty="0"/>
              <a:t>	e.g., </a:t>
            </a:r>
            <a:r>
              <a:rPr lang="en-US" dirty="0">
                <a:solidFill>
                  <a:schemeClr val="accent3"/>
                </a:solidFill>
              </a:rPr>
              <a:t>[A, Dirty]</a:t>
            </a:r>
          </a:p>
          <a:p>
            <a:r>
              <a:rPr lang="en-US" b="1" dirty="0"/>
              <a:t>Actions:</a:t>
            </a:r>
            <a:r>
              <a:rPr lang="en-US" dirty="0"/>
              <a:t> </a:t>
            </a:r>
            <a:br>
              <a:rPr lang="en-US" dirty="0"/>
            </a:br>
            <a:r>
              <a:rPr lang="en-US" dirty="0"/>
              <a:t>	</a:t>
            </a:r>
            <a:r>
              <a:rPr lang="en-US" dirty="0">
                <a:solidFill>
                  <a:srgbClr val="FF0000"/>
                </a:solidFill>
              </a:rPr>
              <a:t>Left, Right, Suck, </a:t>
            </a:r>
            <a:r>
              <a:rPr lang="en-US" dirty="0" err="1">
                <a:solidFill>
                  <a:srgbClr val="FF0000"/>
                </a:solidFill>
              </a:rPr>
              <a:t>NoOp</a:t>
            </a:r>
            <a:endParaRPr lang="en-US" dirty="0">
              <a:solidFill>
                <a:srgbClr val="FF0000"/>
              </a:solidFill>
            </a:endParaRPr>
          </a:p>
          <a:p>
            <a:endParaRPr lang="en-US" i="1" dirty="0"/>
          </a:p>
          <a:p>
            <a:pPr>
              <a:buNone/>
            </a:pPr>
            <a:endParaRPr lang="en-US" dirty="0">
              <a:solidFill>
                <a:srgbClr val="FF0000"/>
              </a:solidFill>
              <a:latin typeface="Courier New" panose="02070309020205020404" pitchFamily="49" charset="0"/>
              <a:cs typeface="Courier New" panose="02070309020205020404" pitchFamily="49" charset="0"/>
            </a:endParaRPr>
          </a:p>
        </p:txBody>
      </p:sp>
      <p:pic>
        <p:nvPicPr>
          <p:cNvPr id="7172" name="Picture 4" descr="vacuum2-environment"/>
          <p:cNvPicPr>
            <a:picLocks noChangeAspect="1" noChangeArrowheads="1"/>
          </p:cNvPicPr>
          <p:nvPr/>
        </p:nvPicPr>
        <p:blipFill>
          <a:blip r:embed="rId3" cstate="print"/>
          <a:srcRect/>
          <a:stretch>
            <a:fillRect/>
          </a:stretch>
        </p:blipFill>
        <p:spPr bwMode="auto">
          <a:xfrm>
            <a:off x="4876800" y="609600"/>
            <a:ext cx="3872345" cy="1981200"/>
          </a:xfrm>
          <a:prstGeom prst="rect">
            <a:avLst/>
          </a:prstGeom>
          <a:noFill/>
        </p:spPr>
      </p:pic>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9ADB47C7-D44C-4FF8-8772-B83961F5A3A0}"/>
                  </a:ext>
                </a:extLst>
              </p:cNvPr>
              <p:cNvSpPr/>
              <p:nvPr/>
            </p:nvSpPr>
            <p:spPr>
              <a:xfrm>
                <a:off x="4114800" y="3429000"/>
                <a:ext cx="4876799" cy="2985433"/>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buNone/>
                </a:pPr>
                <a:r>
                  <a:rPr lang="en-US" sz="2000" dirty="0"/>
                  <a:t>Implemented agent program:</a:t>
                </a:r>
                <a:br>
                  <a:rPr lang="en-US" sz="2000" dirty="0"/>
                </a:br>
                <a:endParaRPr lang="en-US" sz="2000" dirty="0"/>
              </a:p>
              <a:p>
                <a:pPr>
                  <a:buNone/>
                </a:pPr>
                <a:r>
                  <a:rPr lang="en-US" sz="2000" b="1" dirty="0">
                    <a:solidFill>
                      <a:schemeClr val="tx1"/>
                    </a:solidFill>
                  </a:rPr>
                  <a:t>function Vacuum-Agent</a:t>
                </a:r>
                <a:r>
                  <a:rPr lang="en-US" sz="2000" dirty="0">
                    <a:solidFill>
                      <a:schemeClr val="tx1"/>
                    </a:solidFill>
                  </a:rPr>
                  <a:t>( </a:t>
                </a:r>
                <a:r>
                  <a:rPr lang="en-US" sz="2000" dirty="0">
                    <a:solidFill>
                      <a:schemeClr val="accent3"/>
                    </a:solidFill>
                  </a:rPr>
                  <a:t>[location, status] </a:t>
                </a:r>
                <a:r>
                  <a:rPr lang="en-US" sz="2000" dirty="0">
                    <a:solidFill>
                      <a:schemeClr val="tx1"/>
                    </a:solidFill>
                  </a:rPr>
                  <a:t>) </a:t>
                </a:r>
                <a:br>
                  <a:rPr lang="en-US" sz="2000" dirty="0">
                    <a:solidFill>
                      <a:schemeClr val="tx1"/>
                    </a:solidFill>
                  </a:rPr>
                </a:br>
                <a:r>
                  <a:rPr lang="en-US" sz="2000" dirty="0">
                    <a:solidFill>
                      <a:schemeClr val="tx1"/>
                    </a:solidFill>
                  </a:rPr>
                  <a:t>   </a:t>
                </a:r>
                <a:r>
                  <a:rPr lang="en-US" sz="1600" dirty="0">
                    <a:solidFill>
                      <a:schemeClr val="tx1"/>
                    </a:solidFill>
                    <a:ea typeface="+mn-ea"/>
                    <a:cs typeface="+mn-cs"/>
                  </a:rPr>
                  <a:t>returns</a:t>
                </a:r>
                <a:r>
                  <a:rPr lang="en-US" sz="2000" dirty="0">
                    <a:solidFill>
                      <a:schemeClr val="tx1"/>
                    </a:solidFill>
                    <a:ea typeface="+mn-ea"/>
                    <a:cs typeface="+mn-cs"/>
                  </a:rPr>
                  <a:t> an </a:t>
                </a:r>
                <a:r>
                  <a:rPr lang="en-US" sz="2000" dirty="0">
                    <a:solidFill>
                      <a:srgbClr val="FF0000"/>
                    </a:solidFill>
                    <a:ea typeface="+mn-ea"/>
                    <a:cs typeface="+mn-cs"/>
                  </a:rPr>
                  <a:t>action </a:t>
                </a:r>
                <a14:m>
                  <m:oMath xmlns:m="http://schemas.openxmlformats.org/officeDocument/2006/math">
                    <m:r>
                      <a:rPr lang="en-US" sz="2000" i="1" dirty="0" smtClean="0">
                        <a:solidFill>
                          <a:srgbClr val="FF0000"/>
                        </a:solidFill>
                        <a:latin typeface="Cambria Math" panose="02040503050406030204" pitchFamily="18" charset="0"/>
                        <a:ea typeface="+mn-ea"/>
                        <a:cs typeface="+mn-cs"/>
                      </a:rPr>
                      <m:t>𝑎</m:t>
                    </m:r>
                  </m:oMath>
                </a14:m>
                <a:endParaRPr lang="en-US" sz="2000" dirty="0">
                  <a:solidFill>
                    <a:srgbClr val="FF0000"/>
                  </a:solidFill>
                  <a:ea typeface="+mn-ea"/>
                  <a:cs typeface="+mn-cs"/>
                </a:endParaRPr>
              </a:p>
              <a:p>
                <a:pPr>
                  <a:buNone/>
                </a:pPr>
                <a:endParaRPr lang="en-US" i="1" dirty="0">
                  <a:solidFill>
                    <a:schemeClr val="tx1"/>
                  </a:solidFill>
                  <a:latin typeface="Courier New" panose="02070309020205020404" pitchFamily="49" charset="0"/>
                  <a:cs typeface="Courier New" panose="02070309020205020404" pitchFamily="49" charset="0"/>
                </a:endParaRPr>
              </a:p>
              <a:p>
                <a:r>
                  <a:rPr lang="en-US" i="1" dirty="0">
                    <a:solidFill>
                      <a:schemeClr val="tx1"/>
                    </a:solidFill>
                    <a:latin typeface="Courier New" panose="02070309020205020404" pitchFamily="49" charset="0"/>
                    <a:cs typeface="Courier New" panose="02070309020205020404" pitchFamily="49" charset="0"/>
                  </a:rPr>
                  <a:t>if</a:t>
                </a:r>
                <a:r>
                  <a:rPr lang="en-US" dirty="0">
                    <a:solidFill>
                      <a:schemeClr val="tx1"/>
                    </a:solidFill>
                    <a:latin typeface="Courier New" panose="02070309020205020404" pitchFamily="49" charset="0"/>
                    <a:cs typeface="Courier New" panose="02070309020205020404" pitchFamily="49" charset="0"/>
                  </a:rPr>
                  <a:t> </a:t>
                </a:r>
                <a:r>
                  <a:rPr lang="en-US" dirty="0">
                    <a:solidFill>
                      <a:schemeClr val="accent3"/>
                    </a:solidFill>
                    <a:latin typeface="Courier New" panose="02070309020205020404" pitchFamily="49" charset="0"/>
                    <a:cs typeface="Courier New" panose="02070309020205020404" pitchFamily="49" charset="0"/>
                  </a:rPr>
                  <a:t>status = Dirty </a:t>
                </a:r>
                <a:r>
                  <a:rPr lang="en-US" i="1" dirty="0">
                    <a:solidFill>
                      <a:schemeClr val="tx1"/>
                    </a:solidFill>
                    <a:latin typeface="Courier New" panose="02070309020205020404" pitchFamily="49" charset="0"/>
                    <a:cs typeface="Courier New" panose="02070309020205020404" pitchFamily="49" charset="0"/>
                  </a:rPr>
                  <a:t>then</a:t>
                </a:r>
                <a:r>
                  <a:rPr lang="en-US" dirty="0">
                    <a:solidFill>
                      <a:schemeClr val="tx1"/>
                    </a:solidFill>
                    <a:latin typeface="Courier New" panose="02070309020205020404" pitchFamily="49" charset="0"/>
                    <a:cs typeface="Courier New" panose="02070309020205020404" pitchFamily="49" charset="0"/>
                  </a:rPr>
                  <a:t> return </a:t>
                </a:r>
                <a:r>
                  <a:rPr lang="en-US" dirty="0">
                    <a:solidFill>
                      <a:srgbClr val="FF0000"/>
                    </a:solidFill>
                    <a:latin typeface="Courier New" panose="02070309020205020404" pitchFamily="49" charset="0"/>
                    <a:cs typeface="Courier New" panose="02070309020205020404" pitchFamily="49" charset="0"/>
                  </a:rPr>
                  <a:t>Suck</a:t>
                </a:r>
              </a:p>
              <a:p>
                <a:r>
                  <a:rPr lang="en-US" i="1" dirty="0">
                    <a:solidFill>
                      <a:schemeClr val="tx1"/>
                    </a:solidFill>
                    <a:latin typeface="Courier New" panose="02070309020205020404" pitchFamily="49" charset="0"/>
                    <a:cs typeface="Courier New" panose="02070309020205020404" pitchFamily="49" charset="0"/>
                  </a:rPr>
                  <a:t>else if</a:t>
                </a:r>
                <a:r>
                  <a:rPr lang="en-US" dirty="0">
                    <a:solidFill>
                      <a:schemeClr val="tx1"/>
                    </a:solidFill>
                    <a:latin typeface="Courier New" panose="02070309020205020404" pitchFamily="49" charset="0"/>
                    <a:cs typeface="Courier New" panose="02070309020205020404" pitchFamily="49" charset="0"/>
                  </a:rPr>
                  <a:t> </a:t>
                </a:r>
                <a:r>
                  <a:rPr lang="en-US" dirty="0">
                    <a:solidFill>
                      <a:schemeClr val="accent3"/>
                    </a:solidFill>
                    <a:latin typeface="Courier New" panose="02070309020205020404" pitchFamily="49" charset="0"/>
                    <a:cs typeface="Courier New" panose="02070309020205020404" pitchFamily="49" charset="0"/>
                  </a:rPr>
                  <a:t>location = A </a:t>
                </a:r>
                <a:r>
                  <a:rPr lang="en-US" i="1" dirty="0">
                    <a:solidFill>
                      <a:schemeClr val="tx1"/>
                    </a:solidFill>
                    <a:latin typeface="Courier New" panose="02070309020205020404" pitchFamily="49" charset="0"/>
                    <a:cs typeface="Courier New" panose="02070309020205020404" pitchFamily="49" charset="0"/>
                  </a:rPr>
                  <a:t>then</a:t>
                </a:r>
                <a:r>
                  <a:rPr lang="en-US" dirty="0">
                    <a:solidFill>
                      <a:schemeClr val="tx1"/>
                    </a:solidFill>
                    <a:latin typeface="Courier New" panose="02070309020205020404" pitchFamily="49" charset="0"/>
                    <a:cs typeface="Courier New" panose="02070309020205020404" pitchFamily="49" charset="0"/>
                  </a:rPr>
                  <a:t> </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return </a:t>
                </a:r>
                <a:r>
                  <a:rPr lang="en-US" dirty="0">
                    <a:solidFill>
                      <a:srgbClr val="FF0000"/>
                    </a:solidFill>
                    <a:latin typeface="Courier New" panose="02070309020205020404" pitchFamily="49" charset="0"/>
                    <a:cs typeface="Courier New" panose="02070309020205020404" pitchFamily="49" charset="0"/>
                  </a:rPr>
                  <a:t>Right</a:t>
                </a:r>
                <a:endParaRPr lang="en-US" i="1" dirty="0">
                  <a:solidFill>
                    <a:srgbClr val="FF0000"/>
                  </a:solidFill>
                  <a:latin typeface="Courier New" panose="02070309020205020404" pitchFamily="49" charset="0"/>
                  <a:cs typeface="Courier New" panose="02070309020205020404" pitchFamily="49" charset="0"/>
                </a:endParaRPr>
              </a:p>
              <a:p>
                <a:r>
                  <a:rPr lang="en-US" i="1" dirty="0">
                    <a:solidFill>
                      <a:schemeClr val="tx1"/>
                    </a:solidFill>
                    <a:latin typeface="Courier New" panose="02070309020205020404" pitchFamily="49" charset="0"/>
                    <a:cs typeface="Courier New" panose="02070309020205020404" pitchFamily="49" charset="0"/>
                  </a:rPr>
                  <a:t>else if</a:t>
                </a:r>
                <a:r>
                  <a:rPr lang="en-US" dirty="0">
                    <a:solidFill>
                      <a:schemeClr val="tx1"/>
                    </a:solidFill>
                    <a:latin typeface="Courier New" panose="02070309020205020404" pitchFamily="49" charset="0"/>
                    <a:cs typeface="Courier New" panose="02070309020205020404" pitchFamily="49" charset="0"/>
                  </a:rPr>
                  <a:t> </a:t>
                </a:r>
                <a:r>
                  <a:rPr lang="en-US" dirty="0">
                    <a:solidFill>
                      <a:schemeClr val="accent3"/>
                    </a:solidFill>
                    <a:latin typeface="Courier New" panose="02070309020205020404" pitchFamily="49" charset="0"/>
                    <a:cs typeface="Courier New" panose="02070309020205020404" pitchFamily="49" charset="0"/>
                  </a:rPr>
                  <a:t>location = B </a:t>
                </a:r>
                <a:r>
                  <a:rPr lang="en-US" i="1" dirty="0">
                    <a:solidFill>
                      <a:schemeClr val="tx1"/>
                    </a:solidFill>
                    <a:latin typeface="Courier New" panose="02070309020205020404" pitchFamily="49" charset="0"/>
                    <a:cs typeface="Courier New" panose="02070309020205020404" pitchFamily="49" charset="0"/>
                  </a:rPr>
                  <a:t>then</a:t>
                </a:r>
                <a:r>
                  <a:rPr lang="en-US" dirty="0">
                    <a:solidFill>
                      <a:schemeClr val="tx1"/>
                    </a:solidFill>
                    <a:latin typeface="Courier New" panose="02070309020205020404" pitchFamily="49" charset="0"/>
                    <a:cs typeface="Courier New" panose="02070309020205020404" pitchFamily="49" charset="0"/>
                  </a:rPr>
                  <a:t> </a:t>
                </a:r>
              </a:p>
              <a:p>
                <a:r>
                  <a:rPr lang="en-US" dirty="0">
                    <a:solidFill>
                      <a:schemeClr val="tx1"/>
                    </a:solidFill>
                    <a:latin typeface="Courier New" panose="02070309020205020404" pitchFamily="49" charset="0"/>
                    <a:cs typeface="Courier New" panose="02070309020205020404" pitchFamily="49" charset="0"/>
                  </a:rPr>
                  <a:t>                     return </a:t>
                </a:r>
                <a:r>
                  <a:rPr lang="en-US" dirty="0">
                    <a:solidFill>
                      <a:srgbClr val="FF0000"/>
                    </a:solidFill>
                    <a:latin typeface="Courier New" panose="02070309020205020404" pitchFamily="49" charset="0"/>
                    <a:cs typeface="Courier New" panose="02070309020205020404" pitchFamily="49" charset="0"/>
                  </a:rPr>
                  <a:t>Left</a:t>
                </a:r>
                <a:endParaRPr lang="en-US" dirty="0"/>
              </a:p>
            </p:txBody>
          </p:sp>
        </mc:Choice>
        <mc:Fallback xmlns="">
          <p:sp>
            <p:nvSpPr>
              <p:cNvPr id="2" name="Rectangle 1">
                <a:extLst>
                  <a:ext uri="{FF2B5EF4-FFF2-40B4-BE49-F238E27FC236}">
                    <a16:creationId xmlns:a16="http://schemas.microsoft.com/office/drawing/2014/main" id="{9ADB47C7-D44C-4FF8-8772-B83961F5A3A0}"/>
                  </a:ext>
                </a:extLst>
              </p:cNvPr>
              <p:cNvSpPr>
                <a:spLocks noRot="1" noChangeAspect="1" noMove="1" noResize="1" noEditPoints="1" noAdjustHandles="1" noChangeArrowheads="1" noChangeShapeType="1" noTextEdit="1"/>
              </p:cNvSpPr>
              <p:nvPr/>
            </p:nvSpPr>
            <p:spPr>
              <a:xfrm>
                <a:off x="4114800" y="3429000"/>
                <a:ext cx="4876799" cy="2985433"/>
              </a:xfrm>
              <a:prstGeom prst="rect">
                <a:avLst/>
              </a:prstGeom>
              <a:blipFill>
                <a:blip r:embed="rId4"/>
                <a:stretch>
                  <a:fillRect l="-1122" t="-1018" b="-224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6F517ADE-3F92-425E-93AD-EB81559C8C54}"/>
                  </a:ext>
                </a:extLst>
              </p:cNvPr>
              <p:cNvSpPr/>
              <p:nvPr/>
            </p:nvSpPr>
            <p:spPr>
              <a:xfrm>
                <a:off x="381001" y="3429000"/>
                <a:ext cx="3638551" cy="2862322"/>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buNone/>
                </a:pPr>
                <a:r>
                  <a:rPr lang="en-US" dirty="0"/>
                  <a:t>Agent function: </a:t>
                </a:r>
                <a14:m>
                  <m:oMath xmlns:m="http://schemas.openxmlformats.org/officeDocument/2006/math">
                    <m:r>
                      <a:rPr lang="en-US" i="1">
                        <a:latin typeface="Cambria Math" panose="02040503050406030204" pitchFamily="18" charset="0"/>
                      </a:rPr>
                      <m:t>𝑓</m:t>
                    </m:r>
                    <m:r>
                      <a:rPr lang="en-US" i="1">
                        <a:latin typeface="Cambria Math" panose="02040503050406030204" pitchFamily="18" charset="0"/>
                      </a:rPr>
                      <m:t> : </m:t>
                    </m:r>
                    <m:sSup>
                      <m:sSupPr>
                        <m:ctrlPr>
                          <a:rPr lang="en-US" i="1">
                            <a:latin typeface="Cambria Math" panose="02040503050406030204" pitchFamily="18" charset="0"/>
                          </a:rPr>
                        </m:ctrlPr>
                      </m:sSupPr>
                      <m:e>
                        <m:r>
                          <a:rPr lang="en-US" i="1">
                            <a:latin typeface="Cambria Math" panose="02040503050406030204" pitchFamily="18" charset="0"/>
                          </a:rPr>
                          <m:t>𝑃</m:t>
                        </m:r>
                      </m:e>
                      <m:sup>
                        <m:r>
                          <a:rPr lang="en-US" i="1">
                            <a:latin typeface="Cambria Math" panose="02040503050406030204" pitchFamily="18" charset="0"/>
                          </a:rPr>
                          <m:t>∗</m:t>
                        </m:r>
                      </m:sup>
                    </m:sSup>
                    <m:r>
                      <a:rPr lang="en-US" i="1">
                        <a:latin typeface="Cambria Math" panose="02040503050406030204" pitchFamily="18" charset="0"/>
                      </a:rPr>
                      <m:t> →</m:t>
                    </m:r>
                    <m:r>
                      <a:rPr lang="en-US" i="1">
                        <a:latin typeface="Cambria Math" panose="02040503050406030204" pitchFamily="18" charset="0"/>
                      </a:rPr>
                      <m:t>𝐴</m:t>
                    </m:r>
                  </m:oMath>
                </a14:m>
                <a:br>
                  <a:rPr lang="en-US" dirty="0"/>
                </a:br>
                <a:endParaRPr lang="en-US" dirty="0"/>
              </a:p>
              <a:p>
                <a:pPr>
                  <a:buNone/>
                </a:pPr>
                <a:r>
                  <a:rPr lang="en-US" b="1" u="sng" dirty="0"/>
                  <a:t>Percept Sequence</a:t>
                </a:r>
                <a:r>
                  <a:rPr lang="en-US" u="sng" dirty="0"/>
                  <a:t>		Action</a:t>
                </a:r>
              </a:p>
              <a:p>
                <a:pPr>
                  <a:buNone/>
                </a:pPr>
                <a:r>
                  <a:rPr lang="en-US" dirty="0"/>
                  <a:t>[A, Clean]			Right</a:t>
                </a:r>
              </a:p>
              <a:p>
                <a:pPr>
                  <a:buNone/>
                </a:pPr>
                <a:r>
                  <a:rPr lang="en-US" dirty="0"/>
                  <a:t>[A, Dirty]			Suck</a:t>
                </a:r>
              </a:p>
              <a:p>
                <a:pPr>
                  <a:buNone/>
                </a:pPr>
                <a:r>
                  <a:rPr lang="en-US" dirty="0"/>
                  <a:t>…</a:t>
                </a:r>
              </a:p>
              <a:p>
                <a:pPr>
                  <a:buNone/>
                </a:pPr>
                <a:r>
                  <a:rPr lang="en-US" dirty="0"/>
                  <a:t>[A, Clean], [B, Clean]	Left</a:t>
                </a:r>
              </a:p>
              <a:p>
                <a:pPr>
                  <a:buNone/>
                </a:pPr>
                <a:r>
                  <a:rPr lang="en-US" dirty="0"/>
                  <a:t>…</a:t>
                </a:r>
              </a:p>
              <a:p>
                <a:pPr>
                  <a:buNone/>
                </a:pPr>
                <a:r>
                  <a:rPr lang="en-US" dirty="0"/>
                  <a:t>[A, Clean], [B, Clean], [A, Dirty] Suck</a:t>
                </a:r>
              </a:p>
              <a:p>
                <a:pPr>
                  <a:buNone/>
                </a:pPr>
                <a:r>
                  <a:rPr lang="en-US" dirty="0"/>
                  <a:t>…</a:t>
                </a:r>
              </a:p>
            </p:txBody>
          </p:sp>
        </mc:Choice>
        <mc:Fallback xmlns="">
          <p:sp>
            <p:nvSpPr>
              <p:cNvPr id="6" name="Rectangle 5">
                <a:extLst>
                  <a:ext uri="{FF2B5EF4-FFF2-40B4-BE49-F238E27FC236}">
                    <a16:creationId xmlns:a16="http://schemas.microsoft.com/office/drawing/2014/main" id="{6F517ADE-3F92-425E-93AD-EB81559C8C54}"/>
                  </a:ext>
                </a:extLst>
              </p:cNvPr>
              <p:cNvSpPr>
                <a:spLocks noRot="1" noChangeAspect="1" noMove="1" noResize="1" noEditPoints="1" noAdjustHandles="1" noChangeArrowheads="1" noChangeShapeType="1" noTextEdit="1"/>
              </p:cNvSpPr>
              <p:nvPr/>
            </p:nvSpPr>
            <p:spPr>
              <a:xfrm>
                <a:off x="381001" y="3429000"/>
                <a:ext cx="3638551" cy="2862322"/>
              </a:xfrm>
              <a:prstGeom prst="rect">
                <a:avLst/>
              </a:prstGeom>
              <a:blipFill>
                <a:blip r:embed="rId5"/>
                <a:stretch>
                  <a:fillRect l="-1338" t="-1062" b="-212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allout: Line 2">
                <a:extLst>
                  <a:ext uri="{FF2B5EF4-FFF2-40B4-BE49-F238E27FC236}">
                    <a16:creationId xmlns:a16="http://schemas.microsoft.com/office/drawing/2014/main" id="{CDE773EB-84A3-4DC9-B16C-C93A1E7351DF}"/>
                  </a:ext>
                </a:extLst>
              </p:cNvPr>
              <p:cNvSpPr/>
              <p:nvPr/>
            </p:nvSpPr>
            <p:spPr>
              <a:xfrm>
                <a:off x="7485497" y="2634567"/>
                <a:ext cx="1416047" cy="685799"/>
              </a:xfrm>
              <a:prstGeom prst="borderCallout1">
                <a:avLst>
                  <a:gd name="adj1" fmla="val 107639"/>
                  <a:gd name="adj2" fmla="val 43139"/>
                  <a:gd name="adj3" fmla="val 208107"/>
                  <a:gd name="adj4" fmla="val -856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Most recent Percept </a:t>
                </a:r>
                <a14:m>
                  <m:oMath xmlns:m="http://schemas.openxmlformats.org/officeDocument/2006/math">
                    <m:r>
                      <a:rPr lang="en-US" i="1" dirty="0" smtClean="0">
                        <a:latin typeface="Cambria Math" panose="02040503050406030204" pitchFamily="18" charset="0"/>
                      </a:rPr>
                      <m:t>𝑝</m:t>
                    </m:r>
                  </m:oMath>
                </a14:m>
                <a:endParaRPr lang="en-US" dirty="0"/>
              </a:p>
            </p:txBody>
          </p:sp>
        </mc:Choice>
        <mc:Fallback xmlns="">
          <p:sp>
            <p:nvSpPr>
              <p:cNvPr id="3" name="Callout: Line 2">
                <a:extLst>
                  <a:ext uri="{FF2B5EF4-FFF2-40B4-BE49-F238E27FC236}">
                    <a16:creationId xmlns:a16="http://schemas.microsoft.com/office/drawing/2014/main" id="{CDE773EB-84A3-4DC9-B16C-C93A1E7351DF}"/>
                  </a:ext>
                </a:extLst>
              </p:cNvPr>
              <p:cNvSpPr>
                <a:spLocks noRot="1" noChangeAspect="1" noMove="1" noResize="1" noEditPoints="1" noAdjustHandles="1" noChangeArrowheads="1" noChangeShapeType="1" noTextEdit="1"/>
              </p:cNvSpPr>
              <p:nvPr/>
            </p:nvSpPr>
            <p:spPr>
              <a:xfrm>
                <a:off x="7485497" y="2634567"/>
                <a:ext cx="1416047" cy="685799"/>
              </a:xfrm>
              <a:prstGeom prst="borderCallout1">
                <a:avLst>
                  <a:gd name="adj1" fmla="val 107639"/>
                  <a:gd name="adj2" fmla="val 43139"/>
                  <a:gd name="adj3" fmla="val 208107"/>
                  <a:gd name="adj4" fmla="val -8564"/>
                </a:avLst>
              </a:prstGeom>
              <a:blipFill>
                <a:blip r:embed="rId6"/>
                <a:stretch>
                  <a:fillRect t="-420" r="-2756"/>
                </a:stretch>
              </a:blipFill>
            </p:spPr>
            <p:txBody>
              <a:bodyPr/>
              <a:lstStyle/>
              <a:p>
                <a:r>
                  <a:rPr lang="en-US">
                    <a:noFill/>
                  </a:rPr>
                  <a:t> </a:t>
                </a:r>
              </a:p>
            </p:txBody>
          </p:sp>
        </mc:Fallback>
      </mc:AlternateContent>
      <p:sp>
        <p:nvSpPr>
          <p:cNvPr id="8" name="Callout: Line 7">
            <a:extLst>
              <a:ext uri="{FF2B5EF4-FFF2-40B4-BE49-F238E27FC236}">
                <a16:creationId xmlns:a16="http://schemas.microsoft.com/office/drawing/2014/main" id="{0575EB97-504D-4C56-8275-A26AAC7BBA25}"/>
              </a:ext>
            </a:extLst>
          </p:cNvPr>
          <p:cNvSpPr/>
          <p:nvPr/>
        </p:nvSpPr>
        <p:spPr>
          <a:xfrm>
            <a:off x="533400" y="6452414"/>
            <a:ext cx="5181600" cy="304800"/>
          </a:xfrm>
          <a:prstGeom prst="borderCallout1">
            <a:avLst>
              <a:gd name="adj1" fmla="val 31794"/>
              <a:gd name="adj2" fmla="val -660"/>
              <a:gd name="adj3" fmla="val -98260"/>
              <a:gd name="adj4" fmla="val 92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Problem</a:t>
            </a:r>
            <a:r>
              <a:rPr lang="en-US" dirty="0"/>
              <a:t>: This table can become infinitively large!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3" grpId="0" animBg="1"/>
      <p:bldP spid="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r>
              <a:rPr lang="en-US" dirty="0"/>
              <a:t>Rational Agents</a:t>
            </a:r>
          </a:p>
        </p:txBody>
      </p:sp>
      <p:sp>
        <p:nvSpPr>
          <p:cNvPr id="10243" name="Rectangle 3"/>
          <p:cNvSpPr>
            <a:spLocks noGrp="1" noChangeArrowheads="1"/>
          </p:cNvSpPr>
          <p:nvPr>
            <p:ph idx="1"/>
          </p:nvPr>
        </p:nvSpPr>
        <p:spPr>
          <a:xfrm>
            <a:off x="628650" y="2765426"/>
            <a:ext cx="7886700" cy="3368673"/>
          </a:xfrm>
        </p:spPr>
        <p:txBody>
          <a:bodyPr>
            <a:normAutofit fontScale="62500" lnSpcReduction="20000"/>
          </a:bodyPr>
          <a:lstStyle/>
          <a:p>
            <a:pPr marL="0" indent="0">
              <a:buNone/>
            </a:pPr>
            <a:r>
              <a:rPr lang="en-US" sz="2800" dirty="0"/>
              <a:t>This means: </a:t>
            </a:r>
          </a:p>
          <a:p>
            <a:pPr marL="0" indent="0">
              <a:buNone/>
            </a:pPr>
            <a:endParaRPr lang="en-US" sz="2800" dirty="0"/>
          </a:p>
          <a:p>
            <a:pPr lvl="1"/>
            <a:r>
              <a:rPr lang="en-US" sz="2500" b="1" dirty="0"/>
              <a:t>Rationality is an ideal </a:t>
            </a:r>
            <a:r>
              <a:rPr lang="en-US" sz="2500" dirty="0">
                <a:solidFill>
                  <a:schemeClr val="tx1">
                    <a:lumMod val="50000"/>
                    <a:lumOff val="50000"/>
                  </a:schemeClr>
                </a:solidFill>
              </a:rPr>
              <a:t>– it implies that no one can build a better agent</a:t>
            </a:r>
            <a:endParaRPr lang="en-US" sz="2500" b="1" dirty="0"/>
          </a:p>
          <a:p>
            <a:pPr lvl="1"/>
            <a:endParaRPr lang="en-US" sz="2500" b="1" dirty="0"/>
          </a:p>
          <a:p>
            <a:pPr lvl="1"/>
            <a:r>
              <a:rPr lang="en-US" sz="2500" b="1" dirty="0"/>
              <a:t>Rationality ≠ Omniscience </a:t>
            </a:r>
            <a:r>
              <a:rPr lang="en-US" sz="2500" dirty="0">
                <a:solidFill>
                  <a:schemeClr val="tx1">
                    <a:lumMod val="50000"/>
                    <a:lumOff val="50000"/>
                  </a:schemeClr>
                </a:solidFill>
              </a:rPr>
              <a:t>– rational agents can make mistakes if percepts and knowledge do not suffice to make a good decision</a:t>
            </a:r>
          </a:p>
          <a:p>
            <a:pPr lvl="1"/>
            <a:endParaRPr lang="en-US" sz="2500" dirty="0">
              <a:solidFill>
                <a:schemeClr val="tx1">
                  <a:lumMod val="50000"/>
                  <a:lumOff val="50000"/>
                </a:schemeClr>
              </a:solidFill>
            </a:endParaRPr>
          </a:p>
          <a:p>
            <a:pPr lvl="1"/>
            <a:r>
              <a:rPr lang="en-US" sz="2500" b="1" dirty="0"/>
              <a:t>Rationality ≠ Perfection</a:t>
            </a:r>
            <a:r>
              <a:rPr lang="en-US" sz="2500" b="1" dirty="0">
                <a:solidFill>
                  <a:schemeClr val="tx1">
                    <a:lumMod val="50000"/>
                    <a:lumOff val="50000"/>
                  </a:schemeClr>
                </a:solidFill>
              </a:rPr>
              <a:t> </a:t>
            </a:r>
            <a:r>
              <a:rPr lang="en-US" sz="2500" dirty="0">
                <a:solidFill>
                  <a:schemeClr val="tx1">
                    <a:lumMod val="50000"/>
                    <a:lumOff val="50000"/>
                  </a:schemeClr>
                </a:solidFill>
              </a:rPr>
              <a:t>– rational agents maximize </a:t>
            </a:r>
            <a:r>
              <a:rPr lang="en-US" sz="2500" b="1" dirty="0">
                <a:solidFill>
                  <a:schemeClr val="tx1">
                    <a:lumMod val="50000"/>
                    <a:lumOff val="50000"/>
                  </a:schemeClr>
                </a:solidFill>
              </a:rPr>
              <a:t>expected</a:t>
            </a:r>
            <a:r>
              <a:rPr lang="en-US" sz="2500" dirty="0">
                <a:solidFill>
                  <a:schemeClr val="tx1">
                    <a:lumMod val="50000"/>
                    <a:lumOff val="50000"/>
                  </a:schemeClr>
                </a:solidFill>
              </a:rPr>
              <a:t> outcomes not actual outcomes</a:t>
            </a:r>
          </a:p>
          <a:p>
            <a:pPr lvl="1"/>
            <a:endParaRPr lang="en-US" sz="2500" dirty="0">
              <a:solidFill>
                <a:schemeClr val="tx1">
                  <a:lumMod val="50000"/>
                  <a:lumOff val="50000"/>
                </a:schemeClr>
              </a:solidFill>
            </a:endParaRPr>
          </a:p>
          <a:p>
            <a:pPr lvl="1"/>
            <a:r>
              <a:rPr lang="en-US" sz="2500" b="1" dirty="0"/>
              <a:t>It is rational to explore and learn</a:t>
            </a:r>
            <a:r>
              <a:rPr lang="en-US" sz="2500" dirty="0"/>
              <a:t> </a:t>
            </a:r>
            <a:r>
              <a:rPr lang="en-US" sz="2500" dirty="0">
                <a:solidFill>
                  <a:schemeClr val="tx1">
                    <a:lumMod val="50000"/>
                    <a:lumOff val="50000"/>
                  </a:schemeClr>
                </a:solidFill>
              </a:rPr>
              <a:t>– I.e., </a:t>
            </a:r>
            <a:r>
              <a:rPr lang="en-US" sz="2500" b="1" dirty="0">
                <a:solidFill>
                  <a:schemeClr val="tx1">
                    <a:lumMod val="50000"/>
                    <a:lumOff val="50000"/>
                  </a:schemeClr>
                </a:solidFill>
              </a:rPr>
              <a:t>use</a:t>
            </a:r>
            <a:r>
              <a:rPr lang="en-US" sz="2500" dirty="0">
                <a:solidFill>
                  <a:schemeClr val="tx1">
                    <a:lumMod val="50000"/>
                    <a:lumOff val="50000"/>
                  </a:schemeClr>
                </a:solidFill>
              </a:rPr>
              <a:t> </a:t>
            </a:r>
            <a:r>
              <a:rPr lang="en-US" sz="2500" b="1" dirty="0">
                <a:solidFill>
                  <a:schemeClr val="tx1">
                    <a:lumMod val="50000"/>
                    <a:lumOff val="50000"/>
                  </a:schemeClr>
                </a:solidFill>
              </a:rPr>
              <a:t>percepts</a:t>
            </a:r>
            <a:r>
              <a:rPr lang="en-US" sz="2500" dirty="0">
                <a:solidFill>
                  <a:schemeClr val="tx1">
                    <a:lumMod val="50000"/>
                    <a:lumOff val="50000"/>
                  </a:schemeClr>
                </a:solidFill>
              </a:rPr>
              <a:t> to supplement prior knowledge and become autonomous</a:t>
            </a:r>
          </a:p>
          <a:p>
            <a:pPr lvl="1"/>
            <a:endParaRPr lang="en-US" sz="2500" dirty="0">
              <a:solidFill>
                <a:schemeClr val="tx1">
                  <a:lumMod val="50000"/>
                  <a:lumOff val="50000"/>
                </a:schemeClr>
              </a:solidFill>
            </a:endParaRPr>
          </a:p>
          <a:p>
            <a:pPr lvl="1"/>
            <a:r>
              <a:rPr lang="en-US" sz="2500" b="1" dirty="0"/>
              <a:t>Rationality is often bounded</a:t>
            </a:r>
            <a:r>
              <a:rPr lang="en-US" sz="2500" dirty="0">
                <a:solidFill>
                  <a:schemeClr val="tx1">
                    <a:lumMod val="50000"/>
                    <a:lumOff val="50000"/>
                  </a:schemeClr>
                </a:solidFill>
              </a:rPr>
              <a:t> by available memory, computational power, available sensors, etc.</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1F7FD68-7C82-41A2-E1B3-CBC99B34AF37}"/>
                  </a:ext>
                </a:extLst>
              </p:cNvPr>
              <p:cNvSpPr txBox="1"/>
              <p:nvPr/>
            </p:nvSpPr>
            <p:spPr>
              <a:xfrm>
                <a:off x="2057400" y="1447800"/>
                <a:ext cx="4752975" cy="89255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600" b="1" dirty="0"/>
                  <a:t>Rule</a:t>
                </a:r>
                <a:r>
                  <a:rPr lang="en-US" sz="1600" dirty="0"/>
                  <a:t>: Pick the action that maximize the expected utility</a:t>
                </a:r>
              </a:p>
              <a:p>
                <a:endParaRPr lang="en-US" sz="1600" dirty="0"/>
              </a:p>
              <a:p>
                <a:pPr/>
                <a14:m>
                  <m:oMathPara xmlns:m="http://schemas.openxmlformats.org/officeDocument/2006/math">
                    <m:oMath>
                      <m:r>
                        <a:rPr lang="en-US" sz="2000" b="0" i="1" smtClean="0">
                          <a:latin typeface="Cambria Math" panose="02040503050406030204" pitchFamily="18" charset="0"/>
                        </a:rPr>
                        <m:t>𝑎</m:t>
                      </m:r>
                      <m:r>
                        <a:rPr lang="en-US" sz="2000" b="0" i="1" smtClean="0">
                          <a:latin typeface="Cambria Math" panose="02040503050406030204" pitchFamily="18" charset="0"/>
                        </a:rPr>
                        <m:t>=</m:t>
                      </m:r>
                      <m:sSub>
                        <m:sSubPr>
                          <m:ctrlPr>
                            <a:rPr lang="en-US" sz="2000" b="0" i="0" smtClean="0">
                              <a:latin typeface="Cambria Math" panose="02040503050406030204" pitchFamily="18" charset="0"/>
                            </a:rPr>
                          </m:ctrlPr>
                        </m:sSubPr>
                        <m:e>
                          <m:r>
                            <m:rPr>
                              <m:nor/>
                            </m:rPr>
                            <a:rPr lang="en-US" sz="2000" b="0" i="0" smtClean="0">
                              <a:latin typeface="Cambria Math" panose="02040503050406030204" pitchFamily="18" charset="0"/>
                            </a:rPr>
                            <m:t>argmax</m:t>
                          </m:r>
                        </m:e>
                        <m:sub>
                          <m:r>
                            <a:rPr lang="en-US" sz="2000" b="0" i="1" smtClean="0">
                              <a:latin typeface="Cambria Math" panose="02040503050406030204" pitchFamily="18" charset="0"/>
                            </a:rPr>
                            <m:t>𝑎</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A</m:t>
                          </m:r>
                        </m:sub>
                      </m:sSub>
                      <m:r>
                        <a:rPr lang="en-US" sz="2000" b="0" i="1" smtClean="0">
                          <a:latin typeface="Cambria Math" panose="02040503050406030204" pitchFamily="18" charset="0"/>
                        </a:rPr>
                        <m:t> </m:t>
                      </m:r>
                      <m:r>
                        <a:rPr lang="en-US" sz="2000" b="0" i="1" smtClean="0">
                          <a:latin typeface="Cambria Math" panose="02040503050406030204" pitchFamily="18" charset="0"/>
                        </a:rPr>
                        <m:t>𝐸</m:t>
                      </m:r>
                      <m:d>
                        <m:dPr>
                          <m:endChr m:val="|"/>
                          <m:ctrlPr>
                            <a:rPr lang="en-US" sz="2000" b="0" i="1" smtClean="0">
                              <a:latin typeface="Cambria Math" panose="02040503050406030204" pitchFamily="18" charset="0"/>
                            </a:rPr>
                          </m:ctrlPr>
                        </m:dPr>
                        <m:e>
                          <m:r>
                            <a:rPr lang="en-US" sz="2000" b="0" i="1" smtClean="0">
                              <a:latin typeface="Cambria Math" panose="02040503050406030204" pitchFamily="18" charset="0"/>
                            </a:rPr>
                            <m:t>𝑈</m:t>
                          </m:r>
                          <m:r>
                            <a:rPr lang="en-US" sz="2000" b="0" i="1" smtClean="0">
                              <a:latin typeface="Cambria Math" panose="02040503050406030204" pitchFamily="18" charset="0"/>
                            </a:rPr>
                            <m:t> </m:t>
                          </m:r>
                        </m:e>
                      </m:d>
                      <m:r>
                        <a:rPr lang="en-US" sz="2000" b="0" i="1" smtClean="0">
                          <a:latin typeface="Cambria Math" panose="02040503050406030204" pitchFamily="18" charset="0"/>
                        </a:rPr>
                        <m:t> </m:t>
                      </m:r>
                      <m:r>
                        <a:rPr lang="en-US" sz="2000" b="0" i="1" smtClean="0">
                          <a:latin typeface="Cambria Math" panose="02040503050406030204" pitchFamily="18" charset="0"/>
                        </a:rPr>
                        <m:t>𝑎</m:t>
                      </m:r>
                      <m:r>
                        <a:rPr lang="en-US" sz="2000" b="0" i="1" smtClean="0">
                          <a:latin typeface="Cambria Math" panose="02040503050406030204" pitchFamily="18" charset="0"/>
                        </a:rPr>
                        <m:t>) </m:t>
                      </m:r>
                    </m:oMath>
                  </m:oMathPara>
                </a14:m>
                <a:endParaRPr lang="en-US" sz="2000" dirty="0"/>
              </a:p>
            </p:txBody>
          </p:sp>
        </mc:Choice>
        <mc:Fallback xmlns="">
          <p:sp>
            <p:nvSpPr>
              <p:cNvPr id="3" name="TextBox 2">
                <a:extLst>
                  <a:ext uri="{FF2B5EF4-FFF2-40B4-BE49-F238E27FC236}">
                    <a16:creationId xmlns:a16="http://schemas.microsoft.com/office/drawing/2014/main" id="{41F7FD68-7C82-41A2-E1B3-CBC99B34AF37}"/>
                  </a:ext>
                </a:extLst>
              </p:cNvPr>
              <p:cNvSpPr txBox="1">
                <a:spLocks noRot="1" noChangeAspect="1" noMove="1" noResize="1" noEditPoints="1" noAdjustHandles="1" noChangeArrowheads="1" noChangeShapeType="1" noTextEdit="1"/>
              </p:cNvSpPr>
              <p:nvPr/>
            </p:nvSpPr>
            <p:spPr>
              <a:xfrm>
                <a:off x="2057400" y="1447800"/>
                <a:ext cx="4752975" cy="892552"/>
              </a:xfrm>
              <a:prstGeom prst="rect">
                <a:avLst/>
              </a:prstGeom>
              <a:blipFill>
                <a:blip r:embed="rId3"/>
                <a:stretch>
                  <a:fillRect l="-640" t="-1351" b="-5405"/>
                </a:stretch>
              </a:blipFill>
            </p:spPr>
            <p:txBody>
              <a:bodyPr/>
              <a:lstStyle/>
              <a:p>
                <a:r>
                  <a:rPr lang="en-US">
                    <a:noFill/>
                  </a:rPr>
                  <a:t> </a:t>
                </a:r>
              </a:p>
            </p:txBody>
          </p:sp>
        </mc:Fallback>
      </mc:AlternateContent>
    </p:spTree>
    <p:extLst>
      <p:ext uri="{BB962C8B-B14F-4D97-AF65-F5344CB8AC3E}">
        <p14:creationId xmlns:p14="http://schemas.microsoft.com/office/powerpoint/2010/main" val="1388019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24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24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24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24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243">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24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4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r>
              <a:rPr lang="en-US" dirty="0"/>
              <a:t>Environment Types: Observability</a:t>
            </a:r>
          </a:p>
        </p:txBody>
      </p:sp>
      <p:sp>
        <p:nvSpPr>
          <p:cNvPr id="7" name="TextBox 6">
            <a:extLst>
              <a:ext uri="{FF2B5EF4-FFF2-40B4-BE49-F238E27FC236}">
                <a16:creationId xmlns:a16="http://schemas.microsoft.com/office/drawing/2014/main" id="{DEA7DB37-EDD5-07F3-AF05-F2C68E2B27D3}"/>
              </a:ext>
            </a:extLst>
          </p:cNvPr>
          <p:cNvSpPr txBox="1"/>
          <p:nvPr/>
        </p:nvSpPr>
        <p:spPr>
          <a:xfrm>
            <a:off x="679847" y="1746794"/>
            <a:ext cx="3124200" cy="954107"/>
          </a:xfrm>
          <a:prstGeom prst="rect">
            <a:avLst/>
          </a:prstGeom>
          <a:noFill/>
        </p:spPr>
        <p:txBody>
          <a:bodyPr wrap="square">
            <a:spAutoFit/>
          </a:bodyPr>
          <a:lstStyle/>
          <a:p>
            <a:pPr marL="0" indent="0">
              <a:buNone/>
            </a:pPr>
            <a:r>
              <a:rPr lang="en-US" sz="1400" b="1" dirty="0">
                <a:solidFill>
                  <a:srgbClr val="FF0000"/>
                </a:solidFill>
              </a:rPr>
              <a:t>Fully observable: </a:t>
            </a:r>
            <a:r>
              <a:rPr lang="en-US" sz="1400" dirty="0"/>
              <a:t>The agent's sensors give it access to the complete state of the environment. The agent can “see” the whole environment.</a:t>
            </a:r>
            <a:endParaRPr lang="en-US" sz="1400" b="1" dirty="0">
              <a:solidFill>
                <a:srgbClr val="FF0000"/>
              </a:solidFill>
            </a:endParaRPr>
          </a:p>
        </p:txBody>
      </p:sp>
      <p:sp>
        <p:nvSpPr>
          <p:cNvPr id="3" name="TextBox 2">
            <a:extLst>
              <a:ext uri="{FF2B5EF4-FFF2-40B4-BE49-F238E27FC236}">
                <a16:creationId xmlns:a16="http://schemas.microsoft.com/office/drawing/2014/main" id="{EB4EE6AF-025E-E64D-E65C-8B1334B2C89F}"/>
              </a:ext>
            </a:extLst>
          </p:cNvPr>
          <p:cNvSpPr txBox="1"/>
          <p:nvPr/>
        </p:nvSpPr>
        <p:spPr>
          <a:xfrm>
            <a:off x="3902869" y="1894570"/>
            <a:ext cx="590550" cy="369332"/>
          </a:xfrm>
          <a:prstGeom prst="rect">
            <a:avLst/>
          </a:prstGeom>
          <a:noFill/>
        </p:spPr>
        <p:txBody>
          <a:bodyPr wrap="square" rtlCol="0">
            <a:spAutoFit/>
          </a:bodyPr>
          <a:lstStyle/>
          <a:p>
            <a:r>
              <a:rPr lang="en-US" b="1" dirty="0">
                <a:solidFill>
                  <a:srgbClr val="FF0000"/>
                </a:solidFill>
              </a:rPr>
              <a:t>vs.</a:t>
            </a:r>
          </a:p>
        </p:txBody>
      </p:sp>
      <p:sp>
        <p:nvSpPr>
          <p:cNvPr id="9" name="TextBox 8">
            <a:extLst>
              <a:ext uri="{FF2B5EF4-FFF2-40B4-BE49-F238E27FC236}">
                <a16:creationId xmlns:a16="http://schemas.microsoft.com/office/drawing/2014/main" id="{DE87FCA1-B948-8AB0-0850-212AAF1F9022}"/>
              </a:ext>
            </a:extLst>
          </p:cNvPr>
          <p:cNvSpPr txBox="1"/>
          <p:nvPr/>
        </p:nvSpPr>
        <p:spPr>
          <a:xfrm>
            <a:off x="4505325" y="1808962"/>
            <a:ext cx="3495676" cy="738664"/>
          </a:xfrm>
          <a:prstGeom prst="rect">
            <a:avLst/>
          </a:prstGeom>
          <a:noFill/>
        </p:spPr>
        <p:txBody>
          <a:bodyPr wrap="square">
            <a:spAutoFit/>
          </a:bodyPr>
          <a:lstStyle/>
          <a:p>
            <a:r>
              <a:rPr lang="en-US" sz="1400" b="1" dirty="0">
                <a:solidFill>
                  <a:srgbClr val="FF0000"/>
                </a:solidFill>
              </a:rPr>
              <a:t>Partially observable: </a:t>
            </a:r>
            <a:r>
              <a:rPr lang="en-US" sz="1400" dirty="0"/>
              <a:t>The agent cannot see all aspects of the environment. E.g., it can’t see through walls</a:t>
            </a:r>
          </a:p>
        </p:txBody>
      </p:sp>
      <p:sp>
        <p:nvSpPr>
          <p:cNvPr id="12" name="TextBox 11">
            <a:extLst>
              <a:ext uri="{FF2B5EF4-FFF2-40B4-BE49-F238E27FC236}">
                <a16:creationId xmlns:a16="http://schemas.microsoft.com/office/drawing/2014/main" id="{A6FF06FB-0770-A9DD-2B64-27676841E276}"/>
              </a:ext>
            </a:extLst>
          </p:cNvPr>
          <p:cNvSpPr txBox="1"/>
          <p:nvPr/>
        </p:nvSpPr>
        <p:spPr>
          <a:xfrm>
            <a:off x="679847" y="2795994"/>
            <a:ext cx="1225153" cy="369332"/>
          </a:xfrm>
          <a:prstGeom prst="rect">
            <a:avLst/>
          </a:prstGeom>
          <a:noFill/>
        </p:spPr>
        <p:txBody>
          <a:bodyPr wrap="square" rtlCol="0">
            <a:spAutoFit/>
          </a:bodyPr>
          <a:lstStyle/>
          <a:p>
            <a:r>
              <a:rPr lang="en-US" dirty="0"/>
              <a:t>Examples:</a:t>
            </a:r>
          </a:p>
        </p:txBody>
      </p:sp>
      <p:grpSp>
        <p:nvGrpSpPr>
          <p:cNvPr id="20" name="Group 19">
            <a:extLst>
              <a:ext uri="{FF2B5EF4-FFF2-40B4-BE49-F238E27FC236}">
                <a16:creationId xmlns:a16="http://schemas.microsoft.com/office/drawing/2014/main" id="{2C5EB3F1-17D0-62CC-BD93-38A499293F81}"/>
              </a:ext>
            </a:extLst>
          </p:cNvPr>
          <p:cNvGrpSpPr/>
          <p:nvPr/>
        </p:nvGrpSpPr>
        <p:grpSpPr>
          <a:xfrm>
            <a:off x="611456" y="3191907"/>
            <a:ext cx="3307362" cy="3306283"/>
            <a:chOff x="611456" y="3191907"/>
            <a:chExt cx="3307362" cy="3306283"/>
          </a:xfrm>
        </p:grpSpPr>
        <p:pic>
          <p:nvPicPr>
            <p:cNvPr id="8" name="Picture 7" descr="chess board | Free SVG">
              <a:extLst>
                <a:ext uri="{FF2B5EF4-FFF2-40B4-BE49-F238E27FC236}">
                  <a16:creationId xmlns:a16="http://schemas.microsoft.com/office/drawing/2014/main" id="{CC7BF71E-AF48-8630-64F3-F286E2DE9AE3}"/>
                </a:ext>
              </a:extLst>
            </p:cNvPr>
            <p:cNvPicPr>
              <a:picLocks noChangeAspect="1"/>
            </p:cNvPicPr>
            <p:nvPr/>
          </p:nvPicPr>
          <p:blipFill>
            <a:blip r:embed="rId3"/>
            <a:stretch>
              <a:fillRect/>
            </a:stretch>
          </p:blipFill>
          <p:spPr>
            <a:xfrm>
              <a:off x="1106921" y="3191907"/>
              <a:ext cx="2270051" cy="2270051"/>
            </a:xfrm>
            <a:prstGeom prst="rect">
              <a:avLst/>
            </a:prstGeom>
          </p:spPr>
        </p:pic>
        <p:sp>
          <p:nvSpPr>
            <p:cNvPr id="16" name="TextBox 15">
              <a:extLst>
                <a:ext uri="{FF2B5EF4-FFF2-40B4-BE49-F238E27FC236}">
                  <a16:creationId xmlns:a16="http://schemas.microsoft.com/office/drawing/2014/main" id="{99A6C032-7E5A-4060-0E1A-5B4BECC2F1FF}"/>
                </a:ext>
              </a:extLst>
            </p:cNvPr>
            <p:cNvSpPr txBox="1"/>
            <p:nvPr/>
          </p:nvSpPr>
          <p:spPr>
            <a:xfrm>
              <a:off x="611456" y="5636416"/>
              <a:ext cx="3307362" cy="861774"/>
            </a:xfrm>
            <a:prstGeom prst="rect">
              <a:avLst/>
            </a:prstGeom>
            <a:noFill/>
          </p:spPr>
          <p:txBody>
            <a:bodyPr wrap="square" rtlCol="0">
              <a:spAutoFit/>
            </a:bodyPr>
            <a:lstStyle/>
            <a:p>
              <a:r>
                <a:rPr lang="en-US" sz="1600" dirty="0"/>
                <a:t>Chess</a:t>
              </a:r>
            </a:p>
            <a:p>
              <a:pPr marL="742950" lvl="1" indent="-285750">
                <a:buFont typeface="Arial" panose="020B0604020202020204" pitchFamily="34" charset="0"/>
                <a:buChar char="•"/>
              </a:pPr>
              <a:r>
                <a:rPr lang="en-US" sz="1600" dirty="0"/>
                <a:t>All Pieces visible</a:t>
              </a:r>
            </a:p>
            <a:p>
              <a:pPr marL="742950" lvl="1" indent="-285750">
                <a:buFont typeface="Arial" panose="020B0604020202020204" pitchFamily="34" charset="0"/>
                <a:buChar char="•"/>
              </a:pPr>
              <a:r>
                <a:rPr lang="en-US" sz="1600" dirty="0"/>
                <a:t>Full information</a:t>
              </a:r>
            </a:p>
          </p:txBody>
        </p:sp>
      </p:grpSp>
      <p:grpSp>
        <p:nvGrpSpPr>
          <p:cNvPr id="4" name="Group 3">
            <a:extLst>
              <a:ext uri="{FF2B5EF4-FFF2-40B4-BE49-F238E27FC236}">
                <a16:creationId xmlns:a16="http://schemas.microsoft.com/office/drawing/2014/main" id="{DFA360B1-B27C-916D-066B-20070F9BCFEC}"/>
              </a:ext>
            </a:extLst>
          </p:cNvPr>
          <p:cNvGrpSpPr/>
          <p:nvPr/>
        </p:nvGrpSpPr>
        <p:grpSpPr>
          <a:xfrm>
            <a:off x="4738875" y="3429000"/>
            <a:ext cx="3432149" cy="3053801"/>
            <a:chOff x="4738875" y="3429000"/>
            <a:chExt cx="3432149" cy="3053801"/>
          </a:xfrm>
        </p:grpSpPr>
        <p:sp>
          <p:nvSpPr>
            <p:cNvPr id="19" name="TextBox 18">
              <a:extLst>
                <a:ext uri="{FF2B5EF4-FFF2-40B4-BE49-F238E27FC236}">
                  <a16:creationId xmlns:a16="http://schemas.microsoft.com/office/drawing/2014/main" id="{05F52A5A-90EC-F866-C810-B75B91364810}"/>
                </a:ext>
              </a:extLst>
            </p:cNvPr>
            <p:cNvSpPr txBox="1"/>
            <p:nvPr/>
          </p:nvSpPr>
          <p:spPr>
            <a:xfrm>
              <a:off x="4767228" y="5651804"/>
              <a:ext cx="3307362" cy="830997"/>
            </a:xfrm>
            <a:prstGeom prst="rect">
              <a:avLst/>
            </a:prstGeom>
            <a:noFill/>
          </p:spPr>
          <p:txBody>
            <a:bodyPr wrap="square" rtlCol="0">
              <a:spAutoFit/>
            </a:bodyPr>
            <a:lstStyle/>
            <a:p>
              <a:r>
                <a:rPr lang="en-US" sz="1600" dirty="0"/>
                <a:t>Poker</a:t>
              </a:r>
            </a:p>
            <a:p>
              <a:pPr marL="742950" lvl="1" indent="-285750">
                <a:buFont typeface="Arial" panose="020B0604020202020204" pitchFamily="34" charset="0"/>
                <a:buChar char="•"/>
              </a:pPr>
              <a:r>
                <a:rPr lang="en-US" sz="1600" dirty="0"/>
                <a:t>Some cards are not known (e.g., other player’s cards)</a:t>
              </a:r>
            </a:p>
          </p:txBody>
        </p:sp>
        <p:pic>
          <p:nvPicPr>
            <p:cNvPr id="2" name="Picture 1" descr="How to Play Texas Hold'em Poker Step by Step">
              <a:extLst>
                <a:ext uri="{FF2B5EF4-FFF2-40B4-BE49-F238E27FC236}">
                  <a16:creationId xmlns:a16="http://schemas.microsoft.com/office/drawing/2014/main" id="{0D9F5377-31E8-148A-F842-81FBCE45A87C}"/>
                </a:ext>
              </a:extLst>
            </p:cNvPr>
            <p:cNvPicPr>
              <a:picLocks noChangeAspect="1"/>
            </p:cNvPicPr>
            <p:nvPr/>
          </p:nvPicPr>
          <p:blipFill>
            <a:blip r:embed="rId4"/>
            <a:stretch>
              <a:fillRect/>
            </a:stretch>
          </p:blipFill>
          <p:spPr>
            <a:xfrm>
              <a:off x="4738875" y="3429000"/>
              <a:ext cx="3432149" cy="1930584"/>
            </a:xfrm>
            <a:prstGeom prst="rect">
              <a:avLst/>
            </a:prstGeom>
            <a:ln>
              <a:noFill/>
            </a:ln>
            <a:effectLst>
              <a:outerShdw blurRad="292100" dist="139700" dir="2700000" algn="tl" rotWithShape="0">
                <a:srgbClr val="333333">
                  <a:alpha val="65000"/>
                </a:srgbClr>
              </a:outerShdw>
            </a:effectLst>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3" grpId="0"/>
      <p:bldP spid="9" grpId="0"/>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2870A1-4F12-5008-4517-58F0926152FD}"/>
            </a:ext>
          </a:extLst>
        </p:cNvPr>
        <p:cNvGrpSpPr/>
        <p:nvPr/>
      </p:nvGrpSpPr>
      <p:grpSpPr>
        <a:xfrm>
          <a:off x="0" y="0"/>
          <a:ext cx="0" cy="0"/>
          <a:chOff x="0" y="0"/>
          <a:chExt cx="0" cy="0"/>
        </a:xfrm>
      </p:grpSpPr>
      <p:sp>
        <p:nvSpPr>
          <p:cNvPr id="17410" name="Rectangle 2">
            <a:extLst>
              <a:ext uri="{FF2B5EF4-FFF2-40B4-BE49-F238E27FC236}">
                <a16:creationId xmlns:a16="http://schemas.microsoft.com/office/drawing/2014/main" id="{C18D46D1-8D59-3825-67B1-DC2044AB8404}"/>
              </a:ext>
            </a:extLst>
          </p:cNvPr>
          <p:cNvSpPr>
            <a:spLocks noGrp="1" noChangeArrowheads="1"/>
          </p:cNvSpPr>
          <p:nvPr>
            <p:ph type="title"/>
          </p:nvPr>
        </p:nvSpPr>
        <p:spPr/>
        <p:txBody>
          <a:bodyPr/>
          <a:lstStyle/>
          <a:p>
            <a:r>
              <a:rPr lang="en-US" dirty="0"/>
              <a:t>Environment Types: Stochasticity</a:t>
            </a:r>
          </a:p>
        </p:txBody>
      </p:sp>
      <p:sp>
        <p:nvSpPr>
          <p:cNvPr id="11" name="TextBox 10">
            <a:extLst>
              <a:ext uri="{FF2B5EF4-FFF2-40B4-BE49-F238E27FC236}">
                <a16:creationId xmlns:a16="http://schemas.microsoft.com/office/drawing/2014/main" id="{386B4E17-ED50-946B-AF37-FED3C16E09C2}"/>
              </a:ext>
            </a:extLst>
          </p:cNvPr>
          <p:cNvSpPr txBox="1"/>
          <p:nvPr/>
        </p:nvSpPr>
        <p:spPr>
          <a:xfrm>
            <a:off x="642827" y="1699974"/>
            <a:ext cx="3352800" cy="738664"/>
          </a:xfrm>
          <a:prstGeom prst="rect">
            <a:avLst/>
          </a:prstGeom>
          <a:noFill/>
        </p:spPr>
        <p:txBody>
          <a:bodyPr wrap="square">
            <a:spAutoFit/>
          </a:bodyPr>
          <a:lstStyle/>
          <a:p>
            <a:pPr marL="0" indent="0">
              <a:buNone/>
            </a:pPr>
            <a:r>
              <a:rPr lang="en-US" sz="1400" b="1" dirty="0">
                <a:solidFill>
                  <a:srgbClr val="FF0000"/>
                </a:solidFill>
              </a:rPr>
              <a:t>Deterministic: </a:t>
            </a:r>
            <a:r>
              <a:rPr lang="en-US" sz="1400" dirty="0"/>
              <a:t>The environment follows fixed rules. Actions have always the same results.</a:t>
            </a:r>
          </a:p>
        </p:txBody>
      </p:sp>
      <p:sp>
        <p:nvSpPr>
          <p:cNvPr id="4" name="TextBox 3">
            <a:extLst>
              <a:ext uri="{FF2B5EF4-FFF2-40B4-BE49-F238E27FC236}">
                <a16:creationId xmlns:a16="http://schemas.microsoft.com/office/drawing/2014/main" id="{A051C146-0524-8B96-525D-13F42268F715}"/>
              </a:ext>
            </a:extLst>
          </p:cNvPr>
          <p:cNvSpPr txBox="1"/>
          <p:nvPr/>
        </p:nvSpPr>
        <p:spPr>
          <a:xfrm>
            <a:off x="3865849" y="1842938"/>
            <a:ext cx="590550" cy="369332"/>
          </a:xfrm>
          <a:prstGeom prst="rect">
            <a:avLst/>
          </a:prstGeom>
          <a:noFill/>
        </p:spPr>
        <p:txBody>
          <a:bodyPr wrap="square" rtlCol="0">
            <a:spAutoFit/>
          </a:bodyPr>
          <a:lstStyle/>
          <a:p>
            <a:r>
              <a:rPr lang="en-US" b="1" dirty="0">
                <a:solidFill>
                  <a:srgbClr val="FF0000"/>
                </a:solidFill>
              </a:rPr>
              <a:t>vs.</a:t>
            </a:r>
          </a:p>
        </p:txBody>
      </p:sp>
      <p:sp>
        <p:nvSpPr>
          <p:cNvPr id="13" name="TextBox 12">
            <a:extLst>
              <a:ext uri="{FF2B5EF4-FFF2-40B4-BE49-F238E27FC236}">
                <a16:creationId xmlns:a16="http://schemas.microsoft.com/office/drawing/2014/main" id="{4F346DB9-A883-56B0-AE23-B9B2E5DFEAA8}"/>
              </a:ext>
            </a:extLst>
          </p:cNvPr>
          <p:cNvSpPr txBox="1"/>
          <p:nvPr/>
        </p:nvSpPr>
        <p:spPr>
          <a:xfrm>
            <a:off x="4456399" y="1732106"/>
            <a:ext cx="3807619" cy="738664"/>
          </a:xfrm>
          <a:prstGeom prst="rect">
            <a:avLst/>
          </a:prstGeom>
          <a:noFill/>
        </p:spPr>
        <p:txBody>
          <a:bodyPr wrap="square">
            <a:spAutoFit/>
          </a:bodyPr>
          <a:lstStyle/>
          <a:p>
            <a:pPr marL="0" indent="0">
              <a:buNone/>
            </a:pPr>
            <a:r>
              <a:rPr lang="en-US" sz="1400" b="1" dirty="0">
                <a:solidFill>
                  <a:srgbClr val="FF0000"/>
                </a:solidFill>
              </a:rPr>
              <a:t>Stochastic: </a:t>
            </a:r>
            <a:r>
              <a:rPr lang="en-US" sz="1400" dirty="0"/>
              <a:t>The environments reacts to actions with some randomness. The same action may have different results when tried multiple times.</a:t>
            </a:r>
          </a:p>
        </p:txBody>
      </p:sp>
      <p:grpSp>
        <p:nvGrpSpPr>
          <p:cNvPr id="23" name="Group 22">
            <a:extLst>
              <a:ext uri="{FF2B5EF4-FFF2-40B4-BE49-F238E27FC236}">
                <a16:creationId xmlns:a16="http://schemas.microsoft.com/office/drawing/2014/main" id="{E58E97D0-350A-9AD4-EFBB-5B04C3A43466}"/>
              </a:ext>
            </a:extLst>
          </p:cNvPr>
          <p:cNvGrpSpPr/>
          <p:nvPr/>
        </p:nvGrpSpPr>
        <p:grpSpPr>
          <a:xfrm>
            <a:off x="709530" y="4024370"/>
            <a:ext cx="3307362" cy="2443043"/>
            <a:chOff x="709530" y="4024370"/>
            <a:chExt cx="3307362" cy="2443043"/>
          </a:xfrm>
        </p:grpSpPr>
        <p:sp>
          <p:nvSpPr>
            <p:cNvPr id="8" name="TextBox 7">
              <a:extLst>
                <a:ext uri="{FF2B5EF4-FFF2-40B4-BE49-F238E27FC236}">
                  <a16:creationId xmlns:a16="http://schemas.microsoft.com/office/drawing/2014/main" id="{91EC7E42-B0B3-DDFA-9663-104E0909A98A}"/>
                </a:ext>
              </a:extLst>
            </p:cNvPr>
            <p:cNvSpPr txBox="1"/>
            <p:nvPr/>
          </p:nvSpPr>
          <p:spPr>
            <a:xfrm>
              <a:off x="709530" y="5636416"/>
              <a:ext cx="3307362" cy="830997"/>
            </a:xfrm>
            <a:prstGeom prst="rect">
              <a:avLst/>
            </a:prstGeom>
            <a:noFill/>
          </p:spPr>
          <p:txBody>
            <a:bodyPr wrap="square" rtlCol="0">
              <a:spAutoFit/>
            </a:bodyPr>
            <a:lstStyle/>
            <a:p>
              <a:r>
                <a:rPr lang="en-US" sz="1600" dirty="0"/>
                <a:t>Tic-tac-toe</a:t>
              </a:r>
            </a:p>
            <a:p>
              <a:pPr marL="742950" lvl="1" indent="-285750">
                <a:buFont typeface="Arial" panose="020B0604020202020204" pitchFamily="34" charset="0"/>
                <a:buChar char="•"/>
              </a:pPr>
              <a:r>
                <a:rPr lang="en-US" sz="1600" dirty="0"/>
                <a:t>The game follows fixed rules without uncertainty</a:t>
              </a:r>
            </a:p>
          </p:txBody>
        </p:sp>
        <p:pic>
          <p:nvPicPr>
            <p:cNvPr id="10" name="Picture 9" descr="Tic-tac-toe - Wikipedia">
              <a:extLst>
                <a:ext uri="{FF2B5EF4-FFF2-40B4-BE49-F238E27FC236}">
                  <a16:creationId xmlns:a16="http://schemas.microsoft.com/office/drawing/2014/main" id="{D7D6BCF8-47B8-82B5-0754-9A6C5CD1D12B}"/>
                </a:ext>
              </a:extLst>
            </p:cNvPr>
            <p:cNvPicPr>
              <a:picLocks noChangeAspect="1"/>
            </p:cNvPicPr>
            <p:nvPr/>
          </p:nvPicPr>
          <p:blipFill>
            <a:blip r:embed="rId3"/>
            <a:stretch>
              <a:fillRect/>
            </a:stretch>
          </p:blipFill>
          <p:spPr>
            <a:xfrm>
              <a:off x="1414352" y="4024370"/>
              <a:ext cx="1809750" cy="1612046"/>
            </a:xfrm>
            <a:prstGeom prst="rect">
              <a:avLst/>
            </a:prstGeom>
          </p:spPr>
        </p:pic>
      </p:grpSp>
      <p:sp>
        <p:nvSpPr>
          <p:cNvPr id="12" name="TextBox 11">
            <a:extLst>
              <a:ext uri="{FF2B5EF4-FFF2-40B4-BE49-F238E27FC236}">
                <a16:creationId xmlns:a16="http://schemas.microsoft.com/office/drawing/2014/main" id="{FAE0D46A-E9B2-4804-CA45-BA3ADEF19541}"/>
              </a:ext>
            </a:extLst>
          </p:cNvPr>
          <p:cNvSpPr txBox="1"/>
          <p:nvPr/>
        </p:nvSpPr>
        <p:spPr>
          <a:xfrm>
            <a:off x="642827" y="3315140"/>
            <a:ext cx="1225153" cy="369332"/>
          </a:xfrm>
          <a:prstGeom prst="rect">
            <a:avLst/>
          </a:prstGeom>
          <a:noFill/>
        </p:spPr>
        <p:txBody>
          <a:bodyPr wrap="square" rtlCol="0">
            <a:spAutoFit/>
          </a:bodyPr>
          <a:lstStyle/>
          <a:p>
            <a:r>
              <a:rPr lang="en-US" dirty="0"/>
              <a:t>Examples:</a:t>
            </a:r>
          </a:p>
        </p:txBody>
      </p:sp>
      <p:grpSp>
        <p:nvGrpSpPr>
          <p:cNvPr id="22" name="Group 21">
            <a:extLst>
              <a:ext uri="{FF2B5EF4-FFF2-40B4-BE49-F238E27FC236}">
                <a16:creationId xmlns:a16="http://schemas.microsoft.com/office/drawing/2014/main" id="{ED368595-5BD0-A30F-359F-E2C87ABBC343}"/>
              </a:ext>
            </a:extLst>
          </p:cNvPr>
          <p:cNvGrpSpPr/>
          <p:nvPr/>
        </p:nvGrpSpPr>
        <p:grpSpPr>
          <a:xfrm>
            <a:off x="4684500" y="3684472"/>
            <a:ext cx="3307362" cy="2826123"/>
            <a:chOff x="4684500" y="3684472"/>
            <a:chExt cx="3307362" cy="2826123"/>
          </a:xfrm>
        </p:grpSpPr>
        <p:sp>
          <p:nvSpPr>
            <p:cNvPr id="16" name="TextBox 15">
              <a:extLst>
                <a:ext uri="{FF2B5EF4-FFF2-40B4-BE49-F238E27FC236}">
                  <a16:creationId xmlns:a16="http://schemas.microsoft.com/office/drawing/2014/main" id="{0EDC91E5-C65E-B8AC-78E8-5CC41CA56874}"/>
                </a:ext>
              </a:extLst>
            </p:cNvPr>
            <p:cNvSpPr txBox="1"/>
            <p:nvPr/>
          </p:nvSpPr>
          <p:spPr>
            <a:xfrm>
              <a:off x="4684500" y="5679598"/>
              <a:ext cx="3307362" cy="830997"/>
            </a:xfrm>
            <a:prstGeom prst="rect">
              <a:avLst/>
            </a:prstGeom>
            <a:noFill/>
          </p:spPr>
          <p:txBody>
            <a:bodyPr wrap="square" rtlCol="0">
              <a:spAutoFit/>
            </a:bodyPr>
            <a:lstStyle/>
            <a:p>
              <a:r>
                <a:rPr lang="en-US" sz="1600" dirty="0"/>
                <a:t>Games with uncertainty:</a:t>
              </a:r>
            </a:p>
            <a:p>
              <a:pPr marL="742950" lvl="1" indent="-285750">
                <a:buFont typeface="Arial" panose="020B0604020202020204" pitchFamily="34" charset="0"/>
                <a:buChar char="•"/>
              </a:pPr>
              <a:r>
                <a:rPr lang="en-US" sz="1600" dirty="0"/>
                <a:t>Roll dice to move</a:t>
              </a:r>
            </a:p>
            <a:p>
              <a:pPr marL="742950" lvl="1" indent="-285750">
                <a:buFont typeface="Arial" panose="020B0604020202020204" pitchFamily="34" charset="0"/>
                <a:buChar char="•"/>
              </a:pPr>
              <a:r>
                <a:rPr lang="en-US" sz="1600" dirty="0"/>
                <a:t>Pick a card from a stack</a:t>
              </a:r>
            </a:p>
          </p:txBody>
        </p:sp>
        <p:pic>
          <p:nvPicPr>
            <p:cNvPr id="21" name="Picture 20" descr="DICE definition in American English | Collins English Dictionary">
              <a:extLst>
                <a:ext uri="{FF2B5EF4-FFF2-40B4-BE49-F238E27FC236}">
                  <a16:creationId xmlns:a16="http://schemas.microsoft.com/office/drawing/2014/main" id="{2465662B-AC2C-B5E7-5C1F-262A19C71EF2}"/>
                </a:ext>
              </a:extLst>
            </p:cNvPr>
            <p:cNvPicPr>
              <a:picLocks noChangeAspect="1"/>
            </p:cNvPicPr>
            <p:nvPr/>
          </p:nvPicPr>
          <p:blipFill>
            <a:blip r:embed="rId4"/>
            <a:stretch>
              <a:fillRect/>
            </a:stretch>
          </p:blipFill>
          <p:spPr>
            <a:xfrm>
              <a:off x="5194295" y="3684472"/>
              <a:ext cx="2197105" cy="2004624"/>
            </a:xfrm>
            <a:prstGeom prst="rect">
              <a:avLst/>
            </a:prstGeom>
          </p:spPr>
        </p:pic>
      </p:grpSp>
    </p:spTree>
    <p:extLst>
      <p:ext uri="{BB962C8B-B14F-4D97-AF65-F5344CB8AC3E}">
        <p14:creationId xmlns:p14="http://schemas.microsoft.com/office/powerpoint/2010/main" val="954045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4" grpId="0"/>
      <p:bldP spid="13" grpId="0"/>
      <p:bldP spid="1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A00B3-3A8F-8DE5-EA8B-2960BC42F700}"/>
            </a:ext>
          </a:extLst>
        </p:cNvPr>
        <p:cNvGrpSpPr/>
        <p:nvPr/>
      </p:nvGrpSpPr>
      <p:grpSpPr>
        <a:xfrm>
          <a:off x="0" y="0"/>
          <a:ext cx="0" cy="0"/>
          <a:chOff x="0" y="0"/>
          <a:chExt cx="0" cy="0"/>
        </a:xfrm>
      </p:grpSpPr>
      <p:sp>
        <p:nvSpPr>
          <p:cNvPr id="17410" name="Rectangle 2">
            <a:extLst>
              <a:ext uri="{FF2B5EF4-FFF2-40B4-BE49-F238E27FC236}">
                <a16:creationId xmlns:a16="http://schemas.microsoft.com/office/drawing/2014/main" id="{238F098D-03F5-F90E-217D-7118C174191E}"/>
              </a:ext>
            </a:extLst>
          </p:cNvPr>
          <p:cNvSpPr>
            <a:spLocks noGrp="1" noChangeArrowheads="1"/>
          </p:cNvSpPr>
          <p:nvPr>
            <p:ph type="title"/>
          </p:nvPr>
        </p:nvSpPr>
        <p:spPr/>
        <p:txBody>
          <a:bodyPr/>
          <a:lstStyle/>
          <a:p>
            <a:r>
              <a:rPr lang="en-US" dirty="0"/>
              <a:t>Environment Types: Knowledge</a:t>
            </a:r>
          </a:p>
        </p:txBody>
      </p:sp>
      <p:sp>
        <p:nvSpPr>
          <p:cNvPr id="15" name="TextBox 14">
            <a:extLst>
              <a:ext uri="{FF2B5EF4-FFF2-40B4-BE49-F238E27FC236}">
                <a16:creationId xmlns:a16="http://schemas.microsoft.com/office/drawing/2014/main" id="{B1606F03-65B3-C038-F054-0F4FA5CFCA7C}"/>
              </a:ext>
            </a:extLst>
          </p:cNvPr>
          <p:cNvSpPr txBox="1"/>
          <p:nvPr/>
        </p:nvSpPr>
        <p:spPr>
          <a:xfrm>
            <a:off x="633966" y="1442235"/>
            <a:ext cx="3192066" cy="738664"/>
          </a:xfrm>
          <a:prstGeom prst="rect">
            <a:avLst/>
          </a:prstGeom>
          <a:noFill/>
        </p:spPr>
        <p:txBody>
          <a:bodyPr wrap="square">
            <a:spAutoFit/>
          </a:bodyPr>
          <a:lstStyle/>
          <a:p>
            <a:pPr marL="0" indent="0">
              <a:buNone/>
            </a:pPr>
            <a:r>
              <a:rPr lang="en-US" sz="1400" b="1" dirty="0">
                <a:solidFill>
                  <a:srgbClr val="FF0000"/>
                </a:solidFill>
              </a:rPr>
              <a:t>Known: </a:t>
            </a:r>
            <a:r>
              <a:rPr lang="en-US" sz="1400" dirty="0"/>
              <a:t>The agent knows the rules of the environment and can predict the (chance of the) outcome of actions.</a:t>
            </a:r>
            <a:endParaRPr lang="en-US" sz="1400" b="1" dirty="0">
              <a:solidFill>
                <a:srgbClr val="FF0000"/>
              </a:solidFill>
            </a:endParaRPr>
          </a:p>
        </p:txBody>
      </p:sp>
      <p:sp>
        <p:nvSpPr>
          <p:cNvPr id="5" name="TextBox 4">
            <a:extLst>
              <a:ext uri="{FF2B5EF4-FFF2-40B4-BE49-F238E27FC236}">
                <a16:creationId xmlns:a16="http://schemas.microsoft.com/office/drawing/2014/main" id="{FA1029EA-C9A8-F6EA-5528-AC085391F9F7}"/>
              </a:ext>
            </a:extLst>
          </p:cNvPr>
          <p:cNvSpPr txBox="1"/>
          <p:nvPr/>
        </p:nvSpPr>
        <p:spPr>
          <a:xfrm>
            <a:off x="3872466" y="1494617"/>
            <a:ext cx="590550" cy="369332"/>
          </a:xfrm>
          <a:prstGeom prst="rect">
            <a:avLst/>
          </a:prstGeom>
          <a:noFill/>
        </p:spPr>
        <p:txBody>
          <a:bodyPr wrap="square" rtlCol="0">
            <a:spAutoFit/>
          </a:bodyPr>
          <a:lstStyle/>
          <a:p>
            <a:r>
              <a:rPr lang="en-US" b="1" dirty="0">
                <a:solidFill>
                  <a:srgbClr val="FF0000"/>
                </a:solidFill>
              </a:rPr>
              <a:t>vs.</a:t>
            </a:r>
          </a:p>
        </p:txBody>
      </p:sp>
      <p:sp>
        <p:nvSpPr>
          <p:cNvPr id="17" name="TextBox 16">
            <a:extLst>
              <a:ext uri="{FF2B5EF4-FFF2-40B4-BE49-F238E27FC236}">
                <a16:creationId xmlns:a16="http://schemas.microsoft.com/office/drawing/2014/main" id="{C6FF14F1-DCCC-8C99-6C49-3446B2F8C4AD}"/>
              </a:ext>
            </a:extLst>
          </p:cNvPr>
          <p:cNvSpPr txBox="1"/>
          <p:nvPr/>
        </p:nvSpPr>
        <p:spPr>
          <a:xfrm>
            <a:off x="4463016" y="1505001"/>
            <a:ext cx="3807618" cy="738664"/>
          </a:xfrm>
          <a:prstGeom prst="rect">
            <a:avLst/>
          </a:prstGeom>
          <a:noFill/>
        </p:spPr>
        <p:txBody>
          <a:bodyPr wrap="square">
            <a:spAutoFit/>
          </a:bodyPr>
          <a:lstStyle/>
          <a:p>
            <a:pPr marL="0" indent="0">
              <a:buNone/>
            </a:pPr>
            <a:r>
              <a:rPr lang="en-US" sz="1400" b="1" dirty="0">
                <a:solidFill>
                  <a:srgbClr val="FF0000"/>
                </a:solidFill>
              </a:rPr>
              <a:t>Unknown: </a:t>
            </a:r>
            <a:r>
              <a:rPr lang="en-US" sz="1400" dirty="0"/>
              <a:t>The agent does not know the rules of the environment and cannot predict the outcome of actions.</a:t>
            </a:r>
            <a:endParaRPr lang="en-US" sz="1400" b="1" dirty="0">
              <a:solidFill>
                <a:srgbClr val="FF0000"/>
              </a:solidFill>
            </a:endParaRPr>
          </a:p>
        </p:txBody>
      </p:sp>
      <p:sp>
        <p:nvSpPr>
          <p:cNvPr id="12" name="TextBox 11">
            <a:extLst>
              <a:ext uri="{FF2B5EF4-FFF2-40B4-BE49-F238E27FC236}">
                <a16:creationId xmlns:a16="http://schemas.microsoft.com/office/drawing/2014/main" id="{BE4765C4-4AAD-987F-10A1-93F78BE7B825}"/>
              </a:ext>
            </a:extLst>
          </p:cNvPr>
          <p:cNvSpPr txBox="1"/>
          <p:nvPr/>
        </p:nvSpPr>
        <p:spPr>
          <a:xfrm>
            <a:off x="651687" y="2514600"/>
            <a:ext cx="1225153" cy="369332"/>
          </a:xfrm>
          <a:prstGeom prst="rect">
            <a:avLst/>
          </a:prstGeom>
          <a:noFill/>
        </p:spPr>
        <p:txBody>
          <a:bodyPr wrap="square" rtlCol="0">
            <a:spAutoFit/>
          </a:bodyPr>
          <a:lstStyle/>
          <a:p>
            <a:r>
              <a:rPr lang="en-US" dirty="0"/>
              <a:t>Examples:</a:t>
            </a:r>
          </a:p>
        </p:txBody>
      </p:sp>
      <p:grpSp>
        <p:nvGrpSpPr>
          <p:cNvPr id="19" name="Group 18">
            <a:extLst>
              <a:ext uri="{FF2B5EF4-FFF2-40B4-BE49-F238E27FC236}">
                <a16:creationId xmlns:a16="http://schemas.microsoft.com/office/drawing/2014/main" id="{47617480-8AC3-BF5E-101D-750C7D34A369}"/>
              </a:ext>
            </a:extLst>
          </p:cNvPr>
          <p:cNvGrpSpPr/>
          <p:nvPr/>
        </p:nvGrpSpPr>
        <p:grpSpPr>
          <a:xfrm>
            <a:off x="628650" y="2820180"/>
            <a:ext cx="3581400" cy="3654777"/>
            <a:chOff x="625106" y="3172683"/>
            <a:chExt cx="3581400" cy="3654777"/>
          </a:xfrm>
        </p:grpSpPr>
        <p:pic>
          <p:nvPicPr>
            <p:cNvPr id="6" name="Picture 5" descr="44 Different Types of Mazes and Labyrinths — Free Printable Mazes for All Ages">
              <a:extLst>
                <a:ext uri="{FF2B5EF4-FFF2-40B4-BE49-F238E27FC236}">
                  <a16:creationId xmlns:a16="http://schemas.microsoft.com/office/drawing/2014/main" id="{9C080488-9659-712A-97E6-5627E5CAB9C0}"/>
                </a:ext>
              </a:extLst>
            </p:cNvPr>
            <p:cNvPicPr>
              <a:picLocks noChangeAspect="1"/>
            </p:cNvPicPr>
            <p:nvPr/>
          </p:nvPicPr>
          <p:blipFill>
            <a:blip r:embed="rId3"/>
            <a:stretch>
              <a:fillRect/>
            </a:stretch>
          </p:blipFill>
          <p:spPr>
            <a:xfrm>
              <a:off x="1247941" y="3172683"/>
              <a:ext cx="2257259" cy="2257259"/>
            </a:xfrm>
            <a:prstGeom prst="rect">
              <a:avLst/>
            </a:prstGeom>
          </p:spPr>
        </p:pic>
        <p:sp>
          <p:nvSpPr>
            <p:cNvPr id="14" name="TextBox 13">
              <a:extLst>
                <a:ext uri="{FF2B5EF4-FFF2-40B4-BE49-F238E27FC236}">
                  <a16:creationId xmlns:a16="http://schemas.microsoft.com/office/drawing/2014/main" id="{85D0B31F-57DE-5949-4F6B-D9245E2F8854}"/>
                </a:ext>
              </a:extLst>
            </p:cNvPr>
            <p:cNvSpPr txBox="1"/>
            <p:nvPr/>
          </p:nvSpPr>
          <p:spPr>
            <a:xfrm>
              <a:off x="625106" y="5257800"/>
              <a:ext cx="3581400" cy="1569660"/>
            </a:xfrm>
            <a:prstGeom prst="rect">
              <a:avLst/>
            </a:prstGeom>
            <a:noFill/>
          </p:spPr>
          <p:txBody>
            <a:bodyPr wrap="square" rtlCol="0">
              <a:spAutoFit/>
            </a:bodyPr>
            <a:lstStyle/>
            <a:p>
              <a:r>
                <a:rPr lang="en-US" sz="1600" dirty="0"/>
                <a:t>Solving a maze </a:t>
              </a:r>
              <a:r>
                <a:rPr lang="en-US" sz="1600" b="1" dirty="0"/>
                <a:t>with</a:t>
              </a:r>
              <a:r>
                <a:rPr lang="en-US" sz="1600" dirty="0"/>
                <a:t> a map</a:t>
              </a:r>
            </a:p>
            <a:p>
              <a:pPr marL="742950" lvl="1" indent="-285750">
                <a:buFont typeface="Arial" panose="020B0604020202020204" pitchFamily="34" charset="0"/>
                <a:buChar char="•"/>
              </a:pPr>
              <a:r>
                <a:rPr lang="en-US" sz="1600" dirty="0"/>
                <a:t>The agent knows in every position where actions (North, East, </a:t>
              </a:r>
              <a:r>
                <a:rPr lang="en-US" sz="1600" dirty="0" err="1"/>
                <a:t>etc</a:t>
              </a:r>
              <a:r>
                <a:rPr lang="en-US" sz="1600" dirty="0"/>
                <a:t>) lead.</a:t>
              </a:r>
            </a:p>
            <a:p>
              <a:pPr marL="742950" lvl="1" indent="-285750">
                <a:buFont typeface="Arial" panose="020B0604020202020204" pitchFamily="34" charset="0"/>
                <a:buChar char="•"/>
              </a:pPr>
              <a:r>
                <a:rPr lang="en-US" sz="1600" dirty="0"/>
                <a:t>The map can be used for planning.</a:t>
              </a:r>
            </a:p>
          </p:txBody>
        </p:sp>
      </p:grpSp>
      <p:grpSp>
        <p:nvGrpSpPr>
          <p:cNvPr id="20" name="Group 19">
            <a:extLst>
              <a:ext uri="{FF2B5EF4-FFF2-40B4-BE49-F238E27FC236}">
                <a16:creationId xmlns:a16="http://schemas.microsoft.com/office/drawing/2014/main" id="{21D73C65-84D0-46A6-0C73-4C4393CEE8C4}"/>
              </a:ext>
            </a:extLst>
          </p:cNvPr>
          <p:cNvGrpSpPr/>
          <p:nvPr/>
        </p:nvGrpSpPr>
        <p:grpSpPr>
          <a:xfrm>
            <a:off x="4572000" y="3124200"/>
            <a:ext cx="3683797" cy="3210818"/>
            <a:chOff x="4491369" y="3124200"/>
            <a:chExt cx="3683797" cy="3210818"/>
          </a:xfrm>
        </p:grpSpPr>
        <p:pic>
          <p:nvPicPr>
            <p:cNvPr id="8" name="Picture 7" descr="LabRat: A First Person Maze Game (EARLY RELEASE) - Release Announcements -  itch.io">
              <a:extLst>
                <a:ext uri="{FF2B5EF4-FFF2-40B4-BE49-F238E27FC236}">
                  <a16:creationId xmlns:a16="http://schemas.microsoft.com/office/drawing/2014/main" id="{BDFC00E2-3B77-C7E7-E59B-99D7F1896CFB}"/>
                </a:ext>
              </a:extLst>
            </p:cNvPr>
            <p:cNvPicPr>
              <a:picLocks noChangeAspect="1"/>
            </p:cNvPicPr>
            <p:nvPr/>
          </p:nvPicPr>
          <p:blipFill>
            <a:blip r:embed="rId4"/>
            <a:stretch>
              <a:fillRect/>
            </a:stretch>
          </p:blipFill>
          <p:spPr>
            <a:xfrm>
              <a:off x="4776149" y="3124200"/>
              <a:ext cx="3399017" cy="191101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8" name="TextBox 17">
              <a:extLst>
                <a:ext uri="{FF2B5EF4-FFF2-40B4-BE49-F238E27FC236}">
                  <a16:creationId xmlns:a16="http://schemas.microsoft.com/office/drawing/2014/main" id="{CEA5F511-8904-51F8-C3EE-37DEFFD17EDE}"/>
                </a:ext>
              </a:extLst>
            </p:cNvPr>
            <p:cNvSpPr txBox="1"/>
            <p:nvPr/>
          </p:nvSpPr>
          <p:spPr>
            <a:xfrm>
              <a:off x="4491369" y="5257800"/>
              <a:ext cx="3581400" cy="1077218"/>
            </a:xfrm>
            <a:prstGeom prst="rect">
              <a:avLst/>
            </a:prstGeom>
            <a:noFill/>
          </p:spPr>
          <p:txBody>
            <a:bodyPr wrap="square" rtlCol="0">
              <a:spAutoFit/>
            </a:bodyPr>
            <a:lstStyle/>
            <a:p>
              <a:r>
                <a:rPr lang="en-US" sz="1600" dirty="0"/>
                <a:t>Solving a maze </a:t>
              </a:r>
              <a:r>
                <a:rPr lang="en-US" sz="1600" b="1" dirty="0"/>
                <a:t>without</a:t>
              </a:r>
              <a:r>
                <a:rPr lang="en-US" sz="1600" dirty="0"/>
                <a:t> a map</a:t>
              </a:r>
            </a:p>
            <a:p>
              <a:pPr marL="742950" lvl="1" indent="-285750">
                <a:buFont typeface="Arial" panose="020B0604020202020204" pitchFamily="34" charset="0"/>
                <a:buChar char="•"/>
              </a:pPr>
              <a:r>
                <a:rPr lang="en-US" sz="1600" dirty="0"/>
                <a:t>The agent does not know where all the corridors lead.</a:t>
              </a:r>
            </a:p>
            <a:p>
              <a:pPr marL="742950" lvl="1" indent="-285750">
                <a:buFont typeface="Arial" panose="020B0604020202020204" pitchFamily="34" charset="0"/>
                <a:buChar char="•"/>
              </a:pPr>
              <a:r>
                <a:rPr lang="en-US" sz="1600" dirty="0"/>
                <a:t>The agent needs to explore.</a:t>
              </a:r>
            </a:p>
          </p:txBody>
        </p:sp>
      </p:grpSp>
    </p:spTree>
    <p:extLst>
      <p:ext uri="{BB962C8B-B14F-4D97-AF65-F5344CB8AC3E}">
        <p14:creationId xmlns:p14="http://schemas.microsoft.com/office/powerpoint/2010/main" val="916847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5" grpId="0"/>
      <p:bldP spid="17" grpId="0"/>
      <p:bldP spid="12"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Long exposure of lights">
            <a:extLst>
              <a:ext uri="{FF2B5EF4-FFF2-40B4-BE49-F238E27FC236}">
                <a16:creationId xmlns:a16="http://schemas.microsoft.com/office/drawing/2014/main" id="{792548D1-A513-8555-B72E-A1F5D0C9BE6D}"/>
              </a:ext>
            </a:extLst>
          </p:cNvPr>
          <p:cNvPicPr>
            <a:picLocks noChangeAspect="1"/>
          </p:cNvPicPr>
          <p:nvPr/>
        </p:nvPicPr>
        <p:blipFill>
          <a:blip r:embed="rId2">
            <a:alphaModFix amt="50000"/>
          </a:blip>
          <a:srcRect l="11000" r="-2" b="-2"/>
          <a:stretch>
            <a:fillRect/>
          </a:stretch>
        </p:blipFill>
        <p:spPr>
          <a:xfrm>
            <a:off x="20" y="1"/>
            <a:ext cx="9143980" cy="6857999"/>
          </a:xfrm>
          <a:prstGeom prst="rect">
            <a:avLst/>
          </a:prstGeom>
        </p:spPr>
      </p:pic>
      <p:sp>
        <p:nvSpPr>
          <p:cNvPr id="4" name="Title 3">
            <a:extLst>
              <a:ext uri="{FF2B5EF4-FFF2-40B4-BE49-F238E27FC236}">
                <a16:creationId xmlns:a16="http://schemas.microsoft.com/office/drawing/2014/main" id="{21FBCDB5-C30B-3FF5-0730-276EEF30B4B8}"/>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defTabSz="914400"/>
            <a:r>
              <a:rPr lang="en-US" sz="6000">
                <a:solidFill>
                  <a:srgbClr val="FFFFFF"/>
                </a:solidFill>
              </a:rPr>
              <a:t>Case Study: Self-Driving Cars</a:t>
            </a:r>
          </a:p>
        </p:txBody>
      </p:sp>
      <p:sp>
        <p:nvSpPr>
          <p:cNvPr id="5" name="Text Placeholder 4">
            <a:extLst>
              <a:ext uri="{FF2B5EF4-FFF2-40B4-BE49-F238E27FC236}">
                <a16:creationId xmlns:a16="http://schemas.microsoft.com/office/drawing/2014/main" id="{D80D5652-4FAA-34E1-C5A5-9271802086F8}"/>
              </a:ext>
            </a:extLst>
          </p:cNvPr>
          <p:cNvSpPr>
            <a:spLocks noGrp="1"/>
          </p:cNvSpPr>
          <p:nvPr>
            <p:ph type="body" idx="1"/>
          </p:nvPr>
        </p:nvSpPr>
        <p:spPr>
          <a:xfrm>
            <a:off x="1143000" y="4159404"/>
            <a:ext cx="6858000" cy="1098395"/>
          </a:xfrm>
        </p:spPr>
        <p:txBody>
          <a:bodyPr vert="horz" lIns="91440" tIns="45720" rIns="91440" bIns="45720" rtlCol="0">
            <a:normAutofit/>
          </a:bodyPr>
          <a:lstStyle/>
          <a:p>
            <a:pPr algn="ctr" defTabSz="914400">
              <a:spcBef>
                <a:spcPts val="1000"/>
              </a:spcBef>
            </a:pPr>
            <a:endParaRPr lang="en-US" sz="2400">
              <a:solidFill>
                <a:srgbClr val="FFFFFF"/>
              </a:solidFill>
            </a:endParaRPr>
          </a:p>
        </p:txBody>
      </p:sp>
    </p:spTree>
    <p:extLst>
      <p:ext uri="{BB962C8B-B14F-4D97-AF65-F5344CB8AC3E}">
        <p14:creationId xmlns:p14="http://schemas.microsoft.com/office/powerpoint/2010/main" val="2729019226"/>
      </p:ext>
    </p:extLst>
  </p:cSld>
  <p:clrMapOvr>
    <a:overrideClrMapping bg1="dk1" tx1="lt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19DEE9E3-4392-126F-234A-9F42A3DE4F99}"/>
              </a:ext>
              <a:ext uri="{C183D7F6-B498-43B3-948B-1728B52AA6E4}">
                <adec:decorative xmlns:adec="http://schemas.microsoft.com/office/drawing/2017/decorative" val="1"/>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650" r="-2" b="3433"/>
          <a:stretch/>
        </p:blipFill>
        <p:spPr bwMode="auto">
          <a:xfrm>
            <a:off x="3662268" y="10"/>
            <a:ext cx="5481732" cy="3364982"/>
          </a:xfrm>
          <a:custGeom>
            <a:avLst/>
            <a:gdLst/>
            <a:ahLst/>
            <a:cxnLst/>
            <a:rect l="l" t="t" r="r" b="b"/>
            <a:pathLst>
              <a:path w="7308975" h="3364992">
                <a:moveTo>
                  <a:pt x="0" y="0"/>
                </a:moveTo>
                <a:lnTo>
                  <a:pt x="7308975" y="0"/>
                </a:lnTo>
                <a:lnTo>
                  <a:pt x="7308975" y="3364992"/>
                </a:lnTo>
                <a:lnTo>
                  <a:pt x="1210305" y="3364992"/>
                </a:lnTo>
                <a:lnTo>
                  <a:pt x="1192705" y="2943200"/>
                </a:lnTo>
                <a:cubicBezTo>
                  <a:pt x="1098874" y="1825108"/>
                  <a:pt x="684692" y="821621"/>
                  <a:pt x="62981" y="69271"/>
                </a:cubicBezTo>
                <a:close/>
              </a:path>
            </a:pathLst>
          </a:custGeom>
          <a:noFill/>
          <a:extLst>
            <a:ext uri="{909E8E84-426E-40DD-AFC4-6F175D3DCCD1}">
              <a14:hiddenFill xmlns:a14="http://schemas.microsoft.com/office/drawing/2010/main">
                <a:solidFill>
                  <a:srgbClr val="FFFFFF"/>
                </a:solidFill>
              </a14:hiddenFill>
            </a:ext>
          </a:extLst>
        </p:spPr>
      </p:pic>
      <p:pic>
        <p:nvPicPr>
          <p:cNvPr id="4" name="Picture 4">
            <a:extLst>
              <a:ext uri="{FF2B5EF4-FFF2-40B4-BE49-F238E27FC236}">
                <a16:creationId xmlns:a16="http://schemas.microsoft.com/office/drawing/2014/main" id="{DC20D215-E341-42A1-A360-25E5EA2B2609}"/>
              </a:ext>
              <a:ext uri="{C183D7F6-B498-43B3-948B-1728B52AA6E4}">
                <adec:decorative xmlns:adec="http://schemas.microsoft.com/office/drawing/2017/decorative" val="1"/>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112" r="925" b="2"/>
          <a:stretch/>
        </p:blipFill>
        <p:spPr bwMode="auto">
          <a:xfrm>
            <a:off x="3662268" y="3493008"/>
            <a:ext cx="5481732" cy="3364992"/>
          </a:xfrm>
          <a:custGeom>
            <a:avLst/>
            <a:gdLst/>
            <a:ahLst/>
            <a:cxnLst/>
            <a:rect l="l" t="t" r="r" b="b"/>
            <a:pathLst>
              <a:path w="7308975" h="3364992">
                <a:moveTo>
                  <a:pt x="1210305" y="0"/>
                </a:moveTo>
                <a:lnTo>
                  <a:pt x="7308975" y="0"/>
                </a:lnTo>
                <a:lnTo>
                  <a:pt x="7308975" y="3364992"/>
                </a:lnTo>
                <a:lnTo>
                  <a:pt x="0" y="3364992"/>
                </a:lnTo>
                <a:lnTo>
                  <a:pt x="62981" y="3295722"/>
                </a:lnTo>
                <a:cubicBezTo>
                  <a:pt x="684692" y="2543371"/>
                  <a:pt x="1098874" y="1539884"/>
                  <a:pt x="1192705" y="421793"/>
                </a:cubicBezTo>
                <a:close/>
              </a:path>
            </a:pathLst>
          </a:cu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8A4050D-4602-5A49-7035-11F3F8F67943}"/>
              </a:ext>
            </a:extLst>
          </p:cNvPr>
          <p:cNvSpPr>
            <a:spLocks noGrp="1"/>
          </p:cNvSpPr>
          <p:nvPr>
            <p:ph type="title"/>
          </p:nvPr>
        </p:nvSpPr>
        <p:spPr>
          <a:xfrm>
            <a:off x="336042" y="859536"/>
            <a:ext cx="3624601" cy="1243584"/>
          </a:xfrm>
        </p:spPr>
        <p:txBody>
          <a:bodyPr>
            <a:normAutofit/>
          </a:bodyPr>
          <a:lstStyle/>
          <a:p>
            <a:r>
              <a:rPr lang="en-US" sz="3000" dirty="0"/>
              <a:t>Self-driving Cars </a:t>
            </a:r>
          </a:p>
        </p:txBody>
      </p:sp>
      <p:sp>
        <p:nvSpPr>
          <p:cNvPr id="3" name="Content Placeholder 2">
            <a:extLst>
              <a:ext uri="{FF2B5EF4-FFF2-40B4-BE49-F238E27FC236}">
                <a16:creationId xmlns:a16="http://schemas.microsoft.com/office/drawing/2014/main" id="{BE8FA21F-1574-DAA3-1675-4076432A1FF9}"/>
              </a:ext>
            </a:extLst>
          </p:cNvPr>
          <p:cNvSpPr>
            <a:spLocks noGrp="1"/>
          </p:cNvSpPr>
          <p:nvPr>
            <p:ph idx="1"/>
          </p:nvPr>
        </p:nvSpPr>
        <p:spPr>
          <a:xfrm>
            <a:off x="336042" y="2512611"/>
            <a:ext cx="3931158" cy="3927813"/>
          </a:xfrm>
        </p:spPr>
        <p:txBody>
          <a:bodyPr>
            <a:normAutofit fontScale="92500" lnSpcReduction="10000"/>
          </a:bodyPr>
          <a:lstStyle/>
          <a:p>
            <a:pPr marL="0" indent="0">
              <a:buNone/>
            </a:pPr>
            <a:r>
              <a:rPr lang="en-US" sz="2400" b="1" dirty="0"/>
              <a:t>SAE Automation Levels</a:t>
            </a:r>
          </a:p>
          <a:p>
            <a:pPr lvl="1"/>
            <a:r>
              <a:rPr lang="en-US" sz="1400" dirty="0"/>
              <a:t>Level 1 - Driver Assistance (“hands on”)</a:t>
            </a:r>
          </a:p>
          <a:p>
            <a:pPr lvl="1"/>
            <a:r>
              <a:rPr lang="en-US" sz="1400" dirty="0"/>
              <a:t>Level 2 - Partial Automation (“hands off”)</a:t>
            </a:r>
          </a:p>
          <a:p>
            <a:pPr lvl="1"/>
            <a:r>
              <a:rPr lang="en-US" sz="1400" dirty="0"/>
              <a:t>Level 3 - Conditional Automation </a:t>
            </a:r>
          </a:p>
          <a:p>
            <a:pPr lvl="1"/>
            <a:r>
              <a:rPr lang="en-US" sz="1400" dirty="0"/>
              <a:t>Level 4 - High Automation</a:t>
            </a:r>
          </a:p>
          <a:p>
            <a:pPr lvl="1"/>
            <a:r>
              <a:rPr lang="en-US" sz="1400" dirty="0"/>
              <a:t>Level 5 - Full Automation (“steering wheel optional”)</a:t>
            </a:r>
          </a:p>
          <a:p>
            <a:endParaRPr lang="en-US" sz="2400" dirty="0"/>
          </a:p>
          <a:p>
            <a:pPr marL="0" indent="0">
              <a:buNone/>
            </a:pPr>
            <a:r>
              <a:rPr lang="en-US" sz="2400" b="1" dirty="0"/>
              <a:t>Components</a:t>
            </a:r>
          </a:p>
          <a:p>
            <a:pPr lvl="1"/>
            <a:r>
              <a:rPr lang="en-US" sz="1400" dirty="0"/>
              <a:t>Sensing</a:t>
            </a:r>
          </a:p>
          <a:p>
            <a:pPr lvl="1"/>
            <a:r>
              <a:rPr lang="en-US" sz="1400" dirty="0"/>
              <a:t>Maps</a:t>
            </a:r>
          </a:p>
          <a:p>
            <a:pPr lvl="1"/>
            <a:r>
              <a:rPr lang="en-US" sz="1400" dirty="0"/>
              <a:t>Path planning</a:t>
            </a:r>
          </a:p>
          <a:p>
            <a:pPr lvl="1"/>
            <a:r>
              <a:rPr lang="en-US" sz="1400" dirty="0"/>
              <a:t>Controlling the vehicle</a:t>
            </a:r>
          </a:p>
          <a:p>
            <a:pPr lvl="1"/>
            <a:endParaRPr lang="en-US" sz="1400" dirty="0"/>
          </a:p>
          <a:p>
            <a:pPr marL="0" indent="0">
              <a:buNone/>
            </a:pPr>
            <a:r>
              <a:rPr lang="en-US" sz="2400" b="1" dirty="0"/>
              <a:t>Why is this so hard?</a:t>
            </a:r>
          </a:p>
        </p:txBody>
      </p:sp>
      <p:cxnSp>
        <p:nvCxnSpPr>
          <p:cNvPr id="7" name="Straight Connector 6">
            <a:extLst>
              <a:ext uri="{FF2B5EF4-FFF2-40B4-BE49-F238E27FC236}">
                <a16:creationId xmlns:a16="http://schemas.microsoft.com/office/drawing/2014/main" id="{34DF33D4-366B-5510-395E-9B68207E5AD8}"/>
              </a:ext>
              <a:ext uri="{C183D7F6-B498-43B3-948B-1728B52AA6E4}">
                <adec:decorative xmlns:adec="http://schemas.microsoft.com/office/drawing/2017/decorative" val="1"/>
              </a:ext>
            </a:extLst>
          </p:cNvPr>
          <p:cNvCxnSpPr>
            <a:cxnSpLocks/>
          </p:cNvCxnSpPr>
          <p:nvPr/>
        </p:nvCxnSpPr>
        <p:spPr>
          <a:xfrm>
            <a:off x="653388" y="3276600"/>
            <a:ext cx="3352800" cy="0"/>
          </a:xfrm>
          <a:prstGeom prst="line">
            <a:avLst/>
          </a:prstGeom>
          <a:ln w="28575"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8511879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r>
              <a:rPr lang="en-US" dirty="0"/>
              <a:t>A Self-Driving Car as a Rational Agents</a:t>
            </a:r>
          </a:p>
        </p:txBody>
      </p:sp>
      <p:sp>
        <p:nvSpPr>
          <p:cNvPr id="10243" name="Rectangle 3"/>
          <p:cNvSpPr>
            <a:spLocks noGrp="1" noChangeArrowheads="1"/>
          </p:cNvSpPr>
          <p:nvPr>
            <p:ph idx="1"/>
          </p:nvPr>
        </p:nvSpPr>
        <p:spPr>
          <a:xfrm>
            <a:off x="628650" y="2765427"/>
            <a:ext cx="7886700" cy="3635373"/>
          </a:xfr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a:noAutofit/>
          </a:bodyPr>
          <a:lstStyle/>
          <a:p>
            <a:r>
              <a:rPr lang="en-US" sz="1400" dirty="0"/>
              <a:t>If we have two cars and one provides more (expected) utility. </a:t>
            </a:r>
            <a:br>
              <a:rPr lang="en-US" sz="1400" dirty="0"/>
            </a:br>
            <a:r>
              <a:rPr lang="en-US" sz="1400" dirty="0"/>
              <a:t>Which car is rational?</a:t>
            </a:r>
          </a:p>
          <a:p>
            <a:endParaRPr lang="en-US" sz="1400" dirty="0"/>
          </a:p>
          <a:p>
            <a:endParaRPr lang="en-US" sz="1400" dirty="0"/>
          </a:p>
          <a:p>
            <a:r>
              <a:rPr lang="en-US" sz="1400" dirty="0"/>
              <a:t>Can a rational self-driving car be involved in an accident?</a:t>
            </a:r>
          </a:p>
          <a:p>
            <a:pPr marL="0" indent="0">
              <a:buNone/>
            </a:pPr>
            <a:endParaRPr lang="en-US" sz="1400" dirty="0"/>
          </a:p>
          <a:p>
            <a:pPr marL="0" indent="0">
              <a:buNone/>
            </a:pPr>
            <a:endParaRPr lang="en-US" sz="1400" dirty="0"/>
          </a:p>
          <a:p>
            <a:r>
              <a:rPr lang="en-US" sz="1400" dirty="0"/>
              <a:t>How would a self-driving car explore and learn?</a:t>
            </a:r>
          </a:p>
          <a:p>
            <a:endParaRPr lang="en-US" sz="1400" dirty="0"/>
          </a:p>
          <a:p>
            <a:endParaRPr lang="en-US" sz="1400" dirty="0"/>
          </a:p>
          <a:p>
            <a:r>
              <a:rPr lang="en-US" sz="1400" dirty="0"/>
              <a:t>What does bounded rationality mean for a self-driving car?</a:t>
            </a:r>
          </a:p>
          <a:p>
            <a:endParaRPr lang="en-US" sz="1400" dirty="0"/>
          </a:p>
          <a:p>
            <a:endParaRPr lang="en-US" sz="1400" dirty="0"/>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41F7FD68-7C82-41A2-E1B3-CBC99B34AF37}"/>
                  </a:ext>
                </a:extLst>
              </p:cNvPr>
              <p:cNvSpPr txBox="1"/>
              <p:nvPr/>
            </p:nvSpPr>
            <p:spPr>
              <a:xfrm>
                <a:off x="2057400" y="1447800"/>
                <a:ext cx="4752975" cy="892552"/>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b="1" dirty="0"/>
                  <a:t>Rule</a:t>
                </a:r>
                <a:r>
                  <a:rPr lang="en-US" sz="1600" dirty="0"/>
                  <a:t>: Pick the action that maximize the expected utility</a:t>
                </a:r>
              </a:p>
              <a:p>
                <a:endParaRPr lang="en-US" sz="1600" dirty="0"/>
              </a:p>
              <a:p>
                <a:pPr/>
                <a14:m>
                  <m:oMathPara xmlns:m="http://schemas.openxmlformats.org/officeDocument/2006/math">
                    <m:oMath>
                      <m:r>
                        <a:rPr lang="en-US" sz="2000" b="0" i="1" smtClean="0">
                          <a:latin typeface="Cambria Math" panose="02040503050406030204" pitchFamily="18" charset="0"/>
                        </a:rPr>
                        <m:t>𝑎</m:t>
                      </m:r>
                      <m:r>
                        <a:rPr lang="en-US" sz="2000" b="0" i="1" smtClean="0">
                          <a:latin typeface="Cambria Math" panose="02040503050406030204" pitchFamily="18" charset="0"/>
                        </a:rPr>
                        <m:t>=</m:t>
                      </m:r>
                      <m:sSub>
                        <m:sSubPr>
                          <m:ctrlPr>
                            <a:rPr lang="en-US" sz="2000" b="0" i="0" smtClean="0">
                              <a:latin typeface="Cambria Math" panose="02040503050406030204" pitchFamily="18" charset="0"/>
                            </a:rPr>
                          </m:ctrlPr>
                        </m:sSubPr>
                        <m:e>
                          <m:r>
                            <m:rPr>
                              <m:nor/>
                            </m:rPr>
                            <a:rPr lang="en-US" sz="2000" b="0" i="0" smtClean="0">
                              <a:latin typeface="Cambria Math" panose="02040503050406030204" pitchFamily="18" charset="0"/>
                            </a:rPr>
                            <m:t>argmax</m:t>
                          </m:r>
                        </m:e>
                        <m:sub>
                          <m:r>
                            <a:rPr lang="en-US" sz="2000" b="0" i="1" smtClean="0">
                              <a:latin typeface="Cambria Math" panose="02040503050406030204" pitchFamily="18" charset="0"/>
                            </a:rPr>
                            <m:t>𝑎</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A</m:t>
                          </m:r>
                        </m:sub>
                      </m:sSub>
                      <m:r>
                        <a:rPr lang="en-US" sz="2000" b="0" i="1" smtClean="0">
                          <a:latin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𝔼</m:t>
                      </m:r>
                      <m:d>
                        <m:dPr>
                          <m:endChr m:val="|"/>
                          <m:ctrlPr>
                            <a:rPr lang="en-US" sz="2000" b="0" i="1" smtClean="0">
                              <a:latin typeface="Cambria Math" panose="02040503050406030204" pitchFamily="18" charset="0"/>
                            </a:rPr>
                          </m:ctrlPr>
                        </m:dPr>
                        <m:e>
                          <m:r>
                            <a:rPr lang="en-US" sz="2000" b="0" i="1" smtClean="0">
                              <a:latin typeface="Cambria Math" panose="02040503050406030204" pitchFamily="18" charset="0"/>
                            </a:rPr>
                            <m:t>𝑈</m:t>
                          </m:r>
                          <m:r>
                            <a:rPr lang="en-US" sz="2000" b="0" i="1" smtClean="0">
                              <a:latin typeface="Cambria Math" panose="02040503050406030204" pitchFamily="18" charset="0"/>
                            </a:rPr>
                            <m:t> </m:t>
                          </m:r>
                        </m:e>
                      </m:d>
                      <m:r>
                        <a:rPr lang="en-US" sz="2000" b="0" i="1" smtClean="0">
                          <a:latin typeface="Cambria Math" panose="02040503050406030204" pitchFamily="18" charset="0"/>
                        </a:rPr>
                        <m:t> </m:t>
                      </m:r>
                      <m:r>
                        <a:rPr lang="en-US" sz="2000" b="0" i="1" smtClean="0">
                          <a:latin typeface="Cambria Math" panose="02040503050406030204" pitchFamily="18" charset="0"/>
                        </a:rPr>
                        <m:t>𝑎</m:t>
                      </m:r>
                      <m:r>
                        <a:rPr lang="en-US" sz="2000" b="0" i="1" smtClean="0">
                          <a:latin typeface="Cambria Math" panose="02040503050406030204" pitchFamily="18" charset="0"/>
                        </a:rPr>
                        <m:t>) </m:t>
                      </m:r>
                    </m:oMath>
                  </m:oMathPara>
                </a14:m>
                <a:endParaRPr lang="en-US" sz="2000" dirty="0"/>
              </a:p>
            </p:txBody>
          </p:sp>
        </mc:Choice>
        <mc:Fallback>
          <p:sp>
            <p:nvSpPr>
              <p:cNvPr id="3" name="TextBox 2">
                <a:extLst>
                  <a:ext uri="{FF2B5EF4-FFF2-40B4-BE49-F238E27FC236}">
                    <a16:creationId xmlns:a16="http://schemas.microsoft.com/office/drawing/2014/main" id="{41F7FD68-7C82-41A2-E1B3-CBC99B34AF37}"/>
                  </a:ext>
                </a:extLst>
              </p:cNvPr>
              <p:cNvSpPr txBox="1">
                <a:spLocks noRot="1" noChangeAspect="1" noMove="1" noResize="1" noEditPoints="1" noAdjustHandles="1" noChangeArrowheads="1" noChangeShapeType="1" noTextEdit="1"/>
              </p:cNvSpPr>
              <p:nvPr/>
            </p:nvSpPr>
            <p:spPr>
              <a:xfrm>
                <a:off x="2057400" y="1447800"/>
                <a:ext cx="4752975" cy="892552"/>
              </a:xfrm>
              <a:prstGeom prst="rect">
                <a:avLst/>
              </a:prstGeom>
              <a:blipFill>
                <a:blip r:embed="rId3"/>
                <a:stretch>
                  <a:fillRect l="-639" t="-1342" b="-4698"/>
                </a:stretch>
              </a:blipFill>
            </p:spPr>
            <p:txBody>
              <a:bodyPr/>
              <a:lstStyle/>
              <a:p>
                <a:r>
                  <a:rPr lang="en-US">
                    <a:noFill/>
                  </a:rPr>
                  <a:t> </a:t>
                </a:r>
              </a:p>
            </p:txBody>
          </p:sp>
        </mc:Fallback>
      </mc:AlternateContent>
      <p:pic>
        <p:nvPicPr>
          <p:cNvPr id="2" name="Picture 6">
            <a:extLst>
              <a:ext uri="{FF2B5EF4-FFF2-40B4-BE49-F238E27FC236}">
                <a16:creationId xmlns:a16="http://schemas.microsoft.com/office/drawing/2014/main" id="{20AD6A81-08C9-5A19-F0F1-4B885C542F0D}"/>
              </a:ext>
              <a:ext uri="{C183D7F6-B498-43B3-948B-1728B52AA6E4}">
                <adec:decorative xmlns:adec="http://schemas.microsoft.com/office/drawing/2017/decorative" val="1"/>
              </a:ext>
            </a:extLst>
          </p:cNvPr>
          <p:cNvPicPr>
            <a:picLocks noChangeAspect="1" noChangeArrowheads="1"/>
          </p:cNvPicPr>
          <p:nvPr/>
        </p:nvPicPr>
        <p:blipFill>
          <a:blip r:embed="rId4" cstate="print"/>
          <a:srcRect/>
          <a:stretch>
            <a:fillRect/>
          </a:stretch>
        </p:blipFill>
        <p:spPr bwMode="auto">
          <a:xfrm>
            <a:off x="7162800" y="365126"/>
            <a:ext cx="1742323" cy="800100"/>
          </a:xfrm>
          <a:prstGeom prst="rect">
            <a:avLst/>
          </a:prstGeom>
          <a:noFill/>
          <a:ln w="9525">
            <a:noFill/>
            <a:miter lim="800000"/>
            <a:headEnd/>
            <a:tailEnd/>
          </a:ln>
        </p:spPr>
      </p:pic>
      <p:sp>
        <p:nvSpPr>
          <p:cNvPr id="4" name="TextBox 3">
            <a:extLst>
              <a:ext uri="{FF2B5EF4-FFF2-40B4-BE49-F238E27FC236}">
                <a16:creationId xmlns:a16="http://schemas.microsoft.com/office/drawing/2014/main" id="{C20D2D7F-D965-DCC3-C313-9DF376A2998E}"/>
              </a:ext>
            </a:extLst>
          </p:cNvPr>
          <p:cNvSpPr txBox="1"/>
          <p:nvPr/>
        </p:nvSpPr>
        <p:spPr>
          <a:xfrm>
            <a:off x="608985" y="2408467"/>
            <a:ext cx="3638550" cy="338554"/>
          </a:xfrm>
          <a:prstGeom prst="rect">
            <a:avLst/>
          </a:prstGeom>
          <a:noFill/>
        </p:spPr>
        <p:txBody>
          <a:bodyPr wrap="square" rtlCol="0">
            <a:spAutoFit/>
          </a:bodyPr>
          <a:lstStyle/>
          <a:p>
            <a:r>
              <a:rPr lang="en-US" sz="1600" dirty="0"/>
              <a:t>Answer the following questions:</a:t>
            </a:r>
          </a:p>
        </p:txBody>
      </p:sp>
    </p:spTree>
    <p:extLst>
      <p:ext uri="{BB962C8B-B14F-4D97-AF65-F5344CB8AC3E}">
        <p14:creationId xmlns:p14="http://schemas.microsoft.com/office/powerpoint/2010/main" val="21009243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24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24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24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24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4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E4370-BFB5-4F7A-82C5-D13C30B62248}"/>
              </a:ext>
            </a:extLst>
          </p:cNvPr>
          <p:cNvSpPr>
            <a:spLocks noGrp="1"/>
          </p:cNvSpPr>
          <p:nvPr>
            <p:ph type="title"/>
          </p:nvPr>
        </p:nvSpPr>
        <p:spPr>
          <a:xfrm>
            <a:off x="628650" y="365126"/>
            <a:ext cx="6212110" cy="1325563"/>
          </a:xfrm>
        </p:spPr>
        <p:txBody>
          <a:bodyPr/>
          <a:lstStyle/>
          <a:p>
            <a:r>
              <a:rPr lang="en-US" dirty="0"/>
              <a:t>PEAS Description of the Environment of a Self-Driving Car</a:t>
            </a:r>
          </a:p>
        </p:txBody>
      </p:sp>
      <p:graphicFrame>
        <p:nvGraphicFramePr>
          <p:cNvPr id="4" name="Content Placeholder 3" descr="PEAS Tables">
            <a:extLst>
              <a:ext uri="{FF2B5EF4-FFF2-40B4-BE49-F238E27FC236}">
                <a16:creationId xmlns:a16="http://schemas.microsoft.com/office/drawing/2014/main" id="{9C8EE6A5-115B-4250-A57D-7EA0DC7DDAE6}"/>
              </a:ext>
            </a:extLst>
          </p:cNvPr>
          <p:cNvGraphicFramePr>
            <a:graphicFrameLocks noGrp="1"/>
          </p:cNvGraphicFramePr>
          <p:nvPr>
            <p:ph idx="1"/>
            <p:extLst>
              <p:ext uri="{D42A27DB-BD31-4B8C-83A1-F6EECF244321}">
                <p14:modId xmlns:p14="http://schemas.microsoft.com/office/powerpoint/2010/main" val="2520200847"/>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Picture 6">
            <a:extLst>
              <a:ext uri="{FF2B5EF4-FFF2-40B4-BE49-F238E27FC236}">
                <a16:creationId xmlns:a16="http://schemas.microsoft.com/office/drawing/2014/main" id="{C501DE79-BED8-664A-A7F5-916398E4B557}"/>
              </a:ext>
              <a:ext uri="{C183D7F6-B498-43B3-948B-1728B52AA6E4}">
                <adec:decorative xmlns:adec="http://schemas.microsoft.com/office/drawing/2017/decorative" val="1"/>
              </a:ext>
            </a:extLst>
          </p:cNvPr>
          <p:cNvPicPr>
            <a:picLocks noChangeAspect="1" noChangeArrowheads="1"/>
          </p:cNvPicPr>
          <p:nvPr/>
        </p:nvPicPr>
        <p:blipFill>
          <a:blip r:embed="rId7" cstate="print"/>
          <a:srcRect/>
          <a:stretch>
            <a:fillRect/>
          </a:stretch>
        </p:blipFill>
        <p:spPr bwMode="auto">
          <a:xfrm>
            <a:off x="6840760" y="627857"/>
            <a:ext cx="1742323" cy="800100"/>
          </a:xfrm>
          <a:prstGeom prst="rect">
            <a:avLst/>
          </a:prstGeom>
          <a:noFill/>
          <a:ln w="9525">
            <a:noFill/>
            <a:miter lim="800000"/>
            <a:headEnd/>
            <a:tailEnd/>
          </a:ln>
        </p:spPr>
      </p:pic>
      <p:sp>
        <p:nvSpPr>
          <p:cNvPr id="3" name="TextBox 2">
            <a:extLst>
              <a:ext uri="{FF2B5EF4-FFF2-40B4-BE49-F238E27FC236}">
                <a16:creationId xmlns:a16="http://schemas.microsoft.com/office/drawing/2014/main" id="{DD44A013-EECD-0365-9F5B-4164E530DF2E}"/>
              </a:ext>
            </a:extLst>
          </p:cNvPr>
          <p:cNvSpPr txBox="1"/>
          <p:nvPr/>
        </p:nvSpPr>
        <p:spPr>
          <a:xfrm>
            <a:off x="533400" y="1825625"/>
            <a:ext cx="3638550" cy="338554"/>
          </a:xfrm>
          <a:prstGeom prst="rect">
            <a:avLst/>
          </a:prstGeom>
          <a:noFill/>
        </p:spPr>
        <p:txBody>
          <a:bodyPr wrap="square" rtlCol="0">
            <a:spAutoFit/>
          </a:bodyPr>
          <a:lstStyle/>
          <a:p>
            <a:r>
              <a:rPr lang="en-US" sz="1600" dirty="0"/>
              <a:t>Complete the PEAS description.</a:t>
            </a:r>
          </a:p>
        </p:txBody>
      </p:sp>
    </p:spTree>
    <p:extLst>
      <p:ext uri="{BB962C8B-B14F-4D97-AF65-F5344CB8AC3E}">
        <p14:creationId xmlns:p14="http://schemas.microsoft.com/office/powerpoint/2010/main" val="15557306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E4370-BFB5-4F7A-82C5-D13C30B62248}"/>
              </a:ext>
            </a:extLst>
          </p:cNvPr>
          <p:cNvSpPr>
            <a:spLocks noGrp="1"/>
          </p:cNvSpPr>
          <p:nvPr>
            <p:ph type="title"/>
          </p:nvPr>
        </p:nvSpPr>
        <p:spPr>
          <a:xfrm>
            <a:off x="628650" y="365126"/>
            <a:ext cx="6000750" cy="1325563"/>
          </a:xfrm>
        </p:spPr>
        <p:txBody>
          <a:bodyPr/>
          <a:lstStyle/>
          <a:p>
            <a:r>
              <a:rPr lang="en-US" dirty="0"/>
              <a:t>PEAS Description of the Environment of a Self-Driving Car</a:t>
            </a:r>
          </a:p>
        </p:txBody>
      </p:sp>
      <p:graphicFrame>
        <p:nvGraphicFramePr>
          <p:cNvPr id="4" name="Content Placeholder 3" descr="Tables with completed PEAS description.">
            <a:extLst>
              <a:ext uri="{FF2B5EF4-FFF2-40B4-BE49-F238E27FC236}">
                <a16:creationId xmlns:a16="http://schemas.microsoft.com/office/drawing/2014/main" id="{9C8EE6A5-115B-4250-A57D-7EA0DC7DDAE6}"/>
              </a:ext>
            </a:extLst>
          </p:cNvPr>
          <p:cNvGraphicFramePr>
            <a:graphicFrameLocks noGrp="1"/>
          </p:cNvGraphicFramePr>
          <p:nvPr>
            <p:ph idx="1"/>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 name="Picture 6">
            <a:extLst>
              <a:ext uri="{FF2B5EF4-FFF2-40B4-BE49-F238E27FC236}">
                <a16:creationId xmlns:a16="http://schemas.microsoft.com/office/drawing/2014/main" id="{62117EBE-E59B-3F32-60A9-0D592833F085}"/>
              </a:ext>
              <a:ext uri="{C183D7F6-B498-43B3-948B-1728B52AA6E4}">
                <adec:decorative xmlns:adec="http://schemas.microsoft.com/office/drawing/2017/decorative" val="1"/>
              </a:ext>
            </a:extLst>
          </p:cNvPr>
          <p:cNvPicPr>
            <a:picLocks noChangeAspect="1" noChangeArrowheads="1"/>
          </p:cNvPicPr>
          <p:nvPr/>
        </p:nvPicPr>
        <p:blipFill>
          <a:blip r:embed="rId7" cstate="print"/>
          <a:srcRect/>
          <a:stretch>
            <a:fillRect/>
          </a:stretch>
        </p:blipFill>
        <p:spPr bwMode="auto">
          <a:xfrm>
            <a:off x="6840760" y="627857"/>
            <a:ext cx="1742323" cy="800100"/>
          </a:xfrm>
          <a:prstGeom prst="rect">
            <a:avLst/>
          </a:prstGeom>
          <a:noFill/>
          <a:ln w="9525">
            <a:noFill/>
            <a:miter lim="800000"/>
            <a:headEnd/>
            <a:tailEnd/>
          </a:ln>
        </p:spPr>
      </p:pic>
    </p:spTree>
    <p:extLst>
      <p:ext uri="{BB962C8B-B14F-4D97-AF65-F5344CB8AC3E}">
        <p14:creationId xmlns:p14="http://schemas.microsoft.com/office/powerpoint/2010/main" val="397144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0C07A3-E8F6-EECF-AD55-3FEB4A8B7844}"/>
              </a:ext>
            </a:extLst>
          </p:cNvPr>
          <p:cNvSpPr>
            <a:spLocks noGrp="1"/>
          </p:cNvSpPr>
          <p:nvPr>
            <p:ph type="title"/>
          </p:nvPr>
        </p:nvSpPr>
        <p:spPr/>
        <p:txBody>
          <a:bodyPr/>
          <a:lstStyle/>
          <a:p>
            <a:r>
              <a:rPr lang="en-US" dirty="0"/>
              <a:t>Environments for Self-Driving Cars</a:t>
            </a:r>
          </a:p>
        </p:txBody>
      </p:sp>
      <p:pic>
        <p:nvPicPr>
          <p:cNvPr id="5" name="Picture 6">
            <a:extLst>
              <a:ext uri="{FF2B5EF4-FFF2-40B4-BE49-F238E27FC236}">
                <a16:creationId xmlns:a16="http://schemas.microsoft.com/office/drawing/2014/main" id="{240247DA-7B06-A523-552D-03164CEC569B}"/>
              </a:ext>
              <a:ext uri="{C183D7F6-B498-43B3-948B-1728B52AA6E4}">
                <adec:decorative xmlns:adec="http://schemas.microsoft.com/office/drawing/2017/decorative" val="1"/>
              </a:ext>
            </a:extLst>
          </p:cNvPr>
          <p:cNvPicPr>
            <a:picLocks noChangeAspect="1" noChangeArrowheads="1"/>
          </p:cNvPicPr>
          <p:nvPr/>
        </p:nvPicPr>
        <p:blipFill>
          <a:blip r:embed="rId2" cstate="print"/>
          <a:srcRect/>
          <a:stretch>
            <a:fillRect/>
          </a:stretch>
        </p:blipFill>
        <p:spPr bwMode="auto">
          <a:xfrm>
            <a:off x="6840760" y="627857"/>
            <a:ext cx="1742323" cy="800100"/>
          </a:xfrm>
          <a:prstGeom prst="rect">
            <a:avLst/>
          </a:prstGeom>
          <a:noFill/>
          <a:ln w="9525">
            <a:noFill/>
            <a:miter lim="800000"/>
            <a:headEnd/>
            <a:tailEnd/>
          </a:ln>
        </p:spPr>
      </p:pic>
      <p:sp>
        <p:nvSpPr>
          <p:cNvPr id="6" name="TextBox 5">
            <a:extLst>
              <a:ext uri="{FF2B5EF4-FFF2-40B4-BE49-F238E27FC236}">
                <a16:creationId xmlns:a16="http://schemas.microsoft.com/office/drawing/2014/main" id="{52F4EBF1-B3E0-1523-53BC-B5A6FB546C39}"/>
              </a:ext>
            </a:extLst>
          </p:cNvPr>
          <p:cNvSpPr txBox="1"/>
          <p:nvPr/>
        </p:nvSpPr>
        <p:spPr>
          <a:xfrm>
            <a:off x="762000" y="1524000"/>
            <a:ext cx="5334000" cy="369332"/>
          </a:xfrm>
          <a:prstGeom prst="rect">
            <a:avLst/>
          </a:prstGeom>
          <a:noFill/>
        </p:spPr>
        <p:txBody>
          <a:bodyPr wrap="square" rtlCol="0">
            <a:spAutoFit/>
          </a:bodyPr>
          <a:lstStyle/>
          <a:p>
            <a:r>
              <a:rPr lang="en-US" dirty="0"/>
              <a:t>What properties does the environment have?</a:t>
            </a:r>
          </a:p>
        </p:txBody>
      </p:sp>
      <p:sp>
        <p:nvSpPr>
          <p:cNvPr id="7" name="TextBox 6">
            <a:extLst>
              <a:ext uri="{FF2B5EF4-FFF2-40B4-BE49-F238E27FC236}">
                <a16:creationId xmlns:a16="http://schemas.microsoft.com/office/drawing/2014/main" id="{9D120FEF-7B91-A8EB-930B-D8F7643062CE}"/>
              </a:ext>
            </a:extLst>
          </p:cNvPr>
          <p:cNvSpPr txBox="1"/>
          <p:nvPr/>
        </p:nvSpPr>
        <p:spPr>
          <a:xfrm>
            <a:off x="762000" y="2209800"/>
            <a:ext cx="3124200" cy="954107"/>
          </a:xfrm>
          <a:prstGeom prst="rect">
            <a:avLst/>
          </a:prstGeom>
          <a:noFill/>
        </p:spPr>
        <p:txBody>
          <a:bodyPr wrap="square">
            <a:spAutoFit/>
          </a:bodyPr>
          <a:lstStyle/>
          <a:p>
            <a:pPr marL="0" indent="0">
              <a:buNone/>
            </a:pPr>
            <a:r>
              <a:rPr lang="en-US" sz="1400" b="1" dirty="0">
                <a:solidFill>
                  <a:srgbClr val="FF0000"/>
                </a:solidFill>
              </a:rPr>
              <a:t>Fully observable: </a:t>
            </a:r>
            <a:r>
              <a:rPr lang="en-US" sz="1400" dirty="0"/>
              <a:t>The agent's sensors give it access to the complete state of the environment. The agent can “see” the whole environment.</a:t>
            </a:r>
            <a:endParaRPr lang="en-US" sz="1400" b="1" dirty="0">
              <a:solidFill>
                <a:srgbClr val="FF0000"/>
              </a:solidFill>
            </a:endParaRPr>
          </a:p>
        </p:txBody>
      </p:sp>
      <p:sp>
        <p:nvSpPr>
          <p:cNvPr id="8" name="TextBox 7">
            <a:extLst>
              <a:ext uri="{FF2B5EF4-FFF2-40B4-BE49-F238E27FC236}">
                <a16:creationId xmlns:a16="http://schemas.microsoft.com/office/drawing/2014/main" id="{8DEB3C44-4724-1FCD-1B11-267A39927862}"/>
              </a:ext>
            </a:extLst>
          </p:cNvPr>
          <p:cNvSpPr txBox="1"/>
          <p:nvPr/>
        </p:nvSpPr>
        <p:spPr>
          <a:xfrm>
            <a:off x="3985022" y="2357576"/>
            <a:ext cx="590550" cy="369332"/>
          </a:xfrm>
          <a:prstGeom prst="rect">
            <a:avLst/>
          </a:prstGeom>
          <a:noFill/>
        </p:spPr>
        <p:txBody>
          <a:bodyPr wrap="square" rtlCol="0">
            <a:spAutoFit/>
          </a:bodyPr>
          <a:lstStyle/>
          <a:p>
            <a:r>
              <a:rPr lang="en-US" b="1" dirty="0">
                <a:solidFill>
                  <a:srgbClr val="FF0000"/>
                </a:solidFill>
              </a:rPr>
              <a:t>vs.</a:t>
            </a:r>
          </a:p>
        </p:txBody>
      </p:sp>
      <p:sp>
        <p:nvSpPr>
          <p:cNvPr id="9" name="TextBox 8">
            <a:extLst>
              <a:ext uri="{FF2B5EF4-FFF2-40B4-BE49-F238E27FC236}">
                <a16:creationId xmlns:a16="http://schemas.microsoft.com/office/drawing/2014/main" id="{49A5D07C-BA05-89C7-79EF-B65A612410E0}"/>
              </a:ext>
            </a:extLst>
          </p:cNvPr>
          <p:cNvSpPr txBox="1"/>
          <p:nvPr/>
        </p:nvSpPr>
        <p:spPr>
          <a:xfrm>
            <a:off x="4587478" y="2271968"/>
            <a:ext cx="3495676" cy="738664"/>
          </a:xfrm>
          <a:prstGeom prst="rect">
            <a:avLst/>
          </a:prstGeom>
          <a:noFill/>
        </p:spPr>
        <p:txBody>
          <a:bodyPr wrap="square">
            <a:spAutoFit/>
          </a:bodyPr>
          <a:lstStyle/>
          <a:p>
            <a:r>
              <a:rPr lang="en-US" sz="1400" b="1" dirty="0">
                <a:solidFill>
                  <a:srgbClr val="FF0000"/>
                </a:solidFill>
              </a:rPr>
              <a:t>Partially observable: </a:t>
            </a:r>
            <a:r>
              <a:rPr lang="en-US" sz="1400" dirty="0"/>
              <a:t>The agent cannot see all aspects of the environment. E.g., it can’t see through walls</a:t>
            </a:r>
          </a:p>
        </p:txBody>
      </p:sp>
      <p:sp>
        <p:nvSpPr>
          <p:cNvPr id="10" name="TextBox 9">
            <a:extLst>
              <a:ext uri="{FF2B5EF4-FFF2-40B4-BE49-F238E27FC236}">
                <a16:creationId xmlns:a16="http://schemas.microsoft.com/office/drawing/2014/main" id="{F5C84980-A946-6543-69E3-AB54D3F3B68A}"/>
              </a:ext>
            </a:extLst>
          </p:cNvPr>
          <p:cNvSpPr txBox="1"/>
          <p:nvPr/>
        </p:nvSpPr>
        <p:spPr>
          <a:xfrm>
            <a:off x="762000" y="3591911"/>
            <a:ext cx="3352800" cy="738664"/>
          </a:xfrm>
          <a:prstGeom prst="rect">
            <a:avLst/>
          </a:prstGeom>
          <a:noFill/>
        </p:spPr>
        <p:txBody>
          <a:bodyPr wrap="square">
            <a:spAutoFit/>
          </a:bodyPr>
          <a:lstStyle/>
          <a:p>
            <a:pPr marL="0" indent="0">
              <a:buNone/>
            </a:pPr>
            <a:r>
              <a:rPr lang="en-US" sz="1400" b="1" dirty="0">
                <a:solidFill>
                  <a:srgbClr val="FF0000"/>
                </a:solidFill>
              </a:rPr>
              <a:t>Deterministic: </a:t>
            </a:r>
            <a:r>
              <a:rPr lang="en-US" sz="1400" dirty="0"/>
              <a:t>The environment follows fixed rules. Actions have always the same results.</a:t>
            </a:r>
          </a:p>
        </p:txBody>
      </p:sp>
      <p:sp>
        <p:nvSpPr>
          <p:cNvPr id="11" name="TextBox 10">
            <a:extLst>
              <a:ext uri="{FF2B5EF4-FFF2-40B4-BE49-F238E27FC236}">
                <a16:creationId xmlns:a16="http://schemas.microsoft.com/office/drawing/2014/main" id="{0C96F6DA-B4E3-72EC-59A7-23452A5FDC0A}"/>
              </a:ext>
            </a:extLst>
          </p:cNvPr>
          <p:cNvSpPr txBox="1"/>
          <p:nvPr/>
        </p:nvSpPr>
        <p:spPr>
          <a:xfrm>
            <a:off x="3985022" y="3734875"/>
            <a:ext cx="590550" cy="369332"/>
          </a:xfrm>
          <a:prstGeom prst="rect">
            <a:avLst/>
          </a:prstGeom>
          <a:noFill/>
        </p:spPr>
        <p:txBody>
          <a:bodyPr wrap="square" rtlCol="0">
            <a:spAutoFit/>
          </a:bodyPr>
          <a:lstStyle/>
          <a:p>
            <a:r>
              <a:rPr lang="en-US" b="1" dirty="0">
                <a:solidFill>
                  <a:srgbClr val="FF0000"/>
                </a:solidFill>
              </a:rPr>
              <a:t>vs.</a:t>
            </a:r>
          </a:p>
        </p:txBody>
      </p:sp>
      <p:sp>
        <p:nvSpPr>
          <p:cNvPr id="12" name="TextBox 11">
            <a:extLst>
              <a:ext uri="{FF2B5EF4-FFF2-40B4-BE49-F238E27FC236}">
                <a16:creationId xmlns:a16="http://schemas.microsoft.com/office/drawing/2014/main" id="{9A398335-BB93-1E9F-393C-54F3FACBEB85}"/>
              </a:ext>
            </a:extLst>
          </p:cNvPr>
          <p:cNvSpPr txBox="1"/>
          <p:nvPr/>
        </p:nvSpPr>
        <p:spPr>
          <a:xfrm>
            <a:off x="4575572" y="3624043"/>
            <a:ext cx="3807619" cy="738664"/>
          </a:xfrm>
          <a:prstGeom prst="rect">
            <a:avLst/>
          </a:prstGeom>
          <a:noFill/>
        </p:spPr>
        <p:txBody>
          <a:bodyPr wrap="square">
            <a:spAutoFit/>
          </a:bodyPr>
          <a:lstStyle/>
          <a:p>
            <a:pPr marL="0" indent="0">
              <a:buNone/>
            </a:pPr>
            <a:r>
              <a:rPr lang="en-US" sz="1400" b="1" dirty="0">
                <a:solidFill>
                  <a:srgbClr val="FF0000"/>
                </a:solidFill>
              </a:rPr>
              <a:t>Stochastic: </a:t>
            </a:r>
            <a:r>
              <a:rPr lang="en-US" sz="1400" dirty="0"/>
              <a:t>The environments reacts to actions with some randomness. The same action may have different results when tried multiple times.</a:t>
            </a:r>
          </a:p>
        </p:txBody>
      </p:sp>
      <p:sp>
        <p:nvSpPr>
          <p:cNvPr id="13" name="TextBox 12">
            <a:extLst>
              <a:ext uri="{FF2B5EF4-FFF2-40B4-BE49-F238E27FC236}">
                <a16:creationId xmlns:a16="http://schemas.microsoft.com/office/drawing/2014/main" id="{D97D442A-D1D5-103C-5A20-8277F402332A}"/>
              </a:ext>
            </a:extLst>
          </p:cNvPr>
          <p:cNvSpPr txBox="1"/>
          <p:nvPr/>
        </p:nvSpPr>
        <p:spPr>
          <a:xfrm>
            <a:off x="792956" y="4758579"/>
            <a:ext cx="3192066" cy="738664"/>
          </a:xfrm>
          <a:prstGeom prst="rect">
            <a:avLst/>
          </a:prstGeom>
          <a:noFill/>
        </p:spPr>
        <p:txBody>
          <a:bodyPr wrap="square">
            <a:spAutoFit/>
          </a:bodyPr>
          <a:lstStyle/>
          <a:p>
            <a:pPr marL="0" indent="0">
              <a:buNone/>
            </a:pPr>
            <a:r>
              <a:rPr lang="en-US" sz="1400" b="1" dirty="0">
                <a:solidFill>
                  <a:srgbClr val="FF0000"/>
                </a:solidFill>
              </a:rPr>
              <a:t>Known: </a:t>
            </a:r>
            <a:r>
              <a:rPr lang="en-US" sz="1400" dirty="0"/>
              <a:t>The agent knows the rules of the environment and can predict the (chance of the) outcome of actions.</a:t>
            </a:r>
            <a:endParaRPr lang="en-US" sz="1400" b="1" dirty="0">
              <a:solidFill>
                <a:srgbClr val="FF0000"/>
              </a:solidFill>
            </a:endParaRPr>
          </a:p>
        </p:txBody>
      </p:sp>
      <p:sp>
        <p:nvSpPr>
          <p:cNvPr id="14" name="TextBox 13">
            <a:extLst>
              <a:ext uri="{FF2B5EF4-FFF2-40B4-BE49-F238E27FC236}">
                <a16:creationId xmlns:a16="http://schemas.microsoft.com/office/drawing/2014/main" id="{47FA03BC-15CF-9B44-1719-7F8E0A1BF273}"/>
              </a:ext>
            </a:extLst>
          </p:cNvPr>
          <p:cNvSpPr txBox="1"/>
          <p:nvPr/>
        </p:nvSpPr>
        <p:spPr>
          <a:xfrm>
            <a:off x="4031456" y="4810961"/>
            <a:ext cx="590550" cy="369332"/>
          </a:xfrm>
          <a:prstGeom prst="rect">
            <a:avLst/>
          </a:prstGeom>
          <a:noFill/>
        </p:spPr>
        <p:txBody>
          <a:bodyPr wrap="square" rtlCol="0">
            <a:spAutoFit/>
          </a:bodyPr>
          <a:lstStyle/>
          <a:p>
            <a:r>
              <a:rPr lang="en-US" b="1" dirty="0">
                <a:solidFill>
                  <a:srgbClr val="FF0000"/>
                </a:solidFill>
              </a:rPr>
              <a:t>vs.</a:t>
            </a:r>
          </a:p>
        </p:txBody>
      </p:sp>
      <p:sp>
        <p:nvSpPr>
          <p:cNvPr id="15" name="TextBox 14">
            <a:extLst>
              <a:ext uri="{FF2B5EF4-FFF2-40B4-BE49-F238E27FC236}">
                <a16:creationId xmlns:a16="http://schemas.microsoft.com/office/drawing/2014/main" id="{77C29775-A5D6-D54A-8E20-745E219ABB21}"/>
              </a:ext>
            </a:extLst>
          </p:cNvPr>
          <p:cNvSpPr txBox="1"/>
          <p:nvPr/>
        </p:nvSpPr>
        <p:spPr>
          <a:xfrm>
            <a:off x="4622006" y="4821345"/>
            <a:ext cx="3807618" cy="738664"/>
          </a:xfrm>
          <a:prstGeom prst="rect">
            <a:avLst/>
          </a:prstGeom>
          <a:noFill/>
        </p:spPr>
        <p:txBody>
          <a:bodyPr wrap="square">
            <a:spAutoFit/>
          </a:bodyPr>
          <a:lstStyle/>
          <a:p>
            <a:pPr marL="0" indent="0">
              <a:buNone/>
            </a:pPr>
            <a:r>
              <a:rPr lang="en-US" sz="1400" b="1" dirty="0">
                <a:solidFill>
                  <a:srgbClr val="FF0000"/>
                </a:solidFill>
              </a:rPr>
              <a:t>Unknown: </a:t>
            </a:r>
            <a:r>
              <a:rPr lang="en-US" sz="1400" dirty="0"/>
              <a:t>The agent does not know the rules of the environment and cannot predict the outcome of actions.</a:t>
            </a:r>
            <a:endParaRPr lang="en-US" sz="1400" b="1" dirty="0">
              <a:solidFill>
                <a:srgbClr val="FF0000"/>
              </a:solidFill>
            </a:endParaRPr>
          </a:p>
        </p:txBody>
      </p:sp>
    </p:spTree>
    <p:extLst>
      <p:ext uri="{BB962C8B-B14F-4D97-AF65-F5344CB8AC3E}">
        <p14:creationId xmlns:p14="http://schemas.microsoft.com/office/powerpoint/2010/main" val="3449344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P spid="13" grpId="0"/>
      <p:bldP spid="14" grpId="0"/>
      <p:bldP spid="1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8184ACE-B0ED-EF17-4DAA-C07670FD36F3}"/>
              </a:ext>
            </a:extLst>
          </p:cNvPr>
          <p:cNvSpPr>
            <a:spLocks noGrp="1"/>
          </p:cNvSpPr>
          <p:nvPr>
            <p:ph type="title"/>
          </p:nvPr>
        </p:nvSpPr>
        <p:spPr/>
        <p:txBody>
          <a:bodyPr/>
          <a:lstStyle/>
          <a:p>
            <a:r>
              <a:rPr lang="en-US" dirty="0"/>
              <a:t>Assignment 1</a:t>
            </a:r>
          </a:p>
        </p:txBody>
      </p:sp>
      <p:sp>
        <p:nvSpPr>
          <p:cNvPr id="5" name="Text Placeholder 4">
            <a:extLst>
              <a:ext uri="{FF2B5EF4-FFF2-40B4-BE49-F238E27FC236}">
                <a16:creationId xmlns:a16="http://schemas.microsoft.com/office/drawing/2014/main" id="{94BCF58E-5796-DD68-B75D-9D1A6DFE5B20}"/>
              </a:ext>
            </a:extLst>
          </p:cNvPr>
          <p:cNvSpPr>
            <a:spLocks noGrp="1"/>
          </p:cNvSpPr>
          <p:nvPr>
            <p:ph type="body" idx="1"/>
          </p:nvPr>
        </p:nvSpPr>
        <p:spPr/>
        <p:txBody>
          <a:bodyPr/>
          <a:lstStyle/>
          <a:p>
            <a:r>
              <a:rPr lang="en-US" dirty="0"/>
              <a:t>Introduction : Environment</a:t>
            </a:r>
          </a:p>
        </p:txBody>
      </p:sp>
    </p:spTree>
    <p:extLst>
      <p:ext uri="{BB962C8B-B14F-4D97-AF65-F5344CB8AC3E}">
        <p14:creationId xmlns:p14="http://schemas.microsoft.com/office/powerpoint/2010/main" val="11541304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05B42EE4-D348-573F-C310-2ECD494F8F0F}"/>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14">
            <a:extLst>
              <a:ext uri="{FF2B5EF4-FFF2-40B4-BE49-F238E27FC236}">
                <a16:creationId xmlns:a16="http://schemas.microsoft.com/office/drawing/2014/main" id="{F83269E1-034A-B7A2-195F-CF914706994D}"/>
              </a:ext>
              <a:ext uri="{C183D7F6-B498-43B3-948B-1728B52AA6E4}">
                <adec:decorative xmlns:adec="http://schemas.microsoft.com/office/drawing/2017/decorative" val="1"/>
              </a:ext>
            </a:extLst>
          </p:cNvPr>
          <p:cNvPicPr>
            <a:picLocks noChangeAspect="1" noChangeArrowheads="1"/>
          </p:cNvPicPr>
          <p:nvPr/>
        </p:nvPicPr>
        <p:blipFill rotWithShape="1">
          <a:blip r:embed="rId2" cstate="print">
            <a:alphaModFix amt="50000"/>
          </a:blip>
          <a:srcRect t="27493" b="22444"/>
          <a:stretch>
            <a:fillRect/>
          </a:stretch>
        </p:blipFill>
        <p:spPr bwMode="auto">
          <a:xfrm>
            <a:off x="20" y="1"/>
            <a:ext cx="9143980" cy="6857999"/>
          </a:xfrm>
          <a:prstGeom prst="rect">
            <a:avLst/>
          </a:prstGeom>
          <a:noFill/>
        </p:spPr>
      </p:pic>
      <p:sp>
        <p:nvSpPr>
          <p:cNvPr id="4" name="Title 3">
            <a:extLst>
              <a:ext uri="{FF2B5EF4-FFF2-40B4-BE49-F238E27FC236}">
                <a16:creationId xmlns:a16="http://schemas.microsoft.com/office/drawing/2014/main" id="{B280E64F-6200-00BF-8C82-87651BC1E72C}"/>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defTabSz="914400"/>
            <a:r>
              <a:rPr lang="en-US" sz="6000" dirty="0">
                <a:solidFill>
                  <a:srgbClr val="FFFFFF"/>
                </a:solidFill>
              </a:rPr>
              <a:t>Module Review 2</a:t>
            </a:r>
          </a:p>
        </p:txBody>
      </p:sp>
      <p:sp>
        <p:nvSpPr>
          <p:cNvPr id="5" name="Text Placeholder 4">
            <a:extLst>
              <a:ext uri="{FF2B5EF4-FFF2-40B4-BE49-F238E27FC236}">
                <a16:creationId xmlns:a16="http://schemas.microsoft.com/office/drawing/2014/main" id="{D4964C36-4B58-2873-AEDD-B8F4A6373C75}"/>
              </a:ext>
            </a:extLst>
          </p:cNvPr>
          <p:cNvSpPr>
            <a:spLocks noGrp="1"/>
          </p:cNvSpPr>
          <p:nvPr>
            <p:ph type="body" idx="1"/>
          </p:nvPr>
        </p:nvSpPr>
        <p:spPr>
          <a:xfrm>
            <a:off x="1143000" y="4159404"/>
            <a:ext cx="6858000" cy="1098395"/>
          </a:xfrm>
        </p:spPr>
        <p:txBody>
          <a:bodyPr vert="horz" lIns="91440" tIns="45720" rIns="91440" bIns="45720" rtlCol="0">
            <a:normAutofit/>
          </a:bodyPr>
          <a:lstStyle/>
          <a:p>
            <a:pPr algn="ctr" defTabSz="914400">
              <a:spcBef>
                <a:spcPts val="1000"/>
              </a:spcBef>
            </a:pPr>
            <a:endParaRPr lang="en-US" sz="2400">
              <a:solidFill>
                <a:srgbClr val="FFFFFF"/>
              </a:solidFill>
            </a:endParaRPr>
          </a:p>
        </p:txBody>
      </p:sp>
    </p:spTree>
    <p:extLst>
      <p:ext uri="{BB962C8B-B14F-4D97-AF65-F5344CB8AC3E}">
        <p14:creationId xmlns:p14="http://schemas.microsoft.com/office/powerpoint/2010/main" val="3763984174"/>
      </p:ext>
    </p:extLst>
  </p:cSld>
  <p:clrMapOvr>
    <a:overrideClrMapping bg1="dk1" tx1="lt1" bg2="dk2" tx2="lt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628650" y="365127"/>
            <a:ext cx="7886700" cy="872682"/>
          </a:xfrm>
        </p:spPr>
        <p:txBody>
          <a:bodyPr/>
          <a:lstStyle/>
          <a:p>
            <a:r>
              <a:rPr lang="en-US" dirty="0"/>
              <a:t>Designing a Rational Agent</a:t>
            </a:r>
          </a:p>
        </p:txBody>
      </p:sp>
      <p:pic>
        <p:nvPicPr>
          <p:cNvPr id="9" name="Picture 4">
            <a:extLst>
              <a:ext uri="{FF2B5EF4-FFF2-40B4-BE49-F238E27FC236}">
                <a16:creationId xmlns:a16="http://schemas.microsoft.com/office/drawing/2014/main" id="{46E8AEF4-D86A-4A0B-B953-150370693E80}"/>
              </a:ext>
              <a:ext uri="{C183D7F6-B498-43B3-948B-1728B52AA6E4}">
                <adec:decorative xmlns:adec="http://schemas.microsoft.com/office/drawing/2017/decorative" val="1"/>
              </a:ext>
            </a:extLst>
          </p:cNvPr>
          <p:cNvPicPr>
            <a:picLocks noChangeAspect="1" noChangeArrowheads="1"/>
          </p:cNvPicPr>
          <p:nvPr/>
        </p:nvPicPr>
        <p:blipFill>
          <a:blip r:embed="rId3" cstate="print"/>
          <a:srcRect/>
          <a:stretch>
            <a:fillRect/>
          </a:stretch>
        </p:blipFill>
        <p:spPr bwMode="auto">
          <a:xfrm>
            <a:off x="317851" y="1295400"/>
            <a:ext cx="4185764" cy="1823987"/>
          </a:xfrm>
          <a:prstGeom prst="rect">
            <a:avLst/>
          </a:prstGeom>
          <a:noFill/>
          <a:ln w="9525">
            <a:noFill/>
            <a:miter lim="800000"/>
            <a:headEnd/>
            <a:tailEnd/>
          </a:ln>
        </p:spPr>
      </p:pic>
      <p:sp>
        <p:nvSpPr>
          <p:cNvPr id="3" name="TextBox 2">
            <a:extLst>
              <a:ext uri="{FF2B5EF4-FFF2-40B4-BE49-F238E27FC236}">
                <a16:creationId xmlns:a16="http://schemas.microsoft.com/office/drawing/2014/main" id="{8E5BC799-A91C-F554-D39B-84A41FBC6B8A}"/>
              </a:ext>
            </a:extLst>
          </p:cNvPr>
          <p:cNvSpPr txBox="1"/>
          <p:nvPr/>
        </p:nvSpPr>
        <p:spPr>
          <a:xfrm>
            <a:off x="4572000" y="1295400"/>
            <a:ext cx="4419600" cy="2292174"/>
          </a:xfrm>
          <a:prstGeom prst="rect">
            <a:avLst/>
          </a:prstGeom>
        </p:spPr>
        <p:style>
          <a:lnRef idx="2">
            <a:schemeClr val="accent6"/>
          </a:lnRef>
          <a:fillRef idx="1">
            <a:schemeClr val="lt1"/>
          </a:fillRef>
          <a:effectRef idx="0">
            <a:schemeClr val="accent6"/>
          </a:effectRef>
          <a:fontRef idx="minor">
            <a:schemeClr val="dk1"/>
          </a:fontRef>
        </p:style>
        <p:txBody>
          <a:bodyPr wrap="square">
            <a:normAutofit fontScale="77500" lnSpcReduction="20000"/>
          </a:bodyPr>
          <a:lstStyle/>
          <a:p>
            <a:pPr marL="0" indent="0">
              <a:buNone/>
            </a:pPr>
            <a:r>
              <a:rPr lang="en-US" sz="2800" dirty="0"/>
              <a:t>Remember the definition of a rational agent:</a:t>
            </a:r>
          </a:p>
          <a:p>
            <a:pPr marL="342900" lvl="1" indent="0">
              <a:buNone/>
            </a:pPr>
            <a:r>
              <a:rPr lang="en-US" sz="2500" i="1" dirty="0"/>
              <a:t>“For each possible percept sequence, a rational agent should select an </a:t>
            </a:r>
            <a:r>
              <a:rPr lang="en-US" sz="2500" b="1" i="1" dirty="0">
                <a:solidFill>
                  <a:srgbClr val="FF0000"/>
                </a:solidFill>
              </a:rPr>
              <a:t>action</a:t>
            </a:r>
            <a:r>
              <a:rPr lang="en-US" sz="2500" i="1" dirty="0"/>
              <a:t> that</a:t>
            </a:r>
            <a:r>
              <a:rPr lang="en-US" sz="2500" b="1" i="1" dirty="0">
                <a:solidFill>
                  <a:srgbClr val="FF0000"/>
                </a:solidFill>
              </a:rPr>
              <a:t> maximizes its expected performance measure</a:t>
            </a:r>
            <a:r>
              <a:rPr lang="en-US" sz="2500" i="1" dirty="0"/>
              <a:t>, given the evidence provided by the </a:t>
            </a:r>
            <a:r>
              <a:rPr lang="en-US" sz="2500" b="1" i="1" dirty="0">
                <a:solidFill>
                  <a:srgbClr val="FF0000"/>
                </a:solidFill>
              </a:rPr>
              <a:t>percept sequence</a:t>
            </a:r>
            <a:r>
              <a:rPr lang="en-US" sz="2500" i="1" dirty="0"/>
              <a:t> and the </a:t>
            </a:r>
            <a:r>
              <a:rPr lang="en-US" sz="2500" b="1" i="1" dirty="0">
                <a:solidFill>
                  <a:srgbClr val="FF0000"/>
                </a:solidFill>
              </a:rPr>
              <a:t>agent’s built-in knowledge</a:t>
            </a:r>
            <a:r>
              <a:rPr lang="en-US" sz="2500" i="1" dirty="0"/>
              <a:t>.”</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3CB2EF1-2F60-BD5B-64D9-52A45BE6269C}"/>
                  </a:ext>
                  <a:ext uri="{C183D7F6-B498-43B3-948B-1728B52AA6E4}">
                    <adec:decorative xmlns:adec="http://schemas.microsoft.com/office/drawing/2017/decorative" val="1"/>
                  </a:ext>
                </a:extLst>
              </p:cNvPr>
              <p:cNvSpPr txBox="1"/>
              <p:nvPr/>
            </p:nvSpPr>
            <p:spPr>
              <a:xfrm>
                <a:off x="3157646" y="1840214"/>
                <a:ext cx="381000" cy="338554"/>
              </a:xfrm>
              <a:prstGeom prst="rect">
                <a:avLst/>
              </a:prstGeom>
              <a:noFill/>
            </p:spPr>
            <p:txBody>
              <a:bodyPr wrap="square">
                <a:spAutoFit/>
              </a:bodyPr>
              <a:lstStyle/>
              <a:p>
                <a:pPr/>
                <a14:m>
                  <m:oMathPara xmlns:m="http://schemas.openxmlformats.org/officeDocument/2006/math">
                    <m:oMath>
                      <m:r>
                        <a:rPr lang="en-US" sz="1600" b="0" i="1" smtClean="0">
                          <a:latin typeface="Cambria Math" panose="02040503050406030204" pitchFamily="18" charset="0"/>
                        </a:rPr>
                        <m:t>𝑓</m:t>
                      </m:r>
                    </m:oMath>
                  </m:oMathPara>
                </a14:m>
                <a:endParaRPr lang="en-US" sz="1600" dirty="0"/>
              </a:p>
            </p:txBody>
          </p:sp>
        </mc:Choice>
        <mc:Fallback xmlns="">
          <p:sp>
            <p:nvSpPr>
              <p:cNvPr id="6" name="TextBox 5">
                <a:extLst>
                  <a:ext uri="{FF2B5EF4-FFF2-40B4-BE49-F238E27FC236}">
                    <a16:creationId xmlns:a16="http://schemas.microsoft.com/office/drawing/2014/main" id="{B3CB2EF1-2F60-BD5B-64D9-52A45BE6269C}"/>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3157646" y="1840214"/>
                <a:ext cx="381000" cy="338554"/>
              </a:xfrm>
              <a:prstGeom prst="rect">
                <a:avLst/>
              </a:prstGeom>
              <a:blipFill>
                <a:blip r:embed="rId4"/>
                <a:stretch>
                  <a:fillRect b="-10909"/>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197A4365-FAB8-3CB6-5EC2-595FAABE4D28}"/>
              </a:ext>
              <a:ext uri="{C183D7F6-B498-43B3-948B-1728B52AA6E4}">
                <adec:decorative xmlns:adec="http://schemas.microsoft.com/office/drawing/2017/decorative" val="1"/>
              </a:ext>
            </a:extLst>
          </p:cNvPr>
          <p:cNvCxnSpPr>
            <a:cxnSpLocks/>
          </p:cNvCxnSpPr>
          <p:nvPr/>
        </p:nvCxnSpPr>
        <p:spPr>
          <a:xfrm flipH="1">
            <a:off x="3192781" y="2100180"/>
            <a:ext cx="301404" cy="29503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4D22C628-C220-F760-6CBE-5183B8BCBD9A}"/>
              </a:ext>
              <a:ext uri="{C183D7F6-B498-43B3-948B-1728B52AA6E4}">
                <adec:decorative xmlns:adec="http://schemas.microsoft.com/office/drawing/2017/decorative" val="1"/>
              </a:ext>
            </a:extLst>
          </p:cNvPr>
          <p:cNvSpPr txBox="1"/>
          <p:nvPr/>
        </p:nvSpPr>
        <p:spPr>
          <a:xfrm>
            <a:off x="2895600" y="2100180"/>
            <a:ext cx="571500" cy="261610"/>
          </a:xfrm>
          <a:prstGeom prst="rect">
            <a:avLst/>
          </a:prstGeom>
          <a:noFill/>
        </p:spPr>
        <p:txBody>
          <a:bodyPr wrap="square" rtlCol="0">
            <a:spAutoFit/>
          </a:bodyPr>
          <a:lstStyle/>
          <a:p>
            <a:r>
              <a:rPr lang="en-US" sz="1100" b="1" dirty="0"/>
              <a:t>action</a:t>
            </a:r>
          </a:p>
        </p:txBody>
      </p:sp>
      <p:sp>
        <p:nvSpPr>
          <p:cNvPr id="2" name="Arrow: Down 1">
            <a:extLst>
              <a:ext uri="{FF2B5EF4-FFF2-40B4-BE49-F238E27FC236}">
                <a16:creationId xmlns:a16="http://schemas.microsoft.com/office/drawing/2014/main" id="{CEC7A0A7-0C86-2824-B18B-E587AE386CFB}"/>
              </a:ext>
              <a:ext uri="{C183D7F6-B498-43B3-948B-1728B52AA6E4}">
                <adec:decorative xmlns:adec="http://schemas.microsoft.com/office/drawing/2017/decorative" val="1"/>
              </a:ext>
            </a:extLst>
          </p:cNvPr>
          <p:cNvSpPr/>
          <p:nvPr/>
        </p:nvSpPr>
        <p:spPr>
          <a:xfrm rot="20595314">
            <a:off x="3601282" y="2862065"/>
            <a:ext cx="685800" cy="844374"/>
          </a:xfrm>
          <a:prstGeom prst="downArrow">
            <a:avLst/>
          </a:prstGeom>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B38B1A3F-34AA-8D60-73EE-3B5A618630D0}"/>
              </a:ext>
              <a:ext uri="{C183D7F6-B498-43B3-948B-1728B52AA6E4}">
                <adec:decorative xmlns:adec="http://schemas.microsoft.com/office/drawing/2017/decorative" val="1"/>
              </a:ext>
            </a:extLst>
          </p:cNvPr>
          <p:cNvGrpSpPr/>
          <p:nvPr/>
        </p:nvGrpSpPr>
        <p:grpSpPr>
          <a:xfrm>
            <a:off x="2619882" y="3798765"/>
            <a:ext cx="4648439" cy="2946551"/>
            <a:chOff x="2619882" y="3798765"/>
            <a:chExt cx="4648439" cy="2946551"/>
          </a:xfrm>
        </p:grpSpPr>
        <p:grpSp>
          <p:nvGrpSpPr>
            <p:cNvPr id="7" name="Group 6">
              <a:extLst>
                <a:ext uri="{FF2B5EF4-FFF2-40B4-BE49-F238E27FC236}">
                  <a16:creationId xmlns:a16="http://schemas.microsoft.com/office/drawing/2014/main" id="{46001A08-347E-082E-76DA-1ED74BFF0012}"/>
                </a:ext>
              </a:extLst>
            </p:cNvPr>
            <p:cNvGrpSpPr/>
            <p:nvPr/>
          </p:nvGrpSpPr>
          <p:grpSpPr>
            <a:xfrm>
              <a:off x="2619882" y="3798765"/>
              <a:ext cx="4648439" cy="2946551"/>
              <a:chOff x="2619882" y="3798765"/>
              <a:chExt cx="4648439" cy="2946551"/>
            </a:xfrm>
          </p:grpSpPr>
          <p:pic>
            <p:nvPicPr>
              <p:cNvPr id="12" name="Picture 11">
                <a:extLst>
                  <a:ext uri="{FF2B5EF4-FFF2-40B4-BE49-F238E27FC236}">
                    <a16:creationId xmlns:a16="http://schemas.microsoft.com/office/drawing/2014/main" id="{5BC1C46B-B850-47F4-BE5B-42730CA524ED}"/>
                  </a:ext>
                </a:extLst>
              </p:cNvPr>
              <p:cNvPicPr>
                <a:picLocks noChangeAspect="1"/>
              </p:cNvPicPr>
              <p:nvPr/>
            </p:nvPicPr>
            <p:blipFill>
              <a:blip r:embed="rId5"/>
              <a:stretch>
                <a:fillRect/>
              </a:stretch>
            </p:blipFill>
            <p:spPr>
              <a:xfrm>
                <a:off x="2619882" y="3798765"/>
                <a:ext cx="4648439" cy="2946551"/>
              </a:xfrm>
              <a:prstGeom prst="rect">
                <a:avLst/>
              </a:prstGeom>
            </p:spPr>
          </p:pic>
          <p:sp>
            <p:nvSpPr>
              <p:cNvPr id="16" name="TextBox 15">
                <a:extLst>
                  <a:ext uri="{FF2B5EF4-FFF2-40B4-BE49-F238E27FC236}">
                    <a16:creationId xmlns:a16="http://schemas.microsoft.com/office/drawing/2014/main" id="{F8E8F9ED-1E07-2259-2D05-7D75B295E85D}"/>
                  </a:ext>
                </a:extLst>
              </p:cNvPr>
              <p:cNvSpPr txBox="1"/>
              <p:nvPr/>
            </p:nvSpPr>
            <p:spPr>
              <a:xfrm>
                <a:off x="4091241" y="4227075"/>
                <a:ext cx="961518" cy="400110"/>
              </a:xfrm>
              <a:prstGeom prst="rect">
                <a:avLst/>
              </a:prstGeom>
              <a:noFill/>
            </p:spPr>
            <p:txBody>
              <a:bodyPr wrap="square" rtlCol="0">
                <a:spAutoFit/>
              </a:bodyPr>
              <a:lstStyle/>
              <a:p>
                <a:r>
                  <a:rPr lang="en-US" sz="1000" b="1" dirty="0">
                    <a:latin typeface="Calibri" panose="020F0502020204030204" pitchFamily="34" charset="0"/>
                    <a:cs typeface="Calibri" panose="020F0502020204030204" pitchFamily="34" charset="0"/>
                  </a:rPr>
                  <a:t>Percept to the agent function</a:t>
                </a:r>
              </a:p>
            </p:txBody>
          </p:sp>
          <p:sp>
            <p:nvSpPr>
              <p:cNvPr id="17" name="TextBox 16">
                <a:extLst>
                  <a:ext uri="{FF2B5EF4-FFF2-40B4-BE49-F238E27FC236}">
                    <a16:creationId xmlns:a16="http://schemas.microsoft.com/office/drawing/2014/main" id="{7350C410-4579-38AC-CCE6-0C8BF118562D}"/>
                  </a:ext>
                </a:extLst>
              </p:cNvPr>
              <p:cNvSpPr txBox="1"/>
              <p:nvPr/>
            </p:nvSpPr>
            <p:spPr>
              <a:xfrm>
                <a:off x="4114800" y="5695650"/>
                <a:ext cx="1066800" cy="553998"/>
              </a:xfrm>
              <a:prstGeom prst="rect">
                <a:avLst/>
              </a:prstGeom>
              <a:noFill/>
            </p:spPr>
            <p:txBody>
              <a:bodyPr wrap="square" rtlCol="0">
                <a:spAutoFit/>
              </a:bodyPr>
              <a:lstStyle/>
              <a:p>
                <a:r>
                  <a:rPr lang="en-US" sz="1000" b="1" dirty="0">
                    <a:latin typeface="Calibri" panose="020F0502020204030204" pitchFamily="34" charset="0"/>
                    <a:cs typeface="Calibri" panose="020F0502020204030204" pitchFamily="34" charset="0"/>
                  </a:rPr>
                  <a:t>Action from the agent function to execute</a:t>
                </a:r>
              </a:p>
            </p:txBody>
          </p:sp>
        </p:gr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2F55595-D275-FF3A-6A20-05F36A7860BC}"/>
                    </a:ext>
                  </a:extLst>
                </p:cNvPr>
                <p:cNvSpPr txBox="1"/>
                <p:nvPr/>
              </p:nvSpPr>
              <p:spPr>
                <a:xfrm>
                  <a:off x="3657600" y="5313055"/>
                  <a:ext cx="914400" cy="276999"/>
                </a:xfrm>
                <a:prstGeom prst="rect">
                  <a:avLst/>
                </a:prstGeom>
                <a:noFill/>
              </p:spPr>
              <p:txBody>
                <a:bodyPr wrap="square">
                  <a:spAutoFit/>
                </a:bodyPr>
                <a:lstStyle/>
                <a:p>
                  <a:pPr/>
                  <a14:m>
                    <m:oMathPara xmlns:m="http://schemas.openxmlformats.org/officeDocument/2006/math">
                      <m:oMath>
                        <m:r>
                          <a:rPr lang="en-US" sz="1200" b="0" i="1" smtClean="0">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𝑓</m:t>
                        </m:r>
                        <m:r>
                          <a:rPr lang="en-US" sz="1200" b="0" i="1" smtClean="0">
                            <a:latin typeface="Cambria Math" panose="02040503050406030204" pitchFamily="18" charset="0"/>
                          </a:rPr>
                          <m:t>(</m:t>
                        </m:r>
                        <m:r>
                          <a:rPr lang="en-US" sz="1200" b="0" i="1" smtClean="0">
                            <a:latin typeface="Cambria Math" panose="02040503050406030204" pitchFamily="18" charset="0"/>
                          </a:rPr>
                          <m:t>𝑝</m:t>
                        </m:r>
                        <m:r>
                          <a:rPr lang="en-US" sz="1200" b="0" i="1" smtClean="0">
                            <a:latin typeface="Cambria Math" panose="02040503050406030204" pitchFamily="18" charset="0"/>
                          </a:rPr>
                          <m:t>)</m:t>
                        </m:r>
                      </m:oMath>
                    </m:oMathPara>
                  </a14:m>
                  <a:endParaRPr lang="en-US" sz="1200" dirty="0"/>
                </a:p>
              </p:txBody>
            </p:sp>
          </mc:Choice>
          <mc:Fallback xmlns="">
            <p:sp>
              <p:nvSpPr>
                <p:cNvPr id="5" name="TextBox 4">
                  <a:extLst>
                    <a:ext uri="{FF2B5EF4-FFF2-40B4-BE49-F238E27FC236}">
                      <a16:creationId xmlns:a16="http://schemas.microsoft.com/office/drawing/2014/main" id="{42F55595-D275-FF3A-6A20-05F36A7860BC}"/>
                    </a:ext>
                  </a:extLst>
                </p:cNvPr>
                <p:cNvSpPr txBox="1">
                  <a:spLocks noRot="1" noChangeAspect="1" noMove="1" noResize="1" noEditPoints="1" noAdjustHandles="1" noChangeArrowheads="1" noChangeShapeType="1" noTextEdit="1"/>
                </p:cNvSpPr>
                <p:nvPr/>
              </p:nvSpPr>
              <p:spPr>
                <a:xfrm>
                  <a:off x="3657600" y="5313055"/>
                  <a:ext cx="914400" cy="276999"/>
                </a:xfrm>
                <a:prstGeom prst="rect">
                  <a:avLst/>
                </a:prstGeom>
                <a:blipFill>
                  <a:blip r:embed="rId8"/>
                  <a:stretch>
                    <a:fillRect b="-8889"/>
                  </a:stretch>
                </a:blipFill>
              </p:spPr>
              <p:txBody>
                <a:bodyPr/>
                <a:lstStyle/>
                <a:p>
                  <a:r>
                    <a:rPr lang="en-US">
                      <a:noFill/>
                    </a:rPr>
                    <a:t> </a:t>
                  </a:r>
                </a:p>
              </p:txBody>
            </p:sp>
          </mc:Fallback>
        </mc:AlternateContent>
      </p:grpSp>
      <p:sp>
        <p:nvSpPr>
          <p:cNvPr id="11" name="TextBox 10">
            <a:extLst>
              <a:ext uri="{FF2B5EF4-FFF2-40B4-BE49-F238E27FC236}">
                <a16:creationId xmlns:a16="http://schemas.microsoft.com/office/drawing/2014/main" id="{A2B81BA7-1DFE-5682-A706-408F9989DCF6}"/>
              </a:ext>
            </a:extLst>
          </p:cNvPr>
          <p:cNvSpPr txBox="1"/>
          <p:nvPr/>
        </p:nvSpPr>
        <p:spPr>
          <a:xfrm>
            <a:off x="2748200" y="4262178"/>
            <a:ext cx="961518" cy="1477328"/>
          </a:xfrm>
          <a:prstGeom prst="rect">
            <a:avLst/>
          </a:prstGeom>
          <a:noFill/>
        </p:spPr>
        <p:txBody>
          <a:bodyPr wrap="square" rtlCol="0">
            <a:spAutoFit/>
          </a:bodyPr>
          <a:lstStyle/>
          <a:p>
            <a:r>
              <a:rPr lang="en-US" sz="1000" b="1" dirty="0">
                <a:latin typeface="Calibri" panose="020F0502020204030204" pitchFamily="34" charset="0"/>
                <a:cs typeface="Calibri" panose="020F0502020204030204" pitchFamily="34" charset="0"/>
              </a:rPr>
              <a:t>Hardware + an event loop </a:t>
            </a:r>
          </a:p>
          <a:p>
            <a:pPr marL="171450" indent="-171450">
              <a:buFont typeface="Arial" panose="020B0604020202020204" pitchFamily="34" charset="0"/>
              <a:buChar char="•"/>
            </a:pPr>
            <a:r>
              <a:rPr lang="en-US" sz="1000" b="1" dirty="0">
                <a:latin typeface="Calibri" panose="020F0502020204030204" pitchFamily="34" charset="0"/>
                <a:cs typeface="Calibri" panose="020F0502020204030204" pitchFamily="34" charset="0"/>
              </a:rPr>
              <a:t>Read the sensors</a:t>
            </a:r>
          </a:p>
          <a:p>
            <a:pPr marL="171450" indent="-171450">
              <a:buFont typeface="Arial" panose="020B0604020202020204" pitchFamily="34" charset="0"/>
              <a:buChar char="•"/>
            </a:pPr>
            <a:r>
              <a:rPr lang="en-US" sz="1000" b="1" dirty="0">
                <a:latin typeface="Calibri" panose="020F0502020204030204" pitchFamily="34" charset="0"/>
                <a:cs typeface="Calibri" panose="020F0502020204030204" pitchFamily="34" charset="0"/>
              </a:rPr>
              <a:t>Ask agent function for action</a:t>
            </a:r>
          </a:p>
          <a:p>
            <a:pPr marL="171450" indent="-171450">
              <a:buFont typeface="Arial" panose="020B0604020202020204" pitchFamily="34" charset="0"/>
              <a:buChar char="•"/>
            </a:pPr>
            <a:r>
              <a:rPr lang="en-US" sz="1000" b="1" dirty="0">
                <a:latin typeface="Calibri" panose="020F0502020204030204" pitchFamily="34" charset="0"/>
                <a:cs typeface="Calibri" panose="020F0502020204030204" pitchFamily="34" charset="0"/>
              </a:rPr>
              <a:t>Execute action</a:t>
            </a:r>
          </a:p>
        </p:txBody>
      </p:sp>
      <p:sp>
        <p:nvSpPr>
          <p:cNvPr id="4" name="Speech Bubble: Rectangle 3">
            <a:extLst>
              <a:ext uri="{FF2B5EF4-FFF2-40B4-BE49-F238E27FC236}">
                <a16:creationId xmlns:a16="http://schemas.microsoft.com/office/drawing/2014/main" id="{B3BCC7E8-1ECE-D23A-F5F7-94B050721690}"/>
              </a:ext>
            </a:extLst>
          </p:cNvPr>
          <p:cNvSpPr/>
          <p:nvPr/>
        </p:nvSpPr>
        <p:spPr>
          <a:xfrm>
            <a:off x="349991" y="4695932"/>
            <a:ext cx="2011567" cy="1905000"/>
          </a:xfrm>
          <a:prstGeom prst="wedgeRectCallout">
            <a:avLst>
              <a:gd name="adj1" fmla="val 121190"/>
              <a:gd name="adj2" fmla="val 616"/>
            </a:avLst>
          </a:prstGeom>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b="1" dirty="0"/>
              <a:t>Agent Function</a:t>
            </a:r>
          </a:p>
          <a:p>
            <a:pPr marL="285750" indent="-285750">
              <a:buFont typeface="Arial" panose="020B0604020202020204" pitchFamily="34" charset="0"/>
              <a:buChar char="•"/>
            </a:pPr>
            <a:r>
              <a:rPr lang="en-US" sz="1400" dirty="0"/>
              <a:t>Represents the “brain”</a:t>
            </a:r>
          </a:p>
          <a:p>
            <a:pPr marL="285750" indent="-285750">
              <a:buFont typeface="Arial" panose="020B0604020202020204" pitchFamily="34" charset="0"/>
              <a:buChar char="•"/>
            </a:pPr>
            <a:r>
              <a:rPr lang="en-US" sz="1400" dirty="0"/>
              <a:t>Assess performance measure</a:t>
            </a:r>
          </a:p>
          <a:p>
            <a:pPr marL="285750" indent="-285750">
              <a:buFont typeface="Arial" panose="020B0604020202020204" pitchFamily="34" charset="0"/>
              <a:buChar char="•"/>
            </a:pPr>
            <a:r>
              <a:rPr lang="en-US" sz="1400" dirty="0"/>
              <a:t>Remember percept sequence</a:t>
            </a:r>
          </a:p>
          <a:p>
            <a:pPr marL="285750" indent="-285750">
              <a:buFont typeface="Arial" panose="020B0604020202020204" pitchFamily="34" charset="0"/>
              <a:buChar char="•"/>
            </a:pPr>
            <a:r>
              <a:rPr lang="en-US" sz="1400" dirty="0"/>
              <a:t>Built-in knowledge</a:t>
            </a:r>
          </a:p>
        </p:txBody>
      </p:sp>
      <p:sp>
        <p:nvSpPr>
          <p:cNvPr id="13" name="TextBox 12">
            <a:extLst>
              <a:ext uri="{FF2B5EF4-FFF2-40B4-BE49-F238E27FC236}">
                <a16:creationId xmlns:a16="http://schemas.microsoft.com/office/drawing/2014/main" id="{084BD0FD-126E-2D69-D249-07D9FB56287C}"/>
              </a:ext>
              <a:ext uri="{C183D7F6-B498-43B3-948B-1728B52AA6E4}">
                <adec:decorative xmlns:adec="http://schemas.microsoft.com/office/drawing/2017/decorative" val="1"/>
              </a:ext>
            </a:extLst>
          </p:cNvPr>
          <p:cNvSpPr txBox="1"/>
          <p:nvPr/>
        </p:nvSpPr>
        <p:spPr>
          <a:xfrm>
            <a:off x="3261166" y="1884040"/>
            <a:ext cx="625034" cy="279979"/>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endParaRPr lang="en-US" dirty="0"/>
          </a:p>
        </p:txBody>
      </p:sp>
      <p:sp>
        <p:nvSpPr>
          <p:cNvPr id="14" name="TextBox 13">
            <a:extLst>
              <a:ext uri="{FF2B5EF4-FFF2-40B4-BE49-F238E27FC236}">
                <a16:creationId xmlns:a16="http://schemas.microsoft.com/office/drawing/2014/main" id="{BDB8EE00-E784-B5AE-6682-BDE1C2E3213B}"/>
              </a:ext>
              <a:ext uri="{C183D7F6-B498-43B3-948B-1728B52AA6E4}">
                <adec:decorative xmlns:adec="http://schemas.microsoft.com/office/drawing/2017/decorative" val="1"/>
              </a:ext>
            </a:extLst>
          </p:cNvPr>
          <p:cNvSpPr txBox="1"/>
          <p:nvPr/>
        </p:nvSpPr>
        <p:spPr>
          <a:xfrm>
            <a:off x="3709717" y="4850626"/>
            <a:ext cx="793897" cy="788174"/>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endParaRPr lang="en-US" dirty="0"/>
          </a:p>
        </p:txBody>
      </p:sp>
      <p:sp>
        <p:nvSpPr>
          <p:cNvPr id="18" name="TextBox 17">
            <a:extLst>
              <a:ext uri="{FF2B5EF4-FFF2-40B4-BE49-F238E27FC236}">
                <a16:creationId xmlns:a16="http://schemas.microsoft.com/office/drawing/2014/main" id="{01F3DC52-536A-9328-7E14-B5FA2C6383F0}"/>
              </a:ext>
            </a:extLst>
          </p:cNvPr>
          <p:cNvSpPr txBox="1"/>
          <p:nvPr/>
        </p:nvSpPr>
        <p:spPr>
          <a:xfrm>
            <a:off x="7396639" y="4171450"/>
            <a:ext cx="1524000" cy="2462213"/>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400" b="1" dirty="0"/>
              <a:t>Important</a:t>
            </a:r>
            <a:r>
              <a:rPr lang="en-US" sz="1400" dirty="0"/>
              <a:t>: Everything outside the agent function represents the environment.</a:t>
            </a:r>
          </a:p>
          <a:p>
            <a:r>
              <a:rPr lang="en-US" sz="1400" dirty="0"/>
              <a:t>This includes the physical robot, its sensors and its actuators, and event loop!</a:t>
            </a:r>
          </a:p>
        </p:txBody>
      </p:sp>
    </p:spTree>
    <p:extLst>
      <p:ext uri="{BB962C8B-B14F-4D97-AF65-F5344CB8AC3E}">
        <p14:creationId xmlns:p14="http://schemas.microsoft.com/office/powerpoint/2010/main" val="56906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par>
                          <p:cTn id="9" fill="hold">
                            <p:stCondLst>
                              <p:cond delay="0"/>
                            </p:stCondLst>
                            <p:childTnLst>
                              <p:par>
                                <p:cTn id="10" presetID="1" presetClass="entr" presetSubtype="0" fill="hold" grpId="0" nodeType="afterEffect">
                                  <p:stCondLst>
                                    <p:cond delay="0"/>
                                  </p:stCondLst>
                                  <p:childTnLst>
                                    <p:set>
                                      <p:cBhvr>
                                        <p:cTn id="11" dur="1" fill="hold">
                                          <p:stCondLst>
                                            <p:cond delay="0"/>
                                          </p:stCondLst>
                                        </p:cTn>
                                        <p:tgtEl>
                                          <p:spTgt spid="14"/>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1" grpId="0"/>
      <p:bldP spid="4" grpId="0" animBg="1"/>
      <p:bldP spid="14" grpId="0" animBg="1"/>
      <p:bldP spid="1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dirty="0"/>
              <a:t>Simple Reflex Agent</a:t>
            </a:r>
          </a:p>
        </p:txBody>
      </p:sp>
      <p:sp>
        <p:nvSpPr>
          <p:cNvPr id="6" name="Content Placeholder 5"/>
          <p:cNvSpPr>
            <a:spLocks noGrp="1"/>
          </p:cNvSpPr>
          <p:nvPr>
            <p:ph idx="1"/>
          </p:nvPr>
        </p:nvSpPr>
        <p:spPr>
          <a:xfrm>
            <a:off x="628650" y="1417639"/>
            <a:ext cx="7886700" cy="1325562"/>
          </a:xfrm>
        </p:spPr>
        <p:txBody>
          <a:bodyPr>
            <a:normAutofit fontScale="85000" lnSpcReduction="20000"/>
          </a:bodyPr>
          <a:lstStyle/>
          <a:p>
            <a:r>
              <a:rPr lang="en-US" dirty="0"/>
              <a:t>Uses only built-in knowledge in the form of </a:t>
            </a:r>
            <a:r>
              <a:rPr lang="en-US" b="1" dirty="0">
                <a:solidFill>
                  <a:srgbClr val="FF0000"/>
                </a:solidFill>
              </a:rPr>
              <a:t>rules</a:t>
            </a:r>
            <a:r>
              <a:rPr lang="en-US" dirty="0"/>
              <a:t> that select action only  </a:t>
            </a:r>
            <a:r>
              <a:rPr lang="en-US" b="1" dirty="0">
                <a:solidFill>
                  <a:srgbClr val="FF0000"/>
                </a:solidFill>
              </a:rPr>
              <a:t>based on the current percept. </a:t>
            </a:r>
            <a:r>
              <a:rPr lang="en-US" dirty="0"/>
              <a:t>This is typically very fast!</a:t>
            </a:r>
            <a:endParaRPr lang="en-US" b="1" dirty="0">
              <a:solidFill>
                <a:srgbClr val="FF0000"/>
              </a:solidFill>
            </a:endParaRPr>
          </a:p>
          <a:p>
            <a:r>
              <a:rPr lang="en-US" dirty="0"/>
              <a:t>The </a:t>
            </a:r>
            <a:r>
              <a:rPr lang="en-US" b="1" dirty="0">
                <a:solidFill>
                  <a:srgbClr val="FF0000"/>
                </a:solidFill>
              </a:rPr>
              <a:t>agent does not know about the performance measure</a:t>
            </a:r>
            <a:r>
              <a:rPr lang="en-US" dirty="0"/>
              <a:t>! But well-designed rules can lead to good performance.</a:t>
            </a:r>
          </a:p>
          <a:p>
            <a:r>
              <a:rPr lang="en-US" dirty="0"/>
              <a:t>The agent needs no memory and ignores all past percepts.</a:t>
            </a:r>
          </a:p>
        </p:txBody>
      </p:sp>
      <p:grpSp>
        <p:nvGrpSpPr>
          <p:cNvPr id="3" name="Group 2" descr="A figure showing that the sensors show the agent how the world is like now. The agent then uses condition-action rules to desice what actions it should take.">
            <a:extLst>
              <a:ext uri="{FF2B5EF4-FFF2-40B4-BE49-F238E27FC236}">
                <a16:creationId xmlns:a16="http://schemas.microsoft.com/office/drawing/2014/main" id="{F4335952-8DB7-263E-0EEA-8140CF315E42}"/>
              </a:ext>
            </a:extLst>
          </p:cNvPr>
          <p:cNvGrpSpPr/>
          <p:nvPr/>
        </p:nvGrpSpPr>
        <p:grpSpPr>
          <a:xfrm>
            <a:off x="2057400" y="2743201"/>
            <a:ext cx="4603987" cy="2908449"/>
            <a:chOff x="1981200" y="2984707"/>
            <a:chExt cx="4603987" cy="2908449"/>
          </a:xfrm>
        </p:grpSpPr>
        <p:pic>
          <p:nvPicPr>
            <p:cNvPr id="4" name="Picture 3">
              <a:extLst>
                <a:ext uri="{FF2B5EF4-FFF2-40B4-BE49-F238E27FC236}">
                  <a16:creationId xmlns:a16="http://schemas.microsoft.com/office/drawing/2014/main" id="{181DEF91-8F60-4AD0-929E-67A7782BFCE8}"/>
                </a:ext>
              </a:extLst>
            </p:cNvPr>
            <p:cNvPicPr>
              <a:picLocks noChangeAspect="1"/>
            </p:cNvPicPr>
            <p:nvPr/>
          </p:nvPicPr>
          <p:blipFill>
            <a:blip r:embed="rId3"/>
            <a:stretch>
              <a:fillRect/>
            </a:stretch>
          </p:blipFill>
          <p:spPr>
            <a:xfrm>
              <a:off x="1981200" y="2984707"/>
              <a:ext cx="4603987" cy="2908449"/>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88E4DDC-AC43-2395-FE15-DB33FBB1D188}"/>
                    </a:ext>
                  </a:extLst>
                </p:cNvPr>
                <p:cNvSpPr txBox="1"/>
                <p:nvPr/>
              </p:nvSpPr>
              <p:spPr>
                <a:xfrm>
                  <a:off x="2514600" y="4495800"/>
                  <a:ext cx="1447800" cy="369332"/>
                </a:xfrm>
                <a:prstGeom prst="rect">
                  <a:avLst/>
                </a:prstGeom>
                <a:noFill/>
              </p:spPr>
              <p:txBody>
                <a:bodyPr wrap="square">
                  <a:spAutoFit/>
                </a:bodyPr>
                <a:lstStyle/>
                <a:p>
                  <a:pPr/>
                  <a14:m>
                    <m:oMathPara xmlns:m="http://schemas.openxmlformats.org/officeDocument/2006/math">
                      <m:o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𝑝</m:t>
                        </m:r>
                        <m:r>
                          <a:rPr lang="en-US" b="0" i="1" smtClean="0">
                            <a:latin typeface="Cambria Math" panose="02040503050406030204" pitchFamily="18" charset="0"/>
                          </a:rPr>
                          <m:t>)</m:t>
                        </m:r>
                      </m:oMath>
                    </m:oMathPara>
                  </a14:m>
                  <a:endParaRPr lang="en-US" dirty="0"/>
                </a:p>
              </p:txBody>
            </p:sp>
          </mc:Choice>
          <mc:Fallback xmlns="">
            <p:sp>
              <p:nvSpPr>
                <p:cNvPr id="5" name="TextBox 4">
                  <a:extLst>
                    <a:ext uri="{FF2B5EF4-FFF2-40B4-BE49-F238E27FC236}">
                      <a16:creationId xmlns:a16="http://schemas.microsoft.com/office/drawing/2014/main" id="{088E4DDC-AC43-2395-FE15-DB33FBB1D188}"/>
                    </a:ext>
                  </a:extLst>
                </p:cNvPr>
                <p:cNvSpPr txBox="1">
                  <a:spLocks noRot="1" noChangeAspect="1" noMove="1" noResize="1" noEditPoints="1" noAdjustHandles="1" noChangeArrowheads="1" noChangeShapeType="1" noTextEdit="1"/>
                </p:cNvSpPr>
                <p:nvPr/>
              </p:nvSpPr>
              <p:spPr>
                <a:xfrm>
                  <a:off x="2514600" y="4495800"/>
                  <a:ext cx="1447800" cy="369332"/>
                </a:xfrm>
                <a:prstGeom prst="rect">
                  <a:avLst/>
                </a:prstGeom>
                <a:blipFill>
                  <a:blip r:embed="rId5"/>
                  <a:stretch>
                    <a:fillRect b="-1333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85F931F8-34A1-48EC-9F54-75986756E228}"/>
                  </a:ext>
                </a:extLst>
              </p:cNvPr>
              <p:cNvSpPr/>
              <p:nvPr/>
            </p:nvSpPr>
            <p:spPr>
              <a:xfrm>
                <a:off x="516867" y="5673054"/>
                <a:ext cx="8110265" cy="923330"/>
              </a:xfrm>
              <a:prstGeom prst="rect">
                <a:avLst/>
              </a:prstGeom>
            </p:spPr>
            <p:txBody>
              <a:bodyPr wrap="square">
                <a:spAutoFit/>
              </a:bodyPr>
              <a:lstStyle/>
              <a:p>
                <a:r>
                  <a:rPr lang="en-US" dirty="0"/>
                  <a:t>The interaction is a sequence: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endParaRPr lang="en-US" b="1" dirty="0"/>
              </a:p>
              <a:p>
                <a:r>
                  <a:rPr lang="en-US" b="1" dirty="0"/>
                  <a:t>Example</a:t>
                </a:r>
                <a:r>
                  <a:rPr lang="en-US" dirty="0"/>
                  <a:t>: A simple vacuum cleaner that uses rules based on its current sensor input. </a:t>
                </a:r>
              </a:p>
            </p:txBody>
          </p:sp>
        </mc:Choice>
        <mc:Fallback xmlns="">
          <p:sp>
            <p:nvSpPr>
              <p:cNvPr id="2" name="Rectangle 1">
                <a:extLst>
                  <a:ext uri="{FF2B5EF4-FFF2-40B4-BE49-F238E27FC236}">
                    <a16:creationId xmlns:a16="http://schemas.microsoft.com/office/drawing/2014/main" id="{85F931F8-34A1-48EC-9F54-75986756E228}"/>
                  </a:ext>
                </a:extLst>
              </p:cNvPr>
              <p:cNvSpPr>
                <a:spLocks noRot="1" noChangeAspect="1" noMove="1" noResize="1" noEditPoints="1" noAdjustHandles="1" noChangeArrowheads="1" noChangeShapeType="1" noTextEdit="1"/>
              </p:cNvSpPr>
              <p:nvPr/>
            </p:nvSpPr>
            <p:spPr>
              <a:xfrm>
                <a:off x="516867" y="5673054"/>
                <a:ext cx="8110265" cy="923330"/>
              </a:xfrm>
              <a:prstGeom prst="rect">
                <a:avLst/>
              </a:prstGeom>
              <a:blipFill>
                <a:blip r:embed="rId6"/>
                <a:stretch>
                  <a:fillRect l="-677" t="-3974" b="-9934"/>
                </a:stretch>
              </a:blipFill>
            </p:spPr>
            <p:txBody>
              <a:bodyPr/>
              <a:lstStyle/>
              <a:p>
                <a:r>
                  <a:rPr lang="en-US">
                    <a:noFill/>
                  </a:rPr>
                  <a:t> </a:t>
                </a:r>
              </a:p>
            </p:txBody>
          </p:sp>
        </mc:Fallback>
      </mc:AlternateContent>
    </p:spTree>
    <p:extLst>
      <p:ext uri="{BB962C8B-B14F-4D97-AF65-F5344CB8AC3E}">
        <p14:creationId xmlns:p14="http://schemas.microsoft.com/office/powerpoint/2010/main" val="8069362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en-US" dirty="0"/>
              <a:t>Model-based Reflex Agent</a:t>
            </a:r>
          </a:p>
        </p:txBody>
      </p:sp>
      <p:sp>
        <p:nvSpPr>
          <p:cNvPr id="6" name="Content Placeholder 5"/>
          <p:cNvSpPr>
            <a:spLocks noGrp="1"/>
          </p:cNvSpPr>
          <p:nvPr>
            <p:ph idx="1"/>
          </p:nvPr>
        </p:nvSpPr>
        <p:spPr>
          <a:xfrm>
            <a:off x="628650" y="1358825"/>
            <a:ext cx="7886700" cy="1325563"/>
          </a:xfrm>
        </p:spPr>
        <p:txBody>
          <a:bodyPr>
            <a:normAutofit fontScale="85000" lnSpcReduction="20000"/>
          </a:bodyPr>
          <a:lstStyle/>
          <a:p>
            <a:r>
              <a:rPr lang="en-US" dirty="0"/>
              <a:t>Maintains a</a:t>
            </a:r>
            <a:r>
              <a:rPr lang="en-US" b="1" dirty="0">
                <a:solidFill>
                  <a:srgbClr val="FF0000"/>
                </a:solidFill>
              </a:rPr>
              <a:t> state variable</a:t>
            </a:r>
            <a:r>
              <a:rPr lang="en-US" dirty="0"/>
              <a:t> to keeps track of aspects of the environment that cannot be currently observed. I.e., it has memory.</a:t>
            </a:r>
          </a:p>
          <a:p>
            <a:r>
              <a:rPr lang="en-US" dirty="0"/>
              <a:t>It knows how the environment evolves over time given its last action. It updates the state using a  </a:t>
            </a:r>
            <a:r>
              <a:rPr lang="en-US" b="1" dirty="0">
                <a:solidFill>
                  <a:srgbClr val="FF0000"/>
                </a:solidFill>
              </a:rPr>
              <a:t>transition function</a:t>
            </a:r>
            <a:r>
              <a:rPr lang="en-US" dirty="0"/>
              <a:t> and the new percept. </a:t>
            </a:r>
          </a:p>
          <a:p>
            <a:r>
              <a:rPr lang="en-US" dirty="0"/>
              <a:t>There is now more information for the </a:t>
            </a:r>
            <a:r>
              <a:rPr lang="en-US" b="1" dirty="0">
                <a:solidFill>
                  <a:srgbClr val="FF0000"/>
                </a:solidFill>
              </a:rPr>
              <a:t>rules</a:t>
            </a:r>
            <a:r>
              <a:rPr lang="en-US" dirty="0"/>
              <a:t> to make better decisions. </a:t>
            </a:r>
            <a:endParaRPr lang="en-US" sz="2000" dirty="0"/>
          </a:p>
        </p:txBody>
      </p:sp>
      <p:pic>
        <p:nvPicPr>
          <p:cNvPr id="5" name="Picture 4" descr="A figure that shiws how the agent adds a state and a model that describes how the world envolves.">
            <a:extLst>
              <a:ext uri="{FF2B5EF4-FFF2-40B4-BE49-F238E27FC236}">
                <a16:creationId xmlns:a16="http://schemas.microsoft.com/office/drawing/2014/main" id="{038E5158-0581-49FA-94C4-ABA19CFED948}"/>
              </a:ext>
            </a:extLst>
          </p:cNvPr>
          <p:cNvPicPr>
            <a:picLocks noChangeAspect="1"/>
          </p:cNvPicPr>
          <p:nvPr/>
        </p:nvPicPr>
        <p:blipFill>
          <a:blip r:embed="rId3"/>
          <a:stretch>
            <a:fillRect/>
          </a:stretch>
        </p:blipFill>
        <p:spPr>
          <a:xfrm>
            <a:off x="1981200" y="2717650"/>
            <a:ext cx="4673840" cy="2921150"/>
          </a:xfrm>
          <a:prstGeom prst="rect">
            <a:avLst/>
          </a:prstGeom>
        </p:spPr>
      </p:pic>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AE6838F9-B6C4-425B-8572-2F7363951D3D}"/>
                  </a:ext>
                </a:extLst>
              </p:cNvPr>
              <p:cNvSpPr/>
              <p:nvPr/>
            </p:nvSpPr>
            <p:spPr>
              <a:xfrm>
                <a:off x="587829" y="5767797"/>
                <a:ext cx="7905750" cy="923330"/>
              </a:xfrm>
              <a:prstGeom prst="rect">
                <a:avLst/>
              </a:prstGeom>
            </p:spPr>
            <p:txBody>
              <a:bodyPr wrap="square">
                <a:spAutoFit/>
              </a:bodyPr>
              <a:lstStyle/>
              <a:p>
                <a:r>
                  <a:rPr lang="en-US" dirty="0"/>
                  <a:t>The interaction is a sequence:  </a:t>
                </a:r>
                <a14:m>
                  <m:oMath xmlns:m="http://schemas.openxmlformats.org/officeDocument/2006/math">
                    <m:sSub>
                      <m:sSubPr>
                        <m:ctrlPr>
                          <a:rPr lang="en-US" b="0" i="1" smtClean="0">
                            <a:latin typeface="Cambria Math" panose="02040503050406030204" pitchFamily="18" charset="0"/>
                          </a:rPr>
                        </m:ctrlPr>
                      </m:sSub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𝑠</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3</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𝑝</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endParaRPr lang="en-US" b="1" dirty="0"/>
              </a:p>
              <a:p>
                <a:r>
                  <a:rPr lang="en-US" b="1" dirty="0"/>
                  <a:t>Example</a:t>
                </a:r>
                <a:r>
                  <a:rPr lang="en-US" dirty="0"/>
                  <a:t>: A vacuum cleaner that remembers were it has already cleaned.</a:t>
                </a:r>
              </a:p>
            </p:txBody>
          </p:sp>
        </mc:Choice>
        <mc:Fallback xmlns="">
          <p:sp>
            <p:nvSpPr>
              <p:cNvPr id="2" name="Rectangle 1">
                <a:extLst>
                  <a:ext uri="{FF2B5EF4-FFF2-40B4-BE49-F238E27FC236}">
                    <a16:creationId xmlns:a16="http://schemas.microsoft.com/office/drawing/2014/main" id="{AE6838F9-B6C4-425B-8572-2F7363951D3D}"/>
                  </a:ext>
                </a:extLst>
              </p:cNvPr>
              <p:cNvSpPr>
                <a:spLocks noRot="1" noChangeAspect="1" noMove="1" noResize="1" noEditPoints="1" noAdjustHandles="1" noChangeArrowheads="1" noChangeShapeType="1" noTextEdit="1"/>
              </p:cNvSpPr>
              <p:nvPr/>
            </p:nvSpPr>
            <p:spPr>
              <a:xfrm>
                <a:off x="587829" y="5767797"/>
                <a:ext cx="7905750" cy="923330"/>
              </a:xfrm>
              <a:prstGeom prst="rect">
                <a:avLst/>
              </a:prstGeom>
              <a:blipFill>
                <a:blip r:embed="rId4"/>
                <a:stretch>
                  <a:fillRect l="-617" t="-3289" b="-9211"/>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055F036E-DDEA-4D0D-8190-21B9533B8EBB}"/>
              </a:ext>
              <a:ext uri="{C183D7F6-B498-43B3-948B-1728B52AA6E4}">
                <adec:decorative xmlns:adec="http://schemas.microsoft.com/office/drawing/2017/decorative" val="1"/>
              </a:ext>
            </a:extLst>
          </p:cNvPr>
          <p:cNvSpPr/>
          <p:nvPr/>
        </p:nvSpPr>
        <p:spPr>
          <a:xfrm>
            <a:off x="2362200" y="3035225"/>
            <a:ext cx="1676400" cy="1143000"/>
          </a:xfrm>
          <a:prstGeom prst="round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8472A49-917C-3517-1988-72929794ABCA}"/>
                  </a:ext>
                  <a:ext uri="{C183D7F6-B498-43B3-948B-1728B52AA6E4}">
                    <adec:decorative xmlns:adec="http://schemas.microsoft.com/office/drawing/2017/decorative" val="1"/>
                  </a:ext>
                </a:extLst>
              </p:cNvPr>
              <p:cNvSpPr txBox="1"/>
              <p:nvPr/>
            </p:nvSpPr>
            <p:spPr>
              <a:xfrm>
                <a:off x="2362200" y="4311134"/>
                <a:ext cx="1447800" cy="369332"/>
              </a:xfrm>
              <a:prstGeom prst="rect">
                <a:avLst/>
              </a:prstGeom>
              <a:noFill/>
            </p:spPr>
            <p:txBody>
              <a:bodyPr wrap="square">
                <a:spAutoFit/>
              </a:bodyPr>
              <a:lstStyle/>
              <a:p>
                <a:pPr/>
                <a14:m>
                  <m:oMathPara xmlns:m="http://schemas.openxmlformats.org/officeDocument/2006/math">
                    <m:o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𝑝</m:t>
                      </m:r>
                      <m:r>
                        <a:rPr lang="en-US" b="0" i="1" smtClean="0">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B8472A49-917C-3517-1988-72929794ABCA}"/>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2362200" y="4311134"/>
                <a:ext cx="1447800" cy="369332"/>
              </a:xfrm>
              <a:prstGeom prst="rect">
                <a:avLst/>
              </a:prstGeom>
              <a:blipFill>
                <a:blip r:embed="rId5"/>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E904EBC-7259-8524-E9E9-B967895CE755}"/>
                  </a:ext>
                  <a:ext uri="{C183D7F6-B498-43B3-948B-1728B52AA6E4}">
                    <adec:decorative xmlns:adec="http://schemas.microsoft.com/office/drawing/2017/decorative" val="1"/>
                  </a:ext>
                </a:extLst>
              </p:cNvPr>
              <p:cNvSpPr txBox="1"/>
              <p:nvPr/>
            </p:nvSpPr>
            <p:spPr>
              <a:xfrm>
                <a:off x="2667000" y="3001963"/>
                <a:ext cx="381000" cy="369332"/>
              </a:xfrm>
              <a:prstGeom prst="rect">
                <a:avLst/>
              </a:prstGeom>
              <a:noFill/>
            </p:spPr>
            <p:txBody>
              <a:bodyPr wrap="square">
                <a:spAutoFit/>
              </a:bodyPr>
              <a:lstStyle/>
              <a:p>
                <a:pPr/>
                <a14:m>
                  <m:oMathPara xmlns:m="http://schemas.openxmlformats.org/officeDocument/2006/math">
                    <m:oMath>
                      <m:r>
                        <a:rPr lang="en-US" b="0" i="1" smtClean="0">
                          <a:latin typeface="Cambria Math" panose="02040503050406030204" pitchFamily="18" charset="0"/>
                        </a:rPr>
                        <m:t>𝑠</m:t>
                      </m:r>
                    </m:oMath>
                  </m:oMathPara>
                </a14:m>
                <a:endParaRPr lang="en-US" dirty="0"/>
              </a:p>
            </p:txBody>
          </p:sp>
        </mc:Choice>
        <mc:Fallback xmlns="">
          <p:sp>
            <p:nvSpPr>
              <p:cNvPr id="8" name="TextBox 7">
                <a:extLst>
                  <a:ext uri="{FF2B5EF4-FFF2-40B4-BE49-F238E27FC236}">
                    <a16:creationId xmlns:a16="http://schemas.microsoft.com/office/drawing/2014/main" id="{2E904EBC-7259-8524-E9E9-B967895CE755}"/>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2667000" y="3001963"/>
                <a:ext cx="381000"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1344880-89A4-3400-45BD-0316FB35ADDC}"/>
                  </a:ext>
                  <a:ext uri="{C183D7F6-B498-43B3-948B-1728B52AA6E4}">
                    <adec:decorative xmlns:adec="http://schemas.microsoft.com/office/drawing/2017/decorative" val="1"/>
                  </a:ext>
                </a:extLst>
              </p:cNvPr>
              <p:cNvSpPr txBox="1"/>
              <p:nvPr/>
            </p:nvSpPr>
            <p:spPr>
              <a:xfrm>
                <a:off x="2438400" y="3544577"/>
                <a:ext cx="1524000" cy="369332"/>
              </a:xfrm>
              <a:prstGeom prst="rect">
                <a:avLst/>
              </a:prstGeom>
              <a:noFill/>
            </p:spPr>
            <p:txBody>
              <a:bodyPr wrap="square">
                <a:spAutoFit/>
              </a:bodyPr>
              <a:lstStyle/>
              <a:p>
                <a:pPr/>
                <a14:m>
                  <m:oMathPara xmlns:m="http://schemas.openxmlformats.org/officeDocument/2006/math">
                    <m:o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endParaRPr lang="en-US" dirty="0"/>
              </a:p>
            </p:txBody>
          </p:sp>
        </mc:Choice>
        <mc:Fallback xmlns="">
          <p:sp>
            <p:nvSpPr>
              <p:cNvPr id="9" name="TextBox 8">
                <a:extLst>
                  <a:ext uri="{FF2B5EF4-FFF2-40B4-BE49-F238E27FC236}">
                    <a16:creationId xmlns:a16="http://schemas.microsoft.com/office/drawing/2014/main" id="{71344880-89A4-3400-45BD-0316FB35ADDC}"/>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2438400" y="3544577"/>
                <a:ext cx="1524000" cy="369332"/>
              </a:xfrm>
              <a:prstGeom prst="rect">
                <a:avLst/>
              </a:prstGeom>
              <a:blipFill>
                <a:blip r:embed="rId7"/>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F763B28-6C18-8BF9-D115-799B085EEEC1}"/>
                  </a:ext>
                </a:extLst>
              </p:cNvPr>
              <p:cNvSpPr txBox="1"/>
              <p:nvPr/>
            </p:nvSpPr>
            <p:spPr>
              <a:xfrm>
                <a:off x="4775320" y="3001963"/>
                <a:ext cx="381000" cy="369332"/>
              </a:xfrm>
              <a:prstGeom prst="rect">
                <a:avLst/>
              </a:prstGeom>
              <a:noFill/>
            </p:spPr>
            <p:txBody>
              <a:bodyPr wrap="square">
                <a:spAutoFit/>
              </a:bodyPr>
              <a:lstStyle/>
              <a:p>
                <a:pPr/>
                <a14:m>
                  <m:oMathPara xmlns:m="http://schemas.openxmlformats.org/officeDocument/2006/math">
                    <m:oMath>
                      <m:r>
                        <a:rPr lang="en-US" b="0" i="1" smtClean="0">
                          <a:latin typeface="Cambria Math" panose="02040503050406030204" pitchFamily="18" charset="0"/>
                        </a:rPr>
                        <m:t>𝑝</m:t>
                      </m:r>
                    </m:oMath>
                  </m:oMathPara>
                </a14:m>
                <a:endParaRPr lang="en-US" dirty="0"/>
              </a:p>
            </p:txBody>
          </p:sp>
        </mc:Choice>
        <mc:Fallback xmlns="">
          <p:sp>
            <p:nvSpPr>
              <p:cNvPr id="10" name="TextBox 9">
                <a:extLst>
                  <a:ext uri="{FF2B5EF4-FFF2-40B4-BE49-F238E27FC236}">
                    <a16:creationId xmlns:a16="http://schemas.microsoft.com/office/drawing/2014/main" id="{DF763B28-6C18-8BF9-D115-799B085EEEC1}"/>
                  </a:ext>
                </a:extLst>
              </p:cNvPr>
              <p:cNvSpPr txBox="1">
                <a:spLocks noRot="1" noChangeAspect="1" noMove="1" noResize="1" noEditPoints="1" noAdjustHandles="1" noChangeArrowheads="1" noChangeShapeType="1" noTextEdit="1"/>
              </p:cNvSpPr>
              <p:nvPr/>
            </p:nvSpPr>
            <p:spPr>
              <a:xfrm>
                <a:off x="4775320" y="3001963"/>
                <a:ext cx="381000" cy="369332"/>
              </a:xfrm>
              <a:prstGeom prst="rect">
                <a:avLst/>
              </a:prstGeom>
              <a:blipFill>
                <a:blip r:embed="rId8"/>
                <a:stretch>
                  <a:fillRect b="-6557"/>
                </a:stretch>
              </a:blipFill>
            </p:spPr>
            <p:txBody>
              <a:bodyPr/>
              <a:lstStyle/>
              <a:p>
                <a:r>
                  <a:rPr lang="en-US">
                    <a:noFill/>
                  </a:rPr>
                  <a:t> </a:t>
                </a:r>
              </a:p>
            </p:txBody>
          </p:sp>
        </mc:Fallback>
      </mc:AlternateContent>
    </p:spTree>
    <p:extLst>
      <p:ext uri="{BB962C8B-B14F-4D97-AF65-F5344CB8AC3E}">
        <p14:creationId xmlns:p14="http://schemas.microsoft.com/office/powerpoint/2010/main" val="15753093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27B5A-ADFB-4041-8CA1-D79831A7BDD9}"/>
              </a:ext>
            </a:extLst>
          </p:cNvPr>
          <p:cNvSpPr>
            <a:spLocks noGrp="1"/>
          </p:cNvSpPr>
          <p:nvPr>
            <p:ph type="title"/>
          </p:nvPr>
        </p:nvSpPr>
        <p:spPr/>
        <p:txBody>
          <a:bodyPr/>
          <a:lstStyle/>
          <a:p>
            <a:r>
              <a:rPr lang="en-US" dirty="0"/>
              <a:t>State Representation</a:t>
            </a:r>
          </a:p>
        </p:txBody>
      </p:sp>
      <p:sp>
        <p:nvSpPr>
          <p:cNvPr id="3" name="Content Placeholder 2">
            <a:extLst>
              <a:ext uri="{FF2B5EF4-FFF2-40B4-BE49-F238E27FC236}">
                <a16:creationId xmlns:a16="http://schemas.microsoft.com/office/drawing/2014/main" id="{A8D8124E-678D-40F0-8214-4360179CDBA0}"/>
              </a:ext>
            </a:extLst>
          </p:cNvPr>
          <p:cNvSpPr>
            <a:spLocks noGrp="1"/>
          </p:cNvSpPr>
          <p:nvPr>
            <p:ph idx="1"/>
          </p:nvPr>
        </p:nvSpPr>
        <p:spPr>
          <a:xfrm>
            <a:off x="628650" y="1600200"/>
            <a:ext cx="7886700" cy="1143000"/>
          </a:xfrm>
        </p:spPr>
        <p:txBody>
          <a:bodyPr>
            <a:normAutofit fontScale="85000" lnSpcReduction="20000"/>
          </a:bodyPr>
          <a:lstStyle/>
          <a:p>
            <a:pPr marL="0" indent="0">
              <a:buNone/>
            </a:pPr>
            <a:r>
              <a:rPr lang="en-US" sz="2000" dirty="0"/>
              <a:t>States help to keep track of the environment and the agent in the environment. This is often also called the </a:t>
            </a:r>
            <a:r>
              <a:rPr lang="en-US" sz="2000" b="1" dirty="0"/>
              <a:t>system state</a:t>
            </a:r>
            <a:r>
              <a:rPr lang="en-US" sz="2000" dirty="0"/>
              <a:t>. The representation can be </a:t>
            </a:r>
          </a:p>
          <a:p>
            <a:pPr lvl="1"/>
            <a:r>
              <a:rPr lang="en-US" b="1" dirty="0"/>
              <a:t>Atomic</a:t>
            </a:r>
            <a:r>
              <a:rPr lang="en-US" dirty="0"/>
              <a:t>: Just a label for a black box. E.g., A, B</a:t>
            </a:r>
          </a:p>
          <a:p>
            <a:pPr lvl="1"/>
            <a:r>
              <a:rPr lang="en-US" b="1" dirty="0"/>
              <a:t>Factored</a:t>
            </a:r>
            <a:r>
              <a:rPr lang="en-US" dirty="0"/>
              <a:t>: A set of attribute values called </a:t>
            </a:r>
            <a:r>
              <a:rPr lang="en-US" dirty="0" err="1"/>
              <a:t>fluents</a:t>
            </a:r>
            <a:r>
              <a:rPr lang="en-US" dirty="0"/>
              <a:t>. </a:t>
            </a:r>
            <a:br>
              <a:rPr lang="en-US" dirty="0"/>
            </a:br>
            <a:r>
              <a:rPr lang="en-US" dirty="0"/>
              <a:t>                  E.g., [location = left, status = clean, temperature = 75 deg. F] </a:t>
            </a:r>
            <a:endParaRPr lang="en-US" sz="2400" dirty="0"/>
          </a:p>
          <a:p>
            <a:endParaRPr lang="en-US" sz="2000" dirty="0"/>
          </a:p>
          <a:p>
            <a:endParaRPr lang="en-US" sz="2000" dirty="0"/>
          </a:p>
          <a:p>
            <a:endParaRPr lang="en-US" sz="2000" dirty="0"/>
          </a:p>
          <a:p>
            <a:endParaRPr lang="en-US" sz="2000" dirty="0"/>
          </a:p>
          <a:p>
            <a:endParaRPr lang="en-US" sz="2000" dirty="0"/>
          </a:p>
          <a:p>
            <a:pPr marL="0" indent="0">
              <a:buNone/>
            </a:pPr>
            <a:endParaRPr lang="en-US" sz="2000" b="1" dirty="0">
              <a:solidFill>
                <a:srgbClr val="FF0000"/>
              </a:solidFill>
            </a:endParaRPr>
          </a:p>
          <a:p>
            <a:pPr marL="0" indent="0">
              <a:buNone/>
            </a:pPr>
            <a:endParaRPr lang="en-US" sz="2000" b="1" dirty="0">
              <a:solidFill>
                <a:srgbClr val="FF0000"/>
              </a:solidFill>
            </a:endParaRPr>
          </a:p>
          <a:p>
            <a:pPr marL="0" indent="0">
              <a:buNone/>
            </a:pPr>
            <a:endParaRPr lang="en-US" sz="2000" dirty="0"/>
          </a:p>
          <a:p>
            <a:pPr marL="0" indent="0">
              <a:buNone/>
            </a:pPr>
            <a:endParaRPr lang="en-US" sz="2000" dirty="0"/>
          </a:p>
        </p:txBody>
      </p:sp>
      <p:pic>
        <p:nvPicPr>
          <p:cNvPr id="4" name="Picture 3" descr="A figure showinf two atomic states as boxes and then a factored state decription where the states contain variables describing the state.">
            <a:extLst>
              <a:ext uri="{FF2B5EF4-FFF2-40B4-BE49-F238E27FC236}">
                <a16:creationId xmlns:a16="http://schemas.microsoft.com/office/drawing/2014/main" id="{BA80952D-B85D-4F0D-B7D7-FD1AEFB93BCD}"/>
              </a:ext>
              <a:ext uri="{C183D7F6-B498-43B3-948B-1728B52AA6E4}">
                <adec:decorative xmlns:adec="http://schemas.microsoft.com/office/drawing/2017/decorative" val="0"/>
              </a:ext>
            </a:extLst>
          </p:cNvPr>
          <p:cNvPicPr>
            <a:picLocks noChangeAspect="1"/>
          </p:cNvPicPr>
          <p:nvPr/>
        </p:nvPicPr>
        <p:blipFill rotWithShape="1">
          <a:blip r:embed="rId3"/>
          <a:srcRect r="40741" b="29953"/>
          <a:stretch/>
        </p:blipFill>
        <p:spPr>
          <a:xfrm>
            <a:off x="1981200" y="2971800"/>
            <a:ext cx="2982360" cy="1828800"/>
          </a:xfrm>
          <a:prstGeom prst="rect">
            <a:avLst/>
          </a:prstGeom>
        </p:spPr>
      </p:pic>
      <p:sp>
        <p:nvSpPr>
          <p:cNvPr id="5" name="Speech Bubble: Rectangle 4">
            <a:extLst>
              <a:ext uri="{FF2B5EF4-FFF2-40B4-BE49-F238E27FC236}">
                <a16:creationId xmlns:a16="http://schemas.microsoft.com/office/drawing/2014/main" id="{A1F6455A-2485-B0DA-DAC2-B15E3F61A4BE}"/>
              </a:ext>
            </a:extLst>
          </p:cNvPr>
          <p:cNvSpPr/>
          <p:nvPr/>
        </p:nvSpPr>
        <p:spPr>
          <a:xfrm>
            <a:off x="1447800" y="2895600"/>
            <a:ext cx="1257300" cy="533400"/>
          </a:xfrm>
          <a:prstGeom prst="wedgeRectCallout">
            <a:avLst>
              <a:gd name="adj1" fmla="val 43371"/>
              <a:gd name="adj2" fmla="val 109770"/>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Action causes transition</a:t>
            </a:r>
          </a:p>
        </p:txBody>
      </p:sp>
      <p:sp>
        <p:nvSpPr>
          <p:cNvPr id="6" name="Speech Bubble: Rectangle 5">
            <a:extLst>
              <a:ext uri="{FF2B5EF4-FFF2-40B4-BE49-F238E27FC236}">
                <a16:creationId xmlns:a16="http://schemas.microsoft.com/office/drawing/2014/main" id="{DE306C82-3C11-0925-0BB1-2921BC51CE19}"/>
              </a:ext>
            </a:extLst>
          </p:cNvPr>
          <p:cNvSpPr/>
          <p:nvPr/>
        </p:nvSpPr>
        <p:spPr>
          <a:xfrm>
            <a:off x="5791200" y="2887663"/>
            <a:ext cx="1676400" cy="769938"/>
          </a:xfrm>
          <a:prstGeom prst="wedgeRectCallout">
            <a:avLst>
              <a:gd name="adj1" fmla="val -121544"/>
              <a:gd name="adj2" fmla="val 43903"/>
            </a:avLst>
          </a:prstGeom>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Variables describing the system state are called “</a:t>
            </a:r>
            <a:r>
              <a:rPr lang="en-US" sz="1400" dirty="0" err="1"/>
              <a:t>fluents</a:t>
            </a:r>
            <a:r>
              <a:rPr lang="en-US" sz="1400" dirty="0"/>
              <a:t>”</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1D0D7C3-8100-410F-21C7-DAC246620F5E}"/>
                  </a:ext>
                </a:extLst>
              </p:cNvPr>
              <p:cNvSpPr txBox="1"/>
              <p:nvPr/>
            </p:nvSpPr>
            <p:spPr>
              <a:xfrm>
                <a:off x="628650" y="4929612"/>
                <a:ext cx="8001000" cy="1569660"/>
              </a:xfrm>
              <a:prstGeom prst="rect">
                <a:avLst/>
              </a:prstGeom>
              <a:noFill/>
            </p:spPr>
            <p:txBody>
              <a:bodyPr wrap="square">
                <a:spAutoFit/>
              </a:bodyPr>
              <a:lstStyle/>
              <a:p>
                <a:r>
                  <a:rPr lang="en-US" sz="1600" dirty="0"/>
                  <a:t>We often construct atomic labels from factored information. E.g.: If the agent’s state is the coordinate x = 7 and y = 3, then the atomic state label could be the string “(7, 3)”. With the atomic representation, we can only compare if two labels are the same. With the factored state representation, we can reason more and calculate the distance between states!</a:t>
                </a:r>
              </a:p>
              <a:p>
                <a:pPr marL="285750" indent="-285750">
                  <a:buFont typeface="Arial" panose="020B0604020202020204" pitchFamily="34" charset="0"/>
                  <a:buChar char="•"/>
                </a:pPr>
                <a:endParaRPr lang="en-US" sz="1600" dirty="0"/>
              </a:p>
              <a:p>
                <a:r>
                  <a:rPr lang="en-US" sz="1600" dirty="0"/>
                  <a:t>The set of all possible states is called the </a:t>
                </a:r>
                <a:r>
                  <a:rPr lang="en-US" sz="1600" b="1" dirty="0">
                    <a:solidFill>
                      <a:srgbClr val="FF0000"/>
                    </a:solidFill>
                  </a:rPr>
                  <a:t>state space </a:t>
                </a:r>
                <a14:m>
                  <m:oMath xmlns:m="http://schemas.openxmlformats.org/officeDocument/2006/math">
                    <m:r>
                      <a:rPr lang="en-US" sz="1600" b="1" i="1" smtClean="0">
                        <a:solidFill>
                          <a:srgbClr val="FF0000"/>
                        </a:solidFill>
                        <a:latin typeface="Cambria Math" panose="02040503050406030204" pitchFamily="18" charset="0"/>
                      </a:rPr>
                      <m:t>𝑺</m:t>
                    </m:r>
                    <m:r>
                      <a:rPr lang="en-US" sz="1600" b="0" i="0" smtClean="0">
                        <a:solidFill>
                          <a:srgbClr val="FF0000"/>
                        </a:solidFill>
                        <a:latin typeface="Cambria Math" panose="02040503050406030204" pitchFamily="18" charset="0"/>
                      </a:rPr>
                      <m:t>.</m:t>
                    </m:r>
                  </m:oMath>
                </a14:m>
                <a:r>
                  <a:rPr lang="en-US" sz="1600" dirty="0"/>
                  <a:t> This set is typically very large!</a:t>
                </a:r>
              </a:p>
            </p:txBody>
          </p:sp>
        </mc:Choice>
        <mc:Fallback xmlns="">
          <p:sp>
            <p:nvSpPr>
              <p:cNvPr id="8" name="TextBox 7">
                <a:extLst>
                  <a:ext uri="{FF2B5EF4-FFF2-40B4-BE49-F238E27FC236}">
                    <a16:creationId xmlns:a16="http://schemas.microsoft.com/office/drawing/2014/main" id="{01D0D7C3-8100-410F-21C7-DAC246620F5E}"/>
                  </a:ext>
                </a:extLst>
              </p:cNvPr>
              <p:cNvSpPr txBox="1">
                <a:spLocks noRot="1" noChangeAspect="1" noMove="1" noResize="1" noEditPoints="1" noAdjustHandles="1" noChangeArrowheads="1" noChangeShapeType="1" noTextEdit="1"/>
              </p:cNvSpPr>
              <p:nvPr/>
            </p:nvSpPr>
            <p:spPr>
              <a:xfrm>
                <a:off x="628650" y="4929612"/>
                <a:ext cx="8001000" cy="1569660"/>
              </a:xfrm>
              <a:prstGeom prst="rect">
                <a:avLst/>
              </a:prstGeom>
              <a:blipFill>
                <a:blip r:embed="rId4"/>
                <a:stretch>
                  <a:fillRect l="-381" t="-1167" b="-4280"/>
                </a:stretch>
              </a:blipFill>
            </p:spPr>
            <p:txBody>
              <a:bodyPr/>
              <a:lstStyle/>
              <a:p>
                <a:r>
                  <a:rPr lang="en-US">
                    <a:noFill/>
                  </a:rPr>
                  <a:t> </a:t>
                </a:r>
              </a:p>
            </p:txBody>
          </p:sp>
        </mc:Fallback>
      </mc:AlternateContent>
    </p:spTree>
    <p:extLst>
      <p:ext uri="{BB962C8B-B14F-4D97-AF65-F5344CB8AC3E}">
        <p14:creationId xmlns:p14="http://schemas.microsoft.com/office/powerpoint/2010/main" val="42672577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27B5A-ADFB-4041-8CA1-D79831A7BDD9}"/>
              </a:ext>
            </a:extLst>
          </p:cNvPr>
          <p:cNvSpPr>
            <a:spLocks noGrp="1"/>
          </p:cNvSpPr>
          <p:nvPr>
            <p:ph type="title"/>
          </p:nvPr>
        </p:nvSpPr>
        <p:spPr/>
        <p:txBody>
          <a:bodyPr/>
          <a:lstStyle/>
          <a:p>
            <a:r>
              <a:rPr lang="en-US" dirty="0"/>
              <a:t>Transition Function</a:t>
            </a:r>
          </a:p>
        </p:txBody>
      </p:sp>
      <p:sp>
        <p:nvSpPr>
          <p:cNvPr id="3" name="Content Placeholder 2">
            <a:extLst>
              <a:ext uri="{FF2B5EF4-FFF2-40B4-BE49-F238E27FC236}">
                <a16:creationId xmlns:a16="http://schemas.microsoft.com/office/drawing/2014/main" id="{A8D8124E-678D-40F0-8214-4360179CDBA0}"/>
              </a:ext>
            </a:extLst>
          </p:cNvPr>
          <p:cNvSpPr>
            <a:spLocks noGrp="1"/>
          </p:cNvSpPr>
          <p:nvPr>
            <p:ph idx="1"/>
          </p:nvPr>
        </p:nvSpPr>
        <p:spPr>
          <a:xfrm>
            <a:off x="628650" y="1600200"/>
            <a:ext cx="7886700" cy="3733800"/>
          </a:xfrm>
        </p:spPr>
        <p:txBody>
          <a:bodyPr>
            <a:normAutofit fontScale="70000" lnSpcReduction="20000"/>
          </a:bodyPr>
          <a:lstStyle/>
          <a:p>
            <a:r>
              <a:rPr lang="en-US" dirty="0"/>
              <a:t>The environment is modeled as a discrete </a:t>
            </a:r>
            <a:r>
              <a:rPr lang="en-US" b="1" dirty="0"/>
              <a:t>dynamical system</a:t>
            </a:r>
            <a:r>
              <a:rPr lang="en-US" dirty="0"/>
              <a:t>.</a:t>
            </a:r>
          </a:p>
          <a:p>
            <a:r>
              <a:rPr lang="en-US" dirty="0"/>
              <a:t>Example of a state diagram</a:t>
            </a:r>
            <a:br>
              <a:rPr lang="en-US" dirty="0"/>
            </a:br>
            <a:r>
              <a:rPr lang="en-US" dirty="0"/>
              <a:t>for the Vacuum cleaner world.</a:t>
            </a:r>
          </a:p>
          <a:p>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r>
              <a:rPr lang="en-US" dirty="0"/>
              <a:t>States change because of</a:t>
            </a:r>
          </a:p>
          <a:p>
            <a:pPr marL="685800" lvl="1" indent="-342900">
              <a:buFont typeface="+mj-lt"/>
              <a:buAutoNum type="alphaLcPeriod"/>
            </a:pPr>
            <a:r>
              <a:rPr lang="en-US" dirty="0"/>
              <a:t>System dynamics of the environment (the environment evolves by itself).</a:t>
            </a:r>
          </a:p>
          <a:p>
            <a:pPr marL="685800" lvl="1" indent="-342900">
              <a:buFont typeface="+mj-lt"/>
              <a:buAutoNum type="alphaLcPeriod"/>
            </a:pPr>
            <a:r>
              <a:rPr lang="en-US" dirty="0"/>
              <a:t>The actions of the agent.</a:t>
            </a:r>
          </a:p>
          <a:p>
            <a:pPr marL="0" indent="0">
              <a:buNone/>
            </a:pPr>
            <a:endParaRPr lang="en-US" dirty="0"/>
          </a:p>
          <a:p>
            <a:r>
              <a:rPr lang="en-US" dirty="0"/>
              <a:t>Both types of changes are represented by the transition function written as</a:t>
            </a:r>
          </a:p>
          <a:p>
            <a:pPr marL="0" indent="0">
              <a:buNone/>
            </a:pPr>
            <a:endParaRPr lang="en-US"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D08444B-2F3B-4310-D261-C07B0620FA7D}"/>
                  </a:ext>
                  <a:ext uri="{C183D7F6-B498-43B3-948B-1728B52AA6E4}">
                    <adec:decorative xmlns:adec="http://schemas.microsoft.com/office/drawing/2017/decorative" val="0"/>
                  </a:ext>
                </a:extLst>
              </p:cNvPr>
              <p:cNvSpPr txBox="1"/>
              <p:nvPr/>
            </p:nvSpPr>
            <p:spPr>
              <a:xfrm>
                <a:off x="2133600" y="5498068"/>
                <a:ext cx="1533525" cy="369332"/>
              </a:xfrm>
              <a:prstGeom prst="rect">
                <a:avLst/>
              </a:prstGeom>
            </p:spPr>
            <p:style>
              <a:lnRef idx="3">
                <a:schemeClr val="lt1"/>
              </a:lnRef>
              <a:fillRef idx="1">
                <a:schemeClr val="accent6"/>
              </a:fillRef>
              <a:effectRef idx="1">
                <a:schemeClr val="accent6"/>
              </a:effectRef>
              <a:fontRef idx="minor">
                <a:schemeClr val="lt1"/>
              </a:fontRef>
            </p:style>
            <p:txBody>
              <a:bodyPr wrap="square">
                <a:spAutoFit/>
              </a:bodyPr>
              <a:lstStyle/>
              <a:p>
                <a:pPr/>
                <a14:m>
                  <m:oMathPara xmlns:m="http://schemas.openxmlformats.org/officeDocument/2006/math">
                    <m:oMath>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𝑆</m:t>
                      </m:r>
                      <m:r>
                        <a:rPr lang="en-US" b="0" i="1" smtClean="0">
                          <a:latin typeface="Cambria Math" panose="02040503050406030204" pitchFamily="18" charset="0"/>
                        </a:rPr>
                        <m:t>×</m:t>
                      </m:r>
                      <m:r>
                        <a:rPr lang="en-US" b="0" i="1" smtClean="0">
                          <a:latin typeface="Cambria Math" panose="02040503050406030204" pitchFamily="18" charset="0"/>
                        </a:rPr>
                        <m:t>𝐴</m:t>
                      </m:r>
                      <m:r>
                        <a:rPr lang="en-US" b="0" i="1" smtClean="0">
                          <a:latin typeface="Cambria Math" panose="02040503050406030204" pitchFamily="18" charset="0"/>
                        </a:rPr>
                        <m:t>→</m:t>
                      </m:r>
                      <m:r>
                        <a:rPr lang="en-US" b="0" i="1" smtClean="0">
                          <a:latin typeface="Cambria Math" panose="02040503050406030204" pitchFamily="18" charset="0"/>
                        </a:rPr>
                        <m:t>𝑆</m:t>
                      </m:r>
                      <m:r>
                        <a:rPr lang="en-US" b="0" i="1" smtClean="0">
                          <a:latin typeface="Cambria Math" panose="02040503050406030204" pitchFamily="18" charset="0"/>
                        </a:rPr>
                        <m:t> </m:t>
                      </m:r>
                    </m:oMath>
                  </m:oMathPara>
                </a14:m>
                <a:endParaRPr lang="en-US" dirty="0"/>
              </a:p>
            </p:txBody>
          </p:sp>
        </mc:Choice>
        <mc:Fallback xmlns="">
          <p:sp>
            <p:nvSpPr>
              <p:cNvPr id="10" name="TextBox 9">
                <a:extLst>
                  <a:ext uri="{FF2B5EF4-FFF2-40B4-BE49-F238E27FC236}">
                    <a16:creationId xmlns:a16="http://schemas.microsoft.com/office/drawing/2014/main" id="{6D08444B-2F3B-4310-D261-C07B0620FA7D}"/>
                  </a:ex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a:xfrm>
                <a:off x="2133600" y="5498068"/>
                <a:ext cx="1533525" cy="369332"/>
              </a:xfrm>
              <a:prstGeom prst="rect">
                <a:avLst/>
              </a:prstGeom>
              <a:blipFill>
                <a:blip r:embed="rId3"/>
                <a:stretch>
                  <a:fillRect/>
                </a:stretch>
              </a:blipFill>
            </p:spPr>
            <p:txBody>
              <a:bodyPr/>
              <a:lstStyle/>
              <a:p>
                <a:r>
                  <a:rPr lang="en-US">
                    <a:noFill/>
                  </a:rPr>
                  <a:t> </a:t>
                </a:r>
              </a:p>
            </p:txBody>
          </p:sp>
        </mc:Fallback>
      </mc:AlternateContent>
      <p:sp>
        <p:nvSpPr>
          <p:cNvPr id="12" name="TextBox 11">
            <a:extLst>
              <a:ext uri="{FF2B5EF4-FFF2-40B4-BE49-F238E27FC236}">
                <a16:creationId xmlns:a16="http://schemas.microsoft.com/office/drawing/2014/main" id="{7D48821B-8C75-76CE-662C-A45020AF98E0}"/>
              </a:ext>
              <a:ext uri="{C183D7F6-B498-43B3-948B-1728B52AA6E4}">
                <adec:decorative xmlns:adec="http://schemas.microsoft.com/office/drawing/2017/decorative" val="0"/>
              </a:ext>
            </a:extLst>
          </p:cNvPr>
          <p:cNvSpPr txBox="1"/>
          <p:nvPr/>
        </p:nvSpPr>
        <p:spPr>
          <a:xfrm>
            <a:off x="3829051" y="5498068"/>
            <a:ext cx="533400" cy="369332"/>
          </a:xfrm>
          <a:prstGeom prst="rect">
            <a:avLst/>
          </a:prstGeom>
          <a:noFill/>
        </p:spPr>
        <p:txBody>
          <a:bodyPr wrap="square" rtlCol="0">
            <a:spAutoFit/>
          </a:bodyPr>
          <a:lstStyle/>
          <a:p>
            <a:r>
              <a:rPr lang="en-US" dirty="0"/>
              <a:t>or</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8CC9EC0-8A1A-F11E-602A-149AFB55BB52}"/>
                  </a:ext>
                  <a:ext uri="{C183D7F6-B498-43B3-948B-1728B52AA6E4}">
                    <adec:decorative xmlns:adec="http://schemas.microsoft.com/office/drawing/2017/decorative" val="0"/>
                  </a:ext>
                </a:extLst>
              </p:cNvPr>
              <p:cNvSpPr txBox="1"/>
              <p:nvPr/>
            </p:nvSpPr>
            <p:spPr>
              <a:xfrm>
                <a:off x="4419601" y="5498068"/>
                <a:ext cx="1447800" cy="369332"/>
              </a:xfrm>
              <a:prstGeom prst="rect">
                <a:avLst/>
              </a:prstGeom>
            </p:spPr>
            <p:style>
              <a:lnRef idx="3">
                <a:schemeClr val="lt1"/>
              </a:lnRef>
              <a:fillRef idx="1">
                <a:schemeClr val="accent6"/>
              </a:fillRef>
              <a:effectRef idx="1">
                <a:schemeClr val="accent6"/>
              </a:effectRef>
              <a:fontRef idx="minor">
                <a:schemeClr val="lt1"/>
              </a:fontRef>
            </p:style>
            <p:txBody>
              <a:bodyPr wrap="square">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08CC9EC0-8A1A-F11E-602A-149AFB55BB52}"/>
                  </a:ex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a:xfrm>
                <a:off x="4419601" y="5498068"/>
                <a:ext cx="1447800" cy="369332"/>
              </a:xfrm>
              <a:prstGeom prst="rect">
                <a:avLst/>
              </a:prstGeom>
              <a:blipFill>
                <a:blip r:embed="rId4"/>
                <a:stretch>
                  <a:fillRect b="-78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DABD981-FF30-A38D-2816-FB1CAABADC15}"/>
                  </a:ext>
                  <a:ext uri="{C183D7F6-B498-43B3-948B-1728B52AA6E4}">
                    <adec:decorative xmlns:adec="http://schemas.microsoft.com/office/drawing/2017/decorative" val="1"/>
                  </a:ext>
                </a:extLst>
              </p:cNvPr>
              <p:cNvSpPr txBox="1"/>
              <p:nvPr/>
            </p:nvSpPr>
            <p:spPr>
              <a:xfrm>
                <a:off x="6162676" y="5459849"/>
                <a:ext cx="2514600" cy="1169551"/>
              </a:xfrm>
              <a:prstGeom prst="rect">
                <a:avLst/>
              </a:prstGeom>
              <a:noFill/>
            </p:spPr>
            <p:txBody>
              <a:bodyPr wrap="square" rtlCol="0">
                <a:spAutoFit/>
              </a:bodyPr>
              <a:lstStyle/>
              <a:p>
                <a14:m>
                  <m:oMath xmlns:m="http://schemas.openxmlformats.org/officeDocument/2006/math">
                    <m:r>
                      <a:rPr lang="en-US" sz="1400" b="0" i="1" smtClean="0">
                        <a:latin typeface="Cambria Math" panose="02040503050406030204" pitchFamily="18" charset="0"/>
                      </a:rPr>
                      <m:t>𝑆</m:t>
                    </m:r>
                  </m:oMath>
                </a14:m>
                <a:r>
                  <a:rPr lang="en-US" sz="1400" dirty="0"/>
                  <a:t>        … set of states</a:t>
                </a:r>
              </a:p>
              <a:p>
                <a14:m>
                  <m:oMath xmlns:m="http://schemas.openxmlformats.org/officeDocument/2006/math">
                    <m:r>
                      <a:rPr lang="en-US" sz="1400" b="0" i="1" smtClean="0">
                        <a:latin typeface="Cambria Math" panose="02040503050406030204" pitchFamily="18" charset="0"/>
                      </a:rPr>
                      <m:t>𝐴</m:t>
                    </m:r>
                  </m:oMath>
                </a14:m>
                <a:r>
                  <a:rPr lang="en-US" sz="1400" dirty="0"/>
                  <a:t>        … set of available actions</a:t>
                </a:r>
              </a:p>
              <a:p>
                <a14:m>
                  <m:oMath xmlns:m="http://schemas.openxmlformats.org/officeDocument/2006/math">
                    <m:r>
                      <a:rPr lang="en-US" sz="1400" b="0" i="1" smtClean="0">
                        <a:latin typeface="Cambria Math" panose="02040503050406030204" pitchFamily="18" charset="0"/>
                      </a:rPr>
                      <m:t>𝑎</m:t>
                    </m:r>
                    <m:r>
                      <a:rPr lang="en-US" sz="1400" b="0" i="1" smtClean="0">
                        <a:latin typeface="Cambria Math" panose="02040503050406030204" pitchFamily="18" charset="0"/>
                      </a:rPr>
                      <m:t>∈</m:t>
                    </m:r>
                    <m:r>
                      <a:rPr lang="en-US" sz="1400" b="0" i="1" smtClean="0">
                        <a:latin typeface="Cambria Math" panose="02040503050406030204" pitchFamily="18" charset="0"/>
                      </a:rPr>
                      <m:t>𝐴</m:t>
                    </m:r>
                  </m:oMath>
                </a14:m>
                <a:r>
                  <a:rPr lang="en-US" sz="1400" dirty="0"/>
                  <a:t> … an action</a:t>
                </a:r>
              </a:p>
              <a:p>
                <a14:m>
                  <m:oMath xmlns:m="http://schemas.openxmlformats.org/officeDocument/2006/math">
                    <m:r>
                      <a:rPr lang="en-US" sz="1400" b="0" i="1" smtClean="0">
                        <a:latin typeface="Cambria Math" panose="02040503050406030204" pitchFamily="18" charset="0"/>
                      </a:rPr>
                      <m:t>𝑠</m:t>
                    </m:r>
                    <m:r>
                      <a:rPr lang="en-US" sz="1400" b="0" i="1" smtClean="0">
                        <a:latin typeface="Cambria Math" panose="02040503050406030204" pitchFamily="18" charset="0"/>
                      </a:rPr>
                      <m:t>∈</m:t>
                    </m:r>
                    <m:r>
                      <a:rPr lang="en-US" sz="1400" b="0" i="1" smtClean="0">
                        <a:latin typeface="Cambria Math" panose="02040503050406030204" pitchFamily="18" charset="0"/>
                      </a:rPr>
                      <m:t>𝑆</m:t>
                    </m:r>
                  </m:oMath>
                </a14:m>
                <a:r>
                  <a:rPr lang="en-US" sz="1400" dirty="0"/>
                  <a:t> … current state</a:t>
                </a:r>
              </a:p>
              <a:p>
                <a14:m>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𝑠</m:t>
                        </m:r>
                      </m:e>
                      <m:sup>
                        <m:r>
                          <a:rPr lang="en-US" sz="1400" b="0" i="1" smtClean="0">
                            <a:latin typeface="Cambria Math" panose="02040503050406030204" pitchFamily="18" charset="0"/>
                          </a:rPr>
                          <m:t>′</m:t>
                        </m:r>
                      </m:sup>
                    </m:sSup>
                    <m:r>
                      <a:rPr lang="en-US" sz="1400" b="0" i="1" smtClean="0">
                        <a:latin typeface="Cambria Math" panose="02040503050406030204" pitchFamily="18" charset="0"/>
                      </a:rPr>
                      <m:t>∈</m:t>
                    </m:r>
                    <m:r>
                      <a:rPr lang="en-US" sz="1400" b="0" i="1" smtClean="0">
                        <a:latin typeface="Cambria Math" panose="02040503050406030204" pitchFamily="18" charset="0"/>
                      </a:rPr>
                      <m:t>𝑆</m:t>
                    </m:r>
                  </m:oMath>
                </a14:m>
                <a:r>
                  <a:rPr lang="en-US" sz="1400" dirty="0"/>
                  <a:t> … next state</a:t>
                </a:r>
              </a:p>
            </p:txBody>
          </p:sp>
        </mc:Choice>
        <mc:Fallback xmlns="">
          <p:sp>
            <p:nvSpPr>
              <p:cNvPr id="11" name="TextBox 10">
                <a:extLst>
                  <a:ext uri="{FF2B5EF4-FFF2-40B4-BE49-F238E27FC236}">
                    <a16:creationId xmlns:a16="http://schemas.microsoft.com/office/drawing/2014/main" id="{9DABD981-FF30-A38D-2816-FB1CAABADC15}"/>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6162676" y="5459849"/>
                <a:ext cx="2514600" cy="1169551"/>
              </a:xfrm>
              <a:prstGeom prst="rect">
                <a:avLst/>
              </a:prstGeom>
              <a:blipFill>
                <a:blip r:embed="rId5"/>
                <a:stretch>
                  <a:fillRect t="-1042" b="-4167"/>
                </a:stretch>
              </a:blipFill>
            </p:spPr>
            <p:txBody>
              <a:bodyPr/>
              <a:lstStyle/>
              <a:p>
                <a:r>
                  <a:rPr lang="en-US">
                    <a:noFill/>
                  </a:rPr>
                  <a:t> </a:t>
                </a:r>
              </a:p>
            </p:txBody>
          </p:sp>
        </mc:Fallback>
      </mc:AlternateContent>
      <p:pic>
        <p:nvPicPr>
          <p:cNvPr id="4" name="Picture 6">
            <a:extLst>
              <a:ext uri="{FF2B5EF4-FFF2-40B4-BE49-F238E27FC236}">
                <a16:creationId xmlns:a16="http://schemas.microsoft.com/office/drawing/2014/main" id="{1A0A61BC-FB53-9039-E36C-C55166799046}"/>
              </a:ext>
              <a:ext uri="{C183D7F6-B498-43B3-948B-1728B52AA6E4}">
                <adec:decorative xmlns:adec="http://schemas.microsoft.com/office/drawing/2017/decorative" val="1"/>
              </a:ext>
            </a:extLst>
          </p:cNvPr>
          <p:cNvPicPr>
            <a:picLocks noChangeAspect="1" noChangeArrowheads="1"/>
          </p:cNvPicPr>
          <p:nvPr/>
        </p:nvPicPr>
        <p:blipFill>
          <a:blip r:embed="rId6" cstate="print"/>
          <a:srcRect/>
          <a:stretch>
            <a:fillRect/>
          </a:stretch>
        </p:blipFill>
        <p:spPr bwMode="auto">
          <a:xfrm>
            <a:off x="3352800" y="1981200"/>
            <a:ext cx="4351666" cy="2073143"/>
          </a:xfrm>
          <a:prstGeom prst="rect">
            <a:avLst/>
          </a:prstGeom>
          <a:noFill/>
          <a:ln w="9525">
            <a:solidFill>
              <a:schemeClr val="tx1"/>
            </a:solidFill>
            <a:miter lim="800000"/>
            <a:headEnd/>
            <a:tailEnd/>
          </a:ln>
        </p:spPr>
      </p:pic>
      <p:sp>
        <p:nvSpPr>
          <p:cNvPr id="5" name="Speech Bubble: Rectangle 4">
            <a:extLst>
              <a:ext uri="{FF2B5EF4-FFF2-40B4-BE49-F238E27FC236}">
                <a16:creationId xmlns:a16="http://schemas.microsoft.com/office/drawing/2014/main" id="{3EDFDD20-31F0-E5BB-A0B7-B9234C3BE12A}"/>
              </a:ext>
              <a:ext uri="{C183D7F6-B498-43B3-948B-1728B52AA6E4}">
                <adec:decorative xmlns:adec="http://schemas.microsoft.com/office/drawing/2017/decorative" val="1"/>
              </a:ext>
            </a:extLst>
          </p:cNvPr>
          <p:cNvSpPr/>
          <p:nvPr/>
        </p:nvSpPr>
        <p:spPr>
          <a:xfrm>
            <a:off x="6096000" y="1295400"/>
            <a:ext cx="838200" cy="304800"/>
          </a:xfrm>
          <a:prstGeom prst="wedgeRectCallout">
            <a:avLst>
              <a:gd name="adj1" fmla="val -58663"/>
              <a:gd name="adj2" fmla="val 210080"/>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State</a:t>
            </a:r>
          </a:p>
        </p:txBody>
      </p:sp>
      <p:sp>
        <p:nvSpPr>
          <p:cNvPr id="6" name="Speech Bubble: Rectangle 5">
            <a:extLst>
              <a:ext uri="{FF2B5EF4-FFF2-40B4-BE49-F238E27FC236}">
                <a16:creationId xmlns:a16="http://schemas.microsoft.com/office/drawing/2014/main" id="{FA455424-E70B-C037-EA6B-959892952F00}"/>
              </a:ext>
              <a:ext uri="{C183D7F6-B498-43B3-948B-1728B52AA6E4}">
                <adec:decorative xmlns:adec="http://schemas.microsoft.com/office/drawing/2017/decorative" val="1"/>
              </a:ext>
            </a:extLst>
          </p:cNvPr>
          <p:cNvSpPr/>
          <p:nvPr/>
        </p:nvSpPr>
        <p:spPr>
          <a:xfrm>
            <a:off x="6934200" y="1855351"/>
            <a:ext cx="838200" cy="304800"/>
          </a:xfrm>
          <a:prstGeom prst="wedgeRectCallout">
            <a:avLst>
              <a:gd name="adj1" fmla="val -119367"/>
              <a:gd name="adj2" fmla="val 154435"/>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Action</a:t>
            </a:r>
          </a:p>
        </p:txBody>
      </p:sp>
    </p:spTree>
    <p:extLst>
      <p:ext uri="{BB962C8B-B14F-4D97-AF65-F5344CB8AC3E}">
        <p14:creationId xmlns:p14="http://schemas.microsoft.com/office/powerpoint/2010/main" val="32660198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BC86A731-07D6-8412-8BB2-9DF951FB0FD9}"/>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Long exposure of lights">
            <a:extLst>
              <a:ext uri="{FF2B5EF4-FFF2-40B4-BE49-F238E27FC236}">
                <a16:creationId xmlns:a16="http://schemas.microsoft.com/office/drawing/2014/main" id="{A5B052E0-DA1F-0D2D-2FC3-1EED01E199DF}"/>
              </a:ext>
            </a:extLst>
          </p:cNvPr>
          <p:cNvPicPr>
            <a:picLocks noChangeAspect="1"/>
          </p:cNvPicPr>
          <p:nvPr/>
        </p:nvPicPr>
        <p:blipFill>
          <a:blip r:embed="rId2">
            <a:alphaModFix amt="50000"/>
          </a:blip>
          <a:srcRect l="11000" r="-2" b="-2"/>
          <a:stretch>
            <a:fillRect/>
          </a:stretch>
        </p:blipFill>
        <p:spPr>
          <a:xfrm>
            <a:off x="20" y="1"/>
            <a:ext cx="9143980" cy="6857999"/>
          </a:xfrm>
          <a:prstGeom prst="rect">
            <a:avLst/>
          </a:prstGeom>
        </p:spPr>
      </p:pic>
      <p:sp>
        <p:nvSpPr>
          <p:cNvPr id="4" name="Title 3">
            <a:extLst>
              <a:ext uri="{FF2B5EF4-FFF2-40B4-BE49-F238E27FC236}">
                <a16:creationId xmlns:a16="http://schemas.microsoft.com/office/drawing/2014/main" id="{E3DD14AB-F395-1599-DB10-5119800EEAF9}"/>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defTabSz="914400"/>
            <a:r>
              <a:rPr lang="en-US" sz="6000">
                <a:solidFill>
                  <a:srgbClr val="FFFFFF"/>
                </a:solidFill>
              </a:rPr>
              <a:t>Case Study: Self-Driving Cars</a:t>
            </a:r>
          </a:p>
        </p:txBody>
      </p:sp>
      <p:sp>
        <p:nvSpPr>
          <p:cNvPr id="5" name="Text Placeholder 4">
            <a:extLst>
              <a:ext uri="{FF2B5EF4-FFF2-40B4-BE49-F238E27FC236}">
                <a16:creationId xmlns:a16="http://schemas.microsoft.com/office/drawing/2014/main" id="{0C3888A7-B19D-842C-1E52-43D4DC7E7B0E}"/>
              </a:ext>
            </a:extLst>
          </p:cNvPr>
          <p:cNvSpPr>
            <a:spLocks noGrp="1"/>
          </p:cNvSpPr>
          <p:nvPr>
            <p:ph type="body" idx="1"/>
          </p:nvPr>
        </p:nvSpPr>
        <p:spPr>
          <a:xfrm>
            <a:off x="1143000" y="4159404"/>
            <a:ext cx="6858000" cy="1098395"/>
          </a:xfrm>
        </p:spPr>
        <p:txBody>
          <a:bodyPr vert="horz" lIns="91440" tIns="45720" rIns="91440" bIns="45720" rtlCol="0">
            <a:normAutofit/>
          </a:bodyPr>
          <a:lstStyle/>
          <a:p>
            <a:pPr algn="ctr" defTabSz="914400">
              <a:spcBef>
                <a:spcPts val="1000"/>
              </a:spcBef>
            </a:pPr>
            <a:endParaRPr lang="en-US" sz="2400">
              <a:solidFill>
                <a:srgbClr val="FFFFFF"/>
              </a:solidFill>
            </a:endParaRPr>
          </a:p>
        </p:txBody>
      </p:sp>
    </p:spTree>
    <p:extLst>
      <p:ext uri="{BB962C8B-B14F-4D97-AF65-F5344CB8AC3E}">
        <p14:creationId xmlns:p14="http://schemas.microsoft.com/office/powerpoint/2010/main" val="2894066691"/>
      </p:ext>
    </p:extLst>
  </p:cSld>
  <p:clrMapOvr>
    <a:overrideClrMapping bg1="dk1" tx1="lt1" bg2="dk2" tx2="lt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A80952D-B85D-4F0D-B7D7-FD1AEFB93BCD}"/>
              </a:ext>
              <a:ext uri="{C183D7F6-B498-43B3-948B-1728B52AA6E4}">
                <adec:decorative xmlns:adec="http://schemas.microsoft.com/office/drawing/2017/decorative" val="1"/>
              </a:ext>
            </a:extLst>
          </p:cNvPr>
          <p:cNvPicPr>
            <a:picLocks noChangeAspect="1"/>
          </p:cNvPicPr>
          <p:nvPr/>
        </p:nvPicPr>
        <p:blipFill rotWithShape="1">
          <a:blip r:embed="rId3"/>
          <a:srcRect l="25949" r="40741" b="29953"/>
          <a:stretch/>
        </p:blipFill>
        <p:spPr>
          <a:xfrm>
            <a:off x="5257800" y="1905000"/>
            <a:ext cx="1676400" cy="1828800"/>
          </a:xfrm>
          <a:prstGeom prst="rect">
            <a:avLst/>
          </a:prstGeom>
        </p:spPr>
      </p:pic>
      <p:sp>
        <p:nvSpPr>
          <p:cNvPr id="2" name="Title 1">
            <a:extLst>
              <a:ext uri="{FF2B5EF4-FFF2-40B4-BE49-F238E27FC236}">
                <a16:creationId xmlns:a16="http://schemas.microsoft.com/office/drawing/2014/main" id="{0F727B5A-ADFB-4041-8CA1-D79831A7BDD9}"/>
              </a:ext>
            </a:extLst>
          </p:cNvPr>
          <p:cNvSpPr>
            <a:spLocks noGrp="1"/>
          </p:cNvSpPr>
          <p:nvPr>
            <p:ph type="title"/>
          </p:nvPr>
        </p:nvSpPr>
        <p:spPr/>
        <p:txBody>
          <a:bodyPr/>
          <a:lstStyle/>
          <a:p>
            <a:r>
              <a:rPr lang="en-US" dirty="0"/>
              <a:t>State Representation: Self-Driving Car</a:t>
            </a:r>
          </a:p>
        </p:txBody>
      </p:sp>
      <p:sp>
        <p:nvSpPr>
          <p:cNvPr id="3" name="Content Placeholder 2">
            <a:extLst>
              <a:ext uri="{FF2B5EF4-FFF2-40B4-BE49-F238E27FC236}">
                <a16:creationId xmlns:a16="http://schemas.microsoft.com/office/drawing/2014/main" id="{A8D8124E-678D-40F0-8214-4360179CDBA0}"/>
              </a:ext>
            </a:extLst>
          </p:cNvPr>
          <p:cNvSpPr>
            <a:spLocks noGrp="1"/>
          </p:cNvSpPr>
          <p:nvPr>
            <p:ph idx="1"/>
          </p:nvPr>
        </p:nvSpPr>
        <p:spPr>
          <a:xfrm>
            <a:off x="628650" y="1371600"/>
            <a:ext cx="4476750" cy="2286000"/>
          </a:xfrm>
        </p:spPr>
        <p:txBody>
          <a:bodyPr>
            <a:normAutofit fontScale="85000" lnSpcReduction="10000"/>
          </a:bodyPr>
          <a:lstStyle/>
          <a:p>
            <a:pPr marL="0" indent="0">
              <a:buNone/>
            </a:pPr>
            <a:r>
              <a:rPr lang="en-US" sz="2000" dirty="0"/>
              <a:t>States help to keep track of the environment and the agent in the environment. </a:t>
            </a:r>
          </a:p>
          <a:p>
            <a:pPr marL="0" indent="0">
              <a:buNone/>
            </a:pPr>
            <a:endParaRPr lang="en-US" sz="2000" b="1" dirty="0">
              <a:solidFill>
                <a:srgbClr val="FF0000"/>
              </a:solidFill>
            </a:endParaRPr>
          </a:p>
          <a:p>
            <a:pPr marL="0" indent="0">
              <a:buNone/>
            </a:pPr>
            <a:r>
              <a:rPr lang="en-US" sz="2000" dirty="0"/>
              <a:t>Design a structured representation for the state of a self-driving car. </a:t>
            </a:r>
          </a:p>
          <a:p>
            <a:pPr marL="457200" indent="-457200">
              <a:buFont typeface="+mj-lt"/>
              <a:buAutoNum type="alphaLcParenR"/>
            </a:pPr>
            <a:r>
              <a:rPr lang="en-US" sz="2000" dirty="0"/>
              <a:t>What </a:t>
            </a:r>
            <a:r>
              <a:rPr lang="en-US" sz="2000" dirty="0" err="1"/>
              <a:t>fluents</a:t>
            </a:r>
            <a:r>
              <a:rPr lang="en-US" sz="2000" dirty="0"/>
              <a:t> should it contain?</a:t>
            </a:r>
          </a:p>
          <a:p>
            <a:pPr marL="457200" indent="-457200">
              <a:buFont typeface="+mj-lt"/>
              <a:buAutoNum type="alphaLcParenR"/>
            </a:pPr>
            <a:r>
              <a:rPr lang="en-US" sz="2000" dirty="0"/>
              <a:t>What actions can cause transitions?</a:t>
            </a:r>
          </a:p>
          <a:p>
            <a:pPr marL="457200" indent="-457200">
              <a:buFont typeface="+mj-lt"/>
              <a:buAutoNum type="alphaLcParenR"/>
            </a:pPr>
            <a:r>
              <a:rPr lang="en-US" sz="2000" dirty="0"/>
              <a:t>Draw a small transition diagram.</a:t>
            </a:r>
          </a:p>
          <a:p>
            <a:pPr marL="0" indent="0">
              <a:buNone/>
            </a:pPr>
            <a:endParaRPr lang="en-US" sz="2000" dirty="0"/>
          </a:p>
        </p:txBody>
      </p:sp>
      <p:sp>
        <p:nvSpPr>
          <p:cNvPr id="5" name="Speech Bubble: Rectangle 4">
            <a:extLst>
              <a:ext uri="{FF2B5EF4-FFF2-40B4-BE49-F238E27FC236}">
                <a16:creationId xmlns:a16="http://schemas.microsoft.com/office/drawing/2014/main" id="{A1F6455A-2485-B0DA-DAC2-B15E3F61A4BE}"/>
              </a:ext>
            </a:extLst>
          </p:cNvPr>
          <p:cNvSpPr/>
          <p:nvPr/>
        </p:nvSpPr>
        <p:spPr>
          <a:xfrm>
            <a:off x="5361540" y="1447800"/>
            <a:ext cx="1257300" cy="533400"/>
          </a:xfrm>
          <a:prstGeom prst="wedgeRectCallout">
            <a:avLst>
              <a:gd name="adj1" fmla="val 6558"/>
              <a:gd name="adj2" fmla="val 166913"/>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200" dirty="0"/>
              <a:t>Action causes transition</a:t>
            </a:r>
          </a:p>
        </p:txBody>
      </p:sp>
      <p:sp>
        <p:nvSpPr>
          <p:cNvPr id="6" name="Speech Bubble: Rectangle 5">
            <a:extLst>
              <a:ext uri="{FF2B5EF4-FFF2-40B4-BE49-F238E27FC236}">
                <a16:creationId xmlns:a16="http://schemas.microsoft.com/office/drawing/2014/main" id="{DE306C82-3C11-0925-0BB1-2921BC51CE19}"/>
              </a:ext>
            </a:extLst>
          </p:cNvPr>
          <p:cNvSpPr/>
          <p:nvPr/>
        </p:nvSpPr>
        <p:spPr>
          <a:xfrm>
            <a:off x="7086600" y="1897062"/>
            <a:ext cx="1763160" cy="769938"/>
          </a:xfrm>
          <a:prstGeom prst="wedgeRectCallout">
            <a:avLst>
              <a:gd name="adj1" fmla="val -79287"/>
              <a:gd name="adj2" fmla="val 38038"/>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sz="1200" dirty="0"/>
              <a:t>Variables describing the system state are called “</a:t>
            </a:r>
            <a:r>
              <a:rPr lang="en-US" sz="1200" dirty="0" err="1"/>
              <a:t>fluents</a:t>
            </a:r>
            <a:r>
              <a:rPr lang="en-US" sz="1200" dirty="0"/>
              <a:t>”</a:t>
            </a:r>
          </a:p>
        </p:txBody>
      </p:sp>
      <p:pic>
        <p:nvPicPr>
          <p:cNvPr id="7" name="Picture 6">
            <a:extLst>
              <a:ext uri="{FF2B5EF4-FFF2-40B4-BE49-F238E27FC236}">
                <a16:creationId xmlns:a16="http://schemas.microsoft.com/office/drawing/2014/main" id="{F0A05423-8641-4938-9DCF-1B35787E5046}"/>
              </a:ext>
              <a:ext uri="{C183D7F6-B498-43B3-948B-1728B52AA6E4}">
                <adec:decorative xmlns:adec="http://schemas.microsoft.com/office/drawing/2017/decorative" val="1"/>
              </a:ext>
            </a:extLst>
          </p:cNvPr>
          <p:cNvPicPr>
            <a:picLocks noChangeAspect="1" noChangeArrowheads="1"/>
          </p:cNvPicPr>
          <p:nvPr/>
        </p:nvPicPr>
        <p:blipFill>
          <a:blip r:embed="rId4" cstate="print"/>
          <a:srcRect/>
          <a:stretch>
            <a:fillRect/>
          </a:stretch>
        </p:blipFill>
        <p:spPr bwMode="auto">
          <a:xfrm>
            <a:off x="7107437" y="301185"/>
            <a:ext cx="1742323" cy="800100"/>
          </a:xfrm>
          <a:prstGeom prst="rect">
            <a:avLst/>
          </a:prstGeom>
          <a:noFill/>
          <a:ln w="9525">
            <a:noFill/>
            <a:miter lim="800000"/>
            <a:headEnd/>
            <a:tailEnd/>
          </a:ln>
        </p:spPr>
      </p:pic>
    </p:spTree>
    <p:extLst>
      <p:ext uri="{BB962C8B-B14F-4D97-AF65-F5344CB8AC3E}">
        <p14:creationId xmlns:p14="http://schemas.microsoft.com/office/powerpoint/2010/main" val="7314917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F639B-EEB4-275D-2212-14D5667FF898}"/>
            </a:ext>
          </a:extLst>
        </p:cNvPr>
        <p:cNvGrpSpPr/>
        <p:nvPr/>
      </p:nvGrpSpPr>
      <p:grpSpPr>
        <a:xfrm>
          <a:off x="0" y="0"/>
          <a:ext cx="0" cy="0"/>
          <a:chOff x="0" y="0"/>
          <a:chExt cx="0" cy="0"/>
        </a:xfrm>
      </p:grpSpPr>
      <p:sp>
        <p:nvSpPr>
          <p:cNvPr id="17410" name="Rectangle 2">
            <a:extLst>
              <a:ext uri="{FF2B5EF4-FFF2-40B4-BE49-F238E27FC236}">
                <a16:creationId xmlns:a16="http://schemas.microsoft.com/office/drawing/2014/main" id="{4183EA64-5E81-A429-F540-83CCE85A3AF3}"/>
              </a:ext>
            </a:extLst>
          </p:cNvPr>
          <p:cNvSpPr>
            <a:spLocks noGrp="1" noChangeArrowheads="1"/>
          </p:cNvSpPr>
          <p:nvPr>
            <p:ph type="title"/>
          </p:nvPr>
        </p:nvSpPr>
        <p:spPr/>
        <p:txBody>
          <a:bodyPr/>
          <a:lstStyle/>
          <a:p>
            <a:r>
              <a:rPr lang="en-US" dirty="0"/>
              <a:t>Environment for a Self-Driving Car</a:t>
            </a:r>
          </a:p>
        </p:txBody>
      </p:sp>
      <p:sp>
        <p:nvSpPr>
          <p:cNvPr id="15" name="TextBox 14">
            <a:extLst>
              <a:ext uri="{FF2B5EF4-FFF2-40B4-BE49-F238E27FC236}">
                <a16:creationId xmlns:a16="http://schemas.microsoft.com/office/drawing/2014/main" id="{8204FDAA-09CB-73F1-EF15-FF80E9C4A775}"/>
              </a:ext>
            </a:extLst>
          </p:cNvPr>
          <p:cNvSpPr txBox="1"/>
          <p:nvPr/>
        </p:nvSpPr>
        <p:spPr>
          <a:xfrm>
            <a:off x="761999" y="4455867"/>
            <a:ext cx="3192066" cy="523220"/>
          </a:xfrm>
          <a:prstGeom prst="rect">
            <a:avLst/>
          </a:prstGeom>
          <a:noFill/>
        </p:spPr>
        <p:txBody>
          <a:bodyPr wrap="square">
            <a:spAutoFit/>
          </a:bodyPr>
          <a:lstStyle/>
          <a:p>
            <a:pPr marL="0" indent="0">
              <a:buNone/>
            </a:pPr>
            <a:r>
              <a:rPr lang="en-US" sz="1400" b="1" dirty="0">
                <a:solidFill>
                  <a:srgbClr val="FF0000"/>
                </a:solidFill>
              </a:rPr>
              <a:t>Known:</a:t>
            </a:r>
            <a:r>
              <a:rPr lang="en-US" sz="1400" dirty="0"/>
              <a:t> The agent knows the </a:t>
            </a:r>
            <a:r>
              <a:rPr lang="en-US" sz="1400" b="1" dirty="0"/>
              <a:t>transition function</a:t>
            </a:r>
            <a:r>
              <a:rPr lang="en-US" sz="1400" dirty="0"/>
              <a:t>. </a:t>
            </a:r>
            <a:endParaRPr lang="en-US" sz="1400" b="1" dirty="0">
              <a:solidFill>
                <a:srgbClr val="FF0000"/>
              </a:solidFill>
            </a:endParaRPr>
          </a:p>
        </p:txBody>
      </p:sp>
      <p:sp>
        <p:nvSpPr>
          <p:cNvPr id="5" name="TextBox 4">
            <a:extLst>
              <a:ext uri="{FF2B5EF4-FFF2-40B4-BE49-F238E27FC236}">
                <a16:creationId xmlns:a16="http://schemas.microsoft.com/office/drawing/2014/main" id="{AE07F09B-82D0-48BD-9B11-F3F2FE5F2E32}"/>
              </a:ext>
            </a:extLst>
          </p:cNvPr>
          <p:cNvSpPr txBox="1"/>
          <p:nvPr/>
        </p:nvSpPr>
        <p:spPr>
          <a:xfrm>
            <a:off x="3954065" y="4510244"/>
            <a:ext cx="590550" cy="369332"/>
          </a:xfrm>
          <a:prstGeom prst="rect">
            <a:avLst/>
          </a:prstGeom>
          <a:noFill/>
        </p:spPr>
        <p:txBody>
          <a:bodyPr wrap="square" rtlCol="0">
            <a:spAutoFit/>
          </a:bodyPr>
          <a:lstStyle/>
          <a:p>
            <a:r>
              <a:rPr lang="en-US" b="1" dirty="0">
                <a:solidFill>
                  <a:srgbClr val="FF0000"/>
                </a:solidFill>
              </a:rPr>
              <a:t>vs.</a:t>
            </a:r>
          </a:p>
        </p:txBody>
      </p:sp>
      <p:sp>
        <p:nvSpPr>
          <p:cNvPr id="17" name="TextBox 16">
            <a:extLst>
              <a:ext uri="{FF2B5EF4-FFF2-40B4-BE49-F238E27FC236}">
                <a16:creationId xmlns:a16="http://schemas.microsoft.com/office/drawing/2014/main" id="{765089CE-5BB5-7C3D-334D-0E3700D5A807}"/>
              </a:ext>
            </a:extLst>
          </p:cNvPr>
          <p:cNvSpPr txBox="1"/>
          <p:nvPr/>
        </p:nvSpPr>
        <p:spPr>
          <a:xfrm>
            <a:off x="4687491" y="4426338"/>
            <a:ext cx="3807618" cy="523220"/>
          </a:xfrm>
          <a:prstGeom prst="rect">
            <a:avLst/>
          </a:prstGeom>
          <a:noFill/>
        </p:spPr>
        <p:txBody>
          <a:bodyPr wrap="square">
            <a:spAutoFit/>
          </a:bodyPr>
          <a:lstStyle/>
          <a:p>
            <a:pPr marL="0" indent="0">
              <a:buNone/>
            </a:pPr>
            <a:r>
              <a:rPr lang="en-US" sz="1400" b="1" dirty="0">
                <a:solidFill>
                  <a:srgbClr val="FF0000"/>
                </a:solidFill>
              </a:rPr>
              <a:t>Unknown: </a:t>
            </a:r>
            <a:r>
              <a:rPr lang="en-US" sz="1400" dirty="0"/>
              <a:t>The needs to </a:t>
            </a:r>
            <a:r>
              <a:rPr lang="en-US" sz="1400" b="1" dirty="0"/>
              <a:t>learn the transition function</a:t>
            </a:r>
            <a:r>
              <a:rPr lang="en-US" sz="1400" dirty="0"/>
              <a:t> by trying actions. </a:t>
            </a:r>
            <a:endParaRPr lang="en-US" sz="1400" b="1" dirty="0">
              <a:solidFill>
                <a:srgbClr val="FF0000"/>
              </a:solidFill>
            </a:endParaRPr>
          </a:p>
        </p:txBody>
      </p:sp>
      <p:grpSp>
        <p:nvGrpSpPr>
          <p:cNvPr id="2" name="Group 1" descr="Check what applies.">
            <a:extLst>
              <a:ext uri="{FF2B5EF4-FFF2-40B4-BE49-F238E27FC236}">
                <a16:creationId xmlns:a16="http://schemas.microsoft.com/office/drawing/2014/main" id="{B8A70A51-135A-FE6D-180E-145C886B7890}"/>
              </a:ext>
            </a:extLst>
          </p:cNvPr>
          <p:cNvGrpSpPr/>
          <p:nvPr/>
        </p:nvGrpSpPr>
        <p:grpSpPr>
          <a:xfrm>
            <a:off x="2452581" y="6078354"/>
            <a:ext cx="4238838" cy="642610"/>
            <a:chOff x="4953000" y="6061025"/>
            <a:chExt cx="4283118" cy="642610"/>
          </a:xfrm>
        </p:grpSpPr>
        <p:sp>
          <p:nvSpPr>
            <p:cNvPr id="8" name="TextBox 7">
              <a:extLst>
                <a:ext uri="{FF2B5EF4-FFF2-40B4-BE49-F238E27FC236}">
                  <a16:creationId xmlns:a16="http://schemas.microsoft.com/office/drawing/2014/main" id="{2743C698-775D-5E35-25EE-67D81F69F04F}"/>
                </a:ext>
              </a:extLst>
            </p:cNvPr>
            <p:cNvSpPr txBox="1"/>
            <p:nvPr/>
          </p:nvSpPr>
          <p:spPr>
            <a:xfrm>
              <a:off x="5486399" y="6180415"/>
              <a:ext cx="3749719" cy="523220"/>
            </a:xfrm>
            <a:prstGeom prst="rect">
              <a:avLst/>
            </a:prstGeom>
            <a:noFill/>
          </p:spPr>
          <p:txBody>
            <a:bodyPr wrap="square">
              <a:spAutoFit/>
            </a:bodyPr>
            <a:lstStyle/>
            <a:p>
              <a:r>
                <a:rPr lang="en-US" sz="1400" dirty="0"/>
                <a:t>Check what applies and explain what it means for a self-driving car.</a:t>
              </a:r>
            </a:p>
          </p:txBody>
        </p:sp>
        <p:pic>
          <p:nvPicPr>
            <p:cNvPr id="10" name="Graphic 9" descr="Checkbox Checked with solid fill">
              <a:extLst>
                <a:ext uri="{FF2B5EF4-FFF2-40B4-BE49-F238E27FC236}">
                  <a16:creationId xmlns:a16="http://schemas.microsoft.com/office/drawing/2014/main" id="{3D99E67B-AE7F-BC71-046C-614B86634E0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53000" y="6061025"/>
              <a:ext cx="598587" cy="598587"/>
            </a:xfrm>
            <a:prstGeom prst="rect">
              <a:avLst/>
            </a:prstGeom>
          </p:spPr>
        </p:pic>
      </p:grpSp>
      <p:pic>
        <p:nvPicPr>
          <p:cNvPr id="18" name="Picture 17">
            <a:extLst>
              <a:ext uri="{FF2B5EF4-FFF2-40B4-BE49-F238E27FC236}">
                <a16:creationId xmlns:a16="http://schemas.microsoft.com/office/drawing/2014/main" id="{4C6D7670-6C31-DBD3-A235-EA8711897D5A}"/>
              </a:ext>
              <a:ext uri="{C183D7F6-B498-43B3-948B-1728B52AA6E4}">
                <adec:decorative xmlns:adec="http://schemas.microsoft.com/office/drawing/2017/decorative" val="1"/>
              </a:ext>
            </a:extLst>
          </p:cNvPr>
          <p:cNvPicPr>
            <a:picLocks noChangeAspect="1" noChangeArrowheads="1"/>
          </p:cNvPicPr>
          <p:nvPr/>
        </p:nvPicPr>
        <p:blipFill>
          <a:blip r:embed="rId4" cstate="print"/>
          <a:srcRect/>
          <a:stretch>
            <a:fillRect/>
          </a:stretch>
        </p:blipFill>
        <p:spPr bwMode="auto">
          <a:xfrm>
            <a:off x="7107437" y="301185"/>
            <a:ext cx="1742323" cy="800100"/>
          </a:xfrm>
          <a:prstGeom prst="rect">
            <a:avLst/>
          </a:prstGeom>
          <a:noFill/>
          <a:ln w="9525">
            <a:noFill/>
            <a:miter lim="800000"/>
            <a:headEnd/>
            <a:tailEnd/>
          </a:ln>
        </p:spPr>
      </p:pic>
      <p:sp>
        <p:nvSpPr>
          <p:cNvPr id="20" name="Rectangle 19">
            <a:extLst>
              <a:ext uri="{FF2B5EF4-FFF2-40B4-BE49-F238E27FC236}">
                <a16:creationId xmlns:a16="http://schemas.microsoft.com/office/drawing/2014/main" id="{186A0C7A-5CFD-66D8-97D0-A1E612F28013}"/>
              </a:ext>
              <a:ext uri="{C183D7F6-B498-43B3-948B-1728B52AA6E4}">
                <adec:decorative xmlns:adec="http://schemas.microsoft.com/office/drawing/2017/decorative" val="1"/>
              </a:ext>
            </a:extLst>
          </p:cNvPr>
          <p:cNvSpPr/>
          <p:nvPr/>
        </p:nvSpPr>
        <p:spPr>
          <a:xfrm>
            <a:off x="555807" y="4565077"/>
            <a:ext cx="150019" cy="152400"/>
          </a:xfrm>
          <a:prstGeom prst="rect">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22" name="Rectangle 21">
            <a:extLst>
              <a:ext uri="{FF2B5EF4-FFF2-40B4-BE49-F238E27FC236}">
                <a16:creationId xmlns:a16="http://schemas.microsoft.com/office/drawing/2014/main" id="{F1783B69-8B07-82B4-023B-59C352D339F3}"/>
              </a:ext>
              <a:ext uri="{C183D7F6-B498-43B3-948B-1728B52AA6E4}">
                <adec:decorative xmlns:adec="http://schemas.microsoft.com/office/drawing/2017/decorative" val="1"/>
              </a:ext>
            </a:extLst>
          </p:cNvPr>
          <p:cNvSpPr/>
          <p:nvPr/>
        </p:nvSpPr>
        <p:spPr>
          <a:xfrm>
            <a:off x="4553525" y="4492587"/>
            <a:ext cx="150019" cy="152400"/>
          </a:xfrm>
          <a:prstGeom prst="rect">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23" name="TextBox 22">
            <a:extLst>
              <a:ext uri="{FF2B5EF4-FFF2-40B4-BE49-F238E27FC236}">
                <a16:creationId xmlns:a16="http://schemas.microsoft.com/office/drawing/2014/main" id="{EB166B3C-998E-61BB-CC47-E7E00562676C}"/>
              </a:ext>
            </a:extLst>
          </p:cNvPr>
          <p:cNvSpPr txBox="1"/>
          <p:nvPr/>
        </p:nvSpPr>
        <p:spPr>
          <a:xfrm>
            <a:off x="753139" y="5060088"/>
            <a:ext cx="3233740" cy="523220"/>
          </a:xfrm>
          <a:prstGeom prst="rect">
            <a:avLst/>
          </a:prstGeom>
          <a:noFill/>
        </p:spPr>
        <p:txBody>
          <a:bodyPr wrap="square">
            <a:spAutoFit/>
          </a:bodyPr>
          <a:lstStyle/>
          <a:p>
            <a:pPr marL="0" indent="0">
              <a:buNone/>
            </a:pPr>
            <a:r>
              <a:rPr lang="en-US" sz="1400" b="1" dirty="0">
                <a:solidFill>
                  <a:srgbClr val="FF0000"/>
                </a:solidFill>
              </a:rPr>
              <a:t>Static: </a:t>
            </a:r>
            <a:r>
              <a:rPr lang="en-US" sz="1400" dirty="0"/>
              <a:t>The environment is </a:t>
            </a:r>
            <a:r>
              <a:rPr lang="en-US" sz="1400" b="1" dirty="0"/>
              <a:t>not</a:t>
            </a:r>
            <a:r>
              <a:rPr lang="en-US" sz="1400" dirty="0"/>
              <a:t> changing while  agent is deliberating. </a:t>
            </a:r>
          </a:p>
        </p:txBody>
      </p:sp>
      <p:sp>
        <p:nvSpPr>
          <p:cNvPr id="24" name="TextBox 23">
            <a:extLst>
              <a:ext uri="{FF2B5EF4-FFF2-40B4-BE49-F238E27FC236}">
                <a16:creationId xmlns:a16="http://schemas.microsoft.com/office/drawing/2014/main" id="{73C9F66A-6A8A-2769-48B0-5478A8825B05}"/>
              </a:ext>
            </a:extLst>
          </p:cNvPr>
          <p:cNvSpPr txBox="1"/>
          <p:nvPr/>
        </p:nvSpPr>
        <p:spPr>
          <a:xfrm>
            <a:off x="3934767" y="5098477"/>
            <a:ext cx="590550" cy="369332"/>
          </a:xfrm>
          <a:prstGeom prst="rect">
            <a:avLst/>
          </a:prstGeom>
          <a:noFill/>
        </p:spPr>
        <p:txBody>
          <a:bodyPr wrap="square" rtlCol="0">
            <a:spAutoFit/>
          </a:bodyPr>
          <a:lstStyle/>
          <a:p>
            <a:r>
              <a:rPr lang="en-US" b="1" dirty="0">
                <a:solidFill>
                  <a:srgbClr val="FF0000"/>
                </a:solidFill>
              </a:rPr>
              <a:t>vs.</a:t>
            </a:r>
          </a:p>
        </p:txBody>
      </p:sp>
      <p:sp>
        <p:nvSpPr>
          <p:cNvPr id="25" name="TextBox 24">
            <a:extLst>
              <a:ext uri="{FF2B5EF4-FFF2-40B4-BE49-F238E27FC236}">
                <a16:creationId xmlns:a16="http://schemas.microsoft.com/office/drawing/2014/main" id="{0D81D7E1-2930-AF7F-C269-01854F2D9E57}"/>
              </a:ext>
            </a:extLst>
          </p:cNvPr>
          <p:cNvSpPr txBox="1"/>
          <p:nvPr/>
        </p:nvSpPr>
        <p:spPr>
          <a:xfrm>
            <a:off x="4723734" y="5125394"/>
            <a:ext cx="3667127" cy="523220"/>
          </a:xfrm>
          <a:prstGeom prst="rect">
            <a:avLst/>
          </a:prstGeom>
          <a:noFill/>
        </p:spPr>
        <p:txBody>
          <a:bodyPr wrap="square">
            <a:spAutoFit/>
          </a:bodyPr>
          <a:lstStyle/>
          <a:p>
            <a:pPr marL="0" indent="0">
              <a:buNone/>
            </a:pPr>
            <a:r>
              <a:rPr lang="en-US" sz="1400" b="1" dirty="0">
                <a:solidFill>
                  <a:srgbClr val="FF0000"/>
                </a:solidFill>
              </a:rPr>
              <a:t>Dynamic: </a:t>
            </a:r>
            <a:r>
              <a:rPr lang="en-US" sz="1400" dirty="0"/>
              <a:t>The environment is changing while the agent is deliberating.</a:t>
            </a:r>
          </a:p>
        </p:txBody>
      </p:sp>
      <p:sp>
        <p:nvSpPr>
          <p:cNvPr id="26" name="Rectangle 25">
            <a:extLst>
              <a:ext uri="{FF2B5EF4-FFF2-40B4-BE49-F238E27FC236}">
                <a16:creationId xmlns:a16="http://schemas.microsoft.com/office/drawing/2014/main" id="{FED8EDEE-F993-FF1D-69F5-18DAD15619B0}"/>
              </a:ext>
              <a:ext uri="{C183D7F6-B498-43B3-948B-1728B52AA6E4}">
                <adec:decorative xmlns:adec="http://schemas.microsoft.com/office/drawing/2017/decorative" val="1"/>
              </a:ext>
            </a:extLst>
          </p:cNvPr>
          <p:cNvSpPr/>
          <p:nvPr/>
        </p:nvSpPr>
        <p:spPr>
          <a:xfrm>
            <a:off x="555807" y="5146363"/>
            <a:ext cx="150019" cy="152400"/>
          </a:xfrm>
          <a:prstGeom prst="rect">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27" name="Rectangle 26">
            <a:extLst>
              <a:ext uri="{FF2B5EF4-FFF2-40B4-BE49-F238E27FC236}">
                <a16:creationId xmlns:a16="http://schemas.microsoft.com/office/drawing/2014/main" id="{28334505-7A71-296A-F1C7-F82CFB83912C}"/>
              </a:ext>
              <a:ext uri="{C183D7F6-B498-43B3-948B-1728B52AA6E4}">
                <adec:decorative xmlns:adec="http://schemas.microsoft.com/office/drawing/2017/decorative" val="1"/>
              </a:ext>
            </a:extLst>
          </p:cNvPr>
          <p:cNvSpPr/>
          <p:nvPr/>
        </p:nvSpPr>
        <p:spPr>
          <a:xfrm>
            <a:off x="4544615" y="5194117"/>
            <a:ext cx="150019" cy="152400"/>
          </a:xfrm>
          <a:prstGeom prst="rect">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28" name="TextBox 27">
            <a:extLst>
              <a:ext uri="{FF2B5EF4-FFF2-40B4-BE49-F238E27FC236}">
                <a16:creationId xmlns:a16="http://schemas.microsoft.com/office/drawing/2014/main" id="{E7197E3B-C307-F8C3-9E4B-43987DE3D68C}"/>
              </a:ext>
            </a:extLst>
          </p:cNvPr>
          <p:cNvSpPr txBox="1"/>
          <p:nvPr/>
        </p:nvSpPr>
        <p:spPr>
          <a:xfrm>
            <a:off x="731044" y="1645754"/>
            <a:ext cx="3124200" cy="1384995"/>
          </a:xfrm>
          <a:prstGeom prst="rect">
            <a:avLst/>
          </a:prstGeom>
          <a:noFill/>
        </p:spPr>
        <p:txBody>
          <a:bodyPr wrap="square">
            <a:spAutoFit/>
          </a:bodyPr>
          <a:lstStyle/>
          <a:p>
            <a:r>
              <a:rPr lang="en-US" sz="1400" b="1" dirty="0">
                <a:solidFill>
                  <a:srgbClr val="FF0000"/>
                </a:solidFill>
              </a:rPr>
              <a:t>Fully observable: </a:t>
            </a:r>
            <a:r>
              <a:rPr lang="en-US" sz="1400" dirty="0"/>
              <a:t>The agent has access to the complete current </a:t>
            </a:r>
            <a:r>
              <a:rPr lang="en-US" sz="1400" b="1" dirty="0"/>
              <a:t>state </a:t>
            </a:r>
            <a:r>
              <a:rPr lang="en-US" sz="1400" dirty="0"/>
              <a:t>of the environment. </a:t>
            </a:r>
            <a:br>
              <a:rPr lang="en-US" sz="1400" dirty="0"/>
            </a:br>
            <a:r>
              <a:rPr lang="en-US" sz="1400" dirty="0"/>
              <a:t>Has deterministic percepts that are 100% reliable.</a:t>
            </a:r>
          </a:p>
          <a:p>
            <a:pPr marL="0" indent="0">
              <a:buNone/>
            </a:pPr>
            <a:endParaRPr lang="en-US" sz="1400" b="1" dirty="0">
              <a:solidFill>
                <a:srgbClr val="FF0000"/>
              </a:solidFill>
            </a:endParaRPr>
          </a:p>
        </p:txBody>
      </p:sp>
      <p:sp>
        <p:nvSpPr>
          <p:cNvPr id="29" name="TextBox 28">
            <a:extLst>
              <a:ext uri="{FF2B5EF4-FFF2-40B4-BE49-F238E27FC236}">
                <a16:creationId xmlns:a16="http://schemas.microsoft.com/office/drawing/2014/main" id="{3A47775B-DBDF-30A6-8078-A725B9D1AA64}"/>
              </a:ext>
            </a:extLst>
          </p:cNvPr>
          <p:cNvSpPr txBox="1"/>
          <p:nvPr/>
        </p:nvSpPr>
        <p:spPr>
          <a:xfrm>
            <a:off x="3902869" y="1685808"/>
            <a:ext cx="590550" cy="369332"/>
          </a:xfrm>
          <a:prstGeom prst="rect">
            <a:avLst/>
          </a:prstGeom>
          <a:noFill/>
        </p:spPr>
        <p:txBody>
          <a:bodyPr wrap="square" rtlCol="0">
            <a:spAutoFit/>
          </a:bodyPr>
          <a:lstStyle/>
          <a:p>
            <a:r>
              <a:rPr lang="en-US" b="1" dirty="0">
                <a:solidFill>
                  <a:srgbClr val="FF0000"/>
                </a:solidFill>
              </a:rPr>
              <a:t>vs.</a:t>
            </a:r>
          </a:p>
        </p:txBody>
      </p:sp>
      <p:sp>
        <p:nvSpPr>
          <p:cNvPr id="30" name="TextBox 29">
            <a:extLst>
              <a:ext uri="{FF2B5EF4-FFF2-40B4-BE49-F238E27FC236}">
                <a16:creationId xmlns:a16="http://schemas.microsoft.com/office/drawing/2014/main" id="{E314B86C-16D4-2AFE-3CD3-BF0D06CE53A5}"/>
              </a:ext>
            </a:extLst>
          </p:cNvPr>
          <p:cNvSpPr txBox="1"/>
          <p:nvPr/>
        </p:nvSpPr>
        <p:spPr>
          <a:xfrm>
            <a:off x="4670856" y="1679516"/>
            <a:ext cx="3495676" cy="1384995"/>
          </a:xfrm>
          <a:prstGeom prst="rect">
            <a:avLst/>
          </a:prstGeom>
          <a:noFill/>
        </p:spPr>
        <p:txBody>
          <a:bodyPr wrap="square">
            <a:spAutoFit/>
          </a:bodyPr>
          <a:lstStyle/>
          <a:p>
            <a:r>
              <a:rPr lang="en-US" sz="1400" b="1" dirty="0">
                <a:solidFill>
                  <a:srgbClr val="FF0000"/>
                </a:solidFill>
              </a:rPr>
              <a:t>Partially observable: </a:t>
            </a:r>
            <a:r>
              <a:rPr lang="en-US" sz="1400" dirty="0"/>
              <a:t>The agent’s sensors provide incomplete or noisy information about the </a:t>
            </a:r>
            <a:r>
              <a:rPr lang="en-US" sz="1400" b="1" dirty="0"/>
              <a:t>state</a:t>
            </a:r>
            <a:r>
              <a:rPr lang="en-US" sz="1400" dirty="0"/>
              <a:t> of the environment.</a:t>
            </a:r>
            <a:br>
              <a:rPr lang="en-US" sz="1400" dirty="0"/>
            </a:br>
            <a:r>
              <a:rPr lang="en-US" sz="1400" dirty="0"/>
              <a:t>Noisy information means unreliable stochastic percepts (aka a stochastic sensor model)</a:t>
            </a:r>
          </a:p>
        </p:txBody>
      </p:sp>
      <p:sp>
        <p:nvSpPr>
          <p:cNvPr id="31" name="TextBox 30">
            <a:extLst>
              <a:ext uri="{FF2B5EF4-FFF2-40B4-BE49-F238E27FC236}">
                <a16:creationId xmlns:a16="http://schemas.microsoft.com/office/drawing/2014/main" id="{B414FFA9-1B92-3F4B-3849-110ADE38424A}"/>
              </a:ext>
            </a:extLst>
          </p:cNvPr>
          <p:cNvSpPr txBox="1"/>
          <p:nvPr/>
        </p:nvSpPr>
        <p:spPr>
          <a:xfrm>
            <a:off x="713261" y="3140832"/>
            <a:ext cx="3352800" cy="1169551"/>
          </a:xfrm>
          <a:prstGeom prst="rect">
            <a:avLst/>
          </a:prstGeom>
          <a:noFill/>
        </p:spPr>
        <p:txBody>
          <a:bodyPr wrap="square">
            <a:spAutoFit/>
          </a:bodyPr>
          <a:lstStyle/>
          <a:p>
            <a:pPr marL="0" indent="0">
              <a:buNone/>
            </a:pPr>
            <a:r>
              <a:rPr lang="en-US" sz="1400" b="1" dirty="0">
                <a:solidFill>
                  <a:srgbClr val="FF0000"/>
                </a:solidFill>
              </a:rPr>
              <a:t>Deterministic: </a:t>
            </a:r>
          </a:p>
          <a:p>
            <a:r>
              <a:rPr lang="en-US" sz="1400" dirty="0"/>
              <a:t>Deterministic </a:t>
            </a:r>
            <a:r>
              <a:rPr lang="en-US" sz="1400" b="1" dirty="0"/>
              <a:t>transition function</a:t>
            </a:r>
            <a:r>
              <a:rPr lang="en-US" sz="1400" dirty="0"/>
              <a:t>: Changes in the environment are completely determined by the current state of the environment and the agent’s action.</a:t>
            </a:r>
          </a:p>
        </p:txBody>
      </p:sp>
      <p:sp>
        <p:nvSpPr>
          <p:cNvPr id="32" name="TextBox 31">
            <a:extLst>
              <a:ext uri="{FF2B5EF4-FFF2-40B4-BE49-F238E27FC236}">
                <a16:creationId xmlns:a16="http://schemas.microsoft.com/office/drawing/2014/main" id="{E5E42B62-D95D-36E5-8F59-FB633DABEF5A}"/>
              </a:ext>
            </a:extLst>
          </p:cNvPr>
          <p:cNvSpPr txBox="1"/>
          <p:nvPr/>
        </p:nvSpPr>
        <p:spPr>
          <a:xfrm>
            <a:off x="3902869" y="3488057"/>
            <a:ext cx="590550" cy="369332"/>
          </a:xfrm>
          <a:prstGeom prst="rect">
            <a:avLst/>
          </a:prstGeom>
          <a:noFill/>
        </p:spPr>
        <p:txBody>
          <a:bodyPr wrap="square" rtlCol="0">
            <a:spAutoFit/>
          </a:bodyPr>
          <a:lstStyle/>
          <a:p>
            <a:r>
              <a:rPr lang="en-US" b="1" dirty="0">
                <a:solidFill>
                  <a:srgbClr val="FF0000"/>
                </a:solidFill>
              </a:rPr>
              <a:t>vs.</a:t>
            </a:r>
          </a:p>
        </p:txBody>
      </p:sp>
      <p:sp>
        <p:nvSpPr>
          <p:cNvPr id="33" name="TextBox 32">
            <a:extLst>
              <a:ext uri="{FF2B5EF4-FFF2-40B4-BE49-F238E27FC236}">
                <a16:creationId xmlns:a16="http://schemas.microsoft.com/office/drawing/2014/main" id="{B4C53512-DE58-E40E-D58F-EB59D22B6D8F}"/>
              </a:ext>
            </a:extLst>
          </p:cNvPr>
          <p:cNvSpPr txBox="1"/>
          <p:nvPr/>
        </p:nvSpPr>
        <p:spPr>
          <a:xfrm>
            <a:off x="4726781" y="3124200"/>
            <a:ext cx="3807619" cy="954107"/>
          </a:xfrm>
          <a:prstGeom prst="rect">
            <a:avLst/>
          </a:prstGeom>
          <a:noFill/>
        </p:spPr>
        <p:txBody>
          <a:bodyPr wrap="square">
            <a:spAutoFit/>
          </a:bodyPr>
          <a:lstStyle/>
          <a:p>
            <a:pPr marL="0" indent="0">
              <a:buNone/>
            </a:pPr>
            <a:r>
              <a:rPr lang="en-US" sz="1400" b="1" dirty="0">
                <a:solidFill>
                  <a:srgbClr val="FF0000"/>
                </a:solidFill>
              </a:rPr>
              <a:t>Stochastic: </a:t>
            </a:r>
          </a:p>
          <a:p>
            <a:r>
              <a:rPr lang="en-US" sz="1400" dirty="0"/>
              <a:t>Stochastic </a:t>
            </a:r>
            <a:r>
              <a:rPr lang="en-US" sz="1400" b="1" dirty="0"/>
              <a:t>transition function:  </a:t>
            </a:r>
            <a:r>
              <a:rPr lang="en-US" sz="1400" dirty="0"/>
              <a:t>leads to transition probabilities and a Markov process.</a:t>
            </a:r>
            <a:br>
              <a:rPr lang="en-US" sz="1400" dirty="0"/>
            </a:br>
            <a:endParaRPr lang="en-US" sz="1400" dirty="0"/>
          </a:p>
        </p:txBody>
      </p:sp>
      <p:sp>
        <p:nvSpPr>
          <p:cNvPr id="34" name="Rectangle 33">
            <a:extLst>
              <a:ext uri="{FF2B5EF4-FFF2-40B4-BE49-F238E27FC236}">
                <a16:creationId xmlns:a16="http://schemas.microsoft.com/office/drawing/2014/main" id="{CCE735BC-43C0-1424-80FC-1E666D311E5C}"/>
              </a:ext>
              <a:ext uri="{C183D7F6-B498-43B3-948B-1728B52AA6E4}">
                <adec:decorative xmlns:adec="http://schemas.microsoft.com/office/drawing/2017/decorative" val="1"/>
              </a:ext>
            </a:extLst>
          </p:cNvPr>
          <p:cNvSpPr/>
          <p:nvPr/>
        </p:nvSpPr>
        <p:spPr>
          <a:xfrm>
            <a:off x="555807" y="3213803"/>
            <a:ext cx="150019" cy="152400"/>
          </a:xfrm>
          <a:prstGeom prst="rect">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35" name="Rectangle 34">
            <a:extLst>
              <a:ext uri="{FF2B5EF4-FFF2-40B4-BE49-F238E27FC236}">
                <a16:creationId xmlns:a16="http://schemas.microsoft.com/office/drawing/2014/main" id="{CD3CEA96-E39D-3641-4315-C8A88FDC9138}"/>
              </a:ext>
              <a:ext uri="{C183D7F6-B498-43B3-948B-1728B52AA6E4}">
                <adec:decorative xmlns:adec="http://schemas.microsoft.com/office/drawing/2017/decorative" val="1"/>
              </a:ext>
            </a:extLst>
          </p:cNvPr>
          <p:cNvSpPr/>
          <p:nvPr/>
        </p:nvSpPr>
        <p:spPr>
          <a:xfrm>
            <a:off x="555807" y="1720514"/>
            <a:ext cx="150019" cy="152400"/>
          </a:xfrm>
          <a:prstGeom prst="rect">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36" name="Rectangle 35">
            <a:extLst>
              <a:ext uri="{FF2B5EF4-FFF2-40B4-BE49-F238E27FC236}">
                <a16:creationId xmlns:a16="http://schemas.microsoft.com/office/drawing/2014/main" id="{1708EE67-7246-E4AF-7B81-56A6C9A2994B}"/>
              </a:ext>
              <a:ext uri="{C183D7F6-B498-43B3-948B-1728B52AA6E4}">
                <adec:decorative xmlns:adec="http://schemas.microsoft.com/office/drawing/2017/decorative" val="1"/>
              </a:ext>
            </a:extLst>
          </p:cNvPr>
          <p:cNvSpPr/>
          <p:nvPr/>
        </p:nvSpPr>
        <p:spPr>
          <a:xfrm>
            <a:off x="4553525" y="3226652"/>
            <a:ext cx="150019" cy="152400"/>
          </a:xfrm>
          <a:prstGeom prst="rect">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37" name="Rectangle 36">
            <a:extLst>
              <a:ext uri="{FF2B5EF4-FFF2-40B4-BE49-F238E27FC236}">
                <a16:creationId xmlns:a16="http://schemas.microsoft.com/office/drawing/2014/main" id="{5BBE6D01-2F08-F6F8-5A75-C2558533B2F5}"/>
              </a:ext>
              <a:ext uri="{C183D7F6-B498-43B3-948B-1728B52AA6E4}">
                <adec:decorative xmlns:adec="http://schemas.microsoft.com/office/drawing/2017/decorative" val="1"/>
              </a:ext>
            </a:extLst>
          </p:cNvPr>
          <p:cNvSpPr/>
          <p:nvPr/>
        </p:nvSpPr>
        <p:spPr>
          <a:xfrm>
            <a:off x="4547931" y="1776630"/>
            <a:ext cx="150019" cy="152400"/>
          </a:xfrm>
          <a:prstGeom prst="rect">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2441617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dirty="0"/>
              <a:t>What Type of Intelligent Agent is a </a:t>
            </a:r>
            <a:br>
              <a:rPr lang="en-US" dirty="0"/>
            </a:br>
            <a:r>
              <a:rPr lang="en-US" dirty="0"/>
              <a:t>Self-Driving Car? </a:t>
            </a:r>
          </a:p>
        </p:txBody>
      </p:sp>
      <p:graphicFrame>
        <p:nvGraphicFramePr>
          <p:cNvPr id="2" name="Content Placeholder 1" descr="A figure with the four agent types covered so far. Each agent has a check box.">
            <a:extLst>
              <a:ext uri="{FF2B5EF4-FFF2-40B4-BE49-F238E27FC236}">
                <a16:creationId xmlns:a16="http://schemas.microsoft.com/office/drawing/2014/main" id="{22A48921-D15F-4F33-808F-C00BAA1FDF19}"/>
              </a:ext>
            </a:extLst>
          </p:cNvPr>
          <p:cNvGraphicFramePr>
            <a:graphicFrameLocks noGrp="1"/>
          </p:cNvGraphicFramePr>
          <p:nvPr>
            <p:ph idx="1"/>
            <p:extLst>
              <p:ext uri="{D42A27DB-BD31-4B8C-83A1-F6EECF244321}">
                <p14:modId xmlns:p14="http://schemas.microsoft.com/office/powerpoint/2010/main" val="3143450747"/>
              </p:ext>
            </p:extLst>
          </p:nvPr>
        </p:nvGraphicFramePr>
        <p:xfrm>
          <a:off x="628650" y="1668462"/>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TextBox 6">
            <a:extLst>
              <a:ext uri="{FF2B5EF4-FFF2-40B4-BE49-F238E27FC236}">
                <a16:creationId xmlns:a16="http://schemas.microsoft.com/office/drawing/2014/main" id="{9AC301F9-4D8F-484A-8F4D-6A05CB5B419A}"/>
              </a:ext>
            </a:extLst>
          </p:cNvPr>
          <p:cNvSpPr txBox="1"/>
          <p:nvPr/>
        </p:nvSpPr>
        <p:spPr>
          <a:xfrm>
            <a:off x="5410200" y="1996837"/>
            <a:ext cx="3105150" cy="923330"/>
          </a:xfrm>
          <a:prstGeom prst="rect">
            <a:avLst/>
          </a:prstGeom>
          <a:noFill/>
        </p:spPr>
        <p:txBody>
          <a:bodyPr wrap="square" rtlCol="0">
            <a:spAutoFit/>
          </a:bodyPr>
          <a:lstStyle/>
          <a:p>
            <a:r>
              <a:rPr lang="en-US" dirty="0"/>
              <a:t>Does it collect utility over time? How would the utility for each state be defined?</a:t>
            </a:r>
          </a:p>
        </p:txBody>
      </p:sp>
      <p:sp>
        <p:nvSpPr>
          <p:cNvPr id="6" name="TextBox 5">
            <a:extLst>
              <a:ext uri="{FF2B5EF4-FFF2-40B4-BE49-F238E27FC236}">
                <a16:creationId xmlns:a16="http://schemas.microsoft.com/office/drawing/2014/main" id="{2D499C2C-DA7C-4702-8951-9F3A8E6E1800}"/>
              </a:ext>
            </a:extLst>
          </p:cNvPr>
          <p:cNvSpPr txBox="1"/>
          <p:nvPr/>
        </p:nvSpPr>
        <p:spPr>
          <a:xfrm>
            <a:off x="5410200" y="3113589"/>
            <a:ext cx="2819400" cy="369332"/>
          </a:xfrm>
          <a:prstGeom prst="rect">
            <a:avLst/>
          </a:prstGeom>
          <a:noFill/>
        </p:spPr>
        <p:txBody>
          <a:bodyPr wrap="square" rtlCol="0">
            <a:spAutoFit/>
          </a:bodyPr>
          <a:lstStyle/>
          <a:p>
            <a:r>
              <a:rPr lang="en-US" dirty="0"/>
              <a:t>Does it have a goal state?</a:t>
            </a:r>
          </a:p>
        </p:txBody>
      </p:sp>
      <p:sp>
        <p:nvSpPr>
          <p:cNvPr id="4" name="TextBox 3">
            <a:extLst>
              <a:ext uri="{FF2B5EF4-FFF2-40B4-BE49-F238E27FC236}">
                <a16:creationId xmlns:a16="http://schemas.microsoft.com/office/drawing/2014/main" id="{0E543FF3-A7B8-4E61-901C-8229EAC2C575}"/>
              </a:ext>
            </a:extLst>
          </p:cNvPr>
          <p:cNvSpPr txBox="1"/>
          <p:nvPr/>
        </p:nvSpPr>
        <p:spPr>
          <a:xfrm>
            <a:off x="5416378" y="3746895"/>
            <a:ext cx="3200400" cy="923330"/>
          </a:xfrm>
          <a:prstGeom prst="rect">
            <a:avLst/>
          </a:prstGeom>
          <a:noFill/>
        </p:spPr>
        <p:txBody>
          <a:bodyPr wrap="square" rtlCol="0">
            <a:spAutoFit/>
          </a:bodyPr>
          <a:lstStyle/>
          <a:p>
            <a:r>
              <a:rPr lang="en-US" dirty="0"/>
              <a:t>Does it store state information. How would they be defined (atomic/factored)?</a:t>
            </a:r>
          </a:p>
        </p:txBody>
      </p:sp>
      <p:sp>
        <p:nvSpPr>
          <p:cNvPr id="3" name="TextBox 2">
            <a:extLst>
              <a:ext uri="{FF2B5EF4-FFF2-40B4-BE49-F238E27FC236}">
                <a16:creationId xmlns:a16="http://schemas.microsoft.com/office/drawing/2014/main" id="{FD6EAA75-C94E-4445-AD1B-F468B33665DD}"/>
              </a:ext>
            </a:extLst>
          </p:cNvPr>
          <p:cNvSpPr txBox="1"/>
          <p:nvPr/>
        </p:nvSpPr>
        <p:spPr>
          <a:xfrm>
            <a:off x="5410199" y="4754295"/>
            <a:ext cx="3200401" cy="646331"/>
          </a:xfrm>
          <a:prstGeom prst="rect">
            <a:avLst/>
          </a:prstGeom>
          <a:noFill/>
        </p:spPr>
        <p:txBody>
          <a:bodyPr wrap="square" rtlCol="0">
            <a:spAutoFit/>
          </a:bodyPr>
          <a:lstStyle/>
          <a:p>
            <a:r>
              <a:rPr lang="en-US" dirty="0"/>
              <a:t>Does it use simple rules based on the current percepts?</a:t>
            </a:r>
          </a:p>
        </p:txBody>
      </p:sp>
      <p:sp>
        <p:nvSpPr>
          <p:cNvPr id="8" name="Rectangle 7">
            <a:extLst>
              <a:ext uri="{FF2B5EF4-FFF2-40B4-BE49-F238E27FC236}">
                <a16:creationId xmlns:a16="http://schemas.microsoft.com/office/drawing/2014/main" id="{012AFA01-1466-4DBF-AA3A-9AF70B436486}"/>
              </a:ext>
              <a:ext uri="{C183D7F6-B498-43B3-948B-1728B52AA6E4}">
                <adec:decorative xmlns:adec="http://schemas.microsoft.com/office/drawing/2017/decorative" val="1"/>
              </a:ext>
            </a:extLst>
          </p:cNvPr>
          <p:cNvSpPr/>
          <p:nvPr/>
        </p:nvSpPr>
        <p:spPr>
          <a:xfrm rot="16200000">
            <a:off x="221343" y="3567707"/>
            <a:ext cx="3367314" cy="457200"/>
          </a:xfrm>
          <a:prstGeom prst="rect">
            <a:avLst/>
          </a:prstGeom>
          <a:solidFill>
            <a:srgbClr val="FFFFFF">
              <a:alpha val="80000"/>
            </a:srgbClr>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2000" dirty="0"/>
              <a:t>Is it learning?</a:t>
            </a:r>
          </a:p>
        </p:txBody>
      </p:sp>
      <p:grpSp>
        <p:nvGrpSpPr>
          <p:cNvPr id="12" name="Group 11" descr="Check what applies.">
            <a:extLst>
              <a:ext uri="{FF2B5EF4-FFF2-40B4-BE49-F238E27FC236}">
                <a16:creationId xmlns:a16="http://schemas.microsoft.com/office/drawing/2014/main" id="{3C80410A-2FDB-E16D-D734-401410472D6F}"/>
              </a:ext>
            </a:extLst>
          </p:cNvPr>
          <p:cNvGrpSpPr/>
          <p:nvPr/>
        </p:nvGrpSpPr>
        <p:grpSpPr>
          <a:xfrm>
            <a:off x="6096000" y="5984480"/>
            <a:ext cx="2743200" cy="598587"/>
            <a:chOff x="4953000" y="6061025"/>
            <a:chExt cx="2743200" cy="598587"/>
          </a:xfrm>
        </p:grpSpPr>
        <p:sp>
          <p:nvSpPr>
            <p:cNvPr id="9" name="TextBox 8">
              <a:extLst>
                <a:ext uri="{FF2B5EF4-FFF2-40B4-BE49-F238E27FC236}">
                  <a16:creationId xmlns:a16="http://schemas.microsoft.com/office/drawing/2014/main" id="{767004E1-6956-1083-BCB6-C03D40552927}"/>
                </a:ext>
              </a:extLst>
            </p:cNvPr>
            <p:cNvSpPr txBox="1"/>
            <p:nvPr/>
          </p:nvSpPr>
          <p:spPr>
            <a:xfrm>
              <a:off x="5486400" y="6180415"/>
              <a:ext cx="2209800" cy="369332"/>
            </a:xfrm>
            <a:prstGeom prst="rect">
              <a:avLst/>
            </a:prstGeom>
            <a:noFill/>
          </p:spPr>
          <p:txBody>
            <a:bodyPr wrap="square">
              <a:spAutoFit/>
            </a:bodyPr>
            <a:lstStyle/>
            <a:p>
              <a:r>
                <a:rPr lang="en-US" dirty="0"/>
                <a:t>Check what applies</a:t>
              </a:r>
            </a:p>
          </p:txBody>
        </p:sp>
        <p:pic>
          <p:nvPicPr>
            <p:cNvPr id="11" name="Graphic 10" descr="Checkbox Checked with solid fill">
              <a:extLst>
                <a:ext uri="{FF2B5EF4-FFF2-40B4-BE49-F238E27FC236}">
                  <a16:creationId xmlns:a16="http://schemas.microsoft.com/office/drawing/2014/main" id="{3657BB7C-5DFA-1ECE-7AAD-704282F2F15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953000" y="6061025"/>
              <a:ext cx="598587" cy="598587"/>
            </a:xfrm>
            <a:prstGeom prst="rect">
              <a:avLst/>
            </a:prstGeom>
          </p:spPr>
        </p:pic>
      </p:grpSp>
      <p:pic>
        <p:nvPicPr>
          <p:cNvPr id="5" name="Picture 6">
            <a:extLst>
              <a:ext uri="{FF2B5EF4-FFF2-40B4-BE49-F238E27FC236}">
                <a16:creationId xmlns:a16="http://schemas.microsoft.com/office/drawing/2014/main" id="{1EE08532-975D-479B-C5BF-966FA6942092}"/>
              </a:ext>
              <a:ext uri="{C183D7F6-B498-43B3-948B-1728B52AA6E4}">
                <adec:decorative xmlns:adec="http://schemas.microsoft.com/office/drawing/2017/decorative" val="1"/>
              </a:ext>
            </a:extLst>
          </p:cNvPr>
          <p:cNvPicPr>
            <a:picLocks noChangeAspect="1" noChangeArrowheads="1"/>
          </p:cNvPicPr>
          <p:nvPr/>
        </p:nvPicPr>
        <p:blipFill>
          <a:blip r:embed="rId9" cstate="print"/>
          <a:srcRect/>
          <a:stretch>
            <a:fillRect/>
          </a:stretch>
        </p:blipFill>
        <p:spPr bwMode="auto">
          <a:xfrm>
            <a:off x="7010400" y="321657"/>
            <a:ext cx="1742323" cy="800100"/>
          </a:xfrm>
          <a:prstGeom prst="rect">
            <a:avLst/>
          </a:prstGeom>
          <a:noFill/>
          <a:ln w="9525">
            <a:noFill/>
            <a:miter lim="800000"/>
            <a:headEnd/>
            <a:tailEnd/>
          </a:ln>
        </p:spPr>
      </p:pic>
      <p:sp>
        <p:nvSpPr>
          <p:cNvPr id="10" name="Rectangle 9">
            <a:extLst>
              <a:ext uri="{FF2B5EF4-FFF2-40B4-BE49-F238E27FC236}">
                <a16:creationId xmlns:a16="http://schemas.microsoft.com/office/drawing/2014/main" id="{2A106359-2FAB-A148-0AAB-FE5F68BEF13C}"/>
              </a:ext>
              <a:ext uri="{C183D7F6-B498-43B3-948B-1728B52AA6E4}">
                <adec:decorative xmlns:adec="http://schemas.microsoft.com/office/drawing/2017/decorative" val="1"/>
              </a:ext>
            </a:extLst>
          </p:cNvPr>
          <p:cNvSpPr/>
          <p:nvPr/>
        </p:nvSpPr>
        <p:spPr>
          <a:xfrm>
            <a:off x="2514600" y="2382302"/>
            <a:ext cx="150019" cy="152400"/>
          </a:xfrm>
          <a:prstGeom prst="rect">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3" name="Rectangle 12">
            <a:extLst>
              <a:ext uri="{FF2B5EF4-FFF2-40B4-BE49-F238E27FC236}">
                <a16:creationId xmlns:a16="http://schemas.microsoft.com/office/drawing/2014/main" id="{E0832BBB-D08C-990F-289A-30DAE7EF6776}"/>
              </a:ext>
              <a:ext uri="{C183D7F6-B498-43B3-948B-1728B52AA6E4}">
                <adec:decorative xmlns:adec="http://schemas.microsoft.com/office/drawing/2017/decorative" val="1"/>
              </a:ext>
            </a:extLst>
          </p:cNvPr>
          <p:cNvSpPr/>
          <p:nvPr/>
        </p:nvSpPr>
        <p:spPr>
          <a:xfrm>
            <a:off x="2523818" y="3264865"/>
            <a:ext cx="150019" cy="152400"/>
          </a:xfrm>
          <a:prstGeom prst="rect">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4" name="Rectangle 13">
            <a:extLst>
              <a:ext uri="{FF2B5EF4-FFF2-40B4-BE49-F238E27FC236}">
                <a16:creationId xmlns:a16="http://schemas.microsoft.com/office/drawing/2014/main" id="{4B59F746-FF70-F10B-B65B-A480561B17F6}"/>
              </a:ext>
              <a:ext uri="{C183D7F6-B498-43B3-948B-1728B52AA6E4}">
                <adec:decorative xmlns:adec="http://schemas.microsoft.com/office/drawing/2017/decorative" val="1"/>
              </a:ext>
            </a:extLst>
          </p:cNvPr>
          <p:cNvSpPr/>
          <p:nvPr/>
        </p:nvSpPr>
        <p:spPr>
          <a:xfrm>
            <a:off x="2514600" y="5010655"/>
            <a:ext cx="150019" cy="152400"/>
          </a:xfrm>
          <a:prstGeom prst="rect">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5" name="Rectangle 14">
            <a:extLst>
              <a:ext uri="{FF2B5EF4-FFF2-40B4-BE49-F238E27FC236}">
                <a16:creationId xmlns:a16="http://schemas.microsoft.com/office/drawing/2014/main" id="{5E5F1E30-EF93-2A83-69F7-FF310ACC5076}"/>
              </a:ext>
              <a:ext uri="{C183D7F6-B498-43B3-948B-1728B52AA6E4}">
                <adec:decorative xmlns:adec="http://schemas.microsoft.com/office/drawing/2017/decorative" val="1"/>
              </a:ext>
            </a:extLst>
          </p:cNvPr>
          <p:cNvSpPr/>
          <p:nvPr/>
        </p:nvSpPr>
        <p:spPr>
          <a:xfrm>
            <a:off x="2523818" y="3929995"/>
            <a:ext cx="150019" cy="152400"/>
          </a:xfrm>
          <a:prstGeom prst="rect">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16" name="Rectangle 15">
            <a:extLst>
              <a:ext uri="{FF2B5EF4-FFF2-40B4-BE49-F238E27FC236}">
                <a16:creationId xmlns:a16="http://schemas.microsoft.com/office/drawing/2014/main" id="{3E1EA7DD-9200-5534-2C7D-00F7F72FBC10}"/>
              </a:ext>
              <a:ext uri="{C183D7F6-B498-43B3-948B-1728B52AA6E4}">
                <adec:decorative xmlns:adec="http://schemas.microsoft.com/office/drawing/2017/decorative" val="1"/>
              </a:ext>
            </a:extLst>
          </p:cNvPr>
          <p:cNvSpPr/>
          <p:nvPr/>
        </p:nvSpPr>
        <p:spPr>
          <a:xfrm>
            <a:off x="1829990" y="4754295"/>
            <a:ext cx="150019" cy="152400"/>
          </a:xfrm>
          <a:prstGeom prst="rect">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6953750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19DEE9E3-4392-126F-234A-9F42A3DE4F99}"/>
              </a:ext>
              <a:ext uri="{C183D7F6-B498-43B3-948B-1728B52AA6E4}">
                <adec:decorative xmlns:adec="http://schemas.microsoft.com/office/drawing/2017/decorative" val="1"/>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650" r="-2" b="3433"/>
          <a:stretch/>
        </p:blipFill>
        <p:spPr bwMode="auto">
          <a:xfrm>
            <a:off x="3662268" y="10"/>
            <a:ext cx="5481732" cy="3364982"/>
          </a:xfrm>
          <a:custGeom>
            <a:avLst/>
            <a:gdLst/>
            <a:ahLst/>
            <a:cxnLst/>
            <a:rect l="l" t="t" r="r" b="b"/>
            <a:pathLst>
              <a:path w="7308975" h="3364992">
                <a:moveTo>
                  <a:pt x="0" y="0"/>
                </a:moveTo>
                <a:lnTo>
                  <a:pt x="7308975" y="0"/>
                </a:lnTo>
                <a:lnTo>
                  <a:pt x="7308975" y="3364992"/>
                </a:lnTo>
                <a:lnTo>
                  <a:pt x="1210305" y="3364992"/>
                </a:lnTo>
                <a:lnTo>
                  <a:pt x="1192705" y="2943200"/>
                </a:lnTo>
                <a:cubicBezTo>
                  <a:pt x="1098874" y="1825108"/>
                  <a:pt x="684692" y="821621"/>
                  <a:pt x="62981" y="69271"/>
                </a:cubicBezTo>
                <a:close/>
              </a:path>
            </a:pathLst>
          </a:custGeom>
          <a:noFill/>
          <a:extLst>
            <a:ext uri="{909E8E84-426E-40DD-AFC4-6F175D3DCCD1}">
              <a14:hiddenFill xmlns:a14="http://schemas.microsoft.com/office/drawing/2010/main">
                <a:solidFill>
                  <a:srgbClr val="FFFFFF"/>
                </a:solidFill>
              </a14:hiddenFill>
            </a:ext>
          </a:extLst>
        </p:spPr>
      </p:pic>
      <p:pic>
        <p:nvPicPr>
          <p:cNvPr id="4" name="Picture 4">
            <a:extLst>
              <a:ext uri="{FF2B5EF4-FFF2-40B4-BE49-F238E27FC236}">
                <a16:creationId xmlns:a16="http://schemas.microsoft.com/office/drawing/2014/main" id="{DC20D215-E341-42A1-A360-25E5EA2B2609}"/>
              </a:ext>
              <a:ext uri="{C183D7F6-B498-43B3-948B-1728B52AA6E4}">
                <adec:decorative xmlns:adec="http://schemas.microsoft.com/office/drawing/2017/decorative" val="1"/>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112" r="925" b="2"/>
          <a:stretch/>
        </p:blipFill>
        <p:spPr bwMode="auto">
          <a:xfrm>
            <a:off x="3662268" y="3493008"/>
            <a:ext cx="5481732" cy="3364992"/>
          </a:xfrm>
          <a:custGeom>
            <a:avLst/>
            <a:gdLst/>
            <a:ahLst/>
            <a:cxnLst/>
            <a:rect l="l" t="t" r="r" b="b"/>
            <a:pathLst>
              <a:path w="7308975" h="3364992">
                <a:moveTo>
                  <a:pt x="1210305" y="0"/>
                </a:moveTo>
                <a:lnTo>
                  <a:pt x="7308975" y="0"/>
                </a:lnTo>
                <a:lnTo>
                  <a:pt x="7308975" y="3364992"/>
                </a:lnTo>
                <a:lnTo>
                  <a:pt x="0" y="3364992"/>
                </a:lnTo>
                <a:lnTo>
                  <a:pt x="62981" y="3295722"/>
                </a:lnTo>
                <a:cubicBezTo>
                  <a:pt x="684692" y="2543371"/>
                  <a:pt x="1098874" y="1539884"/>
                  <a:pt x="1192705" y="421793"/>
                </a:cubicBezTo>
                <a:close/>
              </a:path>
            </a:pathLst>
          </a:cu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8A4050D-4602-5A49-7035-11F3F8F67943}"/>
              </a:ext>
            </a:extLst>
          </p:cNvPr>
          <p:cNvSpPr>
            <a:spLocks noGrp="1"/>
          </p:cNvSpPr>
          <p:nvPr>
            <p:ph type="title"/>
          </p:nvPr>
        </p:nvSpPr>
        <p:spPr>
          <a:xfrm>
            <a:off x="336042" y="859536"/>
            <a:ext cx="3624601" cy="1243584"/>
          </a:xfrm>
        </p:spPr>
        <p:txBody>
          <a:bodyPr>
            <a:normAutofit/>
          </a:bodyPr>
          <a:lstStyle/>
          <a:p>
            <a:pPr marL="0" indent="0">
              <a:buNone/>
            </a:pPr>
            <a:r>
              <a:rPr lang="en-US" sz="3200" b="1" dirty="0"/>
              <a:t>Why is this so hard?</a:t>
            </a:r>
          </a:p>
        </p:txBody>
      </p:sp>
      <p:sp>
        <p:nvSpPr>
          <p:cNvPr id="3" name="Content Placeholder 2">
            <a:extLst>
              <a:ext uri="{FF2B5EF4-FFF2-40B4-BE49-F238E27FC236}">
                <a16:creationId xmlns:a16="http://schemas.microsoft.com/office/drawing/2014/main" id="{BE8FA21F-1574-DAA3-1675-4076432A1FF9}"/>
              </a:ext>
            </a:extLst>
          </p:cNvPr>
          <p:cNvSpPr>
            <a:spLocks noGrp="1"/>
          </p:cNvSpPr>
          <p:nvPr>
            <p:ph idx="1"/>
          </p:nvPr>
        </p:nvSpPr>
        <p:spPr>
          <a:xfrm>
            <a:off x="336042" y="2512612"/>
            <a:ext cx="3931158" cy="3364982"/>
          </a:xfrm>
        </p:spPr>
        <p:txBody>
          <a:bodyPr>
            <a:normAutofit lnSpcReduction="10000"/>
          </a:bodyPr>
          <a:lstStyle/>
          <a:p>
            <a:r>
              <a:rPr lang="en-US" sz="2400" dirty="0"/>
              <a:t>Self-driving cars operate in a very complicated partially observable, stochastic, and  dynamic environment. </a:t>
            </a:r>
          </a:p>
          <a:p>
            <a:r>
              <a:rPr lang="en-US" sz="2400" dirty="0"/>
              <a:t>Can only use bounded rationality because of limits with sensors and computational power.</a:t>
            </a:r>
          </a:p>
          <a:p>
            <a:r>
              <a:rPr lang="en-US" sz="2400" dirty="0"/>
              <a:t>Require a set of different agents that cooperate.</a:t>
            </a:r>
          </a:p>
        </p:txBody>
      </p:sp>
    </p:spTree>
    <p:extLst>
      <p:ext uri="{BB962C8B-B14F-4D97-AF65-F5344CB8AC3E}">
        <p14:creationId xmlns:p14="http://schemas.microsoft.com/office/powerpoint/2010/main" val="41043942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12A73B-D412-FDFC-4998-25EDCCCEE290}"/>
              </a:ext>
            </a:extLst>
          </p:cNvPr>
          <p:cNvSpPr>
            <a:spLocks noGrp="1"/>
          </p:cNvSpPr>
          <p:nvPr>
            <p:ph type="title"/>
          </p:nvPr>
        </p:nvSpPr>
        <p:spPr>
          <a:xfrm>
            <a:off x="3973321" y="329184"/>
            <a:ext cx="4688333" cy="1783080"/>
          </a:xfrm>
        </p:spPr>
        <p:txBody>
          <a:bodyPr anchor="b">
            <a:normAutofit/>
          </a:bodyPr>
          <a:lstStyle/>
          <a:p>
            <a:r>
              <a:rPr lang="en-US" sz="4700" dirty="0"/>
              <a:t>What You </a:t>
            </a:r>
            <a:br>
              <a:rPr lang="en-US" sz="4700" dirty="0"/>
            </a:br>
            <a:r>
              <a:rPr lang="en-US" sz="4700" dirty="0"/>
              <a:t>Should Know</a:t>
            </a:r>
          </a:p>
        </p:txBody>
      </p:sp>
      <p:pic>
        <p:nvPicPr>
          <p:cNvPr id="13" name="Picture 12" descr="Sticky notes with question marks">
            <a:extLst>
              <a:ext uri="{FF2B5EF4-FFF2-40B4-BE49-F238E27FC236}">
                <a16:creationId xmlns:a16="http://schemas.microsoft.com/office/drawing/2014/main" id="{79E4DD96-5C40-0592-4C78-6B3CF88279C9}"/>
              </a:ext>
            </a:extLst>
          </p:cNvPr>
          <p:cNvPicPr>
            <a:picLocks noChangeAspect="1"/>
          </p:cNvPicPr>
          <p:nvPr/>
        </p:nvPicPr>
        <p:blipFill>
          <a:blip r:embed="rId2"/>
          <a:srcRect l="34224" r="31778" b="-1"/>
          <a:stretch/>
        </p:blipFill>
        <p:spPr>
          <a:xfrm>
            <a:off x="20" y="10"/>
            <a:ext cx="3492988"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745B0B4-FFD9-07E3-AB53-016FA1892E11}"/>
                  </a:ext>
                </a:extLst>
              </p:cNvPr>
              <p:cNvSpPr>
                <a:spLocks noGrp="1"/>
              </p:cNvSpPr>
              <p:nvPr>
                <p:ph idx="1"/>
              </p:nvPr>
            </p:nvSpPr>
            <p:spPr>
              <a:xfrm>
                <a:off x="3973321" y="2706624"/>
                <a:ext cx="4688333" cy="3483864"/>
              </a:xfrm>
            </p:spPr>
            <p:txBody>
              <a:bodyPr>
                <a:normAutofit/>
              </a:bodyPr>
              <a:lstStyle/>
              <a:p>
                <a:r>
                  <a:rPr lang="en-US" sz="1900" dirty="0"/>
                  <a:t>What an </a:t>
                </a:r>
                <a:r>
                  <a:rPr lang="en-US" sz="1900" b="1" dirty="0"/>
                  <a:t>agent function </a:t>
                </a:r>
                <a:br>
                  <a:rPr lang="en-US" sz="1900" dirty="0"/>
                </a:br>
                <a14:m>
                  <m:oMath xmlns:m="http://schemas.openxmlformats.org/officeDocument/2006/math">
                    <m:r>
                      <a:rPr lang="en-US" sz="1900" i="1">
                        <a:latin typeface="Cambria Math" panose="02040503050406030204" pitchFamily="18" charset="0"/>
                      </a:rPr>
                      <m:t>𝑎</m:t>
                    </m:r>
                    <m:r>
                      <a:rPr lang="en-US" sz="1900" b="0" i="1" smtClean="0">
                        <a:latin typeface="Cambria Math" panose="02040503050406030204" pitchFamily="18" charset="0"/>
                      </a:rPr>
                      <m:t>𝑐𝑡𝑖𝑜𝑛</m:t>
                    </m:r>
                    <m:r>
                      <a:rPr lang="en-US" sz="1900" i="1">
                        <a:latin typeface="Cambria Math" panose="02040503050406030204" pitchFamily="18" charset="0"/>
                      </a:rPr>
                      <m:t> = </m:t>
                    </m:r>
                    <m:r>
                      <a:rPr lang="en-US" sz="1900" i="1">
                        <a:latin typeface="Cambria Math" panose="02040503050406030204" pitchFamily="18" charset="0"/>
                      </a:rPr>
                      <m:t>𝑓</m:t>
                    </m:r>
                    <m:d>
                      <m:dPr>
                        <m:ctrlPr>
                          <a:rPr lang="en-US" sz="1900" i="1">
                            <a:latin typeface="Cambria Math" panose="02040503050406030204" pitchFamily="18" charset="0"/>
                          </a:rPr>
                        </m:ctrlPr>
                      </m:dPr>
                      <m:e>
                        <m:r>
                          <a:rPr lang="en-US" sz="1900" i="1">
                            <a:latin typeface="Cambria Math" panose="02040503050406030204" pitchFamily="18" charset="0"/>
                          </a:rPr>
                          <m:t>𝑝𝑒𝑟𝑐𝑒𝑝𝑡𝑠</m:t>
                        </m:r>
                      </m:e>
                    </m:d>
                  </m:oMath>
                </a14:m>
                <a:br>
                  <a:rPr lang="en-US" sz="1900" dirty="0"/>
                </a:br>
                <a:r>
                  <a:rPr lang="en-US" sz="1900" dirty="0"/>
                  <a:t>is and how it interacts with the environment.</a:t>
                </a:r>
              </a:p>
              <a:p>
                <a:r>
                  <a:rPr lang="en-US" sz="1900" dirty="0"/>
                  <a:t>What are </a:t>
                </a:r>
                <a:r>
                  <a:rPr lang="en-US" sz="1900" b="1" dirty="0"/>
                  <a:t>states</a:t>
                </a:r>
                <a:r>
                  <a:rPr lang="en-US" sz="1900" dirty="0"/>
                  <a:t> and what is the </a:t>
                </a:r>
                <a:r>
                  <a:rPr lang="en-US" sz="1900" b="1" dirty="0"/>
                  <a:t>transition function</a:t>
                </a:r>
                <a:r>
                  <a:rPr lang="en-US" sz="1900" dirty="0"/>
                  <a:t>?</a:t>
                </a:r>
              </a:p>
              <a:p>
                <a:r>
                  <a:rPr lang="en-US" sz="1900" dirty="0"/>
                  <a:t>How </a:t>
                </a:r>
                <a:r>
                  <a:rPr lang="en-US" sz="1900" b="1" dirty="0"/>
                  <a:t>environments</a:t>
                </a:r>
                <a:r>
                  <a:rPr lang="en-US" sz="1900" dirty="0"/>
                  <a:t> differ in terms of observability, uncertainty (stochastic behavior), and if the transition function is known.</a:t>
                </a:r>
              </a:p>
              <a:p>
                <a:r>
                  <a:rPr lang="en-US" sz="1900" dirty="0"/>
                  <a:t>How to identify different</a:t>
                </a:r>
                <a:r>
                  <a:rPr lang="en-US" sz="1900" b="1" dirty="0"/>
                  <a:t> types of agents</a:t>
                </a:r>
                <a:r>
                  <a:rPr lang="en-US" sz="1900" dirty="0"/>
                  <a:t>.</a:t>
                </a:r>
              </a:p>
              <a:p>
                <a:endParaRPr lang="en-US" sz="1900" dirty="0"/>
              </a:p>
            </p:txBody>
          </p:sp>
        </mc:Choice>
        <mc:Fallback xmlns="">
          <p:sp>
            <p:nvSpPr>
              <p:cNvPr id="3" name="Content Placeholder 2">
                <a:extLst>
                  <a:ext uri="{FF2B5EF4-FFF2-40B4-BE49-F238E27FC236}">
                    <a16:creationId xmlns:a16="http://schemas.microsoft.com/office/drawing/2014/main" id="{7745B0B4-FFD9-07E3-AB53-016FA1892E11}"/>
                  </a:ext>
                </a:extLst>
              </p:cNvPr>
              <p:cNvSpPr>
                <a:spLocks noGrp="1" noRot="1" noChangeAspect="1" noMove="1" noResize="1" noEditPoints="1" noAdjustHandles="1" noChangeArrowheads="1" noChangeShapeType="1" noTextEdit="1"/>
              </p:cNvSpPr>
              <p:nvPr>
                <p:ph idx="1"/>
              </p:nvPr>
            </p:nvSpPr>
            <p:spPr>
              <a:xfrm>
                <a:off x="3973321" y="2706624"/>
                <a:ext cx="4688333" cy="3483864"/>
              </a:xfrm>
              <a:blipFill>
                <a:blip r:embed="rId3"/>
                <a:stretch>
                  <a:fillRect l="-1040" t="-1748"/>
                </a:stretch>
              </a:blipFill>
            </p:spPr>
            <p:txBody>
              <a:bodyPr/>
              <a:lstStyle/>
              <a:p>
                <a:r>
                  <a:rPr lang="en-US">
                    <a:noFill/>
                  </a:rPr>
                  <a:t> </a:t>
                </a:r>
              </a:p>
            </p:txBody>
          </p:sp>
        </mc:Fallback>
      </mc:AlternateContent>
    </p:spTree>
    <p:extLst>
      <p:ext uri="{BB962C8B-B14F-4D97-AF65-F5344CB8AC3E}">
        <p14:creationId xmlns:p14="http://schemas.microsoft.com/office/powerpoint/2010/main" val="1230860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7AD58-0FFB-3FEA-2D02-19846ECFB2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266BF2C-073A-E61B-F314-D1327A8F4903}"/>
              </a:ext>
            </a:extLst>
          </p:cNvPr>
          <p:cNvSpPr>
            <a:spLocks noGrp="1"/>
          </p:cNvSpPr>
          <p:nvPr>
            <p:ph type="title"/>
          </p:nvPr>
        </p:nvSpPr>
        <p:spPr/>
        <p:txBody>
          <a:bodyPr/>
          <a:lstStyle/>
          <a:p>
            <a:r>
              <a:rPr lang="en-US" dirty="0"/>
              <a:t>Assignment 1</a:t>
            </a:r>
          </a:p>
        </p:txBody>
      </p:sp>
      <p:sp>
        <p:nvSpPr>
          <p:cNvPr id="5" name="Text Placeholder 4">
            <a:extLst>
              <a:ext uri="{FF2B5EF4-FFF2-40B4-BE49-F238E27FC236}">
                <a16:creationId xmlns:a16="http://schemas.microsoft.com/office/drawing/2014/main" id="{E8268822-6F82-4F45-B3D4-2541D6F59527}"/>
              </a:ext>
            </a:extLst>
          </p:cNvPr>
          <p:cNvSpPr>
            <a:spLocks noGrp="1"/>
          </p:cNvSpPr>
          <p:nvPr>
            <p:ph type="body" idx="1"/>
          </p:nvPr>
        </p:nvSpPr>
        <p:spPr/>
        <p:txBody>
          <a:bodyPr/>
          <a:lstStyle/>
          <a:p>
            <a:r>
              <a:rPr lang="en-US" dirty="0"/>
              <a:t>Reflex Agents</a:t>
            </a:r>
          </a:p>
        </p:txBody>
      </p:sp>
    </p:spTree>
    <p:extLst>
      <p:ext uri="{BB962C8B-B14F-4D97-AF65-F5344CB8AC3E}">
        <p14:creationId xmlns:p14="http://schemas.microsoft.com/office/powerpoint/2010/main" val="483190766"/>
      </p:ext>
    </p:extLst>
  </p:cSld>
  <p:clrMapOvr>
    <a:masterClrMapping/>
  </p:clrMapOvr>
</p:sld>
</file>

<file path=ppt/theme/theme1.xml><?xml version="1.0" encoding="utf-8"?>
<a:theme xmlns:a="http://schemas.openxmlformats.org/drawingml/2006/main" name="Office Theme">
  <a:themeElements>
    <a:clrScheme name="Office with darker green">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377620"/>
      </a:accent6>
      <a:hlink>
        <a:srgbClr val="467886"/>
      </a:hlink>
      <a:folHlink>
        <a:srgbClr val="96607D"/>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23330</TotalTime>
  <Words>2133</Words>
  <Application>Microsoft Office PowerPoint</Application>
  <PresentationFormat>On-screen Show (4:3)</PresentationFormat>
  <Paragraphs>314</Paragraphs>
  <Slides>28</Slides>
  <Notes>16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28</vt:i4>
      </vt:variant>
    </vt:vector>
  </HeadingPairs>
  <TitlesOfParts>
    <vt:vector size="34" baseType="lpstr">
      <vt:lpstr>Arial</vt:lpstr>
      <vt:lpstr>Calibri</vt:lpstr>
      <vt:lpstr>Calibri Light</vt:lpstr>
      <vt:lpstr>Cambria Math</vt:lpstr>
      <vt:lpstr>Courier New</vt:lpstr>
      <vt:lpstr>Office Theme</vt:lpstr>
      <vt:lpstr>CS 5/7320  Artificial Intelligence  Intelligent Agents AIMA Chapter 2</vt:lpstr>
      <vt:lpstr>Module Review 1</vt:lpstr>
      <vt:lpstr>Agent Function and Agent Program</vt:lpstr>
      <vt:lpstr>Example: Vacuum-cleaner World</vt:lpstr>
      <vt:lpstr>Rational Agents</vt:lpstr>
      <vt:lpstr>Environment Types: Observability</vt:lpstr>
      <vt:lpstr>Environment Types: Stochasticity</vt:lpstr>
      <vt:lpstr>Environment Types: Knowledge</vt:lpstr>
      <vt:lpstr>Case Study: Self-Driving Cars</vt:lpstr>
      <vt:lpstr>Self-driving Cars </vt:lpstr>
      <vt:lpstr>A Self-Driving Car as a Rational Agents</vt:lpstr>
      <vt:lpstr>PEAS Description of the Environment of a Self-Driving Car</vt:lpstr>
      <vt:lpstr>PEAS Description of the Environment of a Self-Driving Car</vt:lpstr>
      <vt:lpstr>Environments for Self-Driving Cars</vt:lpstr>
      <vt:lpstr>Assignment 1</vt:lpstr>
      <vt:lpstr>Module Review 2</vt:lpstr>
      <vt:lpstr>Designing a Rational Agent</vt:lpstr>
      <vt:lpstr>Simple Reflex Agent</vt:lpstr>
      <vt:lpstr>Model-based Reflex Agent</vt:lpstr>
      <vt:lpstr>State Representation</vt:lpstr>
      <vt:lpstr>Transition Function</vt:lpstr>
      <vt:lpstr>Case Study: Self-Driving Cars</vt:lpstr>
      <vt:lpstr>State Representation: Self-Driving Car</vt:lpstr>
      <vt:lpstr>Environment for a Self-Driving Car</vt:lpstr>
      <vt:lpstr>What Type of Intelligent Agent is a  Self-Driving Car? </vt:lpstr>
      <vt:lpstr>Why is this so hard?</vt:lpstr>
      <vt:lpstr>What You  Should Know</vt:lpstr>
      <vt:lpstr>Assignment 1</vt:lpstr>
    </vt:vector>
  </TitlesOfParts>
  <Company>NUS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Agents</dc:title>
  <dc:creator>Min-Yen Kan</dc:creator>
  <cp:lastModifiedBy>Hahsler, Michael</cp:lastModifiedBy>
  <cp:revision>225</cp:revision>
  <cp:lastPrinted>2021-08-30T18:56:39Z</cp:lastPrinted>
  <dcterms:created xsi:type="dcterms:W3CDTF">2003-12-17T02:32:09Z</dcterms:created>
  <dcterms:modified xsi:type="dcterms:W3CDTF">2026-09-04T00:47:59Z</dcterms:modified>
</cp:coreProperties>
</file>